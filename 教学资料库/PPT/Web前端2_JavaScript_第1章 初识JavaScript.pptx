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05"/>
  </p:notesMasterIdLst>
  <p:handoutMasterIdLst>
    <p:handoutMasterId r:id="rId106"/>
  </p:handoutMasterIdLst>
  <p:sldIdLst>
    <p:sldId id="325" r:id="rId3"/>
    <p:sldId id="1129" r:id="rId4"/>
    <p:sldId id="1281" r:id="rId5"/>
    <p:sldId id="1418" r:id="rId6"/>
    <p:sldId id="328" r:id="rId7"/>
    <p:sldId id="1146" r:id="rId8"/>
    <p:sldId id="309" r:id="rId9"/>
    <p:sldId id="1059" r:id="rId10"/>
    <p:sldId id="1125" r:id="rId11"/>
    <p:sldId id="1158" r:id="rId12"/>
    <p:sldId id="1289" r:id="rId13"/>
    <p:sldId id="1419" r:id="rId14"/>
    <p:sldId id="1420" r:id="rId15"/>
    <p:sldId id="1421" r:id="rId16"/>
    <p:sldId id="1422" r:id="rId17"/>
    <p:sldId id="1423" r:id="rId18"/>
    <p:sldId id="1424" r:id="rId19"/>
    <p:sldId id="1425" r:id="rId20"/>
    <p:sldId id="1426" r:id="rId21"/>
    <p:sldId id="1427" r:id="rId22"/>
    <p:sldId id="1428" r:id="rId23"/>
    <p:sldId id="1161" r:id="rId24"/>
    <p:sldId id="1277" r:id="rId25"/>
    <p:sldId id="1147" r:id="rId26"/>
    <p:sldId id="1298" r:id="rId27"/>
    <p:sldId id="1299" r:id="rId28"/>
    <p:sldId id="1300" r:id="rId29"/>
    <p:sldId id="1429" r:id="rId30"/>
    <p:sldId id="1430" r:id="rId31"/>
    <p:sldId id="1278" r:id="rId32"/>
    <p:sldId id="1304" r:id="rId33"/>
    <p:sldId id="1305" r:id="rId34"/>
    <p:sldId id="1306" r:id="rId35"/>
    <p:sldId id="1431" r:id="rId36"/>
    <p:sldId id="1432" r:id="rId37"/>
    <p:sldId id="1433" r:id="rId38"/>
    <p:sldId id="1434" r:id="rId39"/>
    <p:sldId id="1488" r:id="rId40"/>
    <p:sldId id="1307" r:id="rId41"/>
    <p:sldId id="1308" r:id="rId42"/>
    <p:sldId id="1489" r:id="rId43"/>
    <p:sldId id="1435" r:id="rId44"/>
    <p:sldId id="1436" r:id="rId45"/>
    <p:sldId id="1437" r:id="rId46"/>
    <p:sldId id="1279" r:id="rId47"/>
    <p:sldId id="1310" r:id="rId48"/>
    <p:sldId id="1339" r:id="rId49"/>
    <p:sldId id="1286" r:id="rId50"/>
    <p:sldId id="1438" r:id="rId51"/>
    <p:sldId id="1439" r:id="rId52"/>
    <p:sldId id="1440" r:id="rId53"/>
    <p:sldId id="1441" r:id="rId54"/>
    <p:sldId id="1442" r:id="rId55"/>
    <p:sldId id="1443" r:id="rId56"/>
    <p:sldId id="1444" r:id="rId57"/>
    <p:sldId id="1445" r:id="rId58"/>
    <p:sldId id="1446" r:id="rId59"/>
    <p:sldId id="1447" r:id="rId60"/>
    <p:sldId id="1448" r:id="rId61"/>
    <p:sldId id="1287" r:id="rId62"/>
    <p:sldId id="1449" r:id="rId63"/>
    <p:sldId id="1450" r:id="rId64"/>
    <p:sldId id="1451" r:id="rId65"/>
    <p:sldId id="1452" r:id="rId66"/>
    <p:sldId id="1453" r:id="rId67"/>
    <p:sldId id="1454" r:id="rId68"/>
    <p:sldId id="1356" r:id="rId69"/>
    <p:sldId id="1455" r:id="rId70"/>
    <p:sldId id="1456" r:id="rId71"/>
    <p:sldId id="1457" r:id="rId72"/>
    <p:sldId id="1458" r:id="rId73"/>
    <p:sldId id="1163" r:id="rId74"/>
    <p:sldId id="1383" r:id="rId75"/>
    <p:sldId id="1459" r:id="rId76"/>
    <p:sldId id="1460" r:id="rId77"/>
    <p:sldId id="1461" r:id="rId78"/>
    <p:sldId id="1462" r:id="rId79"/>
    <p:sldId id="1463" r:id="rId80"/>
    <p:sldId id="1464" r:id="rId81"/>
    <p:sldId id="1465" r:id="rId82"/>
    <p:sldId id="1466" r:id="rId83"/>
    <p:sldId id="1467" r:id="rId84"/>
    <p:sldId id="1468" r:id="rId85"/>
    <p:sldId id="1469" r:id="rId86"/>
    <p:sldId id="1470" r:id="rId87"/>
    <p:sldId id="1471" r:id="rId88"/>
    <p:sldId id="1472" r:id="rId89"/>
    <p:sldId id="1473" r:id="rId90"/>
    <p:sldId id="1474" r:id="rId91"/>
    <p:sldId id="1475" r:id="rId92"/>
    <p:sldId id="1476" r:id="rId93"/>
    <p:sldId id="1477" r:id="rId94"/>
    <p:sldId id="1478" r:id="rId95"/>
    <p:sldId id="1480" r:id="rId96"/>
    <p:sldId id="1481" r:id="rId97"/>
    <p:sldId id="1483" r:id="rId98"/>
    <p:sldId id="1484" r:id="rId99"/>
    <p:sldId id="1485" r:id="rId100"/>
    <p:sldId id="1486" r:id="rId101"/>
    <p:sldId id="1487" r:id="rId102"/>
    <p:sldId id="1416" r:id="rId103"/>
    <p:sldId id="1417" r:id="rId104"/>
  </p:sldIdLst>
  <p:sldSz cx="12190413"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1" userDrawn="1">
          <p15:clr>
            <a:srgbClr val="A4A3A4"/>
          </p15:clr>
        </p15:guide>
        <p15:guide id="2" pos="301" userDrawn="1">
          <p15:clr>
            <a:srgbClr val="A4A3A4"/>
          </p15:clr>
        </p15:guide>
        <p15:guide id="3" pos="642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zq" initials="lzq" lastIdx="11" clrIdx="0">
    <p:extLst>
      <p:ext uri="{19B8F6BF-5375-455C-9EA6-DF929625EA0E}">
        <p15:presenceInfo xmlns:p15="http://schemas.microsoft.com/office/powerpoint/2012/main" userId="f3b653b8ea518c2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1369B2"/>
    <a:srgbClr val="FFFFFF"/>
    <a:srgbClr val="1369B3"/>
    <a:srgbClr val="71A5D1"/>
    <a:srgbClr val="F2F2F2"/>
    <a:srgbClr val="EBAD13"/>
    <a:srgbClr val="BBBBBB"/>
    <a:srgbClr val="FAFAFA"/>
    <a:srgbClr val="006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11" autoAdjust="0"/>
    <p:restoredTop sz="95974" autoAdjust="0"/>
  </p:normalViewPr>
  <p:slideViewPr>
    <p:cSldViewPr>
      <p:cViewPr varScale="1">
        <p:scale>
          <a:sx n="81" d="100"/>
          <a:sy n="81" d="100"/>
        </p:scale>
        <p:origin x="114" y="198"/>
      </p:cViewPr>
      <p:guideLst>
        <p:guide orient="horz" pos="4321"/>
        <p:guide pos="301"/>
        <p:guide pos="6425"/>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commentAuthors" Target="commentAuthor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viewProps" Target="view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2024/7/5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3204363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2024/7/5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3934185211"/>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130742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4270561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355372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893192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1251122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4237812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1997687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4245514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3903520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extLst>
      <p:ext uri="{BB962C8B-B14F-4D97-AF65-F5344CB8AC3E}">
        <p14:creationId xmlns:p14="http://schemas.microsoft.com/office/powerpoint/2010/main" val="735180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extLst>
      <p:ext uri="{BB962C8B-B14F-4D97-AF65-F5344CB8AC3E}">
        <p14:creationId xmlns:p14="http://schemas.microsoft.com/office/powerpoint/2010/main" val="269685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160372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990791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extLst>
      <p:ext uri="{BB962C8B-B14F-4D97-AF65-F5344CB8AC3E}">
        <p14:creationId xmlns:p14="http://schemas.microsoft.com/office/powerpoint/2010/main" val="3926404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extLst>
      <p:ext uri="{BB962C8B-B14F-4D97-AF65-F5344CB8AC3E}">
        <p14:creationId xmlns:p14="http://schemas.microsoft.com/office/powerpoint/2010/main" val="1194582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extLst>
      <p:ext uri="{BB962C8B-B14F-4D97-AF65-F5344CB8AC3E}">
        <p14:creationId xmlns:p14="http://schemas.microsoft.com/office/powerpoint/2010/main" val="2439686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extLst>
      <p:ext uri="{BB962C8B-B14F-4D97-AF65-F5344CB8AC3E}">
        <p14:creationId xmlns:p14="http://schemas.microsoft.com/office/powerpoint/2010/main" val="390591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extLst>
      <p:ext uri="{BB962C8B-B14F-4D97-AF65-F5344CB8AC3E}">
        <p14:creationId xmlns:p14="http://schemas.microsoft.com/office/powerpoint/2010/main" val="638511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extLst>
      <p:ext uri="{BB962C8B-B14F-4D97-AF65-F5344CB8AC3E}">
        <p14:creationId xmlns:p14="http://schemas.microsoft.com/office/powerpoint/2010/main" val="3700267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extLst>
      <p:ext uri="{BB962C8B-B14F-4D97-AF65-F5344CB8AC3E}">
        <p14:creationId xmlns:p14="http://schemas.microsoft.com/office/powerpoint/2010/main" val="1825665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extLst>
      <p:ext uri="{BB962C8B-B14F-4D97-AF65-F5344CB8AC3E}">
        <p14:creationId xmlns:p14="http://schemas.microsoft.com/office/powerpoint/2010/main" val="36601365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extLst>
      <p:ext uri="{BB962C8B-B14F-4D97-AF65-F5344CB8AC3E}">
        <p14:creationId xmlns:p14="http://schemas.microsoft.com/office/powerpoint/2010/main" val="1352892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extLst>
      <p:ext uri="{BB962C8B-B14F-4D97-AF65-F5344CB8AC3E}">
        <p14:creationId xmlns:p14="http://schemas.microsoft.com/office/powerpoint/2010/main" val="3132674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extLst>
      <p:ext uri="{BB962C8B-B14F-4D97-AF65-F5344CB8AC3E}">
        <p14:creationId xmlns:p14="http://schemas.microsoft.com/office/powerpoint/2010/main" val="14552989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extLst>
      <p:ext uri="{BB962C8B-B14F-4D97-AF65-F5344CB8AC3E}">
        <p14:creationId xmlns:p14="http://schemas.microsoft.com/office/powerpoint/2010/main" val="2273219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extLst>
      <p:ext uri="{BB962C8B-B14F-4D97-AF65-F5344CB8AC3E}">
        <p14:creationId xmlns:p14="http://schemas.microsoft.com/office/powerpoint/2010/main" val="6748657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extLst>
      <p:ext uri="{BB962C8B-B14F-4D97-AF65-F5344CB8AC3E}">
        <p14:creationId xmlns:p14="http://schemas.microsoft.com/office/powerpoint/2010/main" val="3532492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70</a:t>
            </a:fld>
            <a:endParaRPr lang="zh-CN" altLang="en-US"/>
          </a:p>
        </p:txBody>
      </p:sp>
    </p:spTree>
    <p:extLst>
      <p:ext uri="{BB962C8B-B14F-4D97-AF65-F5344CB8AC3E}">
        <p14:creationId xmlns:p14="http://schemas.microsoft.com/office/powerpoint/2010/main" val="2642827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extLst>
      <p:ext uri="{BB962C8B-B14F-4D97-AF65-F5344CB8AC3E}">
        <p14:creationId xmlns:p14="http://schemas.microsoft.com/office/powerpoint/2010/main" val="14400156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extLst>
      <p:ext uri="{BB962C8B-B14F-4D97-AF65-F5344CB8AC3E}">
        <p14:creationId xmlns:p14="http://schemas.microsoft.com/office/powerpoint/2010/main" val="2338499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extLst>
      <p:ext uri="{BB962C8B-B14F-4D97-AF65-F5344CB8AC3E}">
        <p14:creationId xmlns:p14="http://schemas.microsoft.com/office/powerpoint/2010/main" val="2291660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extLst>
      <p:ext uri="{BB962C8B-B14F-4D97-AF65-F5344CB8AC3E}">
        <p14:creationId xmlns:p14="http://schemas.microsoft.com/office/powerpoint/2010/main" val="35988811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extLst>
      <p:ext uri="{BB962C8B-B14F-4D97-AF65-F5344CB8AC3E}">
        <p14:creationId xmlns:p14="http://schemas.microsoft.com/office/powerpoint/2010/main" val="10431669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extLst>
      <p:ext uri="{BB962C8B-B14F-4D97-AF65-F5344CB8AC3E}">
        <p14:creationId xmlns:p14="http://schemas.microsoft.com/office/powerpoint/2010/main" val="3527063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extLst>
      <p:ext uri="{BB962C8B-B14F-4D97-AF65-F5344CB8AC3E}">
        <p14:creationId xmlns:p14="http://schemas.microsoft.com/office/powerpoint/2010/main" val="3448329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extLst>
      <p:ext uri="{BB962C8B-B14F-4D97-AF65-F5344CB8AC3E}">
        <p14:creationId xmlns:p14="http://schemas.microsoft.com/office/powerpoint/2010/main" val="465167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extLst>
      <p:ext uri="{BB962C8B-B14F-4D97-AF65-F5344CB8AC3E}">
        <p14:creationId xmlns:p14="http://schemas.microsoft.com/office/powerpoint/2010/main" val="15932177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extLst>
      <p:ext uri="{BB962C8B-B14F-4D97-AF65-F5344CB8AC3E}">
        <p14:creationId xmlns:p14="http://schemas.microsoft.com/office/powerpoint/2010/main" val="186701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extLst>
      <p:ext uri="{BB962C8B-B14F-4D97-AF65-F5344CB8AC3E}">
        <p14:creationId xmlns:p14="http://schemas.microsoft.com/office/powerpoint/2010/main" val="25096247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extLst>
      <p:ext uri="{BB962C8B-B14F-4D97-AF65-F5344CB8AC3E}">
        <p14:creationId xmlns:p14="http://schemas.microsoft.com/office/powerpoint/2010/main" val="3751170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extLst>
      <p:ext uri="{BB962C8B-B14F-4D97-AF65-F5344CB8AC3E}">
        <p14:creationId xmlns:p14="http://schemas.microsoft.com/office/powerpoint/2010/main" val="13015676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extLst>
      <p:ext uri="{BB962C8B-B14F-4D97-AF65-F5344CB8AC3E}">
        <p14:creationId xmlns:p14="http://schemas.microsoft.com/office/powerpoint/2010/main" val="14632413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extLst>
      <p:ext uri="{BB962C8B-B14F-4D97-AF65-F5344CB8AC3E}">
        <p14:creationId xmlns:p14="http://schemas.microsoft.com/office/powerpoint/2010/main" val="29266795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extLst>
      <p:ext uri="{BB962C8B-B14F-4D97-AF65-F5344CB8AC3E}">
        <p14:creationId xmlns:p14="http://schemas.microsoft.com/office/powerpoint/2010/main" val="1754652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extLst>
      <p:ext uri="{BB962C8B-B14F-4D97-AF65-F5344CB8AC3E}">
        <p14:creationId xmlns:p14="http://schemas.microsoft.com/office/powerpoint/2010/main" val="23615830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extLst>
      <p:ext uri="{BB962C8B-B14F-4D97-AF65-F5344CB8AC3E}">
        <p14:creationId xmlns:p14="http://schemas.microsoft.com/office/powerpoint/2010/main" val="28463843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extLst>
      <p:ext uri="{BB962C8B-B14F-4D97-AF65-F5344CB8AC3E}">
        <p14:creationId xmlns:p14="http://schemas.microsoft.com/office/powerpoint/2010/main" val="2967198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extLst>
      <p:ext uri="{BB962C8B-B14F-4D97-AF65-F5344CB8AC3E}">
        <p14:creationId xmlns:p14="http://schemas.microsoft.com/office/powerpoint/2010/main" val="6734585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extLst>
      <p:ext uri="{BB962C8B-B14F-4D97-AF65-F5344CB8AC3E}">
        <p14:creationId xmlns:p14="http://schemas.microsoft.com/office/powerpoint/2010/main" val="34388691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extLst>
      <p:ext uri="{BB962C8B-B14F-4D97-AF65-F5344CB8AC3E}">
        <p14:creationId xmlns:p14="http://schemas.microsoft.com/office/powerpoint/2010/main" val="37274076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99</a:t>
            </a:fld>
            <a:endParaRPr lang="zh-CN" altLang="en-US"/>
          </a:p>
        </p:txBody>
      </p:sp>
    </p:spTree>
    <p:extLst>
      <p:ext uri="{BB962C8B-B14F-4D97-AF65-F5344CB8AC3E}">
        <p14:creationId xmlns:p14="http://schemas.microsoft.com/office/powerpoint/2010/main" val="8474549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100</a:t>
            </a:fld>
            <a:endParaRPr lang="zh-CN" altLang="en-US"/>
          </a:p>
        </p:txBody>
      </p:sp>
    </p:spTree>
    <p:extLst>
      <p:ext uri="{BB962C8B-B14F-4D97-AF65-F5344CB8AC3E}">
        <p14:creationId xmlns:p14="http://schemas.microsoft.com/office/powerpoint/2010/main" val="19514102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extLst>
      <p:ext uri="{BB962C8B-B14F-4D97-AF65-F5344CB8AC3E}">
        <p14:creationId xmlns:p14="http://schemas.microsoft.com/office/powerpoint/2010/main" val="36375940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extLst>
      <p:ext uri="{BB962C8B-B14F-4D97-AF65-F5344CB8AC3E}">
        <p14:creationId xmlns:p14="http://schemas.microsoft.com/office/powerpoint/2010/main" val="2535699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42F652BD-78F8-4263-B0C9-1157D4F9FB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1137BB1-9F5B-4D4F-9A56-B2F02308C48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16" name="图片 15">
            <a:extLst>
              <a:ext uri="{FF2B5EF4-FFF2-40B4-BE49-F238E27FC236}">
                <a16:creationId xmlns:a16="http://schemas.microsoft.com/office/drawing/2014/main" id="{DD30E425-C7EA-45F0-85AD-6C51CB843B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2024/7/5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2024/7/5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NUL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xml"/><Relationship Id="rId5" Type="http://schemas.openxmlformats.org/officeDocument/2006/relationships/image" Target="NULL"/><Relationship Id="rId4" Type="http://schemas.openxmlformats.org/officeDocument/2006/relationships/image" Target="../media/image2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NUL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NUL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66815" y="2637706"/>
            <a:ext cx="7272808" cy="923330"/>
          </a:xfrm>
          <a:prstGeom prst="rect">
            <a:avLst/>
          </a:prstGeom>
          <a:noFill/>
        </p:spPr>
        <p:txBody>
          <a:bodyPr wrap="square" rtlCol="0">
            <a:spAutoFit/>
          </a:bodyPr>
          <a:lstStyle/>
          <a:p>
            <a:pPr algn="ctr"/>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第</a:t>
            </a:r>
            <a:r>
              <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1</a:t>
            </a:r>
            <a:r>
              <a:rPr lang="zh-CN" altLang="en-US" sz="54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章 初识</a:t>
            </a:r>
            <a:r>
              <a:rPr lang="en-US" altLang="zh-CN" sz="54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JavaScript</a:t>
            </a:r>
            <a:endPar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endParaRPr>
          </a:p>
        </p:txBody>
      </p:sp>
      <p:sp>
        <p:nvSpPr>
          <p:cNvPr id="6" name="Rectangle 4"/>
          <p:cNvSpPr txBox="1">
            <a:spLocks noChangeArrowheads="1"/>
          </p:cNvSpPr>
          <p:nvPr/>
        </p:nvSpPr>
        <p:spPr>
          <a:xfrm>
            <a:off x="2494807" y="4005858"/>
            <a:ext cx="7416824"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《JavaScript+jQuery</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交互式</a:t>
            </a: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Web</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前端开发（</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481958" y="2281433"/>
            <a:ext cx="9721080" cy="688075"/>
            <a:chOff x="978872" y="1800500"/>
            <a:chExt cx="5471124" cy="515937"/>
          </a:xfrm>
        </p:grpSpPr>
        <p:sp>
          <p:nvSpPr>
            <p:cNvPr id="14"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基本概念</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描述</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用途</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由来</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组成</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特点</a:t>
              </a:r>
            </a:p>
          </p:txBody>
        </p:sp>
        <p:sp>
          <p:nvSpPr>
            <p:cNvPr id="16"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7" name="组合 16"/>
          <p:cNvGrpSpPr/>
          <p:nvPr/>
        </p:nvGrpSpPr>
        <p:grpSpPr>
          <a:xfrm>
            <a:off x="1481958" y="3285775"/>
            <a:ext cx="9709797" cy="685961"/>
            <a:chOff x="978872" y="2570436"/>
            <a:chExt cx="5437064" cy="514351"/>
          </a:xfrm>
        </p:grpSpPr>
        <p:sp>
          <p:nvSpPr>
            <p:cNvPr id="18"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浏览器的组成</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描述浏览器的</a:t>
              </a:r>
              <a:r>
                <a:rPr lang="zh-CN" altLang="zh-CN" sz="2000" dirty="0">
                  <a:solidFill>
                    <a:srgbClr val="1369B2"/>
                  </a:solidFill>
                  <a:latin typeface="微软雅黑" panose="020B0503020204020204" pitchFamily="34" charset="-122"/>
                  <a:ea typeface="微软雅黑" panose="020B0503020204020204" pitchFamily="34" charset="-122"/>
                  <a:cs typeface="+mn-ea"/>
                </a:rPr>
                <a:t>特点</a:t>
              </a:r>
              <a:r>
                <a:rPr lang="zh-CN" altLang="zh-CN" sz="2000" dirty="0">
                  <a:solidFill>
                    <a:srgbClr val="595959"/>
                  </a:solidFill>
                  <a:latin typeface="微软雅黑" panose="020B0503020204020204" pitchFamily="34" charset="-122"/>
                  <a:ea typeface="微软雅黑" panose="020B0503020204020204" pitchFamily="34" charset="-122"/>
                  <a:cs typeface="+mn-ea"/>
                </a:rPr>
                <a:t>以及</a:t>
              </a:r>
              <a:r>
                <a:rPr lang="zh-CN" altLang="zh-CN" sz="2000" dirty="0">
                  <a:solidFill>
                    <a:srgbClr val="1369B2"/>
                  </a:solidFill>
                  <a:latin typeface="微软雅黑" panose="020B0503020204020204" pitchFamily="34" charset="-122"/>
                  <a:ea typeface="微软雅黑" panose="020B0503020204020204" pitchFamily="34" charset="-122"/>
                  <a:cs typeface="+mn-ea"/>
                </a:rPr>
                <a:t>作用</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9"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481958" y="4253885"/>
            <a:ext cx="9698457" cy="688077"/>
            <a:chOff x="978872" y="3338787"/>
            <a:chExt cx="5437064" cy="515938"/>
          </a:xfrm>
        </p:grpSpPr>
        <p:sp>
          <p:nvSpPr>
            <p:cNvPr id="21"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下载和安装代码编辑器</a:t>
              </a:r>
              <a:r>
                <a:rPr lang="zh-CN" altLang="zh-CN" sz="2000" dirty="0">
                  <a:solidFill>
                    <a:srgbClr val="595959"/>
                  </a:solidFill>
                  <a:latin typeface="微软雅黑" panose="020B0503020204020204" pitchFamily="34" charset="-122"/>
                  <a:ea typeface="微软雅黑" panose="020B0503020204020204" pitchFamily="34" charset="-122"/>
                  <a:cs typeface="+mn-ea"/>
                </a:rPr>
                <a:t>的方法</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独立</a:t>
              </a:r>
              <a:r>
                <a:rPr lang="zh-CN" altLang="zh-CN" sz="2000" dirty="0">
                  <a:solidFill>
                    <a:srgbClr val="1369B2"/>
                  </a:solidFill>
                  <a:latin typeface="微软雅黑" panose="020B0503020204020204" pitchFamily="34" charset="-122"/>
                  <a:ea typeface="微软雅黑" panose="020B0503020204020204" pitchFamily="34" charset="-122"/>
                  <a:cs typeface="+mn-ea"/>
                </a:rPr>
                <a:t>下载</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安装</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2"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2169399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481958" y="3285778"/>
            <a:ext cx="9721080" cy="899073"/>
            <a:chOff x="978872" y="1713918"/>
            <a:chExt cx="5471124" cy="444703"/>
          </a:xfrm>
        </p:grpSpPr>
        <p:sp>
          <p:nvSpPr>
            <p:cNvPr id="14" name="Pentagon 3"/>
            <p:cNvSpPr/>
            <p:nvPr/>
          </p:nvSpPr>
          <p:spPr bwMode="auto">
            <a:xfrm>
              <a:off x="978872" y="1713918"/>
              <a:ext cx="5471124" cy="444703"/>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常用的输入输出语句</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灵活运用</a:t>
              </a:r>
              <a:r>
                <a:rPr lang="en-US" altLang="zh-CN" sz="2000" dirty="0">
                  <a:solidFill>
                    <a:srgbClr val="1369B2"/>
                  </a:solidFill>
                  <a:latin typeface="微软雅黑" panose="020B0503020204020204" pitchFamily="34" charset="-122"/>
                  <a:ea typeface="微软雅黑" panose="020B0503020204020204" pitchFamily="34" charset="-122"/>
                  <a:cs typeface="+mn-ea"/>
                </a:rPr>
                <a:t>prompt()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alert()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20000"/>
                </a:lnSpc>
                <a:defRPr/>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smtClean="0">
                  <a:solidFill>
                    <a:srgbClr val="1369B2"/>
                  </a:solidFill>
                  <a:latin typeface="微软雅黑" panose="020B0503020204020204" pitchFamily="34" charset="-122"/>
                  <a:ea typeface="微软雅黑" panose="020B0503020204020204" pitchFamily="34" charset="-122"/>
                  <a:cs typeface="+mn-ea"/>
                </a:rPr>
                <a:t>document.write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console.lo</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g</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语句</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6" name="MH_Others_1"/>
            <p:cNvSpPr/>
            <p:nvPr/>
          </p:nvSpPr>
          <p:spPr bwMode="auto">
            <a:xfrm>
              <a:off x="985649" y="1713918"/>
              <a:ext cx="76508" cy="444703"/>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481958" y="4509914"/>
            <a:ext cx="9698457" cy="866818"/>
            <a:chOff x="978872" y="3176806"/>
            <a:chExt cx="5437064" cy="515945"/>
          </a:xfrm>
        </p:grpSpPr>
        <p:sp>
          <p:nvSpPr>
            <p:cNvPr id="21" name="Pentagon 6"/>
            <p:cNvSpPr/>
            <p:nvPr/>
          </p:nvSpPr>
          <p:spPr bwMode="auto">
            <a:xfrm>
              <a:off x="978872" y="3176812"/>
              <a:ext cx="5437064" cy="51593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注释的使用</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合理运用</a:t>
              </a:r>
              <a:r>
                <a:rPr lang="zh-CN" altLang="zh-CN" sz="2000" dirty="0">
                  <a:solidFill>
                    <a:srgbClr val="1369B2"/>
                  </a:solidFill>
                  <a:latin typeface="微软雅黑" panose="020B0503020204020204" pitchFamily="34" charset="-122"/>
                  <a:ea typeface="微软雅黑" panose="020B0503020204020204" pitchFamily="34" charset="-122"/>
                  <a:cs typeface="+mn-ea"/>
                </a:rPr>
                <a:t>单行注释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多行注释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增强代码</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20000"/>
                </a:lnSpc>
                <a:defRPr/>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可读性</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2" name="MH_Others_1"/>
            <p:cNvSpPr/>
            <p:nvPr/>
          </p:nvSpPr>
          <p:spPr bwMode="auto">
            <a:xfrm>
              <a:off x="979281" y="3176806"/>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5" name="组合 14">
            <a:extLst>
              <a:ext uri="{FF2B5EF4-FFF2-40B4-BE49-F238E27FC236}">
                <a16:creationId xmlns:a16="http://schemas.microsoft.com/office/drawing/2014/main" id="{C55B7ECE-9BF9-4306-B06D-44E3051C7EF5}"/>
              </a:ext>
            </a:extLst>
          </p:cNvPr>
          <p:cNvGrpSpPr/>
          <p:nvPr/>
        </p:nvGrpSpPr>
        <p:grpSpPr>
          <a:xfrm>
            <a:off x="1481958" y="2133641"/>
            <a:ext cx="9698457" cy="836837"/>
            <a:chOff x="973227" y="3206796"/>
            <a:chExt cx="5437064" cy="627482"/>
          </a:xfrm>
        </p:grpSpPr>
        <p:sp>
          <p:nvSpPr>
            <p:cNvPr id="26" name="Pentagon 6">
              <a:extLst>
                <a:ext uri="{FF2B5EF4-FFF2-40B4-BE49-F238E27FC236}">
                  <a16:creationId xmlns:a16="http://schemas.microsoft.com/office/drawing/2014/main" id="{ADA22A8C-8DFB-42FF-8563-7E9702ECEAE7}"/>
                </a:ext>
              </a:extLst>
            </p:cNvPr>
            <p:cNvSpPr/>
            <p:nvPr/>
          </p:nvSpPr>
          <p:spPr bwMode="auto">
            <a:xfrm>
              <a:off x="973227" y="3206803"/>
              <a:ext cx="5437064" cy="627475"/>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代码引入方式</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灵活运用</a:t>
              </a:r>
              <a:r>
                <a:rPr lang="zh-CN" altLang="zh-CN" sz="2000" dirty="0">
                  <a:solidFill>
                    <a:srgbClr val="1369B2"/>
                  </a:solidFill>
                  <a:latin typeface="微软雅黑" panose="020B0503020204020204" pitchFamily="34" charset="-122"/>
                  <a:ea typeface="微软雅黑" panose="020B0503020204020204" pitchFamily="34" charset="-122"/>
                  <a:cs typeface="+mn-ea"/>
                </a:rPr>
                <a:t>行内式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内部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外部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方式</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20000"/>
                </a:lnSpc>
                <a:defRPr/>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7" name="MH_Others_1">
              <a:extLst>
                <a:ext uri="{FF2B5EF4-FFF2-40B4-BE49-F238E27FC236}">
                  <a16:creationId xmlns:a16="http://schemas.microsoft.com/office/drawing/2014/main" id="{75984091-CA7D-486E-9BDD-4ADCCDD4BD5C}"/>
                </a:ext>
              </a:extLst>
            </p:cNvPr>
            <p:cNvSpPr/>
            <p:nvPr/>
          </p:nvSpPr>
          <p:spPr bwMode="auto">
            <a:xfrm>
              <a:off x="979977" y="3206796"/>
              <a:ext cx="81854" cy="627482"/>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2148473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481958" y="2281433"/>
            <a:ext cx="9721080" cy="688075"/>
            <a:chOff x="978872" y="1800500"/>
            <a:chExt cx="5471124" cy="515937"/>
          </a:xfrm>
        </p:grpSpPr>
        <p:sp>
          <p:nvSpPr>
            <p:cNvPr id="14"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什么是变量</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描述</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变量的概念</a:t>
              </a:r>
            </a:p>
          </p:txBody>
        </p:sp>
        <p:sp>
          <p:nvSpPr>
            <p:cNvPr id="16"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7" name="组合 16"/>
          <p:cNvGrpSpPr/>
          <p:nvPr/>
        </p:nvGrpSpPr>
        <p:grpSpPr>
          <a:xfrm>
            <a:off x="1481958" y="3251655"/>
            <a:ext cx="9709797" cy="685961"/>
            <a:chOff x="978872" y="2570436"/>
            <a:chExt cx="5437064" cy="514351"/>
          </a:xfrm>
        </p:grpSpPr>
        <p:sp>
          <p:nvSpPr>
            <p:cNvPr id="18"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变量的命名规则</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根据变量的命名规则为</a:t>
              </a:r>
              <a:r>
                <a:rPr lang="zh-CN" altLang="zh-CN" sz="2000" dirty="0">
                  <a:solidFill>
                    <a:srgbClr val="1369B2"/>
                  </a:solidFill>
                  <a:latin typeface="微软雅黑" panose="020B0503020204020204" pitchFamily="34" charset="-122"/>
                  <a:ea typeface="微软雅黑" panose="020B0503020204020204" pitchFamily="34" charset="-122"/>
                  <a:cs typeface="+mn-ea"/>
                </a:rPr>
                <a:t>变量命名</a:t>
              </a:r>
            </a:p>
          </p:txBody>
        </p:sp>
        <p:sp>
          <p:nvSpPr>
            <p:cNvPr id="19"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481958" y="4219765"/>
            <a:ext cx="9698457" cy="688077"/>
            <a:chOff x="978872" y="3338787"/>
            <a:chExt cx="5437064" cy="515938"/>
          </a:xfrm>
        </p:grpSpPr>
        <p:sp>
          <p:nvSpPr>
            <p:cNvPr id="21"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变量的声明与赋值</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声明变量</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并为其</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赋值</a:t>
              </a:r>
            </a:p>
          </p:txBody>
        </p:sp>
        <p:sp>
          <p:nvSpPr>
            <p:cNvPr id="22"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1192597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4" y="2324124"/>
            <a:ext cx="10269847"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Web</a:t>
            </a:r>
            <a:r>
              <a:rPr lang="zh-CN" altLang="zh-CN" sz="2000" dirty="0">
                <a:solidFill>
                  <a:srgbClr val="595959"/>
                </a:solidFill>
                <a:latin typeface="微软雅黑" panose="020B0503020204020204" pitchFamily="34" charset="-122"/>
                <a:ea typeface="微软雅黑" panose="020B0503020204020204" pitchFamily="34" charset="-122"/>
              </a:rPr>
              <a:t>前端开发必备的技术包括</a:t>
            </a:r>
            <a:r>
              <a:rPr lang="en-US" altLang="zh-CN" sz="2000" dirty="0">
                <a:solidFill>
                  <a:srgbClr val="1369B2"/>
                </a:solidFill>
                <a:latin typeface="微软雅黑" panose="020B0503020204020204" pitchFamily="34" charset="-122"/>
                <a:ea typeface="微软雅黑" panose="020B0503020204020204" pitchFamily="34" charset="-122"/>
              </a:rPr>
              <a:t>HTML</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Hypertext Markup Language</a:t>
            </a:r>
            <a:r>
              <a:rPr lang="zh-CN" altLang="zh-CN" sz="2000" dirty="0">
                <a:solidFill>
                  <a:srgbClr val="595959"/>
                </a:solidFill>
                <a:latin typeface="微软雅黑" panose="020B0503020204020204" pitchFamily="34" charset="-122"/>
                <a:ea typeface="微软雅黑" panose="020B0503020204020204" pitchFamily="34" charset="-122"/>
              </a:rPr>
              <a:t>，超文本标记语言）、</a:t>
            </a:r>
            <a:r>
              <a:rPr lang="en-US" altLang="zh-CN" sz="2000" dirty="0">
                <a:solidFill>
                  <a:srgbClr val="1369B2"/>
                </a:solidFill>
                <a:latin typeface="微软雅黑" panose="020B0503020204020204" pitchFamily="34" charset="-122"/>
                <a:ea typeface="微软雅黑" panose="020B0503020204020204" pitchFamily="34" charset="-122"/>
              </a:rPr>
              <a:t>CSS</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Cascading Style Sheets</a:t>
            </a:r>
            <a:r>
              <a:rPr lang="zh-CN" altLang="zh-CN" sz="2000" dirty="0">
                <a:solidFill>
                  <a:srgbClr val="595959"/>
                </a:solidFill>
                <a:latin typeface="微软雅黑" panose="020B0503020204020204" pitchFamily="34" charset="-122"/>
                <a:ea typeface="微软雅黑" panose="020B0503020204020204" pitchFamily="34" charset="-122"/>
              </a:rPr>
              <a:t>，串联样式表）和</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HTML</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CSS</a:t>
            </a:r>
            <a:r>
              <a:rPr lang="zh-CN" altLang="zh-CN" sz="2000" dirty="0">
                <a:solidFill>
                  <a:srgbClr val="595959"/>
                </a:solidFill>
                <a:latin typeface="微软雅黑" panose="020B0503020204020204" pitchFamily="34" charset="-122"/>
                <a:ea typeface="微软雅黑" panose="020B0503020204020204" pitchFamily="34" charset="-122"/>
              </a:rPr>
              <a:t>用于创建美观且易于理解的</a:t>
            </a:r>
            <a:r>
              <a:rPr lang="zh-CN" altLang="zh-CN" sz="2000" dirty="0">
                <a:solidFill>
                  <a:srgbClr val="1369B2"/>
                </a:solidFill>
                <a:latin typeface="微软雅黑" panose="020B0503020204020204" pitchFamily="34" charset="-122"/>
                <a:ea typeface="微软雅黑" panose="020B0503020204020204" pitchFamily="34" charset="-122"/>
              </a:rPr>
              <a:t>网页布局</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页面样式</a:t>
            </a:r>
            <a:r>
              <a:rPr lang="zh-CN" altLang="zh-CN" sz="2000" dirty="0">
                <a:solidFill>
                  <a:srgbClr val="595959"/>
                </a:solidFill>
                <a:latin typeface="微软雅黑" panose="020B0503020204020204" pitchFamily="34" charset="-122"/>
                <a:ea typeface="微软雅黑" panose="020B0503020204020204" pitchFamily="34" charset="-122"/>
              </a:rPr>
              <a:t>，但对于具有</a:t>
            </a:r>
            <a:r>
              <a:rPr lang="zh-CN" altLang="zh-CN" sz="2000" dirty="0">
                <a:solidFill>
                  <a:srgbClr val="1369B2"/>
                </a:solidFill>
                <a:latin typeface="微软雅黑" panose="020B0503020204020204" pitchFamily="34" charset="-122"/>
                <a:ea typeface="微软雅黑" panose="020B0503020204020204" pitchFamily="34" charset="-122"/>
              </a:rPr>
              <a:t>交互性</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动态性</a:t>
            </a:r>
            <a:r>
              <a:rPr lang="zh-CN" altLang="zh-CN" sz="2000" dirty="0">
                <a:solidFill>
                  <a:srgbClr val="595959"/>
                </a:solidFill>
                <a:latin typeface="微软雅黑" panose="020B0503020204020204" pitchFamily="34" charset="-122"/>
                <a:ea typeface="微软雅黑" panose="020B0503020204020204" pitchFamily="34" charset="-122"/>
              </a:rPr>
              <a:t>的网页，</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是必不可少的。因此，学习</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zh-CN" sz="2000" dirty="0">
                <a:solidFill>
                  <a:srgbClr val="595959"/>
                </a:solidFill>
                <a:latin typeface="微软雅黑" panose="020B0503020204020204" pitchFamily="34" charset="-122"/>
                <a:ea typeface="微软雅黑" panose="020B0503020204020204" pitchFamily="34" charset="-122"/>
              </a:rPr>
              <a:t>前端</a:t>
            </a:r>
            <a:r>
              <a:rPr lang="zh-CN" altLang="zh-CN" sz="2000" dirty="0" smtClean="0">
                <a:solidFill>
                  <a:srgbClr val="595959"/>
                </a:solidFill>
                <a:latin typeface="微软雅黑" panose="020B0503020204020204" pitchFamily="34" charset="-122"/>
                <a:ea typeface="微软雅黑" panose="020B0503020204020204" pitchFamily="34" charset="-122"/>
              </a:rPr>
              <a:t>开发</a:t>
            </a:r>
            <a:r>
              <a:rPr lang="zh-CN" altLang="en-US" sz="2000" dirty="0">
                <a:solidFill>
                  <a:srgbClr val="595959"/>
                </a:solidFill>
                <a:latin typeface="微软雅黑" panose="020B0503020204020204" pitchFamily="34" charset="-122"/>
                <a:ea typeface="微软雅黑" panose="020B0503020204020204" pitchFamily="34" charset="-122"/>
              </a:rPr>
              <a:t>并</a:t>
            </a:r>
            <a:r>
              <a:rPr lang="zh-CN" altLang="en-US" sz="2000" dirty="0" smtClean="0">
                <a:solidFill>
                  <a:srgbClr val="595959"/>
                </a:solidFill>
                <a:latin typeface="微软雅黑" panose="020B0503020204020204" pitchFamily="34" charset="-122"/>
                <a:ea typeface="微软雅黑" panose="020B0503020204020204" pitchFamily="34" charset="-122"/>
              </a:rPr>
              <a:t>实现更为复杂的交互效果和功能</a:t>
            </a:r>
            <a:r>
              <a:rPr lang="zh-CN" altLang="zh-CN" sz="2000" dirty="0" smtClean="0">
                <a:solidFill>
                  <a:srgbClr val="595959"/>
                </a:solidFill>
                <a:latin typeface="微软雅黑" panose="020B0503020204020204" pitchFamily="34" charset="-122"/>
                <a:ea typeface="微软雅黑" panose="020B0503020204020204" pitchFamily="34" charset="-122"/>
              </a:rPr>
              <a:t>不仅</a:t>
            </a:r>
            <a:r>
              <a:rPr lang="zh-CN" altLang="zh-CN" sz="2000" dirty="0">
                <a:solidFill>
                  <a:srgbClr val="595959"/>
                </a:solidFill>
                <a:latin typeface="微软雅黑" panose="020B0503020204020204" pitchFamily="34" charset="-122"/>
                <a:ea typeface="微软雅黑" panose="020B0503020204020204" pitchFamily="34" charset="-122"/>
              </a:rPr>
              <a:t>需要掌握</a:t>
            </a:r>
            <a:r>
              <a:rPr lang="en-US" altLang="zh-CN" sz="2000" dirty="0">
                <a:solidFill>
                  <a:srgbClr val="595959"/>
                </a:solidFill>
                <a:latin typeface="微软雅黑" panose="020B0503020204020204" pitchFamily="34" charset="-122"/>
                <a:ea typeface="微软雅黑" panose="020B0503020204020204" pitchFamily="34" charset="-122"/>
              </a:rPr>
              <a:t>HTML </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 CSS </a:t>
            </a:r>
            <a:r>
              <a:rPr lang="zh-CN" altLang="zh-CN" sz="2000" dirty="0">
                <a:solidFill>
                  <a:srgbClr val="595959"/>
                </a:solidFill>
                <a:latin typeface="微软雅黑" panose="020B0503020204020204" pitchFamily="34" charset="-122"/>
                <a:ea typeface="微软雅黑" panose="020B0503020204020204" pitchFamily="34" charset="-122"/>
              </a:rPr>
              <a:t>的基础知识，还需要掌握</a:t>
            </a:r>
            <a:r>
              <a:rPr lang="en-US" altLang="zh-CN" sz="2000" dirty="0" smtClean="0">
                <a:solidFill>
                  <a:srgbClr val="595959"/>
                </a:solidFill>
                <a:latin typeface="微软雅黑" panose="020B0503020204020204" pitchFamily="34" charset="-122"/>
                <a:ea typeface="微软雅黑" panose="020B0503020204020204" pitchFamily="34" charset="-122"/>
              </a:rPr>
              <a:t>JavaScript</a:t>
            </a:r>
            <a:r>
              <a:rPr lang="zh-CN" altLang="en-US" sz="2000" dirty="0" smtClean="0">
                <a:solidFill>
                  <a:srgbClr val="595959"/>
                </a:solidFill>
                <a:latin typeface="微软雅黑" panose="020B0503020204020204" pitchFamily="34" charset="-122"/>
                <a:ea typeface="微软雅黑" panose="020B0503020204020204" pitchFamily="34" charset="-122"/>
              </a:rPr>
              <a:t>技术</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本章将介绍</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基本概念</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开发工具</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基本使用</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变量</a:t>
            </a:r>
            <a:r>
              <a:rPr lang="zh-CN" altLang="zh-CN" sz="2000" dirty="0">
                <a:solidFill>
                  <a:srgbClr val="595959"/>
                </a:solidFill>
                <a:latin typeface="微软雅黑" panose="020B0503020204020204" pitchFamily="34" charset="-122"/>
                <a:ea typeface="微软雅黑" panose="020B0503020204020204" pitchFamily="34" charset="-122"/>
              </a:rPr>
              <a:t>等内容，让读者对</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smtClean="0">
                <a:solidFill>
                  <a:srgbClr val="595959"/>
                </a:solidFill>
                <a:latin typeface="微软雅黑" panose="020B0503020204020204" pitchFamily="34" charset="-122"/>
                <a:ea typeface="微软雅黑" panose="020B0503020204020204" pitchFamily="34" charset="-122"/>
              </a:rPr>
              <a:t>有初步</a:t>
            </a:r>
            <a:r>
              <a:rPr lang="zh-CN" altLang="zh-CN" sz="2000" dirty="0">
                <a:solidFill>
                  <a:srgbClr val="595959"/>
                </a:solidFill>
                <a:latin typeface="微软雅黑" panose="020B0503020204020204" pitchFamily="34" charset="-122"/>
                <a:ea typeface="微软雅黑" panose="020B0503020204020204" pitchFamily="34" charset="-122"/>
              </a:rPr>
              <a:t>的认识</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3119265" y="2298158"/>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1.1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3119265" y="3165473"/>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3896"/>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1.2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19265" y="4066253"/>
            <a:ext cx="1192190" cy="614525"/>
            <a:chOff x="2215144" y="3084852"/>
            <a:chExt cx="1244730" cy="844793"/>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1.3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4024817" y="2275979"/>
            <a:ext cx="5142331" cy="613062"/>
            <a:chOff x="4315150" y="953426"/>
            <a:chExt cx="3857250" cy="540057"/>
          </a:xfrm>
        </p:grpSpPr>
        <p:sp>
          <p:nvSpPr>
            <p:cNvPr id="31" name="矩形 30"/>
            <p:cNvSpPr/>
            <p:nvPr/>
          </p:nvSpPr>
          <p:spPr>
            <a:xfrm>
              <a:off x="4830201" y="1057390"/>
              <a:ext cx="2827147" cy="332129"/>
            </a:xfrm>
            <a:prstGeom prst="rect">
              <a:avLst/>
            </a:prstGeom>
            <a:ln w="15875">
              <a:noFill/>
            </a:ln>
          </p:spPr>
          <p:txBody>
            <a:bodyPr wrap="square" lIns="68580" tIns="34290" rIns="68580" bIns="34290">
              <a:spAutoFit/>
            </a:bodyPr>
            <a:lstStyle/>
            <a:p>
              <a:r>
                <a:rPr lang="en-US" altLang="zh-CN" sz="2000"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2000">
                  <a:solidFill>
                    <a:srgbClr val="1369B2"/>
                  </a:solidFill>
                  <a:latin typeface="微软雅黑" panose="020B0503020204020204" pitchFamily="34" charset="-122"/>
                  <a:ea typeface="微软雅黑" panose="020B0503020204020204" pitchFamily="34" charset="-122"/>
                  <a:cs typeface="+mn-ea"/>
                  <a:sym typeface="+mn-lt"/>
                </a:rPr>
                <a:t>基本概念</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24817" y="3148647"/>
            <a:ext cx="5142331" cy="613062"/>
            <a:chOff x="4315150" y="1647579"/>
            <a:chExt cx="3857250" cy="540057"/>
          </a:xfrm>
        </p:grpSpPr>
        <p:sp>
          <p:nvSpPr>
            <p:cNvPr id="34" name="矩形 33"/>
            <p:cNvSpPr/>
            <p:nvPr/>
          </p:nvSpPr>
          <p:spPr>
            <a:xfrm>
              <a:off x="4830201" y="1751543"/>
              <a:ext cx="2827147" cy="332129"/>
            </a:xfrm>
            <a:prstGeom prst="rect">
              <a:avLst/>
            </a:prstGeom>
            <a:ln w="15875">
              <a:noFill/>
            </a:ln>
          </p:spPr>
          <p:txBody>
            <a:bodyPr wrap="square" lIns="68580" tIns="34290" rIns="68580" bIns="34290">
              <a:spAutoFit/>
            </a:bodyPr>
            <a:lstStyle/>
            <a:p>
              <a:r>
                <a:rPr lang="en-US" altLang="zh-CN" sz="2000"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2000">
                  <a:solidFill>
                    <a:srgbClr val="1369B2"/>
                  </a:solidFill>
                  <a:latin typeface="微软雅黑" panose="020B0503020204020204" pitchFamily="34" charset="-122"/>
                  <a:ea typeface="微软雅黑" panose="020B0503020204020204" pitchFamily="34" charset="-122"/>
                  <a:cs typeface="+mn-ea"/>
                  <a:sym typeface="+mn-lt"/>
                </a:rPr>
                <a:t>开发工具</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24817" y="4044600"/>
            <a:ext cx="5142331" cy="613062"/>
            <a:chOff x="4315150" y="2341731"/>
            <a:chExt cx="3857250" cy="540057"/>
          </a:xfrm>
        </p:grpSpPr>
        <p:sp>
          <p:nvSpPr>
            <p:cNvPr id="37" name="矩形 36"/>
            <p:cNvSpPr/>
            <p:nvPr/>
          </p:nvSpPr>
          <p:spPr>
            <a:xfrm>
              <a:off x="4830201" y="2445695"/>
              <a:ext cx="2827146" cy="332129"/>
            </a:xfrm>
            <a:prstGeom prst="rect">
              <a:avLst/>
            </a:prstGeom>
            <a:ln w="15875">
              <a:noFill/>
            </a:ln>
          </p:spPr>
          <p:txBody>
            <a:bodyPr wrap="square" lIns="68580" tIns="34290" rIns="68580" bIns="34290">
              <a:spAutoFit/>
            </a:bodyPr>
            <a:lstStyle/>
            <a:p>
              <a:r>
                <a:rPr lang="en-US" altLang="zh-CN" sz="2000"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2000">
                  <a:solidFill>
                    <a:srgbClr val="1369B2"/>
                  </a:solidFill>
                  <a:latin typeface="微软雅黑" panose="020B0503020204020204" pitchFamily="34" charset="-122"/>
                  <a:ea typeface="微软雅黑" panose="020B0503020204020204" pitchFamily="34" charset="-122"/>
                  <a:cs typeface="+mn-ea"/>
                  <a:sym typeface="+mn-lt"/>
                </a:rPr>
                <a:t>基本使用</a:t>
              </a:r>
              <a:endParaRPr lang="en-US"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38" name="平行四边形 3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a:extLst>
              <a:ext uri="{FF2B5EF4-FFF2-40B4-BE49-F238E27FC236}">
                <a16:creationId xmlns:a16="http://schemas.microsoft.com/office/drawing/2014/main" id="{CB376FFE-0A38-421F-8A6D-2DEDEBD8EEF3}"/>
              </a:ext>
            </a:extLst>
          </p:cNvPr>
          <p:cNvGrpSpPr/>
          <p:nvPr/>
        </p:nvGrpSpPr>
        <p:grpSpPr>
          <a:xfrm>
            <a:off x="3108578" y="4975509"/>
            <a:ext cx="1192190" cy="614525"/>
            <a:chOff x="2215144" y="3084852"/>
            <a:chExt cx="1244730" cy="844793"/>
          </a:xfrm>
        </p:grpSpPr>
        <p:sp>
          <p:nvSpPr>
            <p:cNvPr id="40" name="平行四边形 39">
              <a:extLst>
                <a:ext uri="{FF2B5EF4-FFF2-40B4-BE49-F238E27FC236}">
                  <a16:creationId xmlns:a16="http://schemas.microsoft.com/office/drawing/2014/main" id="{388C74B8-A6C9-434C-9F0F-CD30735A046E}"/>
                </a:ext>
              </a:extLst>
            </p:cNvPr>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a:extLst>
                <a:ext uri="{FF2B5EF4-FFF2-40B4-BE49-F238E27FC236}">
                  <a16:creationId xmlns:a16="http://schemas.microsoft.com/office/drawing/2014/main" id="{C9AEB00F-783C-4F0C-ABD8-86838E547BFB}"/>
                </a:ext>
              </a:extLst>
            </p:cNvPr>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1.4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332EB411-C9AC-44C7-A5C7-EDF08E27D459}"/>
              </a:ext>
            </a:extLst>
          </p:cNvPr>
          <p:cNvGrpSpPr/>
          <p:nvPr/>
        </p:nvGrpSpPr>
        <p:grpSpPr>
          <a:xfrm>
            <a:off x="4014130" y="4953855"/>
            <a:ext cx="5142331" cy="613062"/>
            <a:chOff x="4315150" y="2341731"/>
            <a:chExt cx="3857250" cy="540057"/>
          </a:xfrm>
        </p:grpSpPr>
        <p:sp>
          <p:nvSpPr>
            <p:cNvPr id="43" name="矩形 42">
              <a:extLst>
                <a:ext uri="{FF2B5EF4-FFF2-40B4-BE49-F238E27FC236}">
                  <a16:creationId xmlns:a16="http://schemas.microsoft.com/office/drawing/2014/main" id="{EB4C37FC-9E76-4047-8F7E-664EC06978D2}"/>
                </a:ext>
              </a:extLst>
            </p:cNvPr>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a:solidFill>
                    <a:srgbClr val="1369B2"/>
                  </a:solidFill>
                  <a:latin typeface="微软雅黑" panose="020B0503020204020204" pitchFamily="34" charset="-122"/>
                  <a:ea typeface="微软雅黑" panose="020B0503020204020204" pitchFamily="34" charset="-122"/>
                  <a:cs typeface="+mn-ea"/>
                  <a:sym typeface="+mn-lt"/>
                </a:rPr>
                <a:t>变量</a:t>
              </a:r>
              <a:endParaRPr lang="en-US"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44" name="平行四边形 43">
              <a:extLst>
                <a:ext uri="{FF2B5EF4-FFF2-40B4-BE49-F238E27FC236}">
                  <a16:creationId xmlns:a16="http://schemas.microsoft.com/office/drawing/2014/main" id="{C1AC45FF-1323-43E6-81E4-96785288BE31}"/>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126741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pPr algn="l">
              <a:buClrTx/>
              <a:buSzTx/>
              <a:buFontTx/>
            </a:pPr>
            <a:r>
              <a:rPr lang="en-US" altLang="zh-CN" sz="4800" b="1"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基本概念</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基本概念</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，能够描述</a:t>
            </a:r>
            <a:r>
              <a:rPr lang="en-US" altLang="zh-CN"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用途</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550711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6" y="1985402"/>
            <a:ext cx="6740375" cy="3439134"/>
            <a:chOff x="4899446" y="1985402"/>
            <a:chExt cx="6740375" cy="3439134"/>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381849" y="2100549"/>
              <a:ext cx="593616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rPr>
                <a:t>是</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zh-CN" sz="2000" dirty="0">
                  <a:solidFill>
                    <a:srgbClr val="595959"/>
                  </a:solidFill>
                  <a:latin typeface="微软雅黑" panose="020B0503020204020204" pitchFamily="34" charset="-122"/>
                  <a:ea typeface="微软雅黑" panose="020B0503020204020204" pitchFamily="34" charset="-122"/>
                </a:rPr>
                <a:t>前端开发</a:t>
              </a:r>
              <a:r>
                <a:rPr lang="zh-CN" altLang="zh-CN" sz="2000" dirty="0" smtClean="0">
                  <a:solidFill>
                    <a:srgbClr val="595959"/>
                  </a:solidFill>
                  <a:latin typeface="微软雅黑" panose="020B0503020204020204" pitchFamily="34" charset="-122"/>
                  <a:ea typeface="微软雅黑" panose="020B0503020204020204" pitchFamily="34" charset="-122"/>
                </a:rPr>
                <a:t>中</a:t>
              </a:r>
              <a:r>
                <a:rPr lang="zh-CN" altLang="en-US" sz="2000" dirty="0" smtClean="0">
                  <a:solidFill>
                    <a:srgbClr val="595959"/>
                  </a:solidFill>
                  <a:latin typeface="微软雅黑" panose="020B0503020204020204" pitchFamily="34" charset="-122"/>
                  <a:ea typeface="微软雅黑" panose="020B0503020204020204" pitchFamily="34" charset="-122"/>
                </a:rPr>
                <a:t>用到</a:t>
              </a:r>
              <a:r>
                <a:rPr lang="zh-CN" altLang="zh-CN" sz="2000" dirty="0" smtClean="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595959"/>
                  </a:solidFill>
                  <a:latin typeface="微软雅黑" panose="020B0503020204020204" pitchFamily="34" charset="-122"/>
                  <a:ea typeface="微软雅黑" panose="020B0503020204020204" pitchFamily="34" charset="-122"/>
                </a:rPr>
                <a:t>一门编程语言，最初主要用于</a:t>
              </a:r>
              <a:r>
                <a:rPr lang="zh-CN" altLang="zh-CN" sz="2000" dirty="0">
                  <a:solidFill>
                    <a:srgbClr val="1369B2"/>
                  </a:solidFill>
                  <a:latin typeface="微软雅黑" panose="020B0503020204020204" pitchFamily="34" charset="-122"/>
                  <a:ea typeface="微软雅黑" panose="020B0503020204020204" pitchFamily="34" charset="-122"/>
                  <a:cs typeface="+mn-ea"/>
                </a:rPr>
                <a:t>开发交互式的网页</a:t>
              </a:r>
              <a:r>
                <a:rPr lang="zh-CN" altLang="zh-CN" sz="2000" dirty="0">
                  <a:solidFill>
                    <a:srgbClr val="595959"/>
                  </a:solidFill>
                  <a:latin typeface="微软雅黑" panose="020B0503020204020204" pitchFamily="34" charset="-122"/>
                  <a:ea typeface="微软雅黑" panose="020B0503020204020204" pitchFamily="34" charset="-122"/>
                </a:rPr>
                <a:t>，但随着技术的发展，</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smtClean="0">
                  <a:solidFill>
                    <a:srgbClr val="595959"/>
                  </a:solidFill>
                  <a:latin typeface="微软雅黑" panose="020B0503020204020204" pitchFamily="34" charset="-122"/>
                  <a:ea typeface="微软雅黑" panose="020B0503020204020204" pitchFamily="34" charset="-122"/>
                </a:rPr>
                <a:t>应用</a:t>
              </a:r>
              <a:r>
                <a:rPr lang="zh-CN" altLang="en-US" sz="2000" dirty="0" smtClean="0">
                  <a:solidFill>
                    <a:srgbClr val="595959"/>
                  </a:solidFill>
                  <a:latin typeface="微软雅黑" panose="020B0503020204020204" pitchFamily="34" charset="-122"/>
                  <a:ea typeface="微软雅黑" panose="020B0503020204020204" pitchFamily="34" charset="-122"/>
                </a:rPr>
                <a:t>范围</a:t>
              </a:r>
              <a:r>
                <a:rPr lang="zh-CN" altLang="zh-CN" sz="2000" dirty="0" smtClean="0">
                  <a:solidFill>
                    <a:srgbClr val="595959"/>
                  </a:solidFill>
                  <a:latin typeface="微软雅黑" panose="020B0503020204020204" pitchFamily="34" charset="-122"/>
                  <a:ea typeface="微软雅黑" panose="020B0503020204020204" pitchFamily="34" charset="-122"/>
                </a:rPr>
                <a:t>已经</a:t>
              </a:r>
              <a:r>
                <a:rPr lang="zh-CN" altLang="zh-CN" sz="2000" dirty="0">
                  <a:solidFill>
                    <a:srgbClr val="595959"/>
                  </a:solidFill>
                  <a:latin typeface="微软雅黑" panose="020B0503020204020204" pitchFamily="34" charset="-122"/>
                  <a:ea typeface="微软雅黑" panose="020B0503020204020204" pitchFamily="34" charset="-122"/>
                </a:rPr>
                <a:t>变得更加广泛，它还可以用来开发</a:t>
              </a:r>
              <a:r>
                <a:rPr lang="zh-CN" altLang="zh-CN" sz="2000" dirty="0">
                  <a:solidFill>
                    <a:srgbClr val="1369B2"/>
                  </a:solidFill>
                  <a:latin typeface="微软雅黑" panose="020B0503020204020204" pitchFamily="34" charset="-122"/>
                  <a:ea typeface="微软雅黑" panose="020B0503020204020204" pitchFamily="34" charset="-122"/>
                  <a:cs typeface="+mn-ea"/>
                </a:rPr>
                <a:t>服务器应用</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桌面应用</a:t>
              </a:r>
              <a:r>
                <a:rPr lang="zh-CN" altLang="zh-CN" sz="2000" dirty="0">
                  <a:solidFill>
                    <a:srgbClr val="595959"/>
                  </a:solidFill>
                  <a:latin typeface="微软雅黑" panose="020B0503020204020204" pitchFamily="34" charset="-122"/>
                  <a:ea typeface="微软雅黑" panose="020B0503020204020204" pitchFamily="34" charset="-122"/>
                </a:rPr>
                <a:t>或者</a:t>
              </a:r>
              <a:r>
                <a:rPr lang="zh-CN" altLang="zh-CN" sz="2000" dirty="0">
                  <a:solidFill>
                    <a:srgbClr val="1369B2"/>
                  </a:solidFill>
                  <a:latin typeface="微软雅黑" panose="020B0503020204020204" pitchFamily="34" charset="-122"/>
                  <a:ea typeface="微软雅黑" panose="020B0503020204020204" pitchFamily="34" charset="-122"/>
                  <a:cs typeface="+mn-ea"/>
                </a:rPr>
                <a:t>移动应用</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许多</a:t>
              </a:r>
              <a:r>
                <a:rPr lang="en-US" altLang="zh-CN" sz="2000" dirty="0" smtClean="0">
                  <a:solidFill>
                    <a:srgbClr val="1369B2"/>
                  </a:solidFill>
                  <a:latin typeface="微软雅黑" panose="020B0503020204020204" pitchFamily="34" charset="-122"/>
                  <a:ea typeface="微软雅黑" panose="020B0503020204020204" pitchFamily="34" charset="-122"/>
                </a:rPr>
                <a:t>JavaScript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库</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软件</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1369B2"/>
                  </a:solidFill>
                  <a:latin typeface="微软雅黑" panose="020B0503020204020204" pitchFamily="34" charset="-122"/>
                  <a:ea typeface="微软雅黑" panose="020B0503020204020204" pitchFamily="34" charset="-122"/>
                  <a:cs typeface="+mn-ea"/>
                </a:rPr>
                <a:t>jQuery</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cs typeface="+mn-ea"/>
                </a:rPr>
                <a:t>Node.js</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cs typeface="+mn-ea"/>
                </a:rPr>
                <a:t>Vue.js</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cs typeface="+mn-ea"/>
                </a:rPr>
                <a:t>Electron</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微信小程序</a:t>
              </a:r>
              <a:r>
                <a:rPr lang="zh-CN" altLang="zh-CN" sz="2000" dirty="0">
                  <a:solidFill>
                    <a:srgbClr val="595959"/>
                  </a:solidFill>
                  <a:latin typeface="微软雅黑" panose="020B0503020204020204" pitchFamily="34" charset="-122"/>
                  <a:ea typeface="微软雅黑" panose="020B0503020204020204" pitchFamily="34" charset="-122"/>
                </a:rPr>
                <a:t>等</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丰富</a:t>
              </a:r>
              <a:r>
                <a:rPr lang="zh-CN" altLang="en-US" sz="2000" dirty="0" smtClean="0">
                  <a:solidFill>
                    <a:srgbClr val="595959"/>
                  </a:solidFill>
                  <a:latin typeface="微软雅黑" panose="020B0503020204020204" pitchFamily="34" charset="-122"/>
                  <a:ea typeface="微软雅黑" panose="020B0503020204020204" pitchFamily="34" charset="-122"/>
                </a:rPr>
                <a:t>了其生态</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03694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790754" y="1466679"/>
            <a:ext cx="10273004" cy="1015663"/>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a:t>
            </a:r>
            <a:r>
              <a:rPr lang="zh-CN" altLang="zh-CN" sz="2000" dirty="0">
                <a:solidFill>
                  <a:srgbClr val="595959"/>
                </a:solidFill>
                <a:latin typeface="Microsoft YaHei" panose="020B0503020204020204" pitchFamily="34" charset="-122"/>
                <a:ea typeface="Microsoft YaHei" panose="020B0503020204020204" pitchFamily="34" charset="-122"/>
              </a:rPr>
              <a:t>网页中，</a:t>
            </a:r>
            <a:r>
              <a:rPr lang="en-US" altLang="zh-CN" sz="2000" dirty="0">
                <a:solidFill>
                  <a:srgbClr val="1369B2"/>
                </a:solidFill>
                <a:latin typeface="Microsoft YaHei" panose="020B0503020204020204" pitchFamily="34" charset="-122"/>
                <a:ea typeface="Microsoft YaHei" panose="020B0503020204020204" pitchFamily="34" charset="-122"/>
              </a:rPr>
              <a:t>HTML</a:t>
            </a:r>
            <a:r>
              <a:rPr lang="zh-CN" altLang="zh-CN" sz="2000" dirty="0">
                <a:solidFill>
                  <a:srgbClr val="595959"/>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CSS</a:t>
            </a:r>
            <a:r>
              <a:rPr lang="zh-CN" altLang="zh-CN" sz="2000" dirty="0">
                <a:solidFill>
                  <a:srgbClr val="595959"/>
                </a:solidFill>
                <a:latin typeface="Microsoft YaHei" panose="020B0503020204020204" pitchFamily="34" charset="-122"/>
                <a:ea typeface="Microsoft YaHei" panose="020B0503020204020204" pitchFamily="34" charset="-122"/>
              </a:rPr>
              <a:t>和</a:t>
            </a:r>
            <a:r>
              <a:rPr lang="en-US" altLang="zh-CN" sz="2000" dirty="0">
                <a:solidFill>
                  <a:srgbClr val="1369B2"/>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分别代表网页的</a:t>
            </a:r>
            <a:r>
              <a:rPr lang="zh-CN" altLang="zh-CN" sz="2000" dirty="0">
                <a:solidFill>
                  <a:srgbClr val="1369B2"/>
                </a:solidFill>
                <a:latin typeface="Microsoft YaHei" panose="020B0503020204020204" pitchFamily="34" charset="-122"/>
                <a:ea typeface="Microsoft YaHei" panose="020B0503020204020204" pitchFamily="34" charset="-122"/>
              </a:rPr>
              <a:t>结构</a:t>
            </a:r>
            <a:r>
              <a:rPr lang="zh-CN" altLang="zh-CN" sz="2000" dirty="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1369B2"/>
                </a:solidFill>
                <a:latin typeface="Microsoft YaHei" panose="020B0503020204020204" pitchFamily="34" charset="-122"/>
                <a:ea typeface="Microsoft YaHei" panose="020B0503020204020204" pitchFamily="34" charset="-122"/>
              </a:rPr>
              <a:t>样式</a:t>
            </a:r>
            <a:r>
              <a:rPr lang="zh-CN" altLang="zh-CN" sz="2000" dirty="0">
                <a:solidFill>
                  <a:srgbClr val="595959"/>
                </a:solidFill>
                <a:latin typeface="Microsoft YaHei" panose="020B0503020204020204" pitchFamily="34" charset="-122"/>
                <a:ea typeface="Microsoft YaHei" panose="020B0503020204020204" pitchFamily="34" charset="-122"/>
              </a:rPr>
              <a:t>和</a:t>
            </a:r>
            <a:r>
              <a:rPr lang="zh-CN" altLang="zh-CN" sz="2000" dirty="0">
                <a:solidFill>
                  <a:srgbClr val="1369B2"/>
                </a:solidFill>
                <a:latin typeface="Microsoft YaHei" panose="020B0503020204020204" pitchFamily="34" charset="-122"/>
                <a:ea typeface="Microsoft YaHei" panose="020B0503020204020204" pitchFamily="34" charset="-122"/>
              </a:rPr>
              <a:t>行为</a:t>
            </a:r>
            <a:r>
              <a:rPr lang="zh-CN" altLang="zh-CN" sz="2000" dirty="0" smtClean="0">
                <a:solidFill>
                  <a:srgbClr val="595959"/>
                </a:solidFill>
                <a:latin typeface="Microsoft YaHei" panose="020B0503020204020204" pitchFamily="34" charset="-122"/>
                <a:ea typeface="Microsoft YaHei" panose="020B0503020204020204" pitchFamily="34" charset="-122"/>
              </a:rPr>
              <a:t>。</a:t>
            </a:r>
            <a:r>
              <a:rPr lang="en-US" altLang="zh-CN" sz="2000" dirty="0" smtClean="0">
                <a:solidFill>
                  <a:srgbClr val="595959"/>
                </a:solidFill>
                <a:latin typeface="Microsoft YaHei" panose="020B0503020204020204" pitchFamily="34" charset="-122"/>
                <a:ea typeface="Microsoft YaHei" panose="020B0503020204020204" pitchFamily="34" charset="-122"/>
              </a:rPr>
              <a:t>HTML</a:t>
            </a:r>
            <a:r>
              <a:rPr lang="zh-CN" altLang="zh-CN" sz="2000" dirty="0">
                <a:solidFill>
                  <a:srgbClr val="595959"/>
                </a:solidFill>
                <a:latin typeface="Microsoft YaHei" panose="020B0503020204020204" pitchFamily="34" charset="-122"/>
                <a:ea typeface="Microsoft YaHei" panose="020B0503020204020204" pitchFamily="34" charset="-122"/>
              </a:rPr>
              <a:t>、</a:t>
            </a:r>
            <a:r>
              <a:rPr lang="en-US" altLang="zh-CN" sz="2000" dirty="0" smtClean="0">
                <a:solidFill>
                  <a:srgbClr val="595959"/>
                </a:solidFill>
                <a:latin typeface="Microsoft YaHei" panose="020B0503020204020204" pitchFamily="34" charset="-122"/>
                <a:ea typeface="Microsoft YaHei" panose="020B0503020204020204" pitchFamily="34" charset="-122"/>
              </a:rPr>
              <a:t>CSS</a:t>
            </a:r>
            <a:r>
              <a:rPr lang="zh-CN" altLang="zh-CN" sz="2000" dirty="0" smtClean="0">
                <a:solidFill>
                  <a:srgbClr val="595959"/>
                </a:solidFill>
                <a:latin typeface="Microsoft YaHei" panose="020B0503020204020204" pitchFamily="34" charset="-122"/>
                <a:ea typeface="Microsoft YaHei" panose="020B0503020204020204" pitchFamily="34" charset="-122"/>
              </a:rPr>
              <a:t>和</a:t>
            </a:r>
            <a:r>
              <a:rPr lang="en-US" altLang="zh-CN" sz="2000" dirty="0">
                <a:solidFill>
                  <a:srgbClr val="595959"/>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的说明</a:t>
            </a:r>
            <a:r>
              <a:rPr lang="zh-CN" altLang="zh-CN" sz="2000" dirty="0" smtClean="0">
                <a:solidFill>
                  <a:srgbClr val="595959"/>
                </a:solidFill>
                <a:latin typeface="Microsoft YaHei" panose="020B0503020204020204" pitchFamily="34" charset="-122"/>
                <a:ea typeface="Microsoft YaHei" panose="020B0503020204020204" pitchFamily="34" charset="-122"/>
              </a:rPr>
              <a:t>如</a:t>
            </a:r>
            <a:r>
              <a:rPr lang="zh-CN" altLang="en-US" sz="2000" dirty="0" smtClean="0">
                <a:solidFill>
                  <a:srgbClr val="595959"/>
                </a:solidFill>
                <a:latin typeface="Microsoft YaHei" panose="020B0503020204020204" pitchFamily="34" charset="-122"/>
                <a:ea typeface="Microsoft YaHei" panose="020B0503020204020204" pitchFamily="34" charset="-122"/>
              </a:rPr>
              <a:t>下表所示。</a:t>
            </a:r>
            <a:endParaRPr lang="en-US" altLang="zh-CN" sz="2000" dirty="0">
              <a:solidFill>
                <a:srgbClr val="595959"/>
              </a:solidFill>
              <a:latin typeface="Microsoft YaHei" panose="020B0503020204020204" pitchFamily="34" charset="-122"/>
              <a:ea typeface="Microsoft YaHei"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7" name="表格 6">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61832459"/>
              </p:ext>
            </p:extLst>
          </p:nvPr>
        </p:nvGraphicFramePr>
        <p:xfrm>
          <a:off x="1331793" y="2853730"/>
          <a:ext cx="9190926" cy="2448272"/>
        </p:xfrm>
        <a:graphic>
          <a:graphicData uri="http://schemas.openxmlformats.org/drawingml/2006/table">
            <a:tbl>
              <a:tblPr>
                <a:tableStyleId>{7DF18680-E054-41AD-8BC1-D1AEF772440D}</a:tableStyleId>
              </a:tblPr>
              <a:tblGrid>
                <a:gridCol w="1774102">
                  <a:extLst>
                    <a:ext uri="{9D8B030D-6E8A-4147-A177-3AD203B41FA5}">
                      <a16:colId xmlns:a16="http://schemas.microsoft.com/office/drawing/2014/main" val="1296770823"/>
                    </a:ext>
                  </a:extLst>
                </a:gridCol>
                <a:gridCol w="7416824">
                  <a:extLst>
                    <a:ext uri="{9D8B030D-6E8A-4147-A177-3AD203B41FA5}">
                      <a16:colId xmlns:a16="http://schemas.microsoft.com/office/drawing/2014/main" val="1945888999"/>
                    </a:ext>
                  </a:extLst>
                </a:gridCol>
              </a:tblGrid>
              <a:tr h="612068">
                <a:tc>
                  <a:txBody>
                    <a:bodyPr/>
                    <a:lstStyle/>
                    <a:p>
                      <a:pPr indent="127000" algn="ctr">
                        <a:spcAft>
                          <a:spcPts val="0"/>
                        </a:spcAft>
                      </a:pPr>
                      <a:r>
                        <a:rPr lang="zh-CN" altLang="en-US" sz="18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语言</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说明</a:t>
                      </a:r>
                    </a:p>
                  </a:txBody>
                  <a:tcPr marL="68580" marR="68580" marT="0" marB="0" anchor="ctr">
                    <a:solidFill>
                      <a:srgbClr val="F2F2F2"/>
                    </a:solidFill>
                  </a:tcPr>
                </a:tc>
                <a:extLst>
                  <a:ext uri="{0D108BD9-81ED-4DB2-BD59-A6C34878D82A}">
                    <a16:rowId xmlns:a16="http://schemas.microsoft.com/office/drawing/2014/main" val="10000"/>
                  </a:ext>
                </a:extLst>
              </a:tr>
              <a:tr h="612068">
                <a:tc>
                  <a:txBody>
                    <a:bodyPr/>
                    <a:lstStyle/>
                    <a:p>
                      <a:pPr indent="127000" algn="ctr">
                        <a:spcAft>
                          <a:spcPts val="0"/>
                        </a:spcAft>
                      </a:pPr>
                      <a:r>
                        <a:rPr lang="en-US" altLang="zh-CN"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HTML</a:t>
                      </a:r>
                      <a:endParaRPr lang="zh-CN" sz="180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just">
                        <a:spcAft>
                          <a:spcPts val="0"/>
                        </a:spcAft>
                      </a:pPr>
                      <a:r>
                        <a:rPr lang="zh-CN" altLang="zh-CN"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决定网页的结构，相当于人的身体</a:t>
                      </a:r>
                      <a:endParaRPr lang="zh-CN" sz="180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41778534"/>
                  </a:ext>
                </a:extLst>
              </a:tr>
              <a:tr h="612068">
                <a:tc>
                  <a:txBody>
                    <a:bodyPr/>
                    <a:lstStyle/>
                    <a:p>
                      <a:pPr indent="127000" algn="ctr">
                        <a:spcAft>
                          <a:spcPts val="0"/>
                        </a:spcAft>
                      </a:pPr>
                      <a:r>
                        <a:rPr lang="en-US" altLang="zh-CN" sz="180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CSS</a:t>
                      </a:r>
                      <a:endParaRPr lang="zh-CN" sz="180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tabLst>
                          <a:tab pos="2191385" algn="l"/>
                          <a:tab pos="3098800" algn="l"/>
                          <a:tab pos="3946525" algn="l"/>
                        </a:tabLst>
                      </a:pPr>
                      <a:r>
                        <a:rPr lang="zh-CN" altLang="zh-CN"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决定网页呈现给用户的模样，相当于人的衣服、妆容</a:t>
                      </a:r>
                      <a:endParaRPr lang="zh-CN" sz="180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351245817"/>
                  </a:ext>
                </a:extLst>
              </a:tr>
              <a:tr h="612068">
                <a:tc>
                  <a:txBody>
                    <a:bodyPr/>
                    <a:lstStyle/>
                    <a:p>
                      <a:pPr indent="127000" algn="ctr">
                        <a:spcAft>
                          <a:spcPts val="0"/>
                        </a:spcAft>
                      </a:pPr>
                      <a:r>
                        <a:rPr lang="en-US" altLang="zh-CN" sz="180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JavaScript</a:t>
                      </a:r>
                      <a:endParaRPr lang="zh-CN" sz="180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pPr>
                      <a:r>
                        <a:rPr lang="zh-CN" altLang="zh-CN"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实现业务逻辑和页面控制，</a:t>
                      </a:r>
                      <a:r>
                        <a:rPr lang="zh-CN" altLang="en-US"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决定网页的行为，</a:t>
                      </a:r>
                      <a:r>
                        <a:rPr lang="zh-CN" altLang="zh-CN" sz="180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相当于人的各种动作</a:t>
                      </a:r>
                      <a:endParaRPr lang="zh-CN" sz="180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3260076697"/>
                  </a:ext>
                </a:extLst>
              </a:tr>
            </a:tbl>
          </a:graphicData>
        </a:graphic>
      </p:graphicFrame>
    </p:spTree>
    <p:extLst>
      <p:ext uri="{BB962C8B-B14F-4D97-AF65-F5344CB8AC3E}">
        <p14:creationId xmlns:p14="http://schemas.microsoft.com/office/powerpoint/2010/main" val="392604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43691" y="1629594"/>
            <a:ext cx="10136091" cy="286232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利用</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可以实现网页中的许多交互效果，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例如</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轮</a:t>
            </a:r>
            <a:r>
              <a:rPr lang="zh-CN" altLang="zh-CN" sz="2000" dirty="0">
                <a:solidFill>
                  <a:srgbClr val="1369B2"/>
                </a:solidFill>
                <a:latin typeface="微软雅黑" panose="020B0503020204020204" pitchFamily="34" charset="-122"/>
                <a:ea typeface="微软雅黑" panose="020B0503020204020204" pitchFamily="34" charset="-122"/>
                <a:cs typeface="+mn-ea"/>
              </a:rPr>
              <a:t>播图</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选项卡</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表单验证</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此外，</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利用</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还可以</a:t>
            </a:r>
            <a:r>
              <a:rPr lang="zh-CN" altLang="zh-CN" sz="2000" dirty="0">
                <a:solidFill>
                  <a:srgbClr val="1369B2"/>
                </a:solidFill>
                <a:latin typeface="微软雅黑" panose="020B0503020204020204" pitchFamily="34" charset="-122"/>
                <a:ea typeface="微软雅黑" panose="020B0503020204020204" pitchFamily="34" charset="-122"/>
                <a:cs typeface="+mn-ea"/>
              </a:rPr>
              <a:t>实现网页从服务器动态获取数据</a:t>
            </a:r>
            <a:r>
              <a:rPr lang="zh-CN" altLang="zh-CN" sz="2000" dirty="0">
                <a:solidFill>
                  <a:srgbClr val="595959"/>
                </a:solidFill>
                <a:latin typeface="微软雅黑" panose="020B0503020204020204" pitchFamily="34" charset="-122"/>
                <a:ea typeface="微软雅黑" panose="020B0503020204020204" pitchFamily="34" charset="-122"/>
                <a:cs typeface="+mn-ea"/>
              </a:rPr>
              <a:t>，例如，用户在百度搜索引擎网站中进行搜索时，</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搜索</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框</a:t>
            </a:r>
            <a:r>
              <a:rPr lang="zh-CN" altLang="zh-CN" sz="2000" dirty="0">
                <a:solidFill>
                  <a:srgbClr val="595959"/>
                </a:solidFill>
                <a:latin typeface="微软雅黑" panose="020B0503020204020204" pitchFamily="34" charset="-122"/>
                <a:ea typeface="微软雅黑" panose="020B0503020204020204" pitchFamily="34" charset="-122"/>
                <a:cs typeface="+mn-ea"/>
              </a:rPr>
              <a:t>中输入需要搜索的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关键</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后</a:t>
            </a:r>
            <a:r>
              <a:rPr lang="zh-CN" altLang="zh-CN" sz="2000" dirty="0">
                <a:solidFill>
                  <a:srgbClr val="595959"/>
                </a:solidFill>
                <a:latin typeface="微软雅黑" panose="020B0503020204020204" pitchFamily="34" charset="-122"/>
                <a:ea typeface="微软雅黑" panose="020B0503020204020204" pitchFamily="34" charset="-122"/>
                <a:cs typeface="+mn-ea"/>
              </a:rPr>
              <a:t>，网页会通过服务器智能感知用户将要搜索的内容，服务器接收到用户发出的请求后进行相应处理，并将感知结果显示到网页中</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799750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的由来</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，能够描述</a:t>
            </a:r>
            <a:r>
              <a:rPr lang="en-US" altLang="zh-CN"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由来</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的由来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14020150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8" y="1701602"/>
            <a:ext cx="6740375" cy="3666210"/>
            <a:chOff x="4899448"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2"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190178" y="2144909"/>
              <a:ext cx="6158913" cy="309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1995</a:t>
              </a:r>
              <a:r>
                <a:rPr lang="zh-CN" altLang="zh-CN" sz="2000" dirty="0">
                  <a:solidFill>
                    <a:srgbClr val="595959"/>
                  </a:solidFill>
                  <a:latin typeface="微软雅黑" panose="020B0503020204020204" pitchFamily="34" charset="-122"/>
                  <a:ea typeface="微软雅黑" panose="020B0503020204020204" pitchFamily="34" charset="-122"/>
                </a:rPr>
                <a:t>年，</a:t>
              </a:r>
              <a:r>
                <a:rPr lang="zh-CN" altLang="zh-CN" sz="2000" dirty="0">
                  <a:solidFill>
                    <a:srgbClr val="1369B2"/>
                  </a:solidFill>
                  <a:latin typeface="微软雅黑" panose="020B0503020204020204" pitchFamily="34" charset="-122"/>
                  <a:ea typeface="微软雅黑" panose="020B0503020204020204" pitchFamily="34" charset="-122"/>
                  <a:cs typeface="+mn-ea"/>
                </a:rPr>
                <a:t>网景通信公司</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Netscape Communications Corporation</a:t>
              </a:r>
              <a:r>
                <a:rPr lang="zh-CN" altLang="zh-CN" sz="2000" dirty="0">
                  <a:solidFill>
                    <a:srgbClr val="595959"/>
                  </a:solidFill>
                  <a:latin typeface="微软雅黑" panose="020B0503020204020204" pitchFamily="34" charset="-122"/>
                  <a:ea typeface="微软雅黑" panose="020B0503020204020204" pitchFamily="34" charset="-122"/>
                </a:rPr>
                <a:t>，简称网景公司）的创始人认为网页需要一种</a:t>
              </a:r>
              <a:r>
                <a:rPr lang="zh-CN" altLang="zh-CN" sz="2000" dirty="0">
                  <a:solidFill>
                    <a:srgbClr val="1369B2"/>
                  </a:solidFill>
                  <a:latin typeface="微软雅黑" panose="020B0503020204020204" pitchFamily="34" charset="-122"/>
                  <a:ea typeface="微软雅黑" panose="020B0503020204020204" pitchFamily="34" charset="-122"/>
                  <a:cs typeface="+mn-ea"/>
                </a:rPr>
                <a:t>“胶水语言”</a:t>
              </a:r>
              <a:r>
                <a:rPr lang="zh-CN" altLang="zh-CN" sz="2000" dirty="0">
                  <a:solidFill>
                    <a:srgbClr val="595959"/>
                  </a:solidFill>
                  <a:latin typeface="微软雅黑" panose="020B0503020204020204" pitchFamily="34" charset="-122"/>
                  <a:ea typeface="微软雅黑" panose="020B0503020204020204" pitchFamily="34" charset="-122"/>
                </a:rPr>
                <a:t>，让网页设计师和兼职程序员可以很容易地组装图片和插件之类的组件，</a:t>
              </a:r>
              <a:r>
                <a:rPr lang="zh-CN" altLang="zh-CN" sz="2000" dirty="0" smtClean="0">
                  <a:solidFill>
                    <a:srgbClr val="595959"/>
                  </a:solidFill>
                  <a:latin typeface="微软雅黑" panose="020B0503020204020204" pitchFamily="34" charset="-122"/>
                  <a:ea typeface="微软雅黑" panose="020B0503020204020204" pitchFamily="34" charset="-122"/>
                </a:rPr>
                <a:t>且</a:t>
              </a:r>
              <a:r>
                <a:rPr lang="zh-CN" altLang="en-US" sz="2000" dirty="0" smtClean="0">
                  <a:solidFill>
                    <a:srgbClr val="595959"/>
                  </a:solidFill>
                  <a:latin typeface="微软雅黑" panose="020B0503020204020204" pitchFamily="34" charset="-122"/>
                  <a:ea typeface="微软雅黑" panose="020B0503020204020204" pitchFamily="34" charset="-122"/>
                </a:rPr>
                <a:t>相关</a:t>
              </a:r>
              <a:r>
                <a:rPr lang="zh-CN" altLang="zh-CN" sz="2000" dirty="0" smtClean="0">
                  <a:solidFill>
                    <a:srgbClr val="595959"/>
                  </a:solidFill>
                  <a:latin typeface="微软雅黑" panose="020B0503020204020204" pitchFamily="34" charset="-122"/>
                  <a:ea typeface="微软雅黑" panose="020B0503020204020204" pitchFamily="34" charset="-122"/>
                </a:rPr>
                <a:t>代码</a:t>
              </a:r>
              <a:r>
                <a:rPr lang="zh-CN" altLang="zh-CN" sz="2000" dirty="0">
                  <a:solidFill>
                    <a:srgbClr val="595959"/>
                  </a:solidFill>
                  <a:latin typeface="微软雅黑" panose="020B0503020204020204" pitchFamily="34" charset="-122"/>
                  <a:ea typeface="微软雅黑" panose="020B0503020204020204" pitchFamily="34" charset="-122"/>
                </a:rPr>
                <a:t>可以直接编写在</a:t>
              </a:r>
              <a:r>
                <a:rPr lang="en-US" altLang="zh-CN" sz="2000" dirty="0">
                  <a:solidFill>
                    <a:srgbClr val="595959"/>
                  </a:solidFill>
                  <a:latin typeface="微软雅黑" panose="020B0503020204020204" pitchFamily="34" charset="-122"/>
                  <a:ea typeface="微软雅黑" panose="020B0503020204020204" pitchFamily="34" charset="-122"/>
                </a:rPr>
                <a:t>HTML</a:t>
              </a:r>
              <a:r>
                <a:rPr lang="zh-CN" altLang="zh-CN" sz="2000" dirty="0">
                  <a:solidFill>
                    <a:srgbClr val="595959"/>
                  </a:solidFill>
                  <a:latin typeface="微软雅黑" panose="020B0503020204020204" pitchFamily="34" charset="-122"/>
                  <a:ea typeface="微软雅黑" panose="020B0503020204020204" pitchFamily="34" charset="-122"/>
                </a:rPr>
                <a:t>代码中，</a:t>
              </a:r>
              <a:r>
                <a:rPr lang="zh-CN" altLang="zh-CN" sz="2000" dirty="0" smtClean="0">
                  <a:solidFill>
                    <a:srgbClr val="595959"/>
                  </a:solidFill>
                  <a:latin typeface="微软雅黑" panose="020B0503020204020204" pitchFamily="34" charset="-122"/>
                  <a:ea typeface="微软雅黑" panose="020B0503020204020204" pitchFamily="34" charset="-122"/>
                </a:rPr>
                <a:t>于是</a:t>
              </a:r>
              <a:r>
                <a:rPr lang="zh-CN" altLang="en-US" sz="2000" dirty="0" smtClean="0">
                  <a:solidFill>
                    <a:srgbClr val="595959"/>
                  </a:solidFill>
                  <a:latin typeface="微软雅黑" panose="020B0503020204020204" pitchFamily="34" charset="-122"/>
                  <a:ea typeface="微软雅黑" panose="020B0503020204020204" pitchFamily="34" charset="-122"/>
                </a:rPr>
                <a:t>网景公司</a:t>
              </a:r>
              <a:r>
                <a:rPr lang="zh-CN" altLang="zh-CN" sz="2000" dirty="0" smtClean="0">
                  <a:solidFill>
                    <a:srgbClr val="595959"/>
                  </a:solidFill>
                  <a:latin typeface="微软雅黑" panose="020B0503020204020204" pitchFamily="34" charset="-122"/>
                  <a:ea typeface="微软雅黑" panose="020B0503020204020204" pitchFamily="34" charset="-122"/>
                </a:rPr>
                <a:t>招募</a:t>
              </a:r>
              <a:r>
                <a:rPr lang="zh-CN" altLang="zh-CN" sz="2000" dirty="0">
                  <a:solidFill>
                    <a:srgbClr val="595959"/>
                  </a:solidFill>
                  <a:latin typeface="微软雅黑" panose="020B0503020204020204" pitchFamily="34" charset="-122"/>
                  <a:ea typeface="微软雅黑" panose="020B0503020204020204" pitchFamily="34" charset="-122"/>
                </a:rPr>
                <a:t>了工程师，为</a:t>
              </a:r>
              <a:r>
                <a:rPr lang="zh-CN" altLang="zh-CN" sz="2000" dirty="0">
                  <a:solidFill>
                    <a:srgbClr val="1369B2"/>
                  </a:solidFill>
                  <a:latin typeface="微软雅黑" panose="020B0503020204020204" pitchFamily="34" charset="-122"/>
                  <a:ea typeface="微软雅黑" panose="020B0503020204020204" pitchFamily="34" charset="-122"/>
                  <a:cs typeface="+mn-ea"/>
                </a:rPr>
                <a:t>网景导航者</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Netscape Navigator</a:t>
              </a:r>
              <a:r>
                <a:rPr lang="zh-CN" altLang="zh-CN" sz="2000" dirty="0">
                  <a:solidFill>
                    <a:srgbClr val="595959"/>
                  </a:solidFill>
                  <a:latin typeface="微软雅黑" panose="020B0503020204020204" pitchFamily="34" charset="-122"/>
                  <a:ea typeface="微软雅黑" panose="020B0503020204020204" pitchFamily="34" charset="-122"/>
                </a:rPr>
                <a:t>）浏览器开发了</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语言</a:t>
              </a:r>
              <a:r>
                <a:rPr lang="zh-CN" altLang="zh-CN" sz="2000" dirty="0">
                  <a:solidFill>
                    <a:srgbClr val="595959"/>
                  </a:solidFill>
                  <a:latin typeface="微软雅黑" panose="020B0503020204020204" pitchFamily="34" charset="-122"/>
                  <a:ea typeface="微软雅黑" panose="020B0503020204020204" pitchFamily="34" charset="-122"/>
                </a:rPr>
                <a:t>。</a:t>
              </a: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的由来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41763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37464" y="1413570"/>
            <a:ext cx="10358341" cy="3785652"/>
          </a:xfrm>
          <a:prstGeom prst="rect">
            <a:avLst/>
          </a:prstGeom>
          <a:noFill/>
        </p:spPr>
        <p:txBody>
          <a:bodyPr wrap="square">
            <a:spAutoFit/>
          </a:body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1996</a:t>
            </a:r>
            <a:r>
              <a:rPr lang="zh-CN" altLang="zh-CN" sz="2000" dirty="0">
                <a:solidFill>
                  <a:srgbClr val="595959"/>
                </a:solidFill>
                <a:latin typeface="微软雅黑" panose="020B0503020204020204" pitchFamily="34" charset="-122"/>
                <a:ea typeface="微软雅黑" panose="020B0503020204020204" pitchFamily="34" charset="-122"/>
                <a:cs typeface="+mn-ea"/>
              </a:rPr>
              <a:t>年，网景公司在</a:t>
            </a:r>
            <a:r>
              <a:rPr lang="zh-CN" altLang="zh-CN" sz="2000" dirty="0">
                <a:solidFill>
                  <a:srgbClr val="1369B2"/>
                </a:solidFill>
                <a:latin typeface="微软雅黑" panose="020B0503020204020204" pitchFamily="34" charset="-122"/>
                <a:ea typeface="微软雅黑" panose="020B0503020204020204" pitchFamily="34" charset="-122"/>
                <a:cs typeface="+mn-ea"/>
              </a:rPr>
              <a:t>网景导航者</a:t>
            </a:r>
            <a:r>
              <a:rPr lang="en-US" altLang="zh-CN" sz="2000" dirty="0">
                <a:solidFill>
                  <a:srgbClr val="1369B2"/>
                </a:solidFill>
                <a:latin typeface="微软雅黑" panose="020B0503020204020204" pitchFamily="34" charset="-122"/>
                <a:ea typeface="微软雅黑" panose="020B0503020204020204" pitchFamily="34" charset="-122"/>
                <a:cs typeface="+mn-ea"/>
              </a:rPr>
              <a:t>2.0</a:t>
            </a:r>
            <a:r>
              <a:rPr lang="zh-CN" altLang="zh-CN" sz="2000" dirty="0">
                <a:solidFill>
                  <a:srgbClr val="1369B2"/>
                </a:solidFill>
                <a:latin typeface="微软雅黑" panose="020B0503020204020204" pitchFamily="34" charset="-122"/>
                <a:ea typeface="微软雅黑" panose="020B0503020204020204" pitchFamily="34" charset="-122"/>
                <a:cs typeface="+mn-ea"/>
              </a:rPr>
              <a:t>浏览器</a:t>
            </a:r>
            <a:r>
              <a:rPr lang="zh-CN" altLang="zh-CN" sz="2000" dirty="0">
                <a:solidFill>
                  <a:srgbClr val="595959"/>
                </a:solidFill>
                <a:latin typeface="微软雅黑" panose="020B0503020204020204" pitchFamily="34" charset="-122"/>
                <a:ea typeface="微软雅黑" panose="020B0503020204020204" pitchFamily="34" charset="-122"/>
                <a:cs typeface="+mn-ea"/>
              </a:rPr>
              <a:t>中正式内置了</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语言。其后，</a:t>
            </a:r>
            <a:r>
              <a:rPr lang="zh-CN" altLang="zh-CN" sz="2000" dirty="0">
                <a:solidFill>
                  <a:srgbClr val="1369B2"/>
                </a:solidFill>
                <a:latin typeface="微软雅黑" panose="020B0503020204020204" pitchFamily="34" charset="-122"/>
                <a:ea typeface="微软雅黑" panose="020B0503020204020204" pitchFamily="34" charset="-122"/>
                <a:cs typeface="+mn-ea"/>
              </a:rPr>
              <a:t>微软公司</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Microsoft Corporation</a:t>
            </a:r>
            <a:r>
              <a:rPr lang="zh-CN" altLang="zh-CN" sz="2000" dirty="0">
                <a:solidFill>
                  <a:srgbClr val="595959"/>
                </a:solidFill>
                <a:latin typeface="微软雅黑" panose="020B0503020204020204" pitchFamily="34" charset="-122"/>
                <a:ea typeface="微软雅黑" panose="020B0503020204020204" pitchFamily="34" charset="-122"/>
                <a:cs typeface="+mn-ea"/>
              </a:rPr>
              <a:t>）开发了一种与</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语言相近的</a:t>
            </a:r>
            <a:r>
              <a:rPr lang="en-US" altLang="zh-CN" sz="2000" dirty="0">
                <a:solidFill>
                  <a:srgbClr val="1369B2"/>
                </a:solidFill>
                <a:latin typeface="微软雅黑" panose="020B0503020204020204" pitchFamily="34" charset="-122"/>
                <a:ea typeface="微软雅黑" panose="020B0503020204020204" pitchFamily="34" charset="-122"/>
                <a:cs typeface="+mn-ea"/>
              </a:rPr>
              <a:t>JScript</a:t>
            </a:r>
            <a:r>
              <a:rPr lang="zh-CN" altLang="zh-CN" sz="2000" dirty="0">
                <a:solidFill>
                  <a:srgbClr val="1369B2"/>
                </a:solidFill>
                <a:latin typeface="微软雅黑" panose="020B0503020204020204" pitchFamily="34" charset="-122"/>
                <a:ea typeface="微软雅黑" panose="020B0503020204020204" pitchFamily="34" charset="-122"/>
                <a:cs typeface="+mn-ea"/>
              </a:rPr>
              <a:t>语言</a:t>
            </a:r>
            <a:r>
              <a:rPr lang="zh-CN" altLang="zh-CN" sz="2000" dirty="0">
                <a:solidFill>
                  <a:srgbClr val="595959"/>
                </a:solidFill>
                <a:latin typeface="微软雅黑" panose="020B0503020204020204" pitchFamily="34" charset="-122"/>
                <a:ea typeface="微软雅黑" panose="020B0503020204020204" pitchFamily="34" charset="-122"/>
                <a:cs typeface="+mn-ea"/>
              </a:rPr>
              <a:t>，内置于</a:t>
            </a:r>
            <a:r>
              <a:rPr lang="en-US" altLang="zh-CN" sz="2000" dirty="0">
                <a:solidFill>
                  <a:srgbClr val="1369B2"/>
                </a:solidFill>
                <a:latin typeface="微软雅黑" panose="020B0503020204020204" pitchFamily="34" charset="-122"/>
                <a:ea typeface="微软雅黑" panose="020B0503020204020204" pitchFamily="34" charset="-122"/>
                <a:cs typeface="+mn-ea"/>
              </a:rPr>
              <a:t>Internet Explorer 3.0</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浏览器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与网景导航者浏览器竞争</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后来</a:t>
            </a:r>
            <a:r>
              <a:rPr lang="zh-CN" altLang="zh-CN" sz="2000" dirty="0">
                <a:solidFill>
                  <a:srgbClr val="595959"/>
                </a:solidFill>
                <a:latin typeface="微软雅黑" panose="020B0503020204020204" pitchFamily="34" charset="-122"/>
                <a:ea typeface="微软雅黑" panose="020B0503020204020204" pitchFamily="34" charset="-122"/>
                <a:cs typeface="+mn-ea"/>
              </a:rPr>
              <a:t>，网景公司面临丧失</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语言的主导权的局面，决定将</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语言提交给</a:t>
            </a:r>
            <a:r>
              <a:rPr lang="en-US" altLang="zh-CN" sz="2000" dirty="0" err="1">
                <a:solidFill>
                  <a:srgbClr val="1369B2"/>
                </a:solidFill>
                <a:latin typeface="微软雅黑" panose="020B0503020204020204" pitchFamily="34" charset="-122"/>
                <a:ea typeface="微软雅黑" panose="020B0503020204020204" pitchFamily="34" charset="-122"/>
                <a:cs typeface="+mn-ea"/>
              </a:rPr>
              <a:t>Ecma</a:t>
            </a:r>
            <a:r>
              <a:rPr lang="zh-CN" altLang="zh-CN" sz="2000" dirty="0">
                <a:solidFill>
                  <a:srgbClr val="1369B2"/>
                </a:solidFill>
                <a:latin typeface="微软雅黑" panose="020B0503020204020204" pitchFamily="34" charset="-122"/>
                <a:ea typeface="微软雅黑" panose="020B0503020204020204" pitchFamily="34" charset="-122"/>
                <a:cs typeface="+mn-ea"/>
              </a:rPr>
              <a:t>国际</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Ecma</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International</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前身</a:t>
            </a:r>
            <a:r>
              <a:rPr lang="zh-CN" altLang="zh-CN" sz="2000" dirty="0">
                <a:solidFill>
                  <a:srgbClr val="595959"/>
                </a:solidFill>
                <a:latin typeface="微软雅黑" panose="020B0503020204020204" pitchFamily="34" charset="-122"/>
                <a:ea typeface="微软雅黑" panose="020B0503020204020204" pitchFamily="34" charset="-122"/>
                <a:cs typeface="+mn-ea"/>
              </a:rPr>
              <a:t>为欧洲计算机制造商协会，即</a:t>
            </a:r>
            <a:r>
              <a:rPr lang="en-US" altLang="zh-CN" sz="2000" dirty="0">
                <a:solidFill>
                  <a:srgbClr val="595959"/>
                </a:solidFill>
                <a:latin typeface="微软雅黑" panose="020B0503020204020204" pitchFamily="34" charset="-122"/>
                <a:ea typeface="微软雅黑" panose="020B0503020204020204" pitchFamily="34" charset="-122"/>
                <a:cs typeface="+mn-ea"/>
              </a:rPr>
              <a:t>European Computer Manufacturers Association</a:t>
            </a:r>
            <a:r>
              <a:rPr lang="zh-CN" altLang="zh-CN" sz="2000" dirty="0">
                <a:solidFill>
                  <a:srgbClr val="595959"/>
                </a:solidFill>
                <a:latin typeface="微软雅黑" panose="020B0503020204020204" pitchFamily="34" charset="-122"/>
                <a:ea typeface="微软雅黑" panose="020B0503020204020204" pitchFamily="34" charset="-122"/>
                <a:cs typeface="+mn-ea"/>
              </a:rPr>
              <a:t>，现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名称</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并非为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首</a:t>
            </a:r>
            <a:r>
              <a:rPr lang="zh-CN" altLang="zh-CN" sz="2000" dirty="0">
                <a:solidFill>
                  <a:srgbClr val="595959"/>
                </a:solidFill>
                <a:latin typeface="微软雅黑" panose="020B0503020204020204" pitchFamily="34" charset="-122"/>
                <a:ea typeface="微软雅黑" panose="020B0503020204020204" pitchFamily="34" charset="-122"/>
                <a:cs typeface="+mn-ea"/>
              </a:rPr>
              <a:t>字母缩略词），希望</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能够成为国际标准</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的由来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187665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48940" y="2008068"/>
            <a:ext cx="6967739" cy="1938992"/>
          </a:xfrm>
          <a:prstGeom prst="rect">
            <a:avLst/>
          </a:prstGeom>
          <a:noFill/>
        </p:spPr>
        <p:txBody>
          <a:bodyPr wrap="square">
            <a:spAutoFit/>
          </a:bodyPr>
          <a:lstStyle/>
          <a:p>
            <a:pPr>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Ecma</a:t>
            </a:r>
            <a:r>
              <a:rPr lang="zh-CN" altLang="zh-CN" sz="2000" dirty="0">
                <a:solidFill>
                  <a:srgbClr val="595959"/>
                </a:solidFill>
                <a:latin typeface="微软雅黑" panose="020B0503020204020204" pitchFamily="34" charset="-122"/>
                <a:ea typeface="微软雅黑" panose="020B0503020204020204" pitchFamily="34" charset="-122"/>
                <a:cs typeface="+mn-ea"/>
              </a:rPr>
              <a:t>国际是一个国际性会员制的信息和电信标准组织，该组织发布了</a:t>
            </a:r>
            <a:r>
              <a:rPr lang="en-US" altLang="zh-CN" sz="2000" dirty="0">
                <a:solidFill>
                  <a:srgbClr val="1369B2"/>
                </a:solidFill>
                <a:latin typeface="微软雅黑" panose="020B0503020204020204" pitchFamily="34" charset="-122"/>
                <a:ea typeface="微软雅黑" panose="020B0503020204020204" pitchFamily="34" charset="-122"/>
                <a:cs typeface="+mn-ea"/>
              </a:rPr>
              <a:t>ECMA-262</a:t>
            </a:r>
            <a:r>
              <a:rPr lang="zh-CN" altLang="zh-CN" sz="2000" dirty="0">
                <a:solidFill>
                  <a:srgbClr val="1369B2"/>
                </a:solidFill>
                <a:latin typeface="微软雅黑" panose="020B0503020204020204" pitchFamily="34" charset="-122"/>
                <a:ea typeface="微软雅黑" panose="020B0503020204020204" pitchFamily="34" charset="-122"/>
                <a:cs typeface="+mn-ea"/>
              </a:rPr>
              <a:t>标准文件</a:t>
            </a:r>
            <a:r>
              <a:rPr lang="zh-CN" altLang="zh-CN" sz="2000" dirty="0">
                <a:solidFill>
                  <a:srgbClr val="595959"/>
                </a:solidFill>
                <a:latin typeface="微软雅黑" panose="020B0503020204020204" pitchFamily="34" charset="-122"/>
                <a:ea typeface="微软雅黑" panose="020B0503020204020204" pitchFamily="34" charset="-122"/>
                <a:cs typeface="+mn-ea"/>
              </a:rPr>
              <a:t>，规定了浏览器脚本语言的标准，并将这种语言称为</a:t>
            </a:r>
            <a:r>
              <a:rPr lang="en-US" altLang="zh-CN" sz="2000" dirty="0">
                <a:solidFill>
                  <a:srgbClr val="1369B2"/>
                </a:solidFill>
                <a:latin typeface="微软雅黑" panose="020B0503020204020204" pitchFamily="34" charset="-122"/>
                <a:ea typeface="微软雅黑" panose="020B0503020204020204" pitchFamily="34" charset="-122"/>
                <a:cs typeface="+mn-ea"/>
              </a:rPr>
              <a:t>ECMAScript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JScript</a:t>
            </a:r>
            <a:r>
              <a:rPr lang="zh-CN" altLang="zh-CN" sz="2000" dirty="0">
                <a:solidFill>
                  <a:srgbClr val="595959"/>
                </a:solidFill>
                <a:latin typeface="微软雅黑" panose="020B0503020204020204" pitchFamily="34" charset="-122"/>
                <a:ea typeface="微软雅黑" panose="020B0503020204020204" pitchFamily="34" charset="-122"/>
                <a:cs typeface="+mn-ea"/>
              </a:rPr>
              <a:t>可以理解为</a:t>
            </a:r>
            <a:r>
              <a:rPr lang="en-US" altLang="zh-CN" sz="2000" dirty="0">
                <a:solidFill>
                  <a:srgbClr val="595959"/>
                </a:solidFill>
                <a:latin typeface="微软雅黑" panose="020B0503020204020204" pitchFamily="34" charset="-122"/>
                <a:ea typeface="微软雅黑" panose="020B0503020204020204" pitchFamily="34" charset="-122"/>
                <a:cs typeface="+mn-ea"/>
              </a:rPr>
              <a:t>ECMAScript</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实现</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扩展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8" name="Shape 2015"/>
          <p:cNvSpPr/>
          <p:nvPr/>
        </p:nvSpPr>
        <p:spPr>
          <a:xfrm>
            <a:off x="1016000" y="1750881"/>
            <a:ext cx="7233620" cy="239899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的由来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90639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的由来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11" name="Shape 2015"/>
          <p:cNvSpPr/>
          <p:nvPr/>
        </p:nvSpPr>
        <p:spPr>
          <a:xfrm>
            <a:off x="4583038" y="2162174"/>
            <a:ext cx="6768752" cy="2635772"/>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799062" y="2317582"/>
            <a:ext cx="6408712" cy="2400657"/>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需要说明的是，</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语言</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Java</a:t>
            </a:r>
            <a:r>
              <a:rPr lang="zh-CN" altLang="zh-CN" sz="2000" dirty="0">
                <a:solidFill>
                  <a:srgbClr val="1369B2"/>
                </a:solidFill>
                <a:latin typeface="微软雅黑" panose="020B0503020204020204" pitchFamily="34" charset="-122"/>
                <a:ea typeface="微软雅黑" panose="020B0503020204020204" pitchFamily="34" charset="-122"/>
                <a:cs typeface="+mn-ea"/>
              </a:rPr>
              <a:t>语言</a:t>
            </a:r>
            <a:r>
              <a:rPr lang="zh-CN" altLang="zh-CN" sz="2000" dirty="0">
                <a:solidFill>
                  <a:srgbClr val="595959"/>
                </a:solidFill>
                <a:latin typeface="微软雅黑" panose="020B0503020204020204" pitchFamily="34" charset="-122"/>
                <a:ea typeface="微软雅黑" panose="020B0503020204020204" pitchFamily="34" charset="-122"/>
                <a:cs typeface="+mn-ea"/>
              </a:rPr>
              <a:t>名称比较相似，这是因为</a:t>
            </a:r>
            <a:r>
              <a:rPr lang="zh-CN" altLang="zh-CN" sz="2000" dirty="0">
                <a:solidFill>
                  <a:srgbClr val="1369B2"/>
                </a:solidFill>
                <a:latin typeface="微软雅黑" panose="020B0503020204020204" pitchFamily="34" charset="-122"/>
                <a:ea typeface="微软雅黑" panose="020B0503020204020204" pitchFamily="34" charset="-122"/>
                <a:cs typeface="+mn-ea"/>
              </a:rPr>
              <a:t>网景公司</a:t>
            </a:r>
            <a:r>
              <a:rPr lang="zh-CN" altLang="zh-CN" sz="2000" dirty="0">
                <a:solidFill>
                  <a:srgbClr val="595959"/>
                </a:solidFill>
                <a:latin typeface="微软雅黑" panose="020B0503020204020204" pitchFamily="34" charset="-122"/>
                <a:ea typeface="微软雅黑" panose="020B0503020204020204" pitchFamily="34" charset="-122"/>
                <a:cs typeface="+mn-ea"/>
              </a:rPr>
              <a:t>在为</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命名时，考虑到该公司与</a:t>
            </a:r>
            <a:r>
              <a:rPr lang="en-US" altLang="zh-CN" sz="2000" dirty="0">
                <a:solidFill>
                  <a:srgbClr val="595959"/>
                </a:solidFill>
                <a:latin typeface="微软雅黑" panose="020B0503020204020204" pitchFamily="34" charset="-122"/>
                <a:ea typeface="微软雅黑" panose="020B0503020204020204" pitchFamily="34" charset="-122"/>
                <a:cs typeface="+mn-ea"/>
              </a:rPr>
              <a:t>Java</a:t>
            </a:r>
            <a:r>
              <a:rPr lang="zh-CN" altLang="zh-CN" sz="2000" dirty="0">
                <a:solidFill>
                  <a:srgbClr val="595959"/>
                </a:solidFill>
                <a:latin typeface="微软雅黑" panose="020B0503020204020204" pitchFamily="34" charset="-122"/>
                <a:ea typeface="微软雅黑" panose="020B0503020204020204" pitchFamily="34" charset="-122"/>
                <a:cs typeface="+mn-ea"/>
              </a:rPr>
              <a:t>语言的开发商</a:t>
            </a:r>
            <a:r>
              <a:rPr lang="en-US" altLang="zh-CN" sz="2000" dirty="0">
                <a:solidFill>
                  <a:srgbClr val="1369B2"/>
                </a:solidFill>
                <a:latin typeface="微软雅黑" panose="020B0503020204020204" pitchFamily="34" charset="-122"/>
                <a:ea typeface="微软雅黑" panose="020B0503020204020204" pitchFamily="34" charset="-122"/>
                <a:cs typeface="+mn-ea"/>
              </a:rPr>
              <a:t>Sun</a:t>
            </a:r>
            <a:r>
              <a:rPr lang="zh-CN" altLang="zh-CN" sz="2000" dirty="0">
                <a:solidFill>
                  <a:srgbClr val="1369B2"/>
                </a:solidFill>
                <a:latin typeface="微软雅黑" panose="020B0503020204020204" pitchFamily="34" charset="-122"/>
                <a:ea typeface="微软雅黑" panose="020B0503020204020204" pitchFamily="34" charset="-122"/>
                <a:cs typeface="+mn-ea"/>
              </a:rPr>
              <a:t>公司</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2009</a:t>
            </a:r>
            <a:r>
              <a:rPr lang="zh-CN" altLang="zh-CN" sz="2000" dirty="0">
                <a:solidFill>
                  <a:srgbClr val="595959"/>
                </a:solidFill>
                <a:latin typeface="微软雅黑" panose="020B0503020204020204" pitchFamily="34" charset="-122"/>
                <a:ea typeface="微软雅黑" panose="020B0503020204020204" pitchFamily="34" charset="-122"/>
                <a:cs typeface="+mn-ea"/>
              </a:rPr>
              <a:t>年被</a:t>
            </a:r>
            <a:r>
              <a:rPr lang="en-US" altLang="zh-CN" sz="2000" dirty="0">
                <a:solidFill>
                  <a:srgbClr val="595959"/>
                </a:solidFill>
                <a:latin typeface="微软雅黑" panose="020B0503020204020204" pitchFamily="34" charset="-122"/>
                <a:ea typeface="微软雅黑" panose="020B0503020204020204" pitchFamily="34" charset="-122"/>
                <a:cs typeface="+mn-ea"/>
              </a:rPr>
              <a:t>Oracle</a:t>
            </a:r>
            <a:r>
              <a:rPr lang="zh-CN" altLang="zh-CN" sz="2000" dirty="0">
                <a:solidFill>
                  <a:srgbClr val="595959"/>
                </a:solidFill>
                <a:latin typeface="微软雅黑" panose="020B0503020204020204" pitchFamily="34" charset="-122"/>
                <a:ea typeface="微软雅黑" panose="020B0503020204020204" pitchFamily="34" charset="-122"/>
                <a:cs typeface="+mn-ea"/>
              </a:rPr>
              <a:t>公司收购）的合作关系</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然而</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Java</a:t>
            </a:r>
            <a:r>
              <a:rPr lang="zh-CN" altLang="zh-CN" sz="2000" dirty="0">
                <a:solidFill>
                  <a:srgbClr val="595959"/>
                </a:solidFill>
                <a:latin typeface="微软雅黑" panose="020B0503020204020204" pitchFamily="34" charset="-122"/>
                <a:ea typeface="微软雅黑" panose="020B0503020204020204" pitchFamily="34" charset="-122"/>
                <a:cs typeface="+mn-ea"/>
              </a:rPr>
              <a:t>只是名字相似，</a:t>
            </a:r>
            <a:r>
              <a:rPr lang="zh-CN" altLang="zh-CN" sz="2000" dirty="0">
                <a:solidFill>
                  <a:srgbClr val="1369B2"/>
                </a:solidFill>
                <a:latin typeface="微软雅黑" panose="020B0503020204020204" pitchFamily="34" charset="-122"/>
                <a:ea typeface="微软雅黑" panose="020B0503020204020204" pitchFamily="34" charset="-122"/>
                <a:cs typeface="+mn-ea"/>
              </a:rPr>
              <a:t>本质上是两种不同的语言</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4052804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的组成</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，能够描述</a:t>
            </a:r>
            <a:r>
              <a:rPr lang="en-US" altLang="zh-CN"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组成</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1.1.3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的组成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1829874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1.1.3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的组成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197546"/>
            <a:ext cx="10352115" cy="1015663"/>
          </a:xfrm>
          <a:prstGeom prst="rect">
            <a:avLst/>
          </a:prstGeom>
        </p:spPr>
        <p:txBody>
          <a:bodyPr wrap="square">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是由</a:t>
            </a:r>
            <a:r>
              <a:rPr lang="en-US" altLang="zh-CN" sz="2000" dirty="0">
                <a:solidFill>
                  <a:srgbClr val="1369B2"/>
                </a:solidFill>
                <a:latin typeface="微软雅黑" panose="020B0503020204020204" pitchFamily="34" charset="-122"/>
                <a:ea typeface="微软雅黑" panose="020B0503020204020204" pitchFamily="34" charset="-122"/>
                <a:cs typeface="+mn-ea"/>
              </a:rPr>
              <a:t>ECMAScript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DOM</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BOM</a:t>
            </a:r>
            <a:r>
              <a:rPr lang="zh-CN" altLang="zh-CN" sz="2000" dirty="0">
                <a:solidFill>
                  <a:srgbClr val="595959"/>
                </a:solidFill>
                <a:latin typeface="微软雅黑" panose="020B0503020204020204" pitchFamily="34" charset="-122"/>
                <a:ea typeface="微软雅黑" panose="020B0503020204020204" pitchFamily="34" charset="-122"/>
                <a:cs typeface="+mn-ea"/>
              </a:rPr>
              <a:t>这</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部分</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组成</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组成部分</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如下图所示。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8822" y="2421682"/>
            <a:ext cx="6772774" cy="3362903"/>
          </a:xfrm>
          <a:prstGeom prst="rect">
            <a:avLst/>
          </a:prstGeom>
        </p:spPr>
      </p:pic>
    </p:spTree>
    <p:extLst>
      <p:ext uri="{BB962C8B-B14F-4D97-AF65-F5344CB8AC3E}">
        <p14:creationId xmlns:p14="http://schemas.microsoft.com/office/powerpoint/2010/main" val="1788529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1.1.3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的组成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82638" y="1068354"/>
            <a:ext cx="4680520" cy="553998"/>
          </a:xfrm>
          <a:prstGeom prst="rect">
            <a:avLst/>
          </a:prstGeom>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对</a:t>
            </a:r>
            <a:r>
              <a:rPr lang="en-US" altLang="zh-CN" sz="2000">
                <a:solidFill>
                  <a:srgbClr val="1369B2"/>
                </a:solidFill>
                <a:latin typeface="微软雅黑" panose="020B0503020204020204" pitchFamily="34" charset="-122"/>
                <a:ea typeface="微软雅黑" panose="020B0503020204020204" pitchFamily="34" charset="-122"/>
                <a:cs typeface="+mn-ea"/>
              </a:rPr>
              <a:t>JavaScript</a:t>
            </a:r>
            <a:r>
              <a:rPr lang="zh-CN" altLang="zh-CN" sz="2000">
                <a:solidFill>
                  <a:srgbClr val="1369B2"/>
                </a:solidFill>
                <a:latin typeface="微软雅黑" panose="020B0503020204020204" pitchFamily="34" charset="-122"/>
                <a:ea typeface="微软雅黑" panose="020B0503020204020204" pitchFamily="34" charset="-122"/>
                <a:cs typeface="+mn-ea"/>
              </a:rPr>
              <a:t>的组成部分</a:t>
            </a:r>
            <a:r>
              <a:rPr lang="zh-CN" altLang="zh-CN" sz="2000">
                <a:solidFill>
                  <a:srgbClr val="595959"/>
                </a:solidFill>
                <a:latin typeface="微软雅黑" panose="020B0503020204020204" pitchFamily="34" charset="-122"/>
                <a:ea typeface="微软雅黑" panose="020B0503020204020204" pitchFamily="34" charset="-122"/>
                <a:cs typeface="+mn-ea"/>
              </a:rPr>
              <a:t>进行介绍</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43691" y="1917626"/>
            <a:ext cx="10352115" cy="4247317"/>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en-US" altLang="zh-CN" sz="2000" dirty="0">
                <a:solidFill>
                  <a:srgbClr val="595959"/>
                </a:solidFill>
                <a:latin typeface="微软雅黑" panose="020B0503020204020204" pitchFamily="34" charset="-122"/>
                <a:ea typeface="微软雅黑" panose="020B0503020204020204" pitchFamily="34" charset="-122"/>
                <a:cs typeface="+mn-ea"/>
              </a:rPr>
              <a:t>ECMAScript</a:t>
            </a:r>
            <a:r>
              <a:rPr lang="zh-CN" altLang="zh-CN" sz="2000" dirty="0">
                <a:solidFill>
                  <a:srgbClr val="595959"/>
                </a:solidFill>
                <a:latin typeface="微软雅黑" panose="020B0503020204020204" pitchFamily="34" charset="-122"/>
                <a:ea typeface="微软雅黑" panose="020B0503020204020204" pitchFamily="34" charset="-122"/>
                <a:cs typeface="+mn-ea"/>
              </a:rPr>
              <a:t>：规定了</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编程语法</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基础核心内容</a:t>
            </a:r>
            <a:r>
              <a:rPr lang="zh-CN" altLang="zh-CN" sz="2000" dirty="0">
                <a:solidFill>
                  <a:srgbClr val="595959"/>
                </a:solidFill>
                <a:latin typeface="微软雅黑" panose="020B0503020204020204" pitchFamily="34" charset="-122"/>
                <a:ea typeface="微软雅黑" panose="020B0503020204020204" pitchFamily="34" charset="-122"/>
                <a:cs typeface="+mn-ea"/>
              </a:rPr>
              <a:t>，是浏览器厂商共同遵守的一套</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语法工业标准</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DOM</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Document Object Model</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文档对象模型</a:t>
            </a:r>
            <a:r>
              <a:rPr lang="zh-CN" altLang="zh-CN" sz="2000" dirty="0">
                <a:solidFill>
                  <a:srgbClr val="595959"/>
                </a:solidFill>
                <a:latin typeface="微软雅黑" panose="020B0503020204020204" pitchFamily="34" charset="-122"/>
                <a:ea typeface="微软雅黑" panose="020B0503020204020204" pitchFamily="34" charset="-122"/>
                <a:cs typeface="+mn-ea"/>
              </a:rPr>
              <a:t>，是</a:t>
            </a:r>
            <a:r>
              <a:rPr lang="en-US" altLang="zh-CN" sz="2000" dirty="0">
                <a:solidFill>
                  <a:srgbClr val="595959"/>
                </a:solidFill>
                <a:latin typeface="微软雅黑" panose="020B0503020204020204" pitchFamily="34" charset="-122"/>
                <a:ea typeface="微软雅黑" panose="020B0503020204020204" pitchFamily="34" charset="-122"/>
                <a:cs typeface="+mn-ea"/>
              </a:rPr>
              <a:t>W3C</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World Wide Web Consortium</a:t>
            </a:r>
            <a:r>
              <a:rPr lang="zh-CN" altLang="zh-CN" sz="2000" dirty="0">
                <a:solidFill>
                  <a:srgbClr val="595959"/>
                </a:solidFill>
                <a:latin typeface="微软雅黑" panose="020B0503020204020204" pitchFamily="34" charset="-122"/>
                <a:ea typeface="微软雅黑" panose="020B0503020204020204" pitchFamily="34" charset="-122"/>
                <a:cs typeface="+mn-ea"/>
              </a:rPr>
              <a:t>，万维网联盟）组织制定的用于处理</a:t>
            </a:r>
            <a:r>
              <a:rPr lang="en-US" altLang="zh-CN" sz="2000" dirty="0">
                <a:solidFill>
                  <a:srgbClr val="1369B2"/>
                </a:solidFill>
                <a:latin typeface="微软雅黑" panose="020B0503020204020204" pitchFamily="34" charset="-122"/>
                <a:ea typeface="微软雅黑" panose="020B0503020204020204" pitchFamily="34" charset="-122"/>
                <a:cs typeface="+mn-ea"/>
              </a:rPr>
              <a:t>HTML</a:t>
            </a:r>
            <a:r>
              <a:rPr lang="zh-CN" altLang="zh-CN" sz="2000" dirty="0">
                <a:solidFill>
                  <a:srgbClr val="1369B2"/>
                </a:solidFill>
                <a:latin typeface="微软雅黑" panose="020B0503020204020204" pitchFamily="34" charset="-122"/>
                <a:ea typeface="微软雅黑" panose="020B0503020204020204" pitchFamily="34" charset="-122"/>
                <a:cs typeface="+mn-ea"/>
              </a:rPr>
              <a:t>文档</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XML</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eXtensible</a:t>
            </a:r>
            <a:r>
              <a:rPr lang="en-US" altLang="zh-CN" sz="2000" dirty="0">
                <a:solidFill>
                  <a:srgbClr val="595959"/>
                </a:solidFill>
                <a:latin typeface="微软雅黑" panose="020B0503020204020204" pitchFamily="34" charset="-122"/>
                <a:ea typeface="微软雅黑" panose="020B0503020204020204" pitchFamily="34" charset="-122"/>
                <a:cs typeface="+mn-ea"/>
              </a:rPr>
              <a:t> Markup Language</a:t>
            </a:r>
            <a:r>
              <a:rPr lang="zh-CN" altLang="zh-CN" sz="2000" dirty="0">
                <a:solidFill>
                  <a:srgbClr val="595959"/>
                </a:solidFill>
                <a:latin typeface="微软雅黑" panose="020B0503020204020204" pitchFamily="34" charset="-122"/>
                <a:ea typeface="微软雅黑" panose="020B0503020204020204" pitchFamily="34" charset="-122"/>
                <a:cs typeface="+mn-ea"/>
              </a:rPr>
              <a:t>，可扩展标记语言）</a:t>
            </a:r>
            <a:r>
              <a:rPr lang="zh-CN" altLang="zh-CN" sz="2000" dirty="0">
                <a:solidFill>
                  <a:srgbClr val="1369B2"/>
                </a:solidFill>
                <a:latin typeface="微软雅黑" panose="020B0503020204020204" pitchFamily="34" charset="-122"/>
                <a:ea typeface="微软雅黑" panose="020B0503020204020204" pitchFamily="34" charset="-122"/>
                <a:cs typeface="+mn-ea"/>
              </a:rPr>
              <a:t>文档的编程接口</a:t>
            </a:r>
            <a:r>
              <a:rPr lang="zh-CN" altLang="zh-CN" sz="2000" dirty="0">
                <a:solidFill>
                  <a:srgbClr val="595959"/>
                </a:solidFill>
                <a:latin typeface="微软雅黑" panose="020B0503020204020204" pitchFamily="34" charset="-122"/>
                <a:ea typeface="微软雅黑" panose="020B0503020204020204" pitchFamily="34" charset="-122"/>
                <a:cs typeface="+mn-ea"/>
              </a:rPr>
              <a:t>，它提供了对文档的结构化表述，并定义了一种方式使程序可以对该结构进行访问，从而改变文档的</a:t>
            </a:r>
            <a:r>
              <a:rPr lang="zh-CN" altLang="zh-CN" sz="2000" dirty="0">
                <a:solidFill>
                  <a:srgbClr val="1369B2"/>
                </a:solidFill>
                <a:latin typeface="微软雅黑" panose="020B0503020204020204" pitchFamily="34" charset="-122"/>
                <a:ea typeface="微软雅黑" panose="020B0503020204020204" pitchFamily="34" charset="-122"/>
                <a:cs typeface="+mn-ea"/>
              </a:rPr>
              <a:t>结构</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样式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和</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行为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gn="just">
              <a:lnSpc>
                <a:spcPct val="150000"/>
              </a:lnSpc>
              <a:spcAft>
                <a:spcPts val="0"/>
              </a:spcAft>
              <a:buFont typeface="Wingdings" panose="05000000000000000000" pitchFamily="2" charset="2"/>
              <a:buChar char=""/>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BOM</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Browser Object Model</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浏览器对象模型</a:t>
            </a:r>
            <a:r>
              <a:rPr lang="zh-CN" altLang="zh-CN" sz="2000" dirty="0">
                <a:solidFill>
                  <a:srgbClr val="595959"/>
                </a:solidFill>
                <a:latin typeface="微软雅黑" panose="020B0503020204020204" pitchFamily="34" charset="-122"/>
                <a:ea typeface="微软雅黑" panose="020B0503020204020204" pitchFamily="34" charset="-122"/>
                <a:cs typeface="+mn-ea"/>
              </a:rPr>
              <a:t>，是一套编程接口，用于</a:t>
            </a:r>
            <a:r>
              <a:rPr lang="zh-CN" altLang="zh-CN" sz="2000" dirty="0">
                <a:solidFill>
                  <a:srgbClr val="1369B2"/>
                </a:solidFill>
                <a:latin typeface="微软雅黑" panose="020B0503020204020204" pitchFamily="34" charset="-122"/>
                <a:ea typeface="微软雅黑" panose="020B0503020204020204" pitchFamily="34" charset="-122"/>
                <a:cs typeface="+mn-ea"/>
              </a:rPr>
              <a:t>对浏览器进行操作</a:t>
            </a:r>
            <a:r>
              <a:rPr lang="zh-CN" altLang="zh-CN" sz="2000" dirty="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1369B2"/>
                </a:solidFill>
                <a:latin typeface="微软雅黑" panose="020B0503020204020204" pitchFamily="34" charset="-122"/>
                <a:ea typeface="微软雅黑" panose="020B0503020204020204" pitchFamily="34" charset="-122"/>
                <a:cs typeface="+mn-ea"/>
              </a:rPr>
              <a:t>刷新页面</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弹出警告框</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控制页面跳转</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p>
        </p:txBody>
      </p:sp>
    </p:spTree>
    <p:extLst>
      <p:ext uri="{BB962C8B-B14F-4D97-AF65-F5344CB8AC3E}">
        <p14:creationId xmlns:p14="http://schemas.microsoft.com/office/powerpoint/2010/main" val="2643247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的特点</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，能够描述</a:t>
            </a:r>
            <a:r>
              <a:rPr lang="en-US" altLang="zh-CN"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sz="200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特点</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1.1.4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的特点</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1931727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bwMode="auto">
          <a:xfrm>
            <a:off x="910630" y="3287945"/>
            <a:ext cx="1463675" cy="1465262"/>
          </a:xfrm>
          <a:custGeom>
            <a:avLst/>
            <a:gdLst>
              <a:gd name="T0" fmla="*/ 1098181 w 861"/>
              <a:gd name="T1" fmla="*/ 731780 h 861"/>
              <a:gd name="T2" fmla="*/ 730988 w 861"/>
              <a:gd name="T3" fmla="*/ 1097670 h 861"/>
              <a:gd name="T4" fmla="*/ 365494 w 861"/>
              <a:gd name="T5" fmla="*/ 731780 h 861"/>
              <a:gd name="T6" fmla="*/ 730988 w 861"/>
              <a:gd name="T7" fmla="*/ 365890 h 861"/>
              <a:gd name="T8" fmla="*/ 829586 w 861"/>
              <a:gd name="T9" fmla="*/ 379505 h 861"/>
              <a:gd name="T10" fmla="*/ 710588 w 861"/>
              <a:gd name="T11" fmla="*/ 0 h 861"/>
              <a:gd name="T12" fmla="*/ 0 w 861"/>
              <a:gd name="T13" fmla="*/ 731780 h 861"/>
              <a:gd name="T14" fmla="*/ 730988 w 861"/>
              <a:gd name="T15" fmla="*/ 1465262 h 861"/>
              <a:gd name="T16" fmla="*/ 1463675 w 861"/>
              <a:gd name="T17" fmla="*/ 731780 h 861"/>
              <a:gd name="T18" fmla="*/ 1261378 w 861"/>
              <a:gd name="T19" fmla="*/ 226341 h 861"/>
              <a:gd name="T20" fmla="*/ 1002983 w 861"/>
              <a:gd name="T21" fmla="*/ 486719 h 861"/>
              <a:gd name="T22" fmla="*/ 1098181 w 861"/>
              <a:gd name="T23" fmla="*/ 73178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1" h="861">
                <a:moveTo>
                  <a:pt x="646" y="430"/>
                </a:moveTo>
                <a:cubicBezTo>
                  <a:pt x="646" y="549"/>
                  <a:pt x="549" y="645"/>
                  <a:pt x="430" y="645"/>
                </a:cubicBezTo>
                <a:cubicBezTo>
                  <a:pt x="311" y="645"/>
                  <a:pt x="215" y="549"/>
                  <a:pt x="215" y="430"/>
                </a:cubicBezTo>
                <a:cubicBezTo>
                  <a:pt x="215" y="311"/>
                  <a:pt x="311" y="215"/>
                  <a:pt x="430" y="215"/>
                </a:cubicBezTo>
                <a:cubicBezTo>
                  <a:pt x="450" y="215"/>
                  <a:pt x="470" y="218"/>
                  <a:pt x="488" y="223"/>
                </a:cubicBezTo>
                <a:cubicBezTo>
                  <a:pt x="447" y="156"/>
                  <a:pt x="422" y="80"/>
                  <a:pt x="418" y="0"/>
                </a:cubicBezTo>
                <a:cubicBezTo>
                  <a:pt x="186" y="6"/>
                  <a:pt x="0" y="196"/>
                  <a:pt x="0" y="430"/>
                </a:cubicBezTo>
                <a:cubicBezTo>
                  <a:pt x="0" y="668"/>
                  <a:pt x="192" y="861"/>
                  <a:pt x="430" y="861"/>
                </a:cubicBezTo>
                <a:cubicBezTo>
                  <a:pt x="668" y="861"/>
                  <a:pt x="861" y="668"/>
                  <a:pt x="861" y="430"/>
                </a:cubicBezTo>
                <a:cubicBezTo>
                  <a:pt x="861" y="315"/>
                  <a:pt x="816" y="211"/>
                  <a:pt x="742" y="133"/>
                </a:cubicBezTo>
                <a:cubicBezTo>
                  <a:pt x="590" y="286"/>
                  <a:pt x="590" y="286"/>
                  <a:pt x="590" y="286"/>
                </a:cubicBezTo>
                <a:cubicBezTo>
                  <a:pt x="625" y="325"/>
                  <a:pt x="646" y="375"/>
                  <a:pt x="646" y="43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9" name="Freeform 6"/>
          <p:cNvSpPr/>
          <p:nvPr/>
        </p:nvSpPr>
        <p:spPr bwMode="auto">
          <a:xfrm>
            <a:off x="1690093" y="2511657"/>
            <a:ext cx="1463675" cy="1276350"/>
          </a:xfrm>
          <a:custGeom>
            <a:avLst/>
            <a:gdLst>
              <a:gd name="T0" fmla="*/ 1256279 w 861"/>
              <a:gd name="T1" fmla="*/ 1244016 h 750"/>
              <a:gd name="T2" fmla="*/ 1256279 w 861"/>
              <a:gd name="T3" fmla="*/ 1242314 h 750"/>
              <a:gd name="T4" fmla="*/ 1463675 w 861"/>
              <a:gd name="T5" fmla="*/ 733476 h 750"/>
              <a:gd name="T6" fmla="*/ 730988 w 861"/>
              <a:gd name="T7" fmla="*/ 0 h 750"/>
              <a:gd name="T8" fmla="*/ 0 w 861"/>
              <a:gd name="T9" fmla="*/ 733476 h 750"/>
              <a:gd name="T10" fmla="*/ 203997 w 861"/>
              <a:gd name="T11" fmla="*/ 1240612 h 750"/>
              <a:gd name="T12" fmla="*/ 203997 w 861"/>
              <a:gd name="T13" fmla="*/ 1242314 h 750"/>
              <a:gd name="T14" fmla="*/ 224396 w 861"/>
              <a:gd name="T15" fmla="*/ 1262736 h 750"/>
              <a:gd name="T16" fmla="*/ 482792 w 861"/>
              <a:gd name="T17" fmla="*/ 1002360 h 750"/>
              <a:gd name="T18" fmla="*/ 472592 w 861"/>
              <a:gd name="T19" fmla="*/ 992149 h 750"/>
              <a:gd name="T20" fmla="*/ 470892 w 861"/>
              <a:gd name="T21" fmla="*/ 990448 h 750"/>
              <a:gd name="T22" fmla="*/ 365494 w 861"/>
              <a:gd name="T23" fmla="*/ 733476 h 750"/>
              <a:gd name="T24" fmla="*/ 730988 w 861"/>
              <a:gd name="T25" fmla="*/ 365887 h 750"/>
              <a:gd name="T26" fmla="*/ 1096481 w 861"/>
              <a:gd name="T27" fmla="*/ 733476 h 750"/>
              <a:gd name="T28" fmla="*/ 992783 w 861"/>
              <a:gd name="T29" fmla="*/ 988746 h 750"/>
              <a:gd name="T30" fmla="*/ 992783 w 861"/>
              <a:gd name="T31" fmla="*/ 988746 h 750"/>
              <a:gd name="T32" fmla="*/ 992783 w 861"/>
              <a:gd name="T33" fmla="*/ 988746 h 750"/>
              <a:gd name="T34" fmla="*/ 957084 w 861"/>
              <a:gd name="T35" fmla="*/ 1026185 h 750"/>
              <a:gd name="T36" fmla="*/ 1225679 w 861"/>
              <a:gd name="T37" fmla="*/ 1276350 h 750"/>
              <a:gd name="T38" fmla="*/ 1256279 w 861"/>
              <a:gd name="T39" fmla="*/ 1244016 h 7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1" h="750">
                <a:moveTo>
                  <a:pt x="739" y="731"/>
                </a:moveTo>
                <a:cubicBezTo>
                  <a:pt x="739" y="730"/>
                  <a:pt x="739" y="730"/>
                  <a:pt x="739" y="730"/>
                </a:cubicBezTo>
                <a:cubicBezTo>
                  <a:pt x="814" y="653"/>
                  <a:pt x="861" y="547"/>
                  <a:pt x="861" y="431"/>
                </a:cubicBezTo>
                <a:cubicBezTo>
                  <a:pt x="861" y="193"/>
                  <a:pt x="668" y="0"/>
                  <a:pt x="430" y="0"/>
                </a:cubicBezTo>
                <a:cubicBezTo>
                  <a:pt x="192" y="0"/>
                  <a:pt x="0" y="193"/>
                  <a:pt x="0" y="431"/>
                </a:cubicBezTo>
                <a:cubicBezTo>
                  <a:pt x="0" y="547"/>
                  <a:pt x="45" y="652"/>
                  <a:pt x="120" y="729"/>
                </a:cubicBezTo>
                <a:cubicBezTo>
                  <a:pt x="120" y="730"/>
                  <a:pt x="120" y="730"/>
                  <a:pt x="120" y="730"/>
                </a:cubicBezTo>
                <a:cubicBezTo>
                  <a:pt x="124" y="734"/>
                  <a:pt x="128" y="738"/>
                  <a:pt x="132" y="742"/>
                </a:cubicBezTo>
                <a:cubicBezTo>
                  <a:pt x="284" y="589"/>
                  <a:pt x="284" y="589"/>
                  <a:pt x="284" y="589"/>
                </a:cubicBezTo>
                <a:cubicBezTo>
                  <a:pt x="282" y="587"/>
                  <a:pt x="280" y="585"/>
                  <a:pt x="278" y="583"/>
                </a:cubicBezTo>
                <a:cubicBezTo>
                  <a:pt x="277" y="582"/>
                  <a:pt x="277" y="582"/>
                  <a:pt x="277" y="582"/>
                </a:cubicBezTo>
                <a:cubicBezTo>
                  <a:pt x="239" y="543"/>
                  <a:pt x="215" y="490"/>
                  <a:pt x="215" y="431"/>
                </a:cubicBezTo>
                <a:cubicBezTo>
                  <a:pt x="215" y="312"/>
                  <a:pt x="311" y="215"/>
                  <a:pt x="430" y="215"/>
                </a:cubicBezTo>
                <a:cubicBezTo>
                  <a:pt x="549" y="215"/>
                  <a:pt x="645" y="312"/>
                  <a:pt x="645" y="431"/>
                </a:cubicBezTo>
                <a:cubicBezTo>
                  <a:pt x="645" y="489"/>
                  <a:pt x="622" y="542"/>
                  <a:pt x="584" y="581"/>
                </a:cubicBezTo>
                <a:cubicBezTo>
                  <a:pt x="584" y="581"/>
                  <a:pt x="584" y="581"/>
                  <a:pt x="584" y="581"/>
                </a:cubicBezTo>
                <a:cubicBezTo>
                  <a:pt x="584" y="581"/>
                  <a:pt x="584" y="581"/>
                  <a:pt x="584" y="581"/>
                </a:cubicBezTo>
                <a:cubicBezTo>
                  <a:pt x="577" y="588"/>
                  <a:pt x="570" y="596"/>
                  <a:pt x="563" y="603"/>
                </a:cubicBezTo>
                <a:cubicBezTo>
                  <a:pt x="721" y="750"/>
                  <a:pt x="721" y="750"/>
                  <a:pt x="721" y="750"/>
                </a:cubicBezTo>
                <a:cubicBezTo>
                  <a:pt x="727" y="743"/>
                  <a:pt x="733" y="737"/>
                  <a:pt x="739" y="731"/>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10" name="Freeform 7"/>
          <p:cNvSpPr/>
          <p:nvPr/>
        </p:nvSpPr>
        <p:spPr bwMode="auto">
          <a:xfrm>
            <a:off x="2466380" y="3287945"/>
            <a:ext cx="1465263" cy="1465262"/>
          </a:xfrm>
          <a:custGeom>
            <a:avLst/>
            <a:gdLst>
              <a:gd name="T0" fmla="*/ 753030 w 862"/>
              <a:gd name="T1" fmla="*/ 0 h 861"/>
              <a:gd name="T2" fmla="*/ 634041 w 862"/>
              <a:gd name="T3" fmla="*/ 379505 h 861"/>
              <a:gd name="T4" fmla="*/ 732632 w 862"/>
              <a:gd name="T5" fmla="*/ 365890 h 861"/>
              <a:gd name="T6" fmla="*/ 1098097 w 862"/>
              <a:gd name="T7" fmla="*/ 731780 h 861"/>
              <a:gd name="T8" fmla="*/ 732632 w 862"/>
              <a:gd name="T9" fmla="*/ 1097670 h 861"/>
              <a:gd name="T10" fmla="*/ 367166 w 862"/>
              <a:gd name="T11" fmla="*/ 731780 h 861"/>
              <a:gd name="T12" fmla="*/ 448758 w 862"/>
              <a:gd name="T13" fmla="*/ 500333 h 861"/>
              <a:gd name="T14" fmla="*/ 180183 w 862"/>
              <a:gd name="T15" fmla="*/ 250167 h 861"/>
              <a:gd name="T16" fmla="*/ 0 w 862"/>
              <a:gd name="T17" fmla="*/ 731780 h 861"/>
              <a:gd name="T18" fmla="*/ 732632 w 862"/>
              <a:gd name="T19" fmla="*/ 1465262 h 861"/>
              <a:gd name="T20" fmla="*/ 1465263 w 862"/>
              <a:gd name="T21" fmla="*/ 731780 h 861"/>
              <a:gd name="T22" fmla="*/ 753030 w 862"/>
              <a:gd name="T23" fmla="*/ 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2" h="861">
                <a:moveTo>
                  <a:pt x="443" y="0"/>
                </a:moveTo>
                <a:cubicBezTo>
                  <a:pt x="439" y="80"/>
                  <a:pt x="415" y="156"/>
                  <a:pt x="373" y="223"/>
                </a:cubicBezTo>
                <a:cubicBezTo>
                  <a:pt x="391" y="218"/>
                  <a:pt x="411" y="215"/>
                  <a:pt x="431" y="215"/>
                </a:cubicBezTo>
                <a:cubicBezTo>
                  <a:pt x="550" y="215"/>
                  <a:pt x="646" y="311"/>
                  <a:pt x="646" y="430"/>
                </a:cubicBezTo>
                <a:cubicBezTo>
                  <a:pt x="646" y="549"/>
                  <a:pt x="550" y="645"/>
                  <a:pt x="431" y="645"/>
                </a:cubicBezTo>
                <a:cubicBezTo>
                  <a:pt x="312" y="645"/>
                  <a:pt x="216" y="549"/>
                  <a:pt x="216" y="430"/>
                </a:cubicBezTo>
                <a:cubicBezTo>
                  <a:pt x="216" y="378"/>
                  <a:pt x="234" y="331"/>
                  <a:pt x="264" y="294"/>
                </a:cubicBezTo>
                <a:cubicBezTo>
                  <a:pt x="106" y="147"/>
                  <a:pt x="106" y="147"/>
                  <a:pt x="106" y="147"/>
                </a:cubicBezTo>
                <a:cubicBezTo>
                  <a:pt x="40" y="223"/>
                  <a:pt x="0" y="322"/>
                  <a:pt x="0" y="430"/>
                </a:cubicBezTo>
                <a:cubicBezTo>
                  <a:pt x="0" y="668"/>
                  <a:pt x="193" y="861"/>
                  <a:pt x="431" y="861"/>
                </a:cubicBezTo>
                <a:cubicBezTo>
                  <a:pt x="669" y="861"/>
                  <a:pt x="862" y="668"/>
                  <a:pt x="862" y="430"/>
                </a:cubicBezTo>
                <a:cubicBezTo>
                  <a:pt x="862" y="196"/>
                  <a:pt x="675" y="6"/>
                  <a:pt x="443" y="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11" name="TextBox 175"/>
          <p:cNvSpPr txBox="1">
            <a:spLocks noChangeArrowheads="1"/>
          </p:cNvSpPr>
          <p:nvPr/>
        </p:nvSpPr>
        <p:spPr bwMode="auto">
          <a:xfrm>
            <a:off x="2172692" y="2995845"/>
            <a:ext cx="4810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dirty="0">
                <a:ln>
                  <a:noFill/>
                </a:ln>
                <a:solidFill>
                  <a:srgbClr val="014076"/>
                </a:solidFill>
                <a:effectLst/>
                <a:uLnTx/>
                <a:uFillTx/>
                <a:latin typeface="+mn-lt"/>
                <a:ea typeface="微软雅黑" panose="020B0503020204020204" pitchFamily="34" charset="-122"/>
                <a:cs typeface="+mn-lt"/>
                <a:sym typeface="Arial" panose="020B0604020202020204" pitchFamily="34" charset="0"/>
              </a:rPr>
              <a:t>01</a:t>
            </a:r>
          </a:p>
        </p:txBody>
      </p:sp>
      <p:sp>
        <p:nvSpPr>
          <p:cNvPr id="12" name="TextBox 176"/>
          <p:cNvSpPr txBox="1">
            <a:spLocks noChangeArrowheads="1"/>
          </p:cNvSpPr>
          <p:nvPr/>
        </p:nvSpPr>
        <p:spPr bwMode="auto">
          <a:xfrm>
            <a:off x="1374180" y="3788007"/>
            <a:ext cx="52387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7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02</a:t>
            </a:r>
          </a:p>
        </p:txBody>
      </p:sp>
      <p:sp>
        <p:nvSpPr>
          <p:cNvPr id="13" name="TextBox 177"/>
          <p:cNvSpPr txBox="1">
            <a:spLocks noChangeArrowheads="1"/>
          </p:cNvSpPr>
          <p:nvPr/>
        </p:nvSpPr>
        <p:spPr bwMode="auto">
          <a:xfrm>
            <a:off x="2920405" y="3788007"/>
            <a:ext cx="4810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03</a:t>
            </a:r>
          </a:p>
        </p:txBody>
      </p:sp>
      <p:sp>
        <p:nvSpPr>
          <p:cNvPr id="14" name="Line 7"/>
          <p:cNvSpPr>
            <a:spLocks noChangeShapeType="1"/>
          </p:cNvSpPr>
          <p:nvPr/>
        </p:nvSpPr>
        <p:spPr bwMode="auto">
          <a:xfrm flipH="1">
            <a:off x="4478092" y="1584877"/>
            <a:ext cx="1" cy="4005157"/>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702030404030204" pitchFamily="34" charset="0"/>
              <a:ea typeface="宋体" pitchFamily="2" charset="-122"/>
              <a:cs typeface="+mn-cs"/>
            </a:endParaRPr>
          </a:p>
        </p:txBody>
      </p:sp>
      <p:sp>
        <p:nvSpPr>
          <p:cNvPr id="15" name="AutoShape 9"/>
          <p:cNvSpPr>
            <a:spLocks noChangeArrowheads="1"/>
          </p:cNvSpPr>
          <p:nvPr/>
        </p:nvSpPr>
        <p:spPr bwMode="auto">
          <a:xfrm>
            <a:off x="4827207" y="1355828"/>
            <a:ext cx="762000" cy="1004887"/>
          </a:xfrm>
          <a:custGeom>
            <a:avLst/>
            <a:gdLst>
              <a:gd name="T0" fmla="*/ 13440833 w 21600"/>
              <a:gd name="T1" fmla="*/ 23374974 h 21600"/>
              <a:gd name="T2" fmla="*/ 13440833 w 21600"/>
              <a:gd name="T3" fmla="*/ 23374974 h 21600"/>
              <a:gd name="T4" fmla="*/ 13440833 w 21600"/>
              <a:gd name="T5" fmla="*/ 23374974 h 21600"/>
              <a:gd name="T6" fmla="*/ 13440833 w 21600"/>
              <a:gd name="T7" fmla="*/ 23374974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mn-lt"/>
                <a:sym typeface="Arial" panose="020B0604020202020204" pitchFamily="34" charset="0"/>
              </a:rPr>
              <a:t>1</a:t>
            </a:r>
          </a:p>
        </p:txBody>
      </p:sp>
      <p:sp>
        <p:nvSpPr>
          <p:cNvPr id="16" name="AutoShape 12"/>
          <p:cNvSpPr>
            <a:spLocks noChangeArrowheads="1"/>
          </p:cNvSpPr>
          <p:nvPr/>
        </p:nvSpPr>
        <p:spPr bwMode="auto">
          <a:xfrm>
            <a:off x="4843928" y="3060889"/>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s-ES" altLang="en-US" sz="6000" dirty="0">
                <a:solidFill>
                  <a:srgbClr val="0070C0"/>
                </a:solidFill>
                <a:latin typeface="Microsoft YaHei" panose="020B0503020204020204" pitchFamily="34" charset="-122"/>
                <a:ea typeface="Microsoft YaHei" panose="020B0503020204020204" pitchFamily="34" charset="-122"/>
                <a:cs typeface="+mn-lt"/>
                <a:sym typeface="Arial" panose="020B0604020202020204" pitchFamily="34" charset="0"/>
              </a:rPr>
              <a:t>2</a:t>
            </a:r>
          </a:p>
        </p:txBody>
      </p:sp>
      <p:sp>
        <p:nvSpPr>
          <p:cNvPr id="17" name="AutoShape 15"/>
          <p:cNvSpPr>
            <a:spLocks noChangeArrowheads="1"/>
          </p:cNvSpPr>
          <p:nvPr/>
        </p:nvSpPr>
        <p:spPr bwMode="auto">
          <a:xfrm>
            <a:off x="4877794" y="4757525"/>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mn-lt"/>
                <a:sym typeface="Arial" panose="020B0604020202020204" pitchFamily="34" charset="0"/>
              </a:rPr>
              <a:t>3</a:t>
            </a:r>
          </a:p>
        </p:txBody>
      </p:sp>
      <p:sp>
        <p:nvSpPr>
          <p:cNvPr id="18" name="TextBox 35"/>
          <p:cNvSpPr txBox="1"/>
          <p:nvPr/>
        </p:nvSpPr>
        <p:spPr>
          <a:xfrm>
            <a:off x="5733805" y="1584877"/>
            <a:ext cx="5891171" cy="1569660"/>
          </a:xfrm>
          <a:prstGeom prst="rect">
            <a:avLst/>
          </a:prstGeom>
          <a:noFill/>
        </p:spPr>
        <p:txBody>
          <a:bodyPr wrap="square" rtlCol="0">
            <a:spAutoFit/>
          </a:bodyPr>
          <a:lstStyle/>
          <a:p>
            <a:pPr defTabSz="914400">
              <a:lnSpc>
                <a:spcPct val="150000"/>
              </a:lnSpc>
              <a:defRPr/>
            </a:pPr>
            <a:r>
              <a:rPr lang="en-US" altLang="zh-CN" sz="1600" dirty="0">
                <a:solidFill>
                  <a:srgbClr val="1369B2"/>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1369B2"/>
                </a:solidFill>
                <a:latin typeface="Microsoft YaHei" panose="020B0503020204020204" pitchFamily="34" charset="-122"/>
                <a:ea typeface="Microsoft YaHei" panose="020B0503020204020204" pitchFamily="34" charset="-122"/>
                <a:cs typeface="+mn-lt"/>
              </a:rPr>
              <a:t>是脚本</a:t>
            </a:r>
            <a:r>
              <a:rPr lang="zh-CN" altLang="zh-CN" sz="1600" dirty="0" smtClean="0">
                <a:solidFill>
                  <a:srgbClr val="1369B2"/>
                </a:solidFill>
                <a:latin typeface="Microsoft YaHei" panose="020B0503020204020204" pitchFamily="34" charset="-122"/>
                <a:ea typeface="Microsoft YaHei" panose="020B0503020204020204" pitchFamily="34" charset="-122"/>
                <a:cs typeface="+mn-lt"/>
              </a:rPr>
              <a:t>语言</a:t>
            </a:r>
            <a:r>
              <a:rPr lang="zh-CN" altLang="en-US" sz="1600" dirty="0" smtClean="0">
                <a:solidFill>
                  <a:srgbClr val="1369B2"/>
                </a:solidFill>
                <a:latin typeface="Microsoft YaHei" panose="020B0503020204020204" pitchFamily="34" charset="-122"/>
                <a:ea typeface="Microsoft YaHei" panose="020B0503020204020204" pitchFamily="34" charset="-122"/>
                <a:cs typeface="+mn-lt"/>
              </a:rPr>
              <a:t>中的一种</a:t>
            </a:r>
            <a:r>
              <a:rPr lang="zh-CN" altLang="zh-CN" sz="1600" dirty="0" smtClean="0">
                <a:solidFill>
                  <a:srgbClr val="595959"/>
                </a:solidFill>
                <a:latin typeface="Microsoft YaHei" panose="020B0503020204020204" pitchFamily="34" charset="-122"/>
                <a:ea typeface="Microsoft YaHei" panose="020B0503020204020204" pitchFamily="34" charset="-122"/>
                <a:cs typeface="+mn-lt"/>
              </a:rPr>
              <a:t>，</a:t>
            </a:r>
            <a:r>
              <a:rPr lang="zh-CN" altLang="zh-CN" sz="1600" dirty="0">
                <a:solidFill>
                  <a:srgbClr val="595959"/>
                </a:solidFill>
                <a:latin typeface="Microsoft YaHei" panose="020B0503020204020204" pitchFamily="34" charset="-122"/>
                <a:ea typeface="Microsoft YaHei" panose="020B0503020204020204" pitchFamily="34" charset="-122"/>
                <a:cs typeface="+mn-lt"/>
              </a:rPr>
              <a:t>它的</a:t>
            </a:r>
            <a:r>
              <a:rPr lang="zh-CN" altLang="zh-CN" sz="1600" dirty="0">
                <a:solidFill>
                  <a:srgbClr val="1369B2"/>
                </a:solidFill>
                <a:latin typeface="Microsoft YaHei" panose="020B0503020204020204" pitchFamily="34" charset="-122"/>
                <a:ea typeface="Microsoft YaHei" panose="020B0503020204020204" pitchFamily="34" charset="-122"/>
                <a:cs typeface="+mn-lt"/>
              </a:rPr>
              <a:t>语法规则比较松散</a:t>
            </a:r>
            <a:r>
              <a:rPr lang="zh-CN" altLang="zh-CN" sz="1600" dirty="0">
                <a:solidFill>
                  <a:srgbClr val="595959"/>
                </a:solidFill>
                <a:latin typeface="Microsoft YaHei" panose="020B0503020204020204" pitchFamily="34" charset="-122"/>
                <a:ea typeface="Microsoft YaHei" panose="020B0503020204020204" pitchFamily="34" charset="-122"/>
                <a:cs typeface="+mn-lt"/>
              </a:rPr>
              <a:t>，使开发人员能够快速编写程序</a:t>
            </a:r>
            <a:r>
              <a:rPr lang="zh-CN" altLang="zh-CN" sz="1600" dirty="0" smtClean="0">
                <a:solidFill>
                  <a:srgbClr val="595959"/>
                </a:solidFill>
                <a:latin typeface="Microsoft YaHei" panose="020B0503020204020204" pitchFamily="34" charset="-122"/>
                <a:ea typeface="Microsoft YaHei" panose="020B0503020204020204" pitchFamily="34" charset="-122"/>
                <a:cs typeface="+mn-lt"/>
              </a:rPr>
              <a:t>。使用</a:t>
            </a:r>
            <a:r>
              <a:rPr lang="zh-CN" altLang="zh-CN" sz="1600" dirty="0">
                <a:solidFill>
                  <a:srgbClr val="595959"/>
                </a:solidFill>
                <a:latin typeface="Microsoft YaHei" panose="020B0503020204020204" pitchFamily="34" charset="-122"/>
                <a:ea typeface="Microsoft YaHei" panose="020B0503020204020204" pitchFamily="34" charset="-122"/>
                <a:cs typeface="+mn-lt"/>
              </a:rPr>
              <a:t>脚本语言编写的代码可以直接由解释器执行，</a:t>
            </a:r>
            <a:r>
              <a:rPr lang="zh-CN" altLang="zh-CN" sz="1600" dirty="0">
                <a:solidFill>
                  <a:srgbClr val="1369B2"/>
                </a:solidFill>
                <a:latin typeface="Microsoft YaHei" panose="020B0503020204020204" pitchFamily="34" charset="-122"/>
                <a:ea typeface="Microsoft YaHei" panose="020B0503020204020204" pitchFamily="34" charset="-122"/>
                <a:cs typeface="+mn-lt"/>
              </a:rPr>
              <a:t>不需要生成独立的可执行文件</a:t>
            </a:r>
            <a:r>
              <a:rPr lang="zh-CN" altLang="zh-CN" sz="1600" dirty="0">
                <a:solidFill>
                  <a:srgbClr val="595959"/>
                </a:solidFill>
                <a:latin typeface="Microsoft YaHei" panose="020B0503020204020204" pitchFamily="34" charset="-122"/>
                <a:ea typeface="Microsoft YaHei" panose="020B0503020204020204" pitchFamily="34" charset="-122"/>
                <a:cs typeface="+mn-lt"/>
              </a:rPr>
              <a:t>。由于脚本语言只在被调用时</a:t>
            </a:r>
            <a:r>
              <a:rPr lang="zh-CN" altLang="zh-CN" sz="1600" dirty="0">
                <a:solidFill>
                  <a:srgbClr val="1369B2"/>
                </a:solidFill>
                <a:latin typeface="Microsoft YaHei" panose="020B0503020204020204" pitchFamily="34" charset="-122"/>
                <a:ea typeface="Microsoft YaHei" panose="020B0503020204020204" pitchFamily="34" charset="-122"/>
                <a:cs typeface="+mn-lt"/>
              </a:rPr>
              <a:t>自动进行解释或编译</a:t>
            </a:r>
            <a:r>
              <a:rPr lang="zh-CN" altLang="zh-CN" sz="1600" dirty="0">
                <a:solidFill>
                  <a:srgbClr val="595959"/>
                </a:solidFill>
                <a:latin typeface="Microsoft YaHei" panose="020B0503020204020204" pitchFamily="34" charset="-122"/>
                <a:ea typeface="Microsoft YaHei" panose="020B0503020204020204" pitchFamily="34" charset="-122"/>
                <a:cs typeface="+mn-lt"/>
              </a:rPr>
              <a:t>，所以具有</a:t>
            </a:r>
            <a:r>
              <a:rPr lang="zh-CN" altLang="zh-CN" sz="1600" dirty="0">
                <a:solidFill>
                  <a:srgbClr val="1369B2"/>
                </a:solidFill>
                <a:latin typeface="Microsoft YaHei" panose="020B0503020204020204" pitchFamily="34" charset="-122"/>
                <a:ea typeface="Microsoft YaHei" panose="020B0503020204020204" pitchFamily="34" charset="-122"/>
                <a:cs typeface="+mn-lt"/>
              </a:rPr>
              <a:t>简单易用</a:t>
            </a:r>
            <a:r>
              <a:rPr lang="zh-CN" altLang="zh-CN" sz="1600" dirty="0">
                <a:solidFill>
                  <a:srgbClr val="595959"/>
                </a:solidFill>
                <a:latin typeface="Microsoft YaHei" panose="020B0503020204020204" pitchFamily="34" charset="-122"/>
                <a:ea typeface="Microsoft YaHei" panose="020B0503020204020204" pitchFamily="34" charset="-122"/>
                <a:cs typeface="+mn-lt"/>
              </a:rPr>
              <a:t>的特点</a:t>
            </a:r>
            <a:r>
              <a:rPr lang="zh-CN" altLang="zh-CN" sz="1600" dirty="0" smtClean="0">
                <a:solidFill>
                  <a:srgbClr val="595959"/>
                </a:solidFill>
                <a:latin typeface="Microsoft YaHei" panose="020B0503020204020204" pitchFamily="34" charset="-122"/>
                <a:ea typeface="Microsoft YaHei" panose="020B0503020204020204" pitchFamily="34" charset="-122"/>
                <a:cs typeface="+mn-lt"/>
              </a:rPr>
              <a:t>。</a:t>
            </a:r>
            <a:endParaRPr lang="zh-CN" altLang="zh-CN" sz="1600" dirty="0">
              <a:solidFill>
                <a:srgbClr val="595959"/>
              </a:solidFill>
              <a:latin typeface="Microsoft YaHei" panose="020B0503020204020204" pitchFamily="34" charset="-122"/>
              <a:ea typeface="Microsoft YaHei" panose="020B0503020204020204" pitchFamily="34" charset="-122"/>
              <a:cs typeface="+mn-lt"/>
            </a:endParaRPr>
          </a:p>
        </p:txBody>
      </p:sp>
      <p:sp>
        <p:nvSpPr>
          <p:cNvPr id="19" name="文本框 18"/>
          <p:cNvSpPr txBox="1"/>
          <p:nvPr/>
        </p:nvSpPr>
        <p:spPr>
          <a:xfrm>
            <a:off x="5717084" y="1318551"/>
            <a:ext cx="3612388" cy="369332"/>
          </a:xfrm>
          <a:prstGeom prst="rect">
            <a:avLst/>
          </a:prstGeom>
          <a:noFill/>
        </p:spPr>
        <p:txBody>
          <a:bodyPr wrap="square" rtlCol="0">
            <a:spAutoFit/>
          </a:bodyPr>
          <a:lstStyle/>
          <a:p>
            <a:pPr defTabSz="913765"/>
            <a:r>
              <a:rPr lang="zh-CN" altLang="en-US" sz="1800" b="1" kern="0" smtClean="0">
                <a:solidFill>
                  <a:srgbClr val="595959"/>
                </a:solidFill>
                <a:latin typeface="Microsoft YaHei" panose="020B0503020204020204" pitchFamily="34" charset="-122"/>
                <a:ea typeface="Microsoft YaHei" panose="020B0503020204020204" pitchFamily="34" charset="-122"/>
                <a:sym typeface="+mn-ea"/>
              </a:rPr>
              <a:t>简单易用</a:t>
            </a:r>
            <a:endParaRPr kumimoji="0" lang="zh-CN" altLang="en-US" sz="1800" b="1" i="0" u="none" strike="noStrike" kern="0" cap="none" spc="0" normalizeH="0" baseline="0" noProof="0" dirty="0">
              <a:ln>
                <a:noFill/>
              </a:ln>
              <a:solidFill>
                <a:srgbClr val="595959"/>
              </a:solidFill>
              <a:effectLst/>
              <a:uLnTx/>
              <a:uFillTx/>
              <a:latin typeface="Microsoft YaHei" panose="020B0503020204020204" pitchFamily="34" charset="-122"/>
              <a:ea typeface="Microsoft YaHei" panose="020B0503020204020204" pitchFamily="34" charset="-122"/>
              <a:sym typeface="+mn-ea"/>
            </a:endParaRPr>
          </a:p>
        </p:txBody>
      </p:sp>
      <p:sp>
        <p:nvSpPr>
          <p:cNvPr id="20" name="TextBox 35"/>
          <p:cNvSpPr txBox="1"/>
          <p:nvPr/>
        </p:nvSpPr>
        <p:spPr>
          <a:xfrm>
            <a:off x="5742176" y="3304270"/>
            <a:ext cx="5890635" cy="1569660"/>
          </a:xfrm>
          <a:prstGeom prst="rect">
            <a:avLst/>
          </a:prstGeom>
          <a:noFill/>
        </p:spPr>
        <p:txBody>
          <a:bodyPr wrap="square" rtlCol="0">
            <a:spAutoFit/>
          </a:bodyPr>
          <a:lstStyle/>
          <a:p>
            <a:pPr>
              <a:lnSpc>
                <a:spcPct val="150000"/>
              </a:lnSpc>
              <a:defRPr/>
            </a:pPr>
            <a:r>
              <a:rPr lang="en-US" altLang="zh-CN" sz="16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1369B2"/>
                </a:solidFill>
                <a:latin typeface="Microsoft YaHei" panose="020B0503020204020204" pitchFamily="34" charset="-122"/>
                <a:ea typeface="Microsoft YaHei" panose="020B0503020204020204" pitchFamily="34" charset="-122"/>
                <a:cs typeface="+mn-lt"/>
              </a:rPr>
              <a:t>不</a:t>
            </a:r>
            <a:r>
              <a:rPr lang="zh-CN" altLang="zh-CN" sz="1600" dirty="0" smtClean="0">
                <a:solidFill>
                  <a:srgbClr val="1369B2"/>
                </a:solidFill>
                <a:latin typeface="Microsoft YaHei" panose="020B0503020204020204" pitchFamily="34" charset="-122"/>
                <a:ea typeface="Microsoft YaHei" panose="020B0503020204020204" pitchFamily="34" charset="-122"/>
                <a:cs typeface="+mn-lt"/>
              </a:rPr>
              <a:t>依赖</a:t>
            </a:r>
            <a:r>
              <a:rPr lang="zh-CN" altLang="en-US" sz="1600" dirty="0" smtClean="0">
                <a:solidFill>
                  <a:srgbClr val="1369B2"/>
                </a:solidFill>
                <a:latin typeface="Microsoft YaHei" panose="020B0503020204020204" pitchFamily="34" charset="-122"/>
                <a:ea typeface="Microsoft YaHei" panose="020B0503020204020204" pitchFamily="34" charset="-122"/>
                <a:cs typeface="+mn-lt"/>
              </a:rPr>
              <a:t>特定的</a:t>
            </a:r>
            <a:r>
              <a:rPr lang="zh-CN" altLang="zh-CN" sz="1600" dirty="0" smtClean="0">
                <a:solidFill>
                  <a:srgbClr val="1369B2"/>
                </a:solidFill>
                <a:latin typeface="Microsoft YaHei" panose="020B0503020204020204" pitchFamily="34" charset="-122"/>
                <a:ea typeface="Microsoft YaHei" panose="020B0503020204020204" pitchFamily="34" charset="-122"/>
                <a:cs typeface="+mn-lt"/>
              </a:rPr>
              <a:t>操作系统</a:t>
            </a:r>
            <a:r>
              <a:rPr lang="zh-CN" altLang="zh-CN" sz="1600" dirty="0">
                <a:solidFill>
                  <a:srgbClr val="595959"/>
                </a:solidFill>
                <a:latin typeface="Microsoft YaHei" panose="020B0503020204020204" pitchFamily="34" charset="-122"/>
                <a:ea typeface="Microsoft YaHei" panose="020B0503020204020204" pitchFamily="34" charset="-122"/>
                <a:cs typeface="+mn-lt"/>
              </a:rPr>
              <a:t>，仅</a:t>
            </a:r>
            <a:r>
              <a:rPr lang="zh-CN" altLang="zh-CN" sz="1600" dirty="0">
                <a:solidFill>
                  <a:srgbClr val="1369B2"/>
                </a:solidFill>
                <a:latin typeface="Microsoft YaHei" panose="020B0503020204020204" pitchFamily="34" charset="-122"/>
                <a:ea typeface="Microsoft YaHei" panose="020B0503020204020204" pitchFamily="34" charset="-122"/>
                <a:cs typeface="+mn-lt"/>
              </a:rPr>
              <a:t>需要浏览器的支持</a:t>
            </a:r>
            <a:r>
              <a:rPr lang="zh-CN" altLang="zh-CN" sz="1600" dirty="0">
                <a:solidFill>
                  <a:srgbClr val="595959"/>
                </a:solidFill>
                <a:latin typeface="Microsoft YaHei" panose="020B0503020204020204" pitchFamily="34" charset="-122"/>
                <a:ea typeface="Microsoft YaHei" panose="020B0503020204020204" pitchFamily="34" charset="-122"/>
                <a:cs typeface="+mn-lt"/>
              </a:rPr>
              <a:t>。无论用户使用的操作系统是</a:t>
            </a:r>
            <a:r>
              <a:rPr lang="en-US" altLang="zh-CN" sz="1600" dirty="0">
                <a:solidFill>
                  <a:srgbClr val="595959"/>
                </a:solidFill>
                <a:latin typeface="Microsoft YaHei" panose="020B0503020204020204" pitchFamily="34" charset="-122"/>
                <a:ea typeface="Microsoft YaHei" panose="020B0503020204020204" pitchFamily="34" charset="-122"/>
                <a:cs typeface="+mn-lt"/>
              </a:rPr>
              <a:t>Windows</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r>
              <a:rPr lang="en-US" altLang="zh-CN" sz="1600" dirty="0">
                <a:solidFill>
                  <a:srgbClr val="595959"/>
                </a:solidFill>
                <a:latin typeface="Microsoft YaHei" panose="020B0503020204020204" pitchFamily="34" charset="-122"/>
                <a:ea typeface="Microsoft YaHei" panose="020B0503020204020204" pitchFamily="34" charset="-122"/>
                <a:cs typeface="+mn-lt"/>
              </a:rPr>
              <a:t>Linux</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r>
              <a:rPr lang="en-US" altLang="zh-CN" sz="1600" dirty="0" err="1">
                <a:solidFill>
                  <a:srgbClr val="595959"/>
                </a:solidFill>
                <a:latin typeface="Microsoft YaHei" panose="020B0503020204020204" pitchFamily="34" charset="-122"/>
                <a:ea typeface="Microsoft YaHei" panose="020B0503020204020204" pitchFamily="34" charset="-122"/>
                <a:cs typeface="+mn-lt"/>
              </a:rPr>
              <a:t>macOS</a:t>
            </a:r>
            <a:r>
              <a:rPr lang="zh-CN" altLang="zh-CN" sz="1600" dirty="0">
                <a:solidFill>
                  <a:srgbClr val="595959"/>
                </a:solidFill>
                <a:latin typeface="Microsoft YaHei" panose="020B0503020204020204" pitchFamily="34" charset="-122"/>
                <a:ea typeface="Microsoft YaHei" panose="020B0503020204020204" pitchFamily="34" charset="-122"/>
                <a:cs typeface="+mn-lt"/>
              </a:rPr>
              <a:t>还是</a:t>
            </a:r>
            <a:r>
              <a:rPr lang="en-US" altLang="zh-CN" sz="1600" dirty="0">
                <a:solidFill>
                  <a:srgbClr val="595959"/>
                </a:solidFill>
                <a:latin typeface="Microsoft YaHei" panose="020B0503020204020204" pitchFamily="34" charset="-122"/>
                <a:ea typeface="Microsoft YaHei" panose="020B0503020204020204" pitchFamily="34" charset="-122"/>
                <a:cs typeface="+mn-lt"/>
              </a:rPr>
              <a:t>Android</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r>
              <a:rPr lang="en-US" altLang="zh-CN" sz="1600" dirty="0">
                <a:solidFill>
                  <a:srgbClr val="595959"/>
                </a:solidFill>
                <a:latin typeface="Microsoft YaHei" panose="020B0503020204020204" pitchFamily="34" charset="-122"/>
                <a:ea typeface="Microsoft YaHei" panose="020B0503020204020204" pitchFamily="34" charset="-122"/>
                <a:cs typeface="+mn-lt"/>
              </a:rPr>
              <a:t>iOS</a:t>
            </a:r>
            <a:r>
              <a:rPr lang="zh-CN" altLang="zh-CN" sz="1600" dirty="0">
                <a:solidFill>
                  <a:srgbClr val="595959"/>
                </a:solidFill>
                <a:latin typeface="Microsoft YaHei" panose="020B0503020204020204" pitchFamily="34" charset="-122"/>
                <a:ea typeface="Microsoft YaHei" panose="020B0503020204020204" pitchFamily="34" charset="-122"/>
                <a:cs typeface="+mn-lt"/>
              </a:rPr>
              <a:t>，只要这些操作系统中安装了支持</a:t>
            </a:r>
            <a:r>
              <a:rPr lang="en-US" altLang="zh-CN" sz="16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595959"/>
                </a:solidFill>
                <a:latin typeface="Microsoft YaHei" panose="020B0503020204020204" pitchFamily="34" charset="-122"/>
                <a:ea typeface="Microsoft YaHei" panose="020B0503020204020204" pitchFamily="34" charset="-122"/>
                <a:cs typeface="+mn-lt"/>
              </a:rPr>
              <a:t>的浏览器，就可以运行</a:t>
            </a:r>
            <a:r>
              <a:rPr lang="en-US" altLang="zh-CN" sz="16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p>
        </p:txBody>
      </p:sp>
      <p:sp>
        <p:nvSpPr>
          <p:cNvPr id="21" name="文本框 20"/>
          <p:cNvSpPr txBox="1"/>
          <p:nvPr/>
        </p:nvSpPr>
        <p:spPr>
          <a:xfrm>
            <a:off x="5717084" y="3091240"/>
            <a:ext cx="2826394" cy="369332"/>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Microsoft YaHei" panose="020B0503020204020204" pitchFamily="34" charset="-122"/>
                <a:ea typeface="Microsoft YaHei" panose="020B0503020204020204" pitchFamily="34" charset="-122"/>
              </a:defRPr>
            </a:lvl1pPr>
          </a:lstStyle>
          <a:p>
            <a:r>
              <a:rPr lang="zh-CN" altLang="en-US" sz="1800" kern="0" smtClean="0">
                <a:solidFill>
                  <a:srgbClr val="595959"/>
                </a:solidFill>
                <a:sym typeface="+mn-ea"/>
              </a:rPr>
              <a:t>跨平台</a:t>
            </a:r>
            <a:endParaRPr lang="zh-CN" altLang="en-US" sz="1600" kern="0" dirty="0">
              <a:solidFill>
                <a:srgbClr val="595959"/>
              </a:solidFill>
              <a:sym typeface="+mn-ea"/>
            </a:endParaRPr>
          </a:p>
        </p:txBody>
      </p:sp>
      <p:sp>
        <p:nvSpPr>
          <p:cNvPr id="22" name="TextBox 35"/>
          <p:cNvSpPr txBox="1"/>
          <p:nvPr/>
        </p:nvSpPr>
        <p:spPr>
          <a:xfrm>
            <a:off x="5759902" y="5043294"/>
            <a:ext cx="5848352" cy="1569660"/>
          </a:xfrm>
          <a:prstGeom prst="rect">
            <a:avLst/>
          </a:prstGeom>
          <a:noFill/>
        </p:spPr>
        <p:txBody>
          <a:bodyPr wrap="square" rtlCol="0">
            <a:spAutoFit/>
          </a:bodyPr>
          <a:lstStyle/>
          <a:p>
            <a:pPr>
              <a:lnSpc>
                <a:spcPct val="150000"/>
              </a:lnSpc>
              <a:defRPr/>
            </a:pPr>
            <a:r>
              <a:rPr lang="zh-CN" altLang="zh-CN" sz="1600" dirty="0">
                <a:solidFill>
                  <a:srgbClr val="595959"/>
                </a:solidFill>
                <a:latin typeface="Microsoft YaHei" panose="020B0503020204020204" pitchFamily="34" charset="-122"/>
                <a:ea typeface="Microsoft YaHei" panose="020B0503020204020204" pitchFamily="34" charset="-122"/>
                <a:cs typeface="+mn-lt"/>
              </a:rPr>
              <a:t>面向对象是软件开发中的一种重要的</a:t>
            </a:r>
            <a:r>
              <a:rPr lang="zh-CN" altLang="zh-CN" sz="1600" dirty="0">
                <a:solidFill>
                  <a:srgbClr val="1369B2"/>
                </a:solidFill>
                <a:latin typeface="Microsoft YaHei" panose="020B0503020204020204" pitchFamily="34" charset="-122"/>
                <a:ea typeface="Microsoft YaHei" panose="020B0503020204020204" pitchFamily="34" charset="-122"/>
                <a:cs typeface="+mn-lt"/>
              </a:rPr>
              <a:t>编程思想</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r>
              <a:rPr lang="en-US" altLang="zh-CN" sz="16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595959"/>
                </a:solidFill>
                <a:latin typeface="Microsoft YaHei" panose="020B0503020204020204" pitchFamily="34" charset="-122"/>
                <a:ea typeface="Microsoft YaHei" panose="020B0503020204020204" pitchFamily="34" charset="-122"/>
                <a:cs typeface="+mn-lt"/>
              </a:rPr>
              <a:t>为面向对象提供了支持，使开发者能够通过面向对象思想进行编程。许多优秀的</a:t>
            </a:r>
            <a:r>
              <a:rPr lang="zh-CN" altLang="zh-CN" sz="1600" dirty="0">
                <a:solidFill>
                  <a:srgbClr val="1369B2"/>
                </a:solidFill>
                <a:latin typeface="Microsoft YaHei" panose="020B0503020204020204" pitchFamily="34" charset="-122"/>
                <a:ea typeface="Microsoft YaHei" panose="020B0503020204020204" pitchFamily="34" charset="-122"/>
                <a:cs typeface="+mn-lt"/>
              </a:rPr>
              <a:t>库</a:t>
            </a:r>
            <a:r>
              <a:rPr lang="zh-CN" altLang="zh-CN" sz="1600" dirty="0">
                <a:solidFill>
                  <a:srgbClr val="595959"/>
                </a:solidFill>
                <a:latin typeface="Microsoft YaHei" panose="020B0503020204020204" pitchFamily="34" charset="-122"/>
                <a:ea typeface="Microsoft YaHei" panose="020B0503020204020204" pitchFamily="34" charset="-122"/>
                <a:cs typeface="+mn-lt"/>
              </a:rPr>
              <a:t>和</a:t>
            </a:r>
            <a:r>
              <a:rPr lang="zh-CN" altLang="zh-CN" sz="1600" dirty="0">
                <a:solidFill>
                  <a:srgbClr val="1369B2"/>
                </a:solidFill>
                <a:latin typeface="Microsoft YaHei" panose="020B0503020204020204" pitchFamily="34" charset="-122"/>
                <a:ea typeface="Microsoft YaHei" panose="020B0503020204020204" pitchFamily="34" charset="-122"/>
                <a:cs typeface="+mn-lt"/>
              </a:rPr>
              <a:t>框架</a:t>
            </a:r>
            <a:r>
              <a:rPr lang="zh-CN" altLang="zh-CN" sz="1600" dirty="0">
                <a:solidFill>
                  <a:srgbClr val="595959"/>
                </a:solidFill>
                <a:latin typeface="Microsoft YaHei" panose="020B0503020204020204" pitchFamily="34" charset="-122"/>
                <a:ea typeface="Microsoft YaHei" panose="020B0503020204020204" pitchFamily="34" charset="-122"/>
                <a:cs typeface="+mn-lt"/>
              </a:rPr>
              <a:t>的诞生都离不开</a:t>
            </a:r>
            <a:r>
              <a:rPr lang="zh-CN" altLang="zh-CN" sz="1600" dirty="0" smtClean="0">
                <a:solidFill>
                  <a:srgbClr val="595959"/>
                </a:solidFill>
                <a:latin typeface="Microsoft YaHei" panose="020B0503020204020204" pitchFamily="34" charset="-122"/>
                <a:ea typeface="Microsoft YaHei" panose="020B0503020204020204" pitchFamily="34" charset="-122"/>
                <a:cs typeface="+mn-lt"/>
              </a:rPr>
              <a:t>面向对象思想</a:t>
            </a:r>
            <a:r>
              <a:rPr lang="zh-CN" altLang="zh-CN" sz="1600" dirty="0">
                <a:solidFill>
                  <a:srgbClr val="595959"/>
                </a:solidFill>
                <a:latin typeface="Microsoft YaHei" panose="020B0503020204020204" pitchFamily="34" charset="-122"/>
                <a:ea typeface="Microsoft YaHei" panose="020B0503020204020204" pitchFamily="34" charset="-122"/>
                <a:cs typeface="+mn-lt"/>
              </a:rPr>
              <a:t>。面向对象使</a:t>
            </a:r>
            <a:r>
              <a:rPr lang="en-US" altLang="zh-CN" sz="16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600" dirty="0">
                <a:solidFill>
                  <a:srgbClr val="595959"/>
                </a:solidFill>
                <a:latin typeface="Microsoft YaHei" panose="020B0503020204020204" pitchFamily="34" charset="-122"/>
                <a:ea typeface="Microsoft YaHei" panose="020B0503020204020204" pitchFamily="34" charset="-122"/>
                <a:cs typeface="+mn-lt"/>
              </a:rPr>
              <a:t>开发变得</a:t>
            </a:r>
            <a:r>
              <a:rPr lang="zh-CN" altLang="zh-CN" sz="1600" dirty="0">
                <a:solidFill>
                  <a:srgbClr val="1369B2"/>
                </a:solidFill>
                <a:latin typeface="Microsoft YaHei" panose="020B0503020204020204" pitchFamily="34" charset="-122"/>
                <a:ea typeface="Microsoft YaHei" panose="020B0503020204020204" pitchFamily="34" charset="-122"/>
                <a:cs typeface="+mn-lt"/>
              </a:rPr>
              <a:t>快捷</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r>
              <a:rPr lang="zh-CN" altLang="zh-CN" sz="1600" dirty="0">
                <a:solidFill>
                  <a:srgbClr val="1369B2"/>
                </a:solidFill>
                <a:latin typeface="Microsoft YaHei" panose="020B0503020204020204" pitchFamily="34" charset="-122"/>
                <a:ea typeface="Microsoft YaHei" panose="020B0503020204020204" pitchFamily="34" charset="-122"/>
                <a:cs typeface="+mn-lt"/>
              </a:rPr>
              <a:t>高效</a:t>
            </a:r>
            <a:r>
              <a:rPr lang="zh-CN" altLang="zh-CN" sz="1600" dirty="0" smtClean="0">
                <a:solidFill>
                  <a:srgbClr val="595959"/>
                </a:solidFill>
                <a:latin typeface="Microsoft YaHei" panose="020B0503020204020204" pitchFamily="34" charset="-122"/>
                <a:ea typeface="Microsoft YaHei" panose="020B0503020204020204" pitchFamily="34" charset="-122"/>
                <a:cs typeface="+mn-lt"/>
              </a:rPr>
              <a:t>，</a:t>
            </a:r>
            <a:r>
              <a:rPr lang="zh-CN" altLang="en-US" sz="1600" dirty="0" smtClean="0">
                <a:solidFill>
                  <a:srgbClr val="595959"/>
                </a:solidFill>
                <a:latin typeface="Microsoft YaHei" panose="020B0503020204020204" pitchFamily="34" charset="-122"/>
                <a:ea typeface="Microsoft YaHei" panose="020B0503020204020204" pitchFamily="34" charset="-122"/>
                <a:cs typeface="+mn-lt"/>
              </a:rPr>
              <a:t>还可以</a:t>
            </a:r>
            <a:r>
              <a:rPr lang="zh-CN" altLang="zh-CN" sz="1600" dirty="0" smtClean="0">
                <a:solidFill>
                  <a:srgbClr val="1369B2"/>
                </a:solidFill>
                <a:latin typeface="Microsoft YaHei" panose="020B0503020204020204" pitchFamily="34" charset="-122"/>
                <a:ea typeface="Microsoft YaHei" panose="020B0503020204020204" pitchFamily="34" charset="-122"/>
                <a:cs typeface="+mn-lt"/>
              </a:rPr>
              <a:t>降低</a:t>
            </a:r>
            <a:r>
              <a:rPr lang="zh-CN" altLang="zh-CN" sz="1600" dirty="0">
                <a:solidFill>
                  <a:srgbClr val="1369B2"/>
                </a:solidFill>
                <a:latin typeface="Microsoft YaHei" panose="020B0503020204020204" pitchFamily="34" charset="-122"/>
                <a:ea typeface="Microsoft YaHei" panose="020B0503020204020204" pitchFamily="34" charset="-122"/>
                <a:cs typeface="+mn-lt"/>
              </a:rPr>
              <a:t>开发成本</a:t>
            </a:r>
            <a:r>
              <a:rPr lang="zh-CN" altLang="zh-CN" sz="1600" dirty="0">
                <a:solidFill>
                  <a:srgbClr val="595959"/>
                </a:solidFill>
                <a:latin typeface="Microsoft YaHei" panose="020B0503020204020204" pitchFamily="34" charset="-122"/>
                <a:ea typeface="Microsoft YaHei" panose="020B0503020204020204" pitchFamily="34" charset="-122"/>
                <a:cs typeface="+mn-lt"/>
              </a:rPr>
              <a:t>。</a:t>
            </a:r>
          </a:p>
        </p:txBody>
      </p:sp>
      <p:sp>
        <p:nvSpPr>
          <p:cNvPr id="23" name="文本框 22"/>
          <p:cNvSpPr txBox="1"/>
          <p:nvPr/>
        </p:nvSpPr>
        <p:spPr>
          <a:xfrm>
            <a:off x="5785352" y="4788654"/>
            <a:ext cx="2902142" cy="369332"/>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Microsoft YaHei" panose="020B0503020204020204" pitchFamily="34" charset="-122"/>
                <a:ea typeface="Microsoft YaHei" panose="020B0503020204020204" pitchFamily="34" charset="-122"/>
              </a:defRPr>
            </a:lvl1pPr>
          </a:lstStyle>
          <a:p>
            <a:r>
              <a:rPr lang="zh-CN" altLang="en-US" sz="1800" smtClean="0">
                <a:solidFill>
                  <a:srgbClr val="595959"/>
                </a:solidFill>
                <a:cs typeface="+mn-lt"/>
                <a:sym typeface="+mn-ea"/>
              </a:rPr>
              <a:t>面向对象</a:t>
            </a:r>
            <a:endParaRPr lang="zh-CN" altLang="en-US" sz="1600" dirty="0">
              <a:sym typeface="+mn-ea"/>
            </a:endParaRPr>
          </a:p>
        </p:txBody>
      </p:sp>
      <p:sp>
        <p:nvSpPr>
          <p:cNvPr id="2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1.1.4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的特点</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18074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en-US" altLang="zh-CN" sz="4800" b="1"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开发工具</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97561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720665"/>
            <a:ext cx="5429568"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浏览器</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，能够描述浏览器的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特点</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以及</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作用</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228853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文本框 4">
            <a:extLst>
              <a:ext uri="{FF2B5EF4-FFF2-40B4-BE49-F238E27FC236}">
                <a16:creationId xmlns:a16="http://schemas.microsoft.com/office/drawing/2014/main" id="{0AC76212-EC23-4F95-A3FA-72E85045A7CA}"/>
              </a:ext>
            </a:extLst>
          </p:cNvPr>
          <p:cNvSpPr txBox="1"/>
          <p:nvPr/>
        </p:nvSpPr>
        <p:spPr>
          <a:xfrm>
            <a:off x="838622" y="1197546"/>
            <a:ext cx="10445524" cy="553998"/>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浏览器</a:t>
            </a:r>
            <a:r>
              <a:rPr lang="zh-CN" altLang="zh-CN" sz="2000" dirty="0">
                <a:solidFill>
                  <a:srgbClr val="595959"/>
                </a:solidFill>
                <a:latin typeface="Microsoft YaHei" panose="020B0503020204020204" pitchFamily="34" charset="-122"/>
                <a:ea typeface="Microsoft YaHei" panose="020B0503020204020204" pitchFamily="34" charset="-122"/>
              </a:rPr>
              <a:t>是用户访问互联网中各种网站所必备的工具，</a:t>
            </a:r>
            <a:r>
              <a:rPr lang="zh-CN" altLang="zh-CN" sz="2000" dirty="0">
                <a:solidFill>
                  <a:srgbClr val="1369B2"/>
                </a:solidFill>
                <a:latin typeface="Microsoft YaHei" panose="020B0503020204020204" pitchFamily="34" charset="-122"/>
                <a:ea typeface="Microsoft YaHei" panose="020B0503020204020204" pitchFamily="34" charset="-122"/>
              </a:rPr>
              <a:t>常见的浏览器及其特点</a:t>
            </a:r>
            <a:r>
              <a:rPr lang="zh-CN" altLang="zh-CN" sz="2000" dirty="0" smtClean="0">
                <a:solidFill>
                  <a:srgbClr val="595959"/>
                </a:solidFill>
                <a:latin typeface="Microsoft YaHei" panose="020B0503020204020204" pitchFamily="34" charset="-122"/>
                <a:ea typeface="Microsoft YaHei" panose="020B0503020204020204" pitchFamily="34" charset="-122"/>
              </a:rPr>
              <a:t>如</a:t>
            </a:r>
            <a:r>
              <a:rPr lang="zh-CN" altLang="en-US" sz="2000" dirty="0" smtClean="0">
                <a:solidFill>
                  <a:srgbClr val="595959"/>
                </a:solidFill>
                <a:latin typeface="Microsoft YaHei" panose="020B0503020204020204" pitchFamily="34" charset="-122"/>
                <a:ea typeface="Microsoft YaHei" panose="020B0503020204020204" pitchFamily="34" charset="-122"/>
              </a:rPr>
              <a:t>下</a:t>
            </a:r>
            <a:r>
              <a:rPr lang="zh-CN" altLang="zh-CN" sz="2000" dirty="0" smtClean="0">
                <a:solidFill>
                  <a:srgbClr val="595959"/>
                </a:solidFill>
                <a:latin typeface="Microsoft YaHei" panose="020B0503020204020204" pitchFamily="34" charset="-122"/>
                <a:ea typeface="Microsoft YaHei" panose="020B0503020204020204" pitchFamily="34" charset="-122"/>
              </a:rPr>
              <a:t>表所</a:t>
            </a:r>
            <a:r>
              <a:rPr lang="zh-CN" altLang="zh-CN" sz="2000" dirty="0">
                <a:solidFill>
                  <a:srgbClr val="595959"/>
                </a:solidFill>
                <a:latin typeface="Microsoft YaHei" panose="020B0503020204020204" pitchFamily="34" charset="-122"/>
                <a:ea typeface="Microsoft YaHei" panose="020B0503020204020204" pitchFamily="34" charset="-122"/>
              </a:rPr>
              <a:t>示。</a:t>
            </a:r>
          </a:p>
        </p:txBody>
      </p:sp>
      <p:graphicFrame>
        <p:nvGraphicFramePr>
          <p:cNvPr id="6" name="表格 5">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3792664715"/>
              </p:ext>
            </p:extLst>
          </p:nvPr>
        </p:nvGraphicFramePr>
        <p:xfrm>
          <a:off x="973910" y="2061642"/>
          <a:ext cx="10377880" cy="3672408"/>
        </p:xfrm>
        <a:graphic>
          <a:graphicData uri="http://schemas.openxmlformats.org/drawingml/2006/table">
            <a:tbl>
              <a:tblPr>
                <a:tableStyleId>{7DF18680-E054-41AD-8BC1-D1AEF772440D}</a:tableStyleId>
              </a:tblPr>
              <a:tblGrid>
                <a:gridCol w="2184122">
                  <a:extLst>
                    <a:ext uri="{9D8B030D-6E8A-4147-A177-3AD203B41FA5}">
                      <a16:colId xmlns:a16="http://schemas.microsoft.com/office/drawing/2014/main" val="394377544"/>
                    </a:ext>
                  </a:extLst>
                </a:gridCol>
                <a:gridCol w="1522734">
                  <a:extLst>
                    <a:ext uri="{9D8B030D-6E8A-4147-A177-3AD203B41FA5}">
                      <a16:colId xmlns:a16="http://schemas.microsoft.com/office/drawing/2014/main" val="1296770823"/>
                    </a:ext>
                  </a:extLst>
                </a:gridCol>
                <a:gridCol w="6671024">
                  <a:extLst>
                    <a:ext uri="{9D8B030D-6E8A-4147-A177-3AD203B41FA5}">
                      <a16:colId xmlns:a16="http://schemas.microsoft.com/office/drawing/2014/main" val="1945888999"/>
                    </a:ext>
                  </a:extLst>
                </a:gridCol>
              </a:tblGrid>
              <a:tr h="612068">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浏览器</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altLang="en-US" sz="18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厂商</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altLang="en-US" sz="18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特点</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0000"/>
                  </a:ext>
                </a:extLst>
              </a:tr>
              <a:tr h="612068">
                <a:tc>
                  <a:txBody>
                    <a:bodyPr/>
                    <a:lstStyle/>
                    <a:p>
                      <a:pPr marL="0" indent="127000" algn="l" defTabSz="1219200" rtl="0" eaLnBrk="1" latinLnBrk="0" hangingPunct="1">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Internet</a:t>
                      </a:r>
                      <a:r>
                        <a:rPr lang="en-US" altLang="zh-CN" sz="1800" b="0" kern="1200" baseline="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Explorer</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微软公司</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just">
                        <a:spcAft>
                          <a:spcPts val="0"/>
                        </a:spcAft>
                      </a:pP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Windows</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操作系统的</a:t>
                      </a: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内置浏览器</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41778534"/>
                  </a:ext>
                </a:extLst>
              </a:tr>
              <a:tr h="612068">
                <a:tc>
                  <a:txBody>
                    <a:bodyPr/>
                    <a:lstStyle/>
                    <a:p>
                      <a:pPr indent="127000" algn="ctr">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Edge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tabLst/>
                        <a:defRPr/>
                      </a:pP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微软公司</a:t>
                      </a:r>
                      <a:endPar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tabLst>
                          <a:tab pos="2191385" algn="l"/>
                          <a:tab pos="3098800" algn="l"/>
                          <a:tab pos="3946525" algn="l"/>
                        </a:tabLst>
                      </a:pP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Windows 10</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操作系统新增的浏览器，</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响应</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速度更快、功能更多</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351245817"/>
                  </a:ext>
                </a:extLst>
              </a:tr>
              <a:tr h="612068">
                <a:tc>
                  <a:txBody>
                    <a:bodyPr/>
                    <a:lstStyle/>
                    <a:p>
                      <a:pPr indent="127000" algn="ctr">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Chrome</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谷歌公司</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pP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目前市场占有率较高的浏览器，具有简洁、快速的特点</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3260076697"/>
                  </a:ext>
                </a:extLst>
              </a:tr>
              <a:tr h="612068">
                <a:tc>
                  <a:txBody>
                    <a:bodyPr/>
                    <a:lstStyle/>
                    <a:p>
                      <a:pPr indent="127000" algn="ctr">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Firefox</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Mozilla</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公司</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pP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由</a:t>
                      </a: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Mozilla</a:t>
                      </a: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开发的网页浏览器，安全性高、占用系统资源小</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2850073451"/>
                  </a:ext>
                </a:extLst>
              </a:tr>
              <a:tr h="612068">
                <a:tc>
                  <a:txBody>
                    <a:bodyPr/>
                    <a:lstStyle/>
                    <a:p>
                      <a:pPr indent="127000" algn="ctr">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Safari</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苹果公司</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spcAft>
                          <a:spcPts val="0"/>
                        </a:spcAft>
                      </a:pP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主要应用在</a:t>
                      </a: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iOS</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0" kern="1200" dirty="0" err="1"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macOS</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操作系统中</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2980835038"/>
                  </a:ext>
                </a:extLst>
              </a:tr>
            </a:tbl>
          </a:graphicData>
        </a:graphic>
      </p:graphicFrame>
    </p:spTree>
    <p:extLst>
      <p:ext uri="{BB962C8B-B14F-4D97-AF65-F5344CB8AC3E}">
        <p14:creationId xmlns:p14="http://schemas.microsoft.com/office/powerpoint/2010/main" val="3256018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6" y="1985402"/>
            <a:ext cx="6740375" cy="3417567"/>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292953" y="2263024"/>
              <a:ext cx="611395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浏览器</a:t>
              </a:r>
              <a:r>
                <a:rPr lang="zh-CN" altLang="zh-CN" sz="2000" dirty="0">
                  <a:solidFill>
                    <a:srgbClr val="595959"/>
                  </a:solidFill>
                  <a:latin typeface="微软雅黑" panose="020B0503020204020204" pitchFamily="34" charset="-122"/>
                  <a:ea typeface="微软雅黑" panose="020B0503020204020204" pitchFamily="34" charset="-122"/>
                </a:rPr>
                <a:t>一般由</a:t>
              </a:r>
              <a:r>
                <a:rPr lang="zh-CN" altLang="zh-CN" sz="2000" dirty="0">
                  <a:solidFill>
                    <a:srgbClr val="1369B2"/>
                  </a:solidFill>
                  <a:latin typeface="微软雅黑" panose="020B0503020204020204" pitchFamily="34" charset="-122"/>
                  <a:ea typeface="微软雅黑" panose="020B0503020204020204" pitchFamily="34" charset="-122"/>
                </a:rPr>
                <a:t>渲染引擎</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引擎</a:t>
              </a:r>
              <a:r>
                <a:rPr lang="zh-CN" altLang="zh-CN" sz="2000" dirty="0">
                  <a:solidFill>
                    <a:srgbClr val="595959"/>
                  </a:solidFill>
                  <a:latin typeface="微软雅黑" panose="020B0503020204020204" pitchFamily="34" charset="-122"/>
                  <a:ea typeface="微软雅黑" panose="020B0503020204020204" pitchFamily="34" charset="-122"/>
                </a:rPr>
                <a:t>组成。渲染引擎负责</a:t>
              </a:r>
              <a:r>
                <a:rPr lang="zh-CN" altLang="zh-CN" sz="2000" dirty="0">
                  <a:solidFill>
                    <a:srgbClr val="1369B2"/>
                  </a:solidFill>
                  <a:latin typeface="微软雅黑" panose="020B0503020204020204" pitchFamily="34" charset="-122"/>
                  <a:ea typeface="微软雅黑" panose="020B0503020204020204" pitchFamily="34" charset="-122"/>
                </a:rPr>
                <a:t>解析</a:t>
              </a:r>
              <a:r>
                <a:rPr lang="en-US" altLang="zh-CN" sz="2000" dirty="0">
                  <a:solidFill>
                    <a:srgbClr val="1369B2"/>
                  </a:solidFill>
                  <a:latin typeface="微软雅黑" panose="020B0503020204020204" pitchFamily="34" charset="-122"/>
                  <a:ea typeface="微软雅黑" panose="020B0503020204020204" pitchFamily="34" charset="-122"/>
                </a:rPr>
                <a:t>HTML</a:t>
              </a:r>
              <a:r>
                <a:rPr lang="zh-CN" altLang="zh-CN" sz="2000" dirty="0">
                  <a:solidFill>
                    <a:srgbClr val="1369B2"/>
                  </a:solidFill>
                  <a:latin typeface="微软雅黑" panose="020B0503020204020204" pitchFamily="34" charset="-122"/>
                  <a:ea typeface="微软雅黑" panose="020B0503020204020204" pitchFamily="34" charset="-122"/>
                </a:rPr>
                <a:t>代码</a:t>
              </a:r>
              <a:r>
                <a:rPr lang="zh-CN" altLang="zh-CN" sz="2000" dirty="0">
                  <a:solidFill>
                    <a:srgbClr val="595959"/>
                  </a:solidFill>
                  <a:latin typeface="微软雅黑" panose="020B0503020204020204" pitchFamily="34" charset="-122"/>
                  <a:ea typeface="微软雅黑" panose="020B0503020204020204" pitchFamily="34" charset="-122"/>
                </a:rPr>
                <a:t>与</a:t>
              </a:r>
              <a:r>
                <a:rPr lang="en-US" altLang="zh-CN" sz="2000" dirty="0">
                  <a:solidFill>
                    <a:srgbClr val="1369B2"/>
                  </a:solidFill>
                  <a:latin typeface="微软雅黑" panose="020B0503020204020204" pitchFamily="34" charset="-122"/>
                  <a:ea typeface="微软雅黑" panose="020B0503020204020204" pitchFamily="34" charset="-122"/>
                </a:rPr>
                <a:t>CSS</a:t>
              </a:r>
              <a:r>
                <a:rPr lang="zh-CN" altLang="zh-CN" sz="2000" dirty="0">
                  <a:solidFill>
                    <a:srgbClr val="1369B2"/>
                  </a:solidFill>
                  <a:latin typeface="微软雅黑" panose="020B0503020204020204" pitchFamily="34" charset="-122"/>
                  <a:ea typeface="微软雅黑" panose="020B0503020204020204" pitchFamily="34" charset="-122"/>
                </a:rPr>
                <a:t>代码</a:t>
              </a:r>
              <a:r>
                <a:rPr lang="zh-CN" altLang="zh-CN" sz="2000" dirty="0">
                  <a:solidFill>
                    <a:srgbClr val="595959"/>
                  </a:solidFill>
                  <a:latin typeface="微软雅黑" panose="020B0503020204020204" pitchFamily="34" charset="-122"/>
                  <a:ea typeface="微软雅黑" panose="020B0503020204020204" pitchFamily="34" charset="-122"/>
                </a:rPr>
                <a:t>，用于实现</a:t>
              </a:r>
              <a:r>
                <a:rPr lang="zh-CN" altLang="zh-CN" sz="2000" dirty="0">
                  <a:solidFill>
                    <a:srgbClr val="1369B2"/>
                  </a:solidFill>
                  <a:latin typeface="微软雅黑" panose="020B0503020204020204" pitchFamily="34" charset="-122"/>
                  <a:ea typeface="微软雅黑" panose="020B0503020204020204" pitchFamily="34" charset="-122"/>
                </a:rPr>
                <a:t>网页结构</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样式</a:t>
              </a:r>
              <a:r>
                <a:rPr lang="zh-CN" altLang="zh-CN" sz="2000" dirty="0">
                  <a:solidFill>
                    <a:srgbClr val="595959"/>
                  </a:solidFill>
                  <a:latin typeface="微软雅黑" panose="020B0503020204020204" pitchFamily="34" charset="-122"/>
                  <a:ea typeface="微软雅黑" panose="020B0503020204020204" pitchFamily="34" charset="-122"/>
                </a:rPr>
                <a:t>的渲染；</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引擎是</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语言的</a:t>
              </a:r>
              <a:r>
                <a:rPr lang="zh-CN" altLang="zh-CN" sz="2000" dirty="0">
                  <a:solidFill>
                    <a:srgbClr val="1369B2"/>
                  </a:solidFill>
                  <a:latin typeface="微软雅黑" panose="020B0503020204020204" pitchFamily="34" charset="-122"/>
                  <a:ea typeface="微软雅黑" panose="020B0503020204020204" pitchFamily="34" charset="-122"/>
                </a:rPr>
                <a:t>解释器</a:t>
              </a:r>
              <a:r>
                <a:rPr lang="zh-CN" altLang="zh-CN" sz="2000" dirty="0">
                  <a:solidFill>
                    <a:srgbClr val="595959"/>
                  </a:solidFill>
                  <a:latin typeface="微软雅黑" panose="020B0503020204020204" pitchFamily="34" charset="-122"/>
                  <a:ea typeface="微软雅黑" panose="020B0503020204020204" pitchFamily="34" charset="-122"/>
                </a:rPr>
                <a:t>，用于</a:t>
              </a:r>
              <a:r>
                <a:rPr lang="zh-CN" altLang="zh-CN" sz="2000" dirty="0">
                  <a:solidFill>
                    <a:srgbClr val="1369B2"/>
                  </a:solidFill>
                  <a:latin typeface="微软雅黑" panose="020B0503020204020204" pitchFamily="34" charset="-122"/>
                  <a:ea typeface="微软雅黑" panose="020B0503020204020204" pitchFamily="34" charset="-122"/>
                </a:rPr>
                <a:t>读取</a:t>
              </a:r>
              <a:r>
                <a:rPr lang="zh-CN" altLang="zh-CN" sz="2000" dirty="0">
                  <a:solidFill>
                    <a:srgbClr val="595959"/>
                  </a:solidFill>
                  <a:latin typeface="微软雅黑" panose="020B0503020204020204" pitchFamily="34" charset="-122"/>
                  <a:ea typeface="微软雅黑" panose="020B0503020204020204" pitchFamily="34" charset="-122"/>
                </a:rPr>
                <a:t>网页中的</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代码</a:t>
              </a:r>
              <a:r>
                <a:rPr lang="zh-CN" altLang="zh-CN" sz="2000" dirty="0" smtClean="0">
                  <a:solidFill>
                    <a:srgbClr val="1369B2"/>
                  </a:solidFill>
                  <a:latin typeface="微软雅黑" panose="020B0503020204020204" pitchFamily="34" charset="-122"/>
                  <a:ea typeface="微软雅黑" panose="020B0503020204020204" pitchFamily="34" charset="-122"/>
                </a:rPr>
                <a:t>并</a:t>
              </a:r>
              <a:r>
                <a:rPr lang="zh-CN" altLang="en-US" sz="2000" dirty="0" smtClean="0">
                  <a:solidFill>
                    <a:srgbClr val="1369B2"/>
                  </a:solidFill>
                  <a:latin typeface="微软雅黑" panose="020B0503020204020204" pitchFamily="34" charset="-122"/>
                  <a:ea typeface="微软雅黑" panose="020B0503020204020204" pitchFamily="34" charset="-122"/>
                </a:rPr>
                <a:t>运</a:t>
              </a:r>
              <a:r>
                <a:rPr lang="zh-CN" altLang="zh-CN" sz="2000" dirty="0" smtClean="0">
                  <a:solidFill>
                    <a:srgbClr val="1369B2"/>
                  </a:solidFill>
                  <a:latin typeface="微软雅黑" panose="020B0503020204020204" pitchFamily="34" charset="-122"/>
                  <a:ea typeface="微软雅黑" panose="020B0503020204020204" pitchFamily="34" charset="-122"/>
                </a:rPr>
                <a:t>行</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Chrome</a:t>
              </a:r>
              <a:r>
                <a:rPr lang="zh-CN" altLang="zh-CN" sz="2000" dirty="0">
                  <a:solidFill>
                    <a:srgbClr val="595959"/>
                  </a:solidFill>
                  <a:latin typeface="微软雅黑" panose="020B0503020204020204" pitchFamily="34" charset="-122"/>
                  <a:ea typeface="微软雅黑" panose="020B0503020204020204" pitchFamily="34" charset="-122"/>
                </a:rPr>
                <a:t>浏览器使用的渲染引擎是</a:t>
              </a:r>
              <a:r>
                <a:rPr lang="en-US" altLang="zh-CN" sz="2000" dirty="0">
                  <a:solidFill>
                    <a:srgbClr val="1369B2"/>
                  </a:solidFill>
                  <a:latin typeface="微软雅黑" panose="020B0503020204020204" pitchFamily="34" charset="-122"/>
                  <a:ea typeface="微软雅黑" panose="020B0503020204020204" pitchFamily="34" charset="-122"/>
                </a:rPr>
                <a:t>Blink</a:t>
              </a:r>
              <a:r>
                <a:rPr lang="zh-CN" altLang="zh-CN" sz="2000" dirty="0">
                  <a:solidFill>
                    <a:srgbClr val="595959"/>
                  </a:solidFill>
                  <a:latin typeface="微软雅黑" panose="020B0503020204020204" pitchFamily="34" charset="-122"/>
                  <a:ea typeface="微软雅黑" panose="020B0503020204020204" pitchFamily="34" charset="-122"/>
                </a:rPr>
                <a:t>，使用的</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引擎是</a:t>
              </a:r>
              <a:r>
                <a:rPr lang="en-US" altLang="zh-CN" sz="2000" dirty="0">
                  <a:solidFill>
                    <a:srgbClr val="1369B2"/>
                  </a:solidFill>
                  <a:latin typeface="微软雅黑" panose="020B0503020204020204" pitchFamily="34" charset="-122"/>
                  <a:ea typeface="微软雅黑" panose="020B0503020204020204" pitchFamily="34" charset="-122"/>
                </a:rPr>
                <a:t>V8</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sp>
        <p:nvSpPr>
          <p:cNvPr id="1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313657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1" name="图形 22" descr="讲故事"/>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71712" y="1352729"/>
            <a:ext cx="1015842" cy="1015842"/>
          </a:xfrm>
          <a:prstGeom prst="rect">
            <a:avLst/>
          </a:prstGeom>
        </p:spPr>
      </p:pic>
      <p:sp>
        <p:nvSpPr>
          <p:cNvPr id="12" name="矩形 11"/>
          <p:cNvSpPr/>
          <p:nvPr/>
        </p:nvSpPr>
        <p:spPr>
          <a:xfrm>
            <a:off x="2150110" y="1607820"/>
            <a:ext cx="4145762"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027052" y="1743045"/>
            <a:ext cx="4391878" cy="400110"/>
          </a:xfrm>
          <a:prstGeom prst="rect">
            <a:avLst/>
          </a:prstGeom>
          <a:noFill/>
        </p:spPr>
        <p:txBody>
          <a:bodyPr wrap="square" rtlCol="0">
            <a:spAutoFit/>
          </a:bodyPr>
          <a:lstStyle/>
          <a:p>
            <a:pPr algn="ct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Chrome</a:t>
            </a: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浏览器控制台中运行代码</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638323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6555947"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7" name="文本框 16">
            <a:extLst>
              <a:ext uri="{FF2B5EF4-FFF2-40B4-BE49-F238E27FC236}">
                <a16:creationId xmlns:a16="http://schemas.microsoft.com/office/drawing/2014/main" id="{0AC76212-EC23-4F95-A3FA-72E85045A7CA}"/>
              </a:ext>
            </a:extLst>
          </p:cNvPr>
          <p:cNvSpPr txBox="1"/>
          <p:nvPr/>
        </p:nvSpPr>
        <p:spPr>
          <a:xfrm>
            <a:off x="1198662" y="2685321"/>
            <a:ext cx="10585176" cy="1477328"/>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a:t>
            </a:r>
            <a:r>
              <a:rPr lang="en-US" altLang="zh-CN" sz="2000" dirty="0">
                <a:solidFill>
                  <a:srgbClr val="1369B2"/>
                </a:solidFill>
                <a:latin typeface="Microsoft YaHei" panose="020B0503020204020204" pitchFamily="34" charset="-122"/>
                <a:ea typeface="Microsoft YaHei" panose="020B0503020204020204" pitchFamily="34" charset="-122"/>
              </a:rPr>
              <a:t>Chrome</a:t>
            </a:r>
            <a:r>
              <a:rPr lang="zh-CN" altLang="zh-CN" sz="2000" dirty="0">
                <a:solidFill>
                  <a:srgbClr val="1369B2"/>
                </a:solidFill>
                <a:latin typeface="Microsoft YaHei" panose="020B0503020204020204" pitchFamily="34" charset="-122"/>
                <a:ea typeface="Microsoft YaHei" panose="020B0503020204020204" pitchFamily="34" charset="-122"/>
              </a:rPr>
              <a:t>浏览器的控制台</a:t>
            </a:r>
            <a:r>
              <a:rPr lang="zh-CN" altLang="zh-CN" sz="2000" dirty="0">
                <a:solidFill>
                  <a:srgbClr val="595959"/>
                </a:solidFill>
                <a:latin typeface="Microsoft YaHei" panose="020B0503020204020204" pitchFamily="34" charset="-122"/>
                <a:ea typeface="Microsoft YaHei" panose="020B0503020204020204" pitchFamily="34" charset="-122"/>
              </a:rPr>
              <a:t>中可以直接输入</a:t>
            </a:r>
            <a:r>
              <a:rPr lang="en-US" altLang="zh-CN" sz="2000" dirty="0">
                <a:solidFill>
                  <a:srgbClr val="1369B2"/>
                </a:solidFill>
                <a:latin typeface="Microsoft YaHei" panose="020B0503020204020204" pitchFamily="34" charset="-122"/>
                <a:ea typeface="Microsoft YaHei" panose="020B0503020204020204" pitchFamily="34" charset="-122"/>
              </a:rPr>
              <a:t>JavaScript</a:t>
            </a:r>
            <a:r>
              <a:rPr lang="zh-CN" altLang="zh-CN" sz="2000" dirty="0">
                <a:solidFill>
                  <a:srgbClr val="1369B2"/>
                </a:solidFill>
                <a:latin typeface="Microsoft YaHei" panose="020B0503020204020204" pitchFamily="34" charset="-122"/>
                <a:ea typeface="Microsoft YaHei" panose="020B0503020204020204" pitchFamily="34" charset="-122"/>
              </a:rPr>
              <a:t>代码</a:t>
            </a:r>
            <a:r>
              <a:rPr lang="zh-CN" altLang="zh-CN" sz="2000" dirty="0">
                <a:solidFill>
                  <a:srgbClr val="595959"/>
                </a:solidFill>
                <a:latin typeface="Microsoft YaHei" panose="020B0503020204020204" pitchFamily="34" charset="-122"/>
                <a:ea typeface="Microsoft YaHei" panose="020B0503020204020204" pitchFamily="34" charset="-122"/>
              </a:rPr>
              <a:t>并运行</a:t>
            </a:r>
            <a:r>
              <a:rPr lang="zh-CN" altLang="zh-CN" sz="2000" dirty="0" smtClean="0">
                <a:solidFill>
                  <a:srgbClr val="595959"/>
                </a:solidFill>
                <a:latin typeface="Microsoft YaHei" panose="020B0503020204020204" pitchFamily="34" charset="-122"/>
                <a:ea typeface="Microsoft YaHei" panose="020B0503020204020204" pitchFamily="34" charset="-122"/>
              </a:rPr>
              <a:t>。下面</a:t>
            </a:r>
            <a:r>
              <a:rPr lang="zh-CN" altLang="zh-CN" sz="2000" dirty="0">
                <a:solidFill>
                  <a:srgbClr val="595959"/>
                </a:solidFill>
                <a:latin typeface="Microsoft YaHei" panose="020B0503020204020204" pitchFamily="34" charset="-122"/>
                <a:ea typeface="Microsoft YaHei" panose="020B0503020204020204" pitchFamily="34" charset="-122"/>
              </a:rPr>
              <a:t>演示如何在</a:t>
            </a:r>
            <a:r>
              <a:rPr lang="en-US" altLang="zh-CN" sz="2000" dirty="0">
                <a:solidFill>
                  <a:srgbClr val="595959"/>
                </a:solidFill>
                <a:latin typeface="Microsoft YaHei" panose="020B0503020204020204" pitchFamily="34" charset="-122"/>
                <a:ea typeface="Microsoft YaHei" panose="020B0503020204020204" pitchFamily="34" charset="-122"/>
              </a:rPr>
              <a:t>Chrome</a:t>
            </a:r>
            <a:r>
              <a:rPr lang="zh-CN" altLang="zh-CN" sz="2000" dirty="0">
                <a:solidFill>
                  <a:srgbClr val="595959"/>
                </a:solidFill>
                <a:latin typeface="Microsoft YaHei" panose="020B0503020204020204" pitchFamily="34" charset="-122"/>
                <a:ea typeface="Microsoft YaHei" panose="020B0503020204020204" pitchFamily="34" charset="-122"/>
              </a:rPr>
              <a:t>浏览器的控制台中使用</a:t>
            </a:r>
            <a:r>
              <a:rPr lang="en-US" altLang="zh-CN" sz="2000" dirty="0">
                <a:solidFill>
                  <a:srgbClr val="1369B2"/>
                </a:solidFill>
                <a:latin typeface="Microsoft YaHei" panose="020B0503020204020204" pitchFamily="34" charset="-122"/>
                <a:ea typeface="Microsoft YaHei" panose="020B0503020204020204" pitchFamily="34" charset="-122"/>
              </a:rPr>
              <a:t>alert()</a:t>
            </a:r>
            <a:r>
              <a:rPr lang="zh-CN" altLang="zh-CN" sz="2000" dirty="0">
                <a:solidFill>
                  <a:srgbClr val="595959"/>
                </a:solidFill>
                <a:latin typeface="Microsoft YaHei" panose="020B0503020204020204" pitchFamily="34" charset="-122"/>
                <a:ea typeface="Microsoft YaHei" panose="020B0503020204020204" pitchFamily="34" charset="-122"/>
              </a:rPr>
              <a:t>语句实现在页面中弹出一个</a:t>
            </a:r>
            <a:r>
              <a:rPr lang="zh-CN" altLang="zh-CN" sz="2000" dirty="0">
                <a:solidFill>
                  <a:srgbClr val="1369B2"/>
                </a:solidFill>
                <a:latin typeface="Microsoft YaHei" panose="020B0503020204020204" pitchFamily="34" charset="-122"/>
                <a:ea typeface="Microsoft YaHei" panose="020B0503020204020204" pitchFamily="34" charset="-122"/>
              </a:rPr>
              <a:t>警告框</a:t>
            </a:r>
            <a:r>
              <a:rPr lang="zh-CN" altLang="zh-CN" sz="2000" dirty="0" smtClean="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其中，</a:t>
            </a:r>
            <a:r>
              <a:rPr lang="en-US" altLang="zh-CN" sz="2000" dirty="0">
                <a:solidFill>
                  <a:srgbClr val="595959"/>
                </a:solidFill>
                <a:latin typeface="Microsoft YaHei" panose="020B0503020204020204" pitchFamily="34" charset="-122"/>
                <a:ea typeface="Microsoft YaHei" panose="020B0503020204020204" pitchFamily="34" charset="-122"/>
              </a:rPr>
              <a:t>alert()</a:t>
            </a:r>
            <a:r>
              <a:rPr lang="zh-CN" altLang="zh-CN" sz="2000" dirty="0">
                <a:solidFill>
                  <a:srgbClr val="595959"/>
                </a:solidFill>
                <a:latin typeface="Microsoft YaHei" panose="020B0503020204020204" pitchFamily="34" charset="-122"/>
                <a:ea typeface="Microsoft YaHei" panose="020B0503020204020204" pitchFamily="34" charset="-122"/>
              </a:rPr>
              <a:t>语句是在</a:t>
            </a:r>
            <a:r>
              <a:rPr lang="en-US" altLang="zh-CN" sz="2000" dirty="0" smtClean="0">
                <a:solidFill>
                  <a:srgbClr val="595959"/>
                </a:solidFill>
                <a:latin typeface="Microsoft YaHei" panose="020B0503020204020204" pitchFamily="34" charset="-122"/>
                <a:ea typeface="Microsoft YaHei" panose="020B0503020204020204" pitchFamily="34" charset="-122"/>
              </a:rPr>
              <a:t>1.3.3</a:t>
            </a:r>
            <a:r>
              <a:rPr lang="zh-CN" altLang="en-US" sz="2000" dirty="0" smtClean="0">
                <a:solidFill>
                  <a:srgbClr val="595959"/>
                </a:solidFill>
                <a:latin typeface="Microsoft YaHei" panose="020B0503020204020204" pitchFamily="34" charset="-122"/>
                <a:ea typeface="Microsoft YaHei" panose="020B0503020204020204" pitchFamily="34" charset="-122"/>
              </a:rPr>
              <a:t>小</a:t>
            </a:r>
            <a:r>
              <a:rPr lang="zh-CN" altLang="zh-CN" sz="2000" dirty="0" smtClean="0">
                <a:solidFill>
                  <a:srgbClr val="595959"/>
                </a:solidFill>
                <a:latin typeface="Microsoft YaHei" panose="020B0503020204020204" pitchFamily="34" charset="-122"/>
                <a:ea typeface="Microsoft YaHei" panose="020B0503020204020204" pitchFamily="34" charset="-122"/>
              </a:rPr>
              <a:t>节</a:t>
            </a:r>
            <a:r>
              <a:rPr lang="zh-CN" altLang="zh-CN" sz="2000" dirty="0">
                <a:solidFill>
                  <a:srgbClr val="595959"/>
                </a:solidFill>
                <a:latin typeface="Microsoft YaHei" panose="020B0503020204020204" pitchFamily="34" charset="-122"/>
                <a:ea typeface="Microsoft YaHei" panose="020B0503020204020204" pitchFamily="34" charset="-122"/>
              </a:rPr>
              <a:t>讲解的内容，此处为了演示操作，提前使用了该语句</a:t>
            </a:r>
            <a:r>
              <a:rPr lang="zh-CN" altLang="zh-CN" sz="2000" dirty="0" smtClean="0">
                <a:solidFill>
                  <a:srgbClr val="595959"/>
                </a:solidFill>
                <a:latin typeface="Microsoft YaHei" panose="020B0503020204020204" pitchFamily="34" charset="-122"/>
                <a:ea typeface="Microsoft YaHei" panose="020B0503020204020204" pitchFamily="34" charset="-122"/>
              </a:rPr>
              <a:t>。</a:t>
            </a:r>
            <a:endParaRPr lang="zh-CN" altLang="zh-CN" sz="2000" dirty="0">
              <a:solidFill>
                <a:srgbClr val="595959"/>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834418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矩形 1"/>
          <p:cNvSpPr/>
          <p:nvPr/>
        </p:nvSpPr>
        <p:spPr>
          <a:xfrm>
            <a:off x="982980" y="1485578"/>
            <a:ext cx="10656842" cy="1477328"/>
          </a:xfrm>
          <a:prstGeom prst="rect">
            <a:avLst/>
          </a:prstGeom>
        </p:spPr>
        <p:txBody>
          <a:bodyPr wrap="square">
            <a:spAutoFit/>
          </a:bodyPr>
          <a:lstStyle/>
          <a:p>
            <a:pPr>
              <a:lnSpc>
                <a:spcPct val="150000"/>
              </a:lnSpc>
            </a:pPr>
            <a:r>
              <a:rPr lang="zh-CN" altLang="zh-CN" sz="2000" dirty="0">
                <a:solidFill>
                  <a:srgbClr val="595959"/>
                </a:solidFill>
                <a:latin typeface="Microsoft YaHei" panose="020B0503020204020204" pitchFamily="34" charset="-122"/>
                <a:ea typeface="Microsoft YaHei" panose="020B0503020204020204" pitchFamily="34" charset="-122"/>
              </a:rPr>
              <a:t>首先在</a:t>
            </a:r>
            <a:r>
              <a:rPr lang="en-US" altLang="zh-CN" sz="2000" dirty="0">
                <a:solidFill>
                  <a:srgbClr val="595959"/>
                </a:solidFill>
                <a:latin typeface="Microsoft YaHei" panose="020B0503020204020204" pitchFamily="34" charset="-122"/>
                <a:ea typeface="Microsoft YaHei" panose="020B0503020204020204" pitchFamily="34" charset="-122"/>
              </a:rPr>
              <a:t>Chrome</a:t>
            </a:r>
            <a:r>
              <a:rPr lang="zh-CN" altLang="zh-CN" sz="2000" dirty="0">
                <a:solidFill>
                  <a:srgbClr val="595959"/>
                </a:solidFill>
                <a:latin typeface="Microsoft YaHei" panose="020B0503020204020204" pitchFamily="34" charset="-122"/>
                <a:ea typeface="Microsoft YaHei" panose="020B0503020204020204" pitchFamily="34" charset="-122"/>
              </a:rPr>
              <a:t>浏览器中按</a:t>
            </a:r>
            <a:r>
              <a:rPr lang="zh-CN" altLang="zh-CN" sz="2000" dirty="0">
                <a:solidFill>
                  <a:srgbClr val="1369B2"/>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F12</a:t>
            </a:r>
            <a:r>
              <a:rPr lang="zh-CN" altLang="zh-CN" sz="2000" dirty="0">
                <a:solidFill>
                  <a:srgbClr val="1369B2"/>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键，或在网页的</a:t>
            </a:r>
            <a:r>
              <a:rPr lang="zh-CN" altLang="zh-CN" sz="2000" dirty="0">
                <a:solidFill>
                  <a:srgbClr val="1369B2"/>
                </a:solidFill>
                <a:latin typeface="Microsoft YaHei" panose="020B0503020204020204" pitchFamily="34" charset="-122"/>
                <a:ea typeface="Microsoft YaHei" panose="020B0503020204020204" pitchFamily="34" charset="-122"/>
              </a:rPr>
              <a:t>空白区域</a:t>
            </a:r>
            <a:r>
              <a:rPr lang="zh-CN" altLang="zh-CN" sz="2000" dirty="0" smtClean="0">
                <a:solidFill>
                  <a:srgbClr val="1369B2"/>
                </a:solidFill>
                <a:latin typeface="Microsoft YaHei" panose="020B0503020204020204" pitchFamily="34" charset="-122"/>
                <a:ea typeface="Microsoft YaHei" panose="020B0503020204020204" pitchFamily="34" charset="-122"/>
              </a:rPr>
              <a:t>右击</a:t>
            </a:r>
            <a:r>
              <a:rPr lang="zh-CN" altLang="zh-CN" sz="2000" dirty="0">
                <a:solidFill>
                  <a:srgbClr val="595959"/>
                </a:solidFill>
                <a:latin typeface="Microsoft YaHei" panose="020B0503020204020204" pitchFamily="34" charset="-122"/>
                <a:ea typeface="Microsoft YaHei" panose="020B0503020204020204" pitchFamily="34" charset="-122"/>
              </a:rPr>
              <a:t>，并在弹出</a:t>
            </a:r>
            <a:r>
              <a:rPr lang="zh-CN" altLang="zh-CN" sz="2000" dirty="0" smtClean="0">
                <a:solidFill>
                  <a:srgbClr val="595959"/>
                </a:solidFill>
                <a:latin typeface="Microsoft YaHei" panose="020B0503020204020204" pitchFamily="34" charset="-122"/>
                <a:ea typeface="Microsoft YaHei" panose="020B0503020204020204" pitchFamily="34" charset="-122"/>
              </a:rPr>
              <a:t>的</a:t>
            </a:r>
            <a:r>
              <a:rPr lang="zh-CN" altLang="en-US" sz="2000" dirty="0" smtClean="0">
                <a:solidFill>
                  <a:srgbClr val="595959"/>
                </a:solidFill>
                <a:latin typeface="Microsoft YaHei" panose="020B0503020204020204" pitchFamily="34" charset="-122"/>
                <a:ea typeface="Microsoft YaHei" panose="020B0503020204020204" pitchFamily="34" charset="-122"/>
              </a:rPr>
              <a:t>快捷</a:t>
            </a:r>
            <a:r>
              <a:rPr lang="zh-CN" altLang="zh-CN" sz="2000" dirty="0" smtClean="0">
                <a:solidFill>
                  <a:srgbClr val="595959"/>
                </a:solidFill>
                <a:latin typeface="Microsoft YaHei" panose="020B0503020204020204" pitchFamily="34" charset="-122"/>
                <a:ea typeface="Microsoft YaHei" panose="020B0503020204020204" pitchFamily="34" charset="-122"/>
              </a:rPr>
              <a:t>菜单</a:t>
            </a:r>
            <a:r>
              <a:rPr lang="zh-CN" altLang="zh-CN" sz="2000" dirty="0">
                <a:solidFill>
                  <a:srgbClr val="595959"/>
                </a:solidFill>
                <a:latin typeface="Microsoft YaHei" panose="020B0503020204020204" pitchFamily="34" charset="-122"/>
                <a:ea typeface="Microsoft YaHei" panose="020B0503020204020204" pitchFamily="34" charset="-122"/>
              </a:rPr>
              <a:t>中选择</a:t>
            </a:r>
            <a:r>
              <a:rPr lang="zh-CN" altLang="zh-CN" sz="2000" dirty="0">
                <a:solidFill>
                  <a:srgbClr val="1369B2"/>
                </a:solidFill>
                <a:latin typeface="Microsoft YaHei" panose="020B0503020204020204" pitchFamily="34" charset="-122"/>
                <a:ea typeface="Microsoft YaHei" panose="020B0503020204020204" pitchFamily="34" charset="-122"/>
              </a:rPr>
              <a:t>“检查”</a:t>
            </a:r>
            <a:r>
              <a:rPr lang="zh-CN" altLang="zh-CN" sz="2000" dirty="0">
                <a:solidFill>
                  <a:srgbClr val="595959"/>
                </a:solidFill>
                <a:latin typeface="Microsoft YaHei" panose="020B0503020204020204" pitchFamily="34" charset="-122"/>
                <a:ea typeface="Microsoft YaHei" panose="020B0503020204020204" pitchFamily="34" charset="-122"/>
              </a:rPr>
              <a:t>，启动开发者工具。然后切换到</a:t>
            </a:r>
            <a:r>
              <a:rPr lang="zh-CN" altLang="zh-CN" sz="2000" dirty="0">
                <a:solidFill>
                  <a:srgbClr val="1369B2"/>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Console</a:t>
            </a:r>
            <a:r>
              <a:rPr lang="zh-CN" altLang="zh-CN" sz="2000" dirty="0">
                <a:solidFill>
                  <a:srgbClr val="1369B2"/>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（控制台）面板，可以看到一个闪烁的光标，此时可以在控制台中输入</a:t>
            </a:r>
            <a:r>
              <a:rPr lang="zh-CN" altLang="zh-CN" sz="2000" dirty="0" smtClean="0">
                <a:solidFill>
                  <a:srgbClr val="595959"/>
                </a:solidFill>
                <a:latin typeface="Microsoft YaHei" panose="020B0503020204020204" pitchFamily="34" charset="-122"/>
                <a:ea typeface="Microsoft YaHei" panose="020B0503020204020204" pitchFamily="34" charset="-122"/>
              </a:rPr>
              <a:t>代码</a:t>
            </a:r>
            <a:r>
              <a:rPr lang="zh-CN" altLang="en-US" sz="2000" dirty="0" smtClean="0">
                <a:solidFill>
                  <a:srgbClr val="595959"/>
                </a:solidFill>
                <a:latin typeface="Microsoft YaHei" panose="020B0503020204020204" pitchFamily="34" charset="-122"/>
                <a:ea typeface="Microsoft YaHei" panose="020B0503020204020204" pitchFamily="34" charset="-122"/>
              </a:rPr>
              <a:t>。如下图所示。</a:t>
            </a:r>
            <a:endParaRPr lang="zh-CN" altLang="en-US" sz="2000" dirty="0">
              <a:solidFill>
                <a:srgbClr val="595959"/>
              </a:solidFill>
              <a:latin typeface="Microsoft YaHei" panose="020B0503020204020204" pitchFamily="34" charset="-122"/>
              <a:ea typeface="Microsoft YaHei" panose="020B0503020204020204"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1564" y="3213770"/>
            <a:ext cx="7392114" cy="2664296"/>
          </a:xfrm>
          <a:prstGeom prst="rect">
            <a:avLst/>
          </a:prstGeom>
        </p:spPr>
      </p:pic>
    </p:spTree>
    <p:extLst>
      <p:ext uri="{BB962C8B-B14F-4D97-AF65-F5344CB8AC3E}">
        <p14:creationId xmlns:p14="http://schemas.microsoft.com/office/powerpoint/2010/main" val="1099110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矩形 1"/>
          <p:cNvSpPr/>
          <p:nvPr/>
        </p:nvSpPr>
        <p:spPr>
          <a:xfrm>
            <a:off x="1198662" y="1485578"/>
            <a:ext cx="7920880" cy="553998"/>
          </a:xfrm>
          <a:prstGeom prst="rect">
            <a:avLst/>
          </a:prstGeom>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按</a:t>
            </a:r>
            <a:r>
              <a:rPr lang="zh-CN" altLang="zh-CN" sz="2000" dirty="0">
                <a:solidFill>
                  <a:srgbClr val="1369B2"/>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Enter</a:t>
            </a:r>
            <a:r>
              <a:rPr lang="zh-CN" altLang="zh-CN" sz="2000" dirty="0">
                <a:solidFill>
                  <a:srgbClr val="1369B2"/>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键，即可看到</a:t>
            </a:r>
            <a:r>
              <a:rPr lang="en-US" altLang="zh-CN" sz="2000" dirty="0">
                <a:solidFill>
                  <a:srgbClr val="1369B2"/>
                </a:solidFill>
                <a:latin typeface="Microsoft YaHei" panose="020B0503020204020204" pitchFamily="34" charset="-122"/>
                <a:ea typeface="Microsoft YaHei" panose="020B0503020204020204" pitchFamily="34" charset="-122"/>
              </a:rPr>
              <a:t>JavaScript</a:t>
            </a:r>
            <a:r>
              <a:rPr lang="zh-CN" altLang="zh-CN" sz="2000" dirty="0">
                <a:solidFill>
                  <a:srgbClr val="1369B2"/>
                </a:solidFill>
                <a:latin typeface="Microsoft YaHei" panose="020B0503020204020204" pitchFamily="34" charset="-122"/>
                <a:ea typeface="Microsoft YaHei" panose="020B0503020204020204" pitchFamily="34" charset="-122"/>
              </a:rPr>
              <a:t>代码的运行结果</a:t>
            </a:r>
            <a:r>
              <a:rPr lang="zh-CN" altLang="en-US" sz="2000" dirty="0" smtClean="0">
                <a:solidFill>
                  <a:srgbClr val="595959"/>
                </a:solidFill>
                <a:latin typeface="Microsoft YaHei" panose="020B0503020204020204" pitchFamily="34" charset="-122"/>
                <a:ea typeface="Microsoft YaHei" panose="020B0503020204020204" pitchFamily="34" charset="-122"/>
              </a:rPr>
              <a:t>，</a:t>
            </a:r>
            <a:r>
              <a:rPr lang="zh-CN" altLang="en-US" sz="2000" dirty="0">
                <a:solidFill>
                  <a:srgbClr val="595959"/>
                </a:solidFill>
                <a:latin typeface="Microsoft YaHei" panose="020B0503020204020204" pitchFamily="34" charset="-122"/>
                <a:ea typeface="Microsoft YaHei" panose="020B0503020204020204" pitchFamily="34" charset="-122"/>
              </a:rPr>
              <a:t>如下图所</a:t>
            </a:r>
            <a:r>
              <a:rPr lang="zh-CN" altLang="en-US" sz="2000" dirty="0" smtClean="0">
                <a:solidFill>
                  <a:srgbClr val="595959"/>
                </a:solidFill>
                <a:latin typeface="Microsoft YaHei" panose="020B0503020204020204" pitchFamily="34" charset="-122"/>
                <a:ea typeface="Microsoft YaHei" panose="020B0503020204020204" pitchFamily="34" charset="-122"/>
              </a:rPr>
              <a:t>示。</a:t>
            </a:r>
            <a:endParaRPr lang="zh-CN" altLang="en-US" sz="2000" dirty="0">
              <a:solidFill>
                <a:srgbClr val="595959"/>
              </a:solidFill>
              <a:latin typeface="Microsoft YaHei" panose="020B0503020204020204" pitchFamily="34" charset="-122"/>
              <a:ea typeface="Microsoft YaHei" panose="020B0503020204020204" pitchFamily="34"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8822" y="2205658"/>
            <a:ext cx="6696744" cy="4049352"/>
          </a:xfrm>
          <a:prstGeom prst="rect">
            <a:avLst/>
          </a:prstGeom>
        </p:spPr>
      </p:pic>
    </p:spTree>
    <p:extLst>
      <p:ext uri="{BB962C8B-B14F-4D97-AF65-F5344CB8AC3E}">
        <p14:creationId xmlns:p14="http://schemas.microsoft.com/office/powerpoint/2010/main" val="7960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浏览器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矩形 1"/>
          <p:cNvSpPr/>
          <p:nvPr/>
        </p:nvSpPr>
        <p:spPr>
          <a:xfrm>
            <a:off x="5058395" y="2417360"/>
            <a:ext cx="6192688" cy="1477328"/>
          </a:xfrm>
          <a:prstGeom prst="rect">
            <a:avLst/>
          </a:prstGeom>
        </p:spPr>
        <p:txBody>
          <a:bodyPr wrap="square">
            <a:spAutoFit/>
          </a:bodyPr>
          <a:lstStyle/>
          <a:p>
            <a:pPr>
              <a:lnSpc>
                <a:spcPct val="150000"/>
              </a:lnSpc>
            </a:pPr>
            <a:r>
              <a:rPr lang="zh-CN" altLang="zh-CN" sz="2000" smtClean="0">
                <a:solidFill>
                  <a:srgbClr val="595959"/>
                </a:solidFill>
                <a:latin typeface="Microsoft YaHei" panose="020B0503020204020204" pitchFamily="34" charset="-122"/>
                <a:ea typeface="Microsoft YaHei" panose="020B0503020204020204" pitchFamily="34" charset="-122"/>
              </a:rPr>
              <a:t>另外</a:t>
            </a:r>
            <a:r>
              <a:rPr lang="zh-CN" altLang="zh-CN" sz="2000">
                <a:solidFill>
                  <a:srgbClr val="595959"/>
                </a:solidFill>
                <a:latin typeface="Microsoft YaHei" panose="020B0503020204020204" pitchFamily="34" charset="-122"/>
                <a:ea typeface="Microsoft YaHei" panose="020B0503020204020204" pitchFamily="34" charset="-122"/>
              </a:rPr>
              <a:t>，</a:t>
            </a:r>
            <a:r>
              <a:rPr lang="zh-CN" altLang="zh-CN" sz="2000" smtClean="0">
                <a:solidFill>
                  <a:srgbClr val="595959"/>
                </a:solidFill>
                <a:latin typeface="Microsoft YaHei" panose="020B0503020204020204" pitchFamily="34" charset="-122"/>
                <a:ea typeface="Microsoft YaHei" panose="020B0503020204020204" pitchFamily="34" charset="-122"/>
              </a:rPr>
              <a:t>在</a:t>
            </a:r>
            <a:r>
              <a:rPr lang="zh-CN" altLang="zh-CN" sz="2000">
                <a:solidFill>
                  <a:srgbClr val="595959"/>
                </a:solidFill>
                <a:latin typeface="Microsoft YaHei" panose="020B0503020204020204" pitchFamily="34" charset="-122"/>
                <a:ea typeface="Microsoft YaHei" panose="020B0503020204020204" pitchFamily="34" charset="-122"/>
              </a:rPr>
              <a:t>控制台中还可以通过“</a:t>
            </a:r>
            <a:r>
              <a:rPr lang="en-US" altLang="zh-CN" sz="2000">
                <a:solidFill>
                  <a:srgbClr val="1369B2"/>
                </a:solidFill>
                <a:latin typeface="Microsoft YaHei" panose="020B0503020204020204" pitchFamily="34" charset="-122"/>
                <a:ea typeface="Microsoft YaHei" panose="020B0503020204020204" pitchFamily="34" charset="-122"/>
              </a:rPr>
              <a:t>Ctrl+</a:t>
            </a:r>
            <a:r>
              <a:rPr lang="zh-CN" altLang="zh-CN" sz="2000">
                <a:solidFill>
                  <a:srgbClr val="1369B2"/>
                </a:solidFill>
                <a:latin typeface="Microsoft YaHei" panose="020B0503020204020204" pitchFamily="34" charset="-122"/>
                <a:ea typeface="Microsoft YaHei" panose="020B0503020204020204" pitchFamily="34" charset="-122"/>
              </a:rPr>
              <a:t>鼠标滚轮”放大或缩小字体</a:t>
            </a:r>
            <a:r>
              <a:rPr lang="zh-CN" altLang="zh-CN" sz="2000">
                <a:solidFill>
                  <a:srgbClr val="595959"/>
                </a:solidFill>
                <a:latin typeface="Microsoft YaHei" panose="020B0503020204020204" pitchFamily="34" charset="-122"/>
                <a:ea typeface="Microsoft YaHei" panose="020B0503020204020204" pitchFamily="34" charset="-122"/>
              </a:rPr>
              <a:t>，通过</a:t>
            </a:r>
            <a:r>
              <a:rPr lang="zh-CN" altLang="zh-CN" sz="2000">
                <a:solidFill>
                  <a:srgbClr val="1369B2"/>
                </a:solidFill>
                <a:latin typeface="Microsoft YaHei" panose="020B0503020204020204" pitchFamily="34" charset="-122"/>
                <a:ea typeface="Microsoft YaHei" panose="020B0503020204020204" pitchFamily="34" charset="-122"/>
              </a:rPr>
              <a:t>“</a:t>
            </a:r>
            <a:r>
              <a:rPr lang="en-US" altLang="zh-CN" sz="2000">
                <a:solidFill>
                  <a:srgbClr val="1369B2"/>
                </a:solidFill>
                <a:latin typeface="Microsoft YaHei" panose="020B0503020204020204" pitchFamily="34" charset="-122"/>
                <a:ea typeface="Microsoft YaHei" panose="020B0503020204020204" pitchFamily="34" charset="-122"/>
              </a:rPr>
              <a:t>Shift+Enter</a:t>
            </a:r>
            <a:r>
              <a:rPr lang="zh-CN" altLang="zh-CN" sz="2000">
                <a:solidFill>
                  <a:srgbClr val="1369B2"/>
                </a:solidFill>
                <a:latin typeface="Microsoft YaHei" panose="020B0503020204020204" pitchFamily="34" charset="-122"/>
                <a:ea typeface="Microsoft YaHei" panose="020B0503020204020204" pitchFamily="34" charset="-122"/>
              </a:rPr>
              <a:t>”</a:t>
            </a:r>
            <a:r>
              <a:rPr lang="zh-CN" altLang="zh-CN" sz="2000">
                <a:solidFill>
                  <a:srgbClr val="595959"/>
                </a:solidFill>
                <a:latin typeface="Microsoft YaHei" panose="020B0503020204020204" pitchFamily="34" charset="-122"/>
                <a:ea typeface="Microsoft YaHei" panose="020B0503020204020204" pitchFamily="34" charset="-122"/>
              </a:rPr>
              <a:t>快捷键在输入的代码中</a:t>
            </a:r>
            <a:r>
              <a:rPr lang="zh-CN" altLang="zh-CN" sz="2000">
                <a:solidFill>
                  <a:srgbClr val="1369B2"/>
                </a:solidFill>
                <a:latin typeface="Microsoft YaHei" panose="020B0503020204020204" pitchFamily="34" charset="-122"/>
                <a:ea typeface="Microsoft YaHei" panose="020B0503020204020204" pitchFamily="34" charset="-122"/>
              </a:rPr>
              <a:t>换行</a:t>
            </a:r>
            <a:r>
              <a:rPr lang="zh-CN" altLang="zh-CN" sz="2000" smtClean="0">
                <a:solidFill>
                  <a:srgbClr val="595959"/>
                </a:solidFill>
                <a:latin typeface="Microsoft YaHei" panose="020B0503020204020204" pitchFamily="34" charset="-122"/>
                <a:ea typeface="Microsoft YaHei" panose="020B0503020204020204" pitchFamily="34" charset="-122"/>
              </a:rPr>
              <a:t>。</a:t>
            </a:r>
            <a:endParaRPr lang="zh-CN" altLang="zh-CN" sz="2000">
              <a:solidFill>
                <a:srgbClr val="595959"/>
              </a:solidFill>
              <a:latin typeface="Microsoft YaHei" panose="020B0503020204020204" pitchFamily="34" charset="-122"/>
              <a:ea typeface="Microsoft YaHei" panose="020B0503020204020204" pitchFamily="34" charset="-122"/>
            </a:endParaRPr>
          </a:p>
        </p:txBody>
      </p:sp>
      <p:sp>
        <p:nvSpPr>
          <p:cNvPr id="9" name="Shape 2015"/>
          <p:cNvSpPr/>
          <p:nvPr/>
        </p:nvSpPr>
        <p:spPr>
          <a:xfrm>
            <a:off x="4943078" y="2162174"/>
            <a:ext cx="6408712" cy="198770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Tree>
    <p:extLst>
      <p:ext uri="{BB962C8B-B14F-4D97-AF65-F5344CB8AC3E}">
        <p14:creationId xmlns:p14="http://schemas.microsoft.com/office/powerpoint/2010/main" val="470610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下载和安装代码编辑器</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的方法，能够独立</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下载</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安装</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代码编辑器</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904462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9"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7" y="1985403"/>
            <a:ext cx="6092303" cy="2884551"/>
            <a:chOff x="4899446" y="1985402"/>
            <a:chExt cx="6740375" cy="3417567"/>
          </a:xfrm>
        </p:grpSpPr>
        <p:sp>
          <p:nvSpPr>
            <p:cNvPr id="24"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a:extLst>
                <a:ext uri="{FF2B5EF4-FFF2-40B4-BE49-F238E27FC236}">
                  <a16:creationId xmlns:a16="http://schemas.microsoft.com/office/drawing/2014/main" id="{8C22BF7A-4BC1-4144-9B36-68D1715B1173}"/>
                </a:ext>
              </a:extLst>
            </p:cNvPr>
            <p:cNvSpPr>
              <a:spLocks noChangeArrowheads="1"/>
            </p:cNvSpPr>
            <p:nvPr/>
          </p:nvSpPr>
          <p:spPr bwMode="auto">
            <a:xfrm>
              <a:off x="5250079" y="2573519"/>
              <a:ext cx="6039108" cy="2297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“工欲善其事，必先利其器。” 一款优秀的代码编辑器能够极</a:t>
              </a:r>
              <a:r>
                <a:rPr lang="zh-CN" altLang="zh-CN" sz="2000" dirty="0" smtClean="0">
                  <a:solidFill>
                    <a:srgbClr val="595959"/>
                  </a:solidFill>
                  <a:latin typeface="微软雅黑" panose="020B0503020204020204" pitchFamily="34" charset="-122"/>
                  <a:ea typeface="微软雅黑" panose="020B0503020204020204" pitchFamily="34" charset="-122"/>
                </a:rPr>
                <a:t>大</a:t>
              </a:r>
              <a:r>
                <a:rPr lang="zh-CN" altLang="en-US" sz="2000" dirty="0">
                  <a:solidFill>
                    <a:srgbClr val="595959"/>
                  </a:solidFill>
                  <a:latin typeface="微软雅黑" panose="020B0503020204020204" pitchFamily="34" charset="-122"/>
                  <a:ea typeface="微软雅黑" panose="020B0503020204020204" pitchFamily="34" charset="-122"/>
                </a:rPr>
                <a:t>地</a:t>
              </a:r>
              <a:r>
                <a:rPr lang="zh-CN" altLang="zh-CN" sz="2000" dirty="0" smtClean="0">
                  <a:solidFill>
                    <a:srgbClr val="595959"/>
                  </a:solidFill>
                  <a:latin typeface="微软雅黑" panose="020B0503020204020204" pitchFamily="34" charset="-122"/>
                  <a:ea typeface="微软雅黑" panose="020B0503020204020204" pitchFamily="34" charset="-122"/>
                </a:rPr>
                <a:t>提高</a:t>
              </a:r>
              <a:r>
                <a:rPr lang="zh-CN" altLang="zh-CN" sz="2000" dirty="0">
                  <a:solidFill>
                    <a:srgbClr val="595959"/>
                  </a:solidFill>
                  <a:latin typeface="微软雅黑" panose="020B0503020204020204" pitchFamily="34" charset="-122"/>
                  <a:ea typeface="微软雅黑" panose="020B0503020204020204" pitchFamily="34" charset="-122"/>
                </a:rPr>
                <a:t>程序的开发效率。常见的</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代码编辑器有</a:t>
              </a:r>
              <a:r>
                <a:rPr lang="en-US" altLang="zh-CN" sz="2000" dirty="0">
                  <a:solidFill>
                    <a:srgbClr val="1369B2"/>
                  </a:solidFill>
                  <a:latin typeface="微软雅黑" panose="020B0503020204020204" pitchFamily="34" charset="-122"/>
                  <a:ea typeface="微软雅黑" panose="020B0503020204020204" pitchFamily="34" charset="-122"/>
                </a:rPr>
                <a:t>Visual Studio Code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Sublime Text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HBuilder</a:t>
              </a:r>
              <a:r>
                <a:rPr lang="zh-CN" altLang="zh-CN" sz="2000" dirty="0">
                  <a:solidFill>
                    <a:srgbClr val="595959"/>
                  </a:solidFill>
                  <a:latin typeface="微软雅黑" panose="020B0503020204020204" pitchFamily="34" charset="-122"/>
                  <a:ea typeface="微软雅黑" panose="020B0503020204020204" pitchFamily="34" charset="-122"/>
                </a:rPr>
                <a:t>等。</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074827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054646" y="1290667"/>
            <a:ext cx="10441160" cy="1015663"/>
          </a:xfrm>
          <a:prstGeom prst="rect">
            <a:avLst/>
          </a:prstGeom>
          <a:noFill/>
        </p:spPr>
        <p:txBody>
          <a:bodyPr wrap="square">
            <a:spAutoFit/>
          </a:bodyPr>
          <a:lstStyle/>
          <a:p>
            <a:pPr>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Visual </a:t>
            </a:r>
            <a:r>
              <a:rPr lang="en-US" altLang="zh-CN" sz="2000" dirty="0">
                <a:solidFill>
                  <a:srgbClr val="1369B2"/>
                </a:solidFill>
                <a:latin typeface="微软雅黑" panose="020B0503020204020204" pitchFamily="34" charset="-122"/>
                <a:ea typeface="微软雅黑" panose="020B0503020204020204" pitchFamily="34" charset="-122"/>
                <a:cs typeface="+mn-ea"/>
              </a:rPr>
              <a:t>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（简称</a:t>
            </a:r>
            <a:r>
              <a:rPr lang="en-US" altLang="zh-CN" sz="2000" dirty="0">
                <a:solidFill>
                  <a:srgbClr val="595959"/>
                </a:solidFill>
                <a:latin typeface="微软雅黑" panose="020B0503020204020204" pitchFamily="34" charset="-122"/>
                <a:ea typeface="微软雅黑" panose="020B0503020204020204" pitchFamily="34" charset="-122"/>
                <a:cs typeface="+mn-ea"/>
              </a:rPr>
              <a:t>VS Code</a:t>
            </a:r>
            <a:r>
              <a:rPr lang="zh-CN" altLang="zh-CN" sz="2000" dirty="0">
                <a:solidFill>
                  <a:srgbClr val="595959"/>
                </a:solidFill>
                <a:latin typeface="微软雅黑" panose="020B0503020204020204" pitchFamily="34" charset="-122"/>
                <a:ea typeface="微软雅黑" panose="020B0503020204020204" pitchFamily="34" charset="-122"/>
                <a:cs typeface="+mn-ea"/>
              </a:rPr>
              <a:t>）是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由</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微软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公司</a:t>
            </a:r>
            <a:r>
              <a:rPr lang="zh-CN" altLang="zh-CN" sz="2000" dirty="0">
                <a:solidFill>
                  <a:srgbClr val="595959"/>
                </a:solidFill>
                <a:latin typeface="微软雅黑" panose="020B0503020204020204" pitchFamily="34" charset="-122"/>
                <a:ea typeface="微软雅黑" panose="020B0503020204020204" pitchFamily="34" charset="-122"/>
                <a:cs typeface="+mn-ea"/>
              </a:rPr>
              <a:t>推出的一款</a:t>
            </a:r>
            <a:r>
              <a:rPr lang="zh-CN" altLang="zh-CN" sz="2000" dirty="0">
                <a:solidFill>
                  <a:srgbClr val="1369B2"/>
                </a:solidFill>
                <a:latin typeface="微软雅黑" panose="020B0503020204020204" pitchFamily="34" charset="-122"/>
                <a:ea typeface="微软雅黑" panose="020B0503020204020204" pitchFamily="34" charset="-122"/>
                <a:cs typeface="+mn-ea"/>
              </a:rPr>
              <a:t>免费</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开源</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代码编辑器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代码编辑器具有如下</a:t>
            </a:r>
            <a:r>
              <a:rPr lang="zh-CN" altLang="zh-CN" sz="2000" dirty="0">
                <a:solidFill>
                  <a:srgbClr val="1369B2"/>
                </a:solidFill>
                <a:latin typeface="微软雅黑" panose="020B0503020204020204" pitchFamily="34" charset="-122"/>
                <a:ea typeface="微软雅黑" panose="020B0503020204020204" pitchFamily="34" charset="-122"/>
                <a:cs typeface="+mn-ea"/>
              </a:rPr>
              <a:t>特点</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26654" y="2493690"/>
            <a:ext cx="9937104" cy="2862322"/>
          </a:xfrm>
          <a:prstGeom prst="rect">
            <a:avLst/>
          </a:prstGeom>
        </p:spPr>
        <p:txBody>
          <a:bodyPr wrap="square">
            <a:spAutoFit/>
          </a:bodyPr>
          <a:lstStyle/>
          <a:p>
            <a:pPr marL="342900" lvl="0" indent="-342900" algn="just">
              <a:lnSpc>
                <a:spcPct val="150000"/>
              </a:lnSpc>
              <a:spcAft>
                <a:spcPts val="0"/>
              </a:spcAft>
              <a:buClr>
                <a:srgbClr val="5F5F5F"/>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轻巧快速</a:t>
            </a:r>
            <a:r>
              <a:rPr lang="zh-CN" altLang="zh-CN" sz="2000" dirty="0">
                <a:solidFill>
                  <a:srgbClr val="595959"/>
                </a:solidFill>
                <a:latin typeface="微软雅黑" panose="020B0503020204020204" pitchFamily="34" charset="-122"/>
                <a:ea typeface="微软雅黑" panose="020B0503020204020204" pitchFamily="34" charset="-122"/>
                <a:cs typeface="+mn-ea"/>
              </a:rPr>
              <a:t>，占用系统资源较少。</a:t>
            </a:r>
          </a:p>
          <a:p>
            <a:pPr marL="342900" lvl="0" indent="-342900" algn="just">
              <a:lnSpc>
                <a:spcPct val="150000"/>
              </a:lnSpc>
              <a:spcAft>
                <a:spcPts val="0"/>
              </a:spcAft>
              <a:buFont typeface="Wingdings" panose="05000000000000000000" pitchFamily="2" charset="2"/>
              <a:buChar char=""/>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具备</a:t>
            </a:r>
            <a:r>
              <a:rPr lang="zh-CN" altLang="zh-CN" sz="2000" dirty="0">
                <a:solidFill>
                  <a:srgbClr val="1369B2"/>
                </a:solidFill>
                <a:latin typeface="微软雅黑" panose="020B0503020204020204" pitchFamily="34" charset="-122"/>
                <a:ea typeface="微软雅黑" panose="020B0503020204020204" pitchFamily="34" charset="-122"/>
                <a:cs typeface="+mn-ea"/>
              </a:rPr>
              <a:t>代码智能补全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语法高亮显示</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自定义快捷键</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代码匹配</a:t>
            </a:r>
            <a:r>
              <a:rPr lang="zh-CN" altLang="zh-CN" sz="2000" dirty="0">
                <a:solidFill>
                  <a:srgbClr val="595959"/>
                </a:solidFill>
                <a:latin typeface="微软雅黑" panose="020B0503020204020204" pitchFamily="34" charset="-122"/>
                <a:ea typeface="微软雅黑" panose="020B0503020204020204" pitchFamily="34" charset="-122"/>
                <a:cs typeface="+mn-ea"/>
              </a:rPr>
              <a:t>等功能。</a:t>
            </a:r>
          </a:p>
          <a:p>
            <a:pPr marL="342900" lvl="0" indent="-342900" algn="just">
              <a:lnSpc>
                <a:spcPct val="150000"/>
              </a:lnSpc>
              <a:spcAft>
                <a:spcPts val="0"/>
              </a:spcAft>
              <a:buClr>
                <a:srgbClr val="5F5F5F"/>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跨平台</a:t>
            </a:r>
            <a:r>
              <a:rPr lang="zh-CN" altLang="zh-CN" sz="2000" dirty="0">
                <a:solidFill>
                  <a:srgbClr val="595959"/>
                </a:solidFill>
                <a:latin typeface="微软雅黑" panose="020B0503020204020204" pitchFamily="34" charset="-122"/>
                <a:ea typeface="微软雅黑" panose="020B0503020204020204" pitchFamily="34" charset="-122"/>
                <a:cs typeface="+mn-ea"/>
              </a:rPr>
              <a:t>，可用于</a:t>
            </a:r>
            <a:r>
              <a:rPr lang="en-US" altLang="zh-CN" sz="2000" dirty="0">
                <a:solidFill>
                  <a:srgbClr val="595959"/>
                </a:solidFill>
                <a:latin typeface="微软雅黑" panose="020B0503020204020204" pitchFamily="34" charset="-122"/>
                <a:ea typeface="微软雅黑" panose="020B0503020204020204" pitchFamily="34" charset="-122"/>
                <a:cs typeface="+mn-ea"/>
              </a:rPr>
              <a:t>Windows</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Linux</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err="1">
                <a:solidFill>
                  <a:srgbClr val="595959"/>
                </a:solidFill>
                <a:latin typeface="微软雅黑" panose="020B0503020204020204" pitchFamily="34" charset="-122"/>
                <a:ea typeface="微软雅黑" panose="020B0503020204020204" pitchFamily="34" charset="-122"/>
                <a:cs typeface="+mn-ea"/>
              </a:rPr>
              <a:t>macOS</a:t>
            </a:r>
            <a:r>
              <a:rPr lang="zh-CN" altLang="zh-CN" sz="2000" dirty="0">
                <a:solidFill>
                  <a:srgbClr val="595959"/>
                </a:solidFill>
                <a:latin typeface="微软雅黑" panose="020B0503020204020204" pitchFamily="34" charset="-122"/>
                <a:ea typeface="微软雅黑" panose="020B0503020204020204" pitchFamily="34" charset="-122"/>
                <a:cs typeface="+mn-ea"/>
              </a:rPr>
              <a:t>操作系统。</a:t>
            </a:r>
          </a:p>
          <a:p>
            <a:pPr marL="342900" lvl="0" indent="-342900" algn="just">
              <a:lnSpc>
                <a:spcPct val="150000"/>
              </a:lnSpc>
              <a:spcAft>
                <a:spcPts val="0"/>
              </a:spcAft>
              <a:buClr>
                <a:srgbClr val="595959"/>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主题界面设计人性化</a:t>
            </a:r>
            <a:r>
              <a:rPr lang="zh-CN" altLang="zh-CN" sz="2000" dirty="0">
                <a:solidFill>
                  <a:srgbClr val="595959"/>
                </a:solidFill>
                <a:latin typeface="微软雅黑" panose="020B0503020204020204" pitchFamily="34" charset="-122"/>
                <a:ea typeface="微软雅黑" panose="020B0503020204020204" pitchFamily="34" charset="-122"/>
                <a:cs typeface="+mn-ea"/>
              </a:rPr>
              <a:t>。例如，可以快速查找文件</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、分</a:t>
            </a:r>
            <a:r>
              <a:rPr lang="zh-CN" altLang="zh-CN" sz="2000" dirty="0">
                <a:solidFill>
                  <a:srgbClr val="595959"/>
                </a:solidFill>
                <a:latin typeface="微软雅黑" panose="020B0503020204020204" pitchFamily="34" charset="-122"/>
                <a:ea typeface="微软雅黑" panose="020B0503020204020204" pitchFamily="34" charset="-122"/>
                <a:cs typeface="+mn-ea"/>
              </a:rPr>
              <a:t>屏显示代码、自定义主题颜色、快速查看最近打开的项目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文件</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，以及</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查看</a:t>
            </a:r>
            <a:r>
              <a:rPr lang="zh-CN" altLang="zh-CN" sz="2000" dirty="0">
                <a:solidFill>
                  <a:srgbClr val="595959"/>
                </a:solidFill>
                <a:latin typeface="微软雅黑" panose="020B0503020204020204" pitchFamily="34" charset="-122"/>
                <a:ea typeface="微软雅黑" panose="020B0503020204020204" pitchFamily="34" charset="-122"/>
                <a:cs typeface="+mn-ea"/>
              </a:rPr>
              <a:t>项目文件结构等。</a:t>
            </a:r>
          </a:p>
          <a:p>
            <a:pPr marL="342900" lvl="0" indent="-342900" algn="just">
              <a:lnSpc>
                <a:spcPct val="150000"/>
              </a:lnSpc>
              <a:spcAft>
                <a:spcPts val="0"/>
              </a:spcAft>
              <a:buClr>
                <a:srgbClr val="595959"/>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提供丰富的扩展</a:t>
            </a:r>
            <a:r>
              <a:rPr lang="zh-CN" altLang="zh-CN" sz="2000" dirty="0">
                <a:solidFill>
                  <a:srgbClr val="595959"/>
                </a:solidFill>
                <a:latin typeface="微软雅黑" panose="020B0503020204020204" pitchFamily="34" charset="-122"/>
                <a:ea typeface="微软雅黑" panose="020B0503020204020204" pitchFamily="34" charset="-122"/>
                <a:cs typeface="+mn-ea"/>
              </a:rPr>
              <a:t>，用户可以根据需要自行下载和安装扩展，以</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增强</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代码</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编辑器</a:t>
            </a:r>
            <a:r>
              <a:rPr lang="zh-CN" altLang="zh-CN" sz="2000" dirty="0">
                <a:solidFill>
                  <a:srgbClr val="595959"/>
                </a:solidFill>
                <a:latin typeface="微软雅黑" panose="020B0503020204020204" pitchFamily="34" charset="-122"/>
                <a:ea typeface="微软雅黑" panose="020B0503020204020204" pitchFamily="34" charset="-122"/>
                <a:cs typeface="+mn-ea"/>
              </a:rPr>
              <a:t>的功能。</a:t>
            </a:r>
          </a:p>
        </p:txBody>
      </p:sp>
    </p:spTree>
    <p:extLst>
      <p:ext uri="{BB962C8B-B14F-4D97-AF65-F5344CB8AC3E}">
        <p14:creationId xmlns:p14="http://schemas.microsoft.com/office/powerpoint/2010/main" val="1015462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26654" y="1762570"/>
            <a:ext cx="7399788" cy="553998"/>
          </a:xfrm>
          <a:prstGeom prst="rect">
            <a:avLst/>
          </a:prstGeom>
          <a:noFill/>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打开</a:t>
            </a:r>
            <a:r>
              <a:rPr lang="zh-CN" altLang="zh-CN" sz="2000">
                <a:solidFill>
                  <a:srgbClr val="595959"/>
                </a:solidFill>
                <a:latin typeface="微软雅黑" panose="020B0503020204020204" pitchFamily="34" charset="-122"/>
                <a:ea typeface="微软雅黑" panose="020B0503020204020204" pitchFamily="34" charset="-122"/>
                <a:cs typeface="+mn-ea"/>
              </a:rPr>
              <a:t>浏览器并访问</a:t>
            </a:r>
            <a:r>
              <a:rPr lang="en-US" altLang="zh-CN" sz="2000">
                <a:solidFill>
                  <a:srgbClr val="1369B2"/>
                </a:solidFill>
                <a:latin typeface="微软雅黑" panose="020B0503020204020204" pitchFamily="34" charset="-122"/>
                <a:ea typeface="微软雅黑" panose="020B0503020204020204" pitchFamily="34" charset="-122"/>
                <a:cs typeface="+mn-ea"/>
              </a:rPr>
              <a:t>Visual Studio Code</a:t>
            </a:r>
            <a:r>
              <a:rPr lang="zh-CN" altLang="zh-CN" sz="2000">
                <a:solidFill>
                  <a:srgbClr val="1369B2"/>
                </a:solidFill>
                <a:latin typeface="微软雅黑" panose="020B0503020204020204" pitchFamily="34" charset="-122"/>
                <a:ea typeface="微软雅黑" panose="020B0503020204020204" pitchFamily="34" charset="-122"/>
                <a:cs typeface="+mn-ea"/>
              </a:rPr>
              <a:t>官方网站</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1143690" y="1115504"/>
            <a:ext cx="5311555"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smtClean="0">
                <a:solidFill>
                  <a:srgbClr val="FFFFFF"/>
                </a:solidFill>
                <a:latin typeface="微软雅黑" panose="020B0503020204020204" pitchFamily="34" charset="-122"/>
                <a:ea typeface="微软雅黑" panose="020B0503020204020204" pitchFamily="34" charset="-122"/>
              </a:rPr>
              <a:t>1. </a:t>
            </a:r>
            <a:r>
              <a:rPr lang="zh-CN" altLang="en-US" sz="2000" dirty="0" smtClean="0">
                <a:solidFill>
                  <a:srgbClr val="FFFFFF"/>
                </a:solidFill>
                <a:latin typeface="微软雅黑" panose="020B0503020204020204" pitchFamily="34" charset="-122"/>
                <a:ea typeface="微软雅黑" panose="020B0503020204020204" pitchFamily="34" charset="-122"/>
              </a:rPr>
              <a:t>下载</a:t>
            </a:r>
            <a:r>
              <a:rPr lang="zh-CN" altLang="en-US" sz="2000" smtClean="0">
                <a:solidFill>
                  <a:srgbClr val="FFFFFF"/>
                </a:solidFill>
                <a:latin typeface="微软雅黑" panose="020B0503020204020204" pitchFamily="34" charset="-122"/>
                <a:ea typeface="微软雅黑" panose="020B0503020204020204" pitchFamily="34" charset="-122"/>
              </a:rPr>
              <a:t>和安装</a:t>
            </a:r>
            <a:r>
              <a:rPr lang="en-US" altLang="zh-CN" sz="2000">
                <a:solidFill>
                  <a:srgbClr val="FFFFFF"/>
                </a:solidFill>
                <a:latin typeface="微软雅黑" panose="020B0503020204020204" pitchFamily="34" charset="-122"/>
                <a:ea typeface="微软雅黑" panose="020B0503020204020204" pitchFamily="34" charset="-122"/>
              </a:rPr>
              <a:t>Visual Studio Code</a:t>
            </a:r>
            <a:r>
              <a:rPr lang="zh-CN" altLang="zh-CN" sz="2000">
                <a:solidFill>
                  <a:srgbClr val="FFFFFF"/>
                </a:solidFill>
                <a:latin typeface="微软雅黑" panose="020B0503020204020204" pitchFamily="34" charset="-122"/>
                <a:ea typeface="微软雅黑" panose="020B0503020204020204" pitchFamily="34" charset="-122"/>
              </a:rPr>
              <a:t>代码编辑器</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0910" y="2471170"/>
            <a:ext cx="5320075" cy="4041148"/>
          </a:xfrm>
          <a:prstGeom prst="rect">
            <a:avLst/>
          </a:prstGeom>
        </p:spPr>
      </p:pic>
    </p:spTree>
    <p:extLst>
      <p:ext uri="{BB962C8B-B14F-4D97-AF65-F5344CB8AC3E}">
        <p14:creationId xmlns:p14="http://schemas.microsoft.com/office/powerpoint/2010/main" val="3084794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26654" y="1071885"/>
            <a:ext cx="10297144" cy="1477328"/>
          </a:xfrm>
          <a:prstGeom prst="rect">
            <a:avLst/>
          </a:prstGeom>
          <a:noFill/>
        </p:spPr>
        <p:txBody>
          <a:bodyPr wrap="square">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官方网站</a:t>
            </a:r>
            <a:r>
              <a:rPr lang="zh-CN" altLang="en-US" sz="2000" dirty="0">
                <a:solidFill>
                  <a:srgbClr val="595959"/>
                </a:solidFill>
                <a:latin typeface="微软雅黑" panose="020B0503020204020204" pitchFamily="34" charset="-122"/>
                <a:ea typeface="微软雅黑" panose="020B0503020204020204" pitchFamily="34" charset="-122"/>
                <a:cs typeface="+mn-ea"/>
              </a:rPr>
              <a:t>页面中，</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单击</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Download for Windows</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按钮可以下载</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Windows</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操作</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系统</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1369B2"/>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1369B2"/>
                </a:solidFill>
                <a:latin typeface="微软雅黑" panose="020B0503020204020204" pitchFamily="34" charset="-122"/>
                <a:ea typeface="微软雅黑" panose="020B0503020204020204" pitchFamily="34" charset="-122"/>
                <a:cs typeface="+mn-ea"/>
              </a:rPr>
              <a:t>安装包</a:t>
            </a:r>
            <a:r>
              <a:rPr lang="zh-CN" altLang="zh-CN" sz="2000" dirty="0">
                <a:solidFill>
                  <a:srgbClr val="595959"/>
                </a:solidFill>
                <a:latin typeface="微软雅黑" panose="020B0503020204020204" pitchFamily="34" charset="-122"/>
                <a:ea typeface="微软雅黑" panose="020B0503020204020204" pitchFamily="34" charset="-122"/>
                <a:cs typeface="+mn-ea"/>
              </a:rPr>
              <a:t>。如需下载其他操作系统的</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安装包</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单击“    ”按钮，</a:t>
            </a:r>
            <a:r>
              <a:rPr lang="zh-CN" altLang="en-US" sz="2000" dirty="0">
                <a:solidFill>
                  <a:srgbClr val="595959"/>
                </a:solidFill>
                <a:latin typeface="微软雅黑" panose="020B0503020204020204" pitchFamily="34" charset="-122"/>
                <a:ea typeface="微软雅黑" panose="020B0503020204020204" pitchFamily="34" charset="-122"/>
                <a:cs typeface="+mn-ea"/>
              </a:rPr>
              <a:t>即可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看到</a:t>
            </a:r>
            <a:r>
              <a:rPr lang="zh-CN" altLang="zh-CN" sz="2000" dirty="0">
                <a:solidFill>
                  <a:srgbClr val="595959"/>
                </a:solidFill>
                <a:latin typeface="微软雅黑" panose="020B0503020204020204" pitchFamily="34" charset="-122"/>
                <a:ea typeface="微软雅黑" panose="020B0503020204020204" pitchFamily="34" charset="-122"/>
                <a:cs typeface="+mn-ea"/>
              </a:rPr>
              <a:t>其他操作系统版本的下载</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选项</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6" name="图片 15"/>
          <p:cNvPicPr/>
          <p:nvPr/>
        </p:nvPicPr>
        <p:blipFill>
          <a:blip r:embed="rId2"/>
          <a:stretch>
            <a:fillRect/>
          </a:stretch>
        </p:blipFill>
        <p:spPr>
          <a:xfrm>
            <a:off x="3688830" y="2148640"/>
            <a:ext cx="201166" cy="301319"/>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014" y="2781722"/>
            <a:ext cx="4680520" cy="3603390"/>
          </a:xfrm>
          <a:prstGeom prst="rect">
            <a:avLst/>
          </a:prstGeom>
        </p:spPr>
      </p:pic>
    </p:spTree>
    <p:extLst>
      <p:ext uri="{BB962C8B-B14F-4D97-AF65-F5344CB8AC3E}">
        <p14:creationId xmlns:p14="http://schemas.microsoft.com/office/powerpoint/2010/main" val="3836530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58395" y="2417360"/>
            <a:ext cx="6192688" cy="1477328"/>
          </a:xfrm>
          <a:prstGeom prst="rect">
            <a:avLst/>
          </a:prstGeom>
        </p:spPr>
        <p:txBody>
          <a:bodyPr wrap="square">
            <a:spAutoFit/>
          </a:bodyPr>
          <a:lstStyle/>
          <a:p>
            <a:pPr>
              <a:lnSpc>
                <a:spcPct val="150000"/>
              </a:lnSpc>
            </a:pPr>
            <a:r>
              <a:rPr lang="en-US" altLang="zh-CN" sz="2000" dirty="0" smtClean="0">
                <a:solidFill>
                  <a:srgbClr val="595959"/>
                </a:solidFill>
                <a:latin typeface="Microsoft YaHei" panose="020B0503020204020204" pitchFamily="34" charset="-122"/>
                <a:ea typeface="Microsoft YaHei" panose="020B0503020204020204" pitchFamily="34" charset="-122"/>
              </a:rPr>
              <a:t>Visual </a:t>
            </a:r>
            <a:r>
              <a:rPr lang="en-US" altLang="zh-CN" sz="2000" dirty="0">
                <a:solidFill>
                  <a:srgbClr val="595959"/>
                </a:solidFill>
                <a:latin typeface="Microsoft YaHei" panose="020B0503020204020204" pitchFamily="34" charset="-122"/>
                <a:ea typeface="Microsoft YaHei" panose="020B0503020204020204" pitchFamily="34" charset="-122"/>
              </a:rPr>
              <a:t>Studio Code</a:t>
            </a:r>
            <a:r>
              <a:rPr lang="zh-CN" altLang="zh-CN" sz="2000" dirty="0">
                <a:solidFill>
                  <a:srgbClr val="595959"/>
                </a:solidFill>
                <a:latin typeface="Microsoft YaHei" panose="020B0503020204020204" pitchFamily="34" charset="-122"/>
                <a:ea typeface="Microsoft YaHei" panose="020B0503020204020204" pitchFamily="34" charset="-122"/>
              </a:rPr>
              <a:t>安装包下载成功后，在下载目录中找到该安装包，</a:t>
            </a:r>
            <a:r>
              <a:rPr lang="zh-CN" altLang="zh-CN" sz="2000" dirty="0">
                <a:solidFill>
                  <a:srgbClr val="1369B2"/>
                </a:solidFill>
                <a:latin typeface="Microsoft YaHei" panose="020B0503020204020204" pitchFamily="34" charset="-122"/>
                <a:ea typeface="Microsoft YaHei" panose="020B0503020204020204" pitchFamily="34" charset="-122"/>
              </a:rPr>
              <a:t>双击启动安装程序</a:t>
            </a:r>
            <a:r>
              <a:rPr lang="zh-CN" altLang="zh-CN" sz="2000" dirty="0">
                <a:solidFill>
                  <a:srgbClr val="595959"/>
                </a:solidFill>
                <a:latin typeface="Microsoft YaHei" panose="020B0503020204020204" pitchFamily="34" charset="-122"/>
                <a:ea typeface="Microsoft YaHei" panose="020B0503020204020204" pitchFamily="34" charset="-122"/>
              </a:rPr>
              <a:t>，按照程序的安装向导提示操作，直到安装</a:t>
            </a:r>
            <a:r>
              <a:rPr lang="zh-CN" altLang="zh-CN" sz="2000" dirty="0" smtClean="0">
                <a:solidFill>
                  <a:srgbClr val="595959"/>
                </a:solidFill>
                <a:latin typeface="Microsoft YaHei" panose="020B0503020204020204" pitchFamily="34" charset="-122"/>
                <a:ea typeface="Microsoft YaHei" panose="020B0503020204020204" pitchFamily="34" charset="-122"/>
              </a:rPr>
              <a:t>完成。</a:t>
            </a:r>
            <a:endParaRPr lang="zh-CN" altLang="zh-CN" sz="2000" dirty="0">
              <a:solidFill>
                <a:srgbClr val="595959"/>
              </a:solidFill>
              <a:latin typeface="Microsoft YaHei" panose="020B0503020204020204" pitchFamily="34" charset="-122"/>
              <a:ea typeface="Microsoft YaHei" panose="020B0503020204020204" pitchFamily="34" charset="-122"/>
            </a:endParaRPr>
          </a:p>
        </p:txBody>
      </p:sp>
      <p:sp>
        <p:nvSpPr>
          <p:cNvPr id="9" name="Shape 2015"/>
          <p:cNvSpPr/>
          <p:nvPr/>
        </p:nvSpPr>
        <p:spPr>
          <a:xfrm>
            <a:off x="4943078" y="2162174"/>
            <a:ext cx="6408712" cy="198770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08435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08102" y="1098551"/>
            <a:ext cx="10531720" cy="1015663"/>
          </a:xfrm>
          <a:prstGeom prst="rect">
            <a:avLst/>
          </a:prstGeom>
          <a:noFill/>
        </p:spPr>
        <p:txBody>
          <a:bodyPr wrap="square">
            <a:spAutoFit/>
          </a:body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Visual </a:t>
            </a:r>
            <a:r>
              <a:rPr lang="en-US" altLang="zh-CN" sz="2000" dirty="0">
                <a:solidFill>
                  <a:srgbClr val="595959"/>
                </a:solidFill>
                <a:latin typeface="微软雅黑" panose="020B0503020204020204" pitchFamily="34" charset="-122"/>
                <a:ea typeface="微软雅黑" panose="020B0503020204020204" pitchFamily="34" charset="-122"/>
                <a:cs typeface="+mn-ea"/>
              </a:rPr>
              <a:t>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安装成功后，启动该编辑器，即可进入</a:t>
            </a:r>
            <a:r>
              <a:rPr lang="en-US" altLang="zh-CN" sz="2000" dirty="0">
                <a:solidFill>
                  <a:srgbClr val="1369B2"/>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1369B2"/>
                </a:solidFill>
                <a:latin typeface="微软雅黑" panose="020B0503020204020204" pitchFamily="34" charset="-122"/>
                <a:ea typeface="微软雅黑" panose="020B0503020204020204" pitchFamily="34" charset="-122"/>
                <a:cs typeface="+mn-ea"/>
              </a:rPr>
              <a:t>初始界面</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如下图所示。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7658" y="2114214"/>
            <a:ext cx="5472608" cy="4104456"/>
          </a:xfrm>
          <a:prstGeom prst="rect">
            <a:avLst/>
          </a:prstGeom>
        </p:spPr>
      </p:pic>
    </p:spTree>
    <p:extLst>
      <p:ext uri="{BB962C8B-B14F-4D97-AF65-F5344CB8AC3E}">
        <p14:creationId xmlns:p14="http://schemas.microsoft.com/office/powerpoint/2010/main" val="137448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270670" y="1922850"/>
            <a:ext cx="9865096" cy="193899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为了</a:t>
            </a:r>
            <a:r>
              <a:rPr lang="zh-CN" altLang="zh-CN" sz="2000" dirty="0">
                <a:solidFill>
                  <a:srgbClr val="595959"/>
                </a:solidFill>
                <a:latin typeface="微软雅黑" panose="020B0503020204020204" pitchFamily="34" charset="-122"/>
                <a:ea typeface="微软雅黑" panose="020B0503020204020204" pitchFamily="34" charset="-122"/>
                <a:cs typeface="+mn-ea"/>
              </a:rPr>
              <a:t>提高</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代码编辑器的</a:t>
            </a:r>
            <a:r>
              <a:rPr lang="zh-CN" altLang="zh-CN" sz="2000" dirty="0">
                <a:solidFill>
                  <a:srgbClr val="1369B2"/>
                </a:solidFill>
                <a:latin typeface="微软雅黑" panose="020B0503020204020204" pitchFamily="34" charset="-122"/>
                <a:ea typeface="微软雅黑" panose="020B0503020204020204" pitchFamily="34" charset="-122"/>
                <a:cs typeface="+mn-ea"/>
              </a:rPr>
              <a:t>易用性</a:t>
            </a:r>
            <a:r>
              <a:rPr lang="zh-CN" altLang="zh-CN" sz="2000" dirty="0">
                <a:solidFill>
                  <a:srgbClr val="595959"/>
                </a:solidFill>
                <a:latin typeface="微软雅黑" panose="020B0503020204020204" pitchFamily="34" charset="-122"/>
                <a:ea typeface="微软雅黑" panose="020B0503020204020204" pitchFamily="34" charset="-122"/>
                <a:cs typeface="+mn-ea"/>
              </a:rPr>
              <a:t>，使其界面和提示信息显示为</a:t>
            </a:r>
            <a:r>
              <a:rPr lang="zh-CN" altLang="zh-CN" sz="2000" dirty="0">
                <a:solidFill>
                  <a:srgbClr val="1369B2"/>
                </a:solidFill>
                <a:latin typeface="微软雅黑" panose="020B0503020204020204" pitchFamily="34" charset="-122"/>
                <a:ea typeface="微软雅黑" panose="020B0503020204020204" pitchFamily="34" charset="-122"/>
                <a:cs typeface="+mn-ea"/>
              </a:rPr>
              <a:t>中文</a:t>
            </a:r>
            <a:r>
              <a:rPr lang="zh-CN" altLang="zh-CN" sz="2000" dirty="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1369B2"/>
                </a:solidFill>
                <a:latin typeface="微软雅黑" panose="020B0503020204020204" pitchFamily="34" charset="-122"/>
                <a:ea typeface="微软雅黑" panose="020B0503020204020204" pitchFamily="34" charset="-122"/>
                <a:cs typeface="+mn-ea"/>
              </a:rPr>
              <a:t>安装中文语言扩展</a:t>
            </a:r>
            <a:r>
              <a:rPr lang="zh-CN" altLang="zh-CN" sz="2000" dirty="0">
                <a:solidFill>
                  <a:srgbClr val="595959"/>
                </a:solidFill>
                <a:latin typeface="微软雅黑" panose="020B0503020204020204" pitchFamily="34" charset="-122"/>
                <a:ea typeface="微软雅黑" panose="020B0503020204020204" pitchFamily="34" charset="-122"/>
                <a:cs typeface="+mn-ea"/>
              </a:rPr>
              <a:t>。单击</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初始界面</a:t>
            </a:r>
            <a:r>
              <a:rPr lang="zh-CN" altLang="zh-CN" sz="2000" dirty="0">
                <a:solidFill>
                  <a:srgbClr val="1369B2"/>
                </a:solidFill>
                <a:latin typeface="微软雅黑" panose="020B0503020204020204" pitchFamily="34" charset="-122"/>
                <a:ea typeface="微软雅黑" panose="020B0503020204020204" pitchFamily="34" charset="-122"/>
                <a:cs typeface="+mn-ea"/>
              </a:rPr>
              <a:t>左侧</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第</a:t>
            </a:r>
            <a:r>
              <a:rPr lang="en-US" altLang="zh-CN" sz="2000" dirty="0">
                <a:solidFill>
                  <a:srgbClr val="1369B2"/>
                </a:solidFill>
                <a:latin typeface="微软雅黑" panose="020B0503020204020204" pitchFamily="34" charset="-122"/>
                <a:ea typeface="微软雅黑" panose="020B0503020204020204" pitchFamily="34" charset="-122"/>
                <a:cs typeface="+mn-ea"/>
              </a:rPr>
              <a:t>5</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个</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按钮</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进入</a:t>
            </a:r>
            <a:r>
              <a:rPr lang="zh-CN" altLang="zh-CN" sz="2000" dirty="0">
                <a:solidFill>
                  <a:srgbClr val="1369B2"/>
                </a:solidFill>
                <a:latin typeface="微软雅黑" panose="020B0503020204020204" pitchFamily="34" charset="-122"/>
                <a:ea typeface="微软雅黑" panose="020B0503020204020204" pitchFamily="34" charset="-122"/>
                <a:cs typeface="+mn-ea"/>
              </a:rPr>
              <a:t>扩展界面</a:t>
            </a:r>
            <a:r>
              <a:rPr lang="zh-CN" altLang="zh-CN" sz="2000" dirty="0">
                <a:solidFill>
                  <a:srgbClr val="595959"/>
                </a:solidFill>
                <a:latin typeface="微软雅黑" panose="020B0503020204020204" pitchFamily="34" charset="-122"/>
                <a:ea typeface="微软雅黑" panose="020B0503020204020204" pitchFamily="34" charset="-122"/>
                <a:cs typeface="+mn-ea"/>
              </a:rPr>
              <a:t>，在该界面的搜索框中输入关键词“</a:t>
            </a:r>
            <a:r>
              <a:rPr lang="en-US" altLang="zh-CN" sz="2000" dirty="0">
                <a:solidFill>
                  <a:srgbClr val="1369B2"/>
                </a:solidFill>
                <a:latin typeface="微软雅黑" panose="020B0503020204020204" pitchFamily="34" charset="-122"/>
                <a:ea typeface="微软雅黑" panose="020B0503020204020204" pitchFamily="34" charset="-122"/>
                <a:cs typeface="+mn-ea"/>
              </a:rPr>
              <a:t>Chinese</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找到中文语言扩展，单击</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Install</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按钮进行安装即可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1143691" y="1115504"/>
            <a:ext cx="264726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安装中文语言插件</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9" name="图片 8"/>
          <p:cNvPicPr/>
          <p:nvPr/>
        </p:nvPicPr>
        <p:blipFill>
          <a:blip r:embed="rId2"/>
          <a:stretch>
            <a:fillRect/>
          </a:stretch>
        </p:blipFill>
        <p:spPr>
          <a:xfrm>
            <a:off x="10199662" y="2585137"/>
            <a:ext cx="216024" cy="196585"/>
          </a:xfrm>
          <a:prstGeom prst="rect">
            <a:avLst/>
          </a:prstGeom>
        </p:spPr>
      </p:pic>
    </p:spTree>
    <p:extLst>
      <p:ext uri="{BB962C8B-B14F-4D97-AF65-F5344CB8AC3E}">
        <p14:creationId xmlns:p14="http://schemas.microsoft.com/office/powerpoint/2010/main" val="515240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982638" y="1701602"/>
            <a:ext cx="10513168" cy="55399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安装</a:t>
            </a:r>
            <a:r>
              <a:rPr lang="zh-CN" altLang="zh-CN" sz="2000" dirty="0">
                <a:solidFill>
                  <a:srgbClr val="595959"/>
                </a:solidFill>
                <a:latin typeface="微软雅黑" panose="020B0503020204020204" pitchFamily="34" charset="-122"/>
                <a:ea typeface="微软雅黑" panose="020B0503020204020204" pitchFamily="34" charset="-122"/>
                <a:cs typeface="+mn-ea"/>
              </a:rPr>
              <a:t>中文语言扩展界面</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6" name="矩形 5"/>
          <p:cNvSpPr/>
          <p:nvPr/>
        </p:nvSpPr>
        <p:spPr>
          <a:xfrm>
            <a:off x="1143691" y="1115504"/>
            <a:ext cx="264726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安装中文语言插件</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6894" y="2315560"/>
            <a:ext cx="5328592" cy="3996444"/>
          </a:xfrm>
          <a:prstGeom prst="rect">
            <a:avLst/>
          </a:prstGeom>
        </p:spPr>
      </p:pic>
    </p:spTree>
    <p:extLst>
      <p:ext uri="{BB962C8B-B14F-4D97-AF65-F5344CB8AC3E}">
        <p14:creationId xmlns:p14="http://schemas.microsoft.com/office/powerpoint/2010/main" val="2485647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a:extLst>
              <a:ext uri="{FF2B5EF4-FFF2-40B4-BE49-F238E27FC236}">
                <a16:creationId xmlns:a16="http://schemas.microsoft.com/office/drawing/2014/main" id="{0AC76212-EC23-4F95-A3FA-72E85045A7CA}"/>
              </a:ext>
            </a:extLst>
          </p:cNvPr>
          <p:cNvSpPr txBox="1"/>
          <p:nvPr/>
        </p:nvSpPr>
        <p:spPr>
          <a:xfrm>
            <a:off x="1163040" y="2205658"/>
            <a:ext cx="6967739" cy="961289"/>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595959"/>
                </a:solidFill>
                <a:latin typeface="微软雅黑" panose="020B0503020204020204" pitchFamily="34" charset="-122"/>
                <a:ea typeface="微软雅黑" panose="020B0503020204020204" pitchFamily="34" charset="-122"/>
                <a:cs typeface="+mn-ea"/>
              </a:rPr>
              <a:t>说明的是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，中文</a:t>
            </a:r>
            <a:r>
              <a:rPr lang="zh-CN" altLang="zh-CN" sz="2000" dirty="0">
                <a:solidFill>
                  <a:srgbClr val="595959"/>
                </a:solidFill>
                <a:latin typeface="微软雅黑" panose="020B0503020204020204" pitchFamily="34" charset="-122"/>
                <a:ea typeface="微软雅黑" panose="020B0503020204020204" pitchFamily="34" charset="-122"/>
                <a:cs typeface="+mn-ea"/>
              </a:rPr>
              <a:t>语言扩展安装成功后，需要</a:t>
            </a:r>
            <a:r>
              <a:rPr lang="zh-CN" altLang="zh-CN" sz="2000" dirty="0">
                <a:solidFill>
                  <a:srgbClr val="1369B2"/>
                </a:solidFill>
                <a:latin typeface="微软雅黑" panose="020B0503020204020204" pitchFamily="34" charset="-122"/>
                <a:ea typeface="微软雅黑" panose="020B0503020204020204" pitchFamily="34" charset="-122"/>
                <a:cs typeface="+mn-ea"/>
              </a:rPr>
              <a:t>重新启动</a:t>
            </a:r>
            <a:r>
              <a:rPr lang="en-US" altLang="zh-CN" sz="2000" dirty="0">
                <a:solidFill>
                  <a:srgbClr val="1369B2"/>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1369B2"/>
                </a:solidFill>
                <a:latin typeface="微软雅黑" panose="020B0503020204020204" pitchFamily="34" charset="-122"/>
                <a:ea typeface="微软雅黑" panose="020B0503020204020204" pitchFamily="34" charset="-122"/>
                <a:cs typeface="+mn-ea"/>
              </a:rPr>
              <a:t>代码编辑器</a:t>
            </a:r>
            <a:r>
              <a:rPr lang="zh-CN" altLang="zh-CN" sz="2000" dirty="0">
                <a:solidFill>
                  <a:srgbClr val="595959"/>
                </a:solidFill>
                <a:latin typeface="微软雅黑" panose="020B0503020204020204" pitchFamily="34" charset="-122"/>
                <a:ea typeface="微软雅黑" panose="020B0503020204020204" pitchFamily="34" charset="-122"/>
                <a:cs typeface="+mn-ea"/>
              </a:rPr>
              <a:t>，该</a:t>
            </a:r>
            <a:r>
              <a:rPr lang="zh-CN" altLang="zh-CN" sz="2000" dirty="0">
                <a:solidFill>
                  <a:srgbClr val="1369B2"/>
                </a:solidFill>
                <a:latin typeface="微软雅黑" panose="020B0503020204020204" pitchFamily="34" charset="-122"/>
                <a:ea typeface="微软雅黑" panose="020B0503020204020204" pitchFamily="34" charset="-122"/>
                <a:cs typeface="+mn-ea"/>
              </a:rPr>
              <a:t>扩展才会生效</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9"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0" name="Shape 2015"/>
          <p:cNvSpPr/>
          <p:nvPr/>
        </p:nvSpPr>
        <p:spPr>
          <a:xfrm>
            <a:off x="1016000" y="1750881"/>
            <a:ext cx="7233620" cy="1894937"/>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177404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31354" y="2138874"/>
            <a:ext cx="10225136" cy="1938992"/>
          </a:xfrm>
          <a:prstGeom prst="rect">
            <a:avLst/>
          </a:prstGeom>
          <a:noFill/>
        </p:spPr>
        <p:txBody>
          <a:bodyPr wrap="square">
            <a:spAutoFit/>
          </a:bodyPr>
          <a:lstStyle/>
          <a:p>
            <a:pPr>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Live </a:t>
            </a:r>
            <a:r>
              <a:rPr lang="en-US" altLang="zh-CN" sz="2000" dirty="0">
                <a:solidFill>
                  <a:srgbClr val="1369B2"/>
                </a:solidFill>
                <a:latin typeface="微软雅黑" panose="020B0503020204020204" pitchFamily="34" charset="-122"/>
                <a:ea typeface="微软雅黑" panose="020B0503020204020204" pitchFamily="34" charset="-122"/>
                <a:cs typeface="+mn-ea"/>
              </a:rPr>
              <a:t>Server</a:t>
            </a:r>
            <a:r>
              <a:rPr lang="zh-CN" altLang="zh-CN" sz="2000" dirty="0">
                <a:solidFill>
                  <a:srgbClr val="1369B2"/>
                </a:solidFill>
                <a:latin typeface="微软雅黑" panose="020B0503020204020204" pitchFamily="34" charset="-122"/>
                <a:ea typeface="微软雅黑" panose="020B0503020204020204" pitchFamily="34" charset="-122"/>
                <a:cs typeface="+mn-ea"/>
              </a:rPr>
              <a:t>扩展</a:t>
            </a:r>
            <a:r>
              <a:rPr lang="zh-CN" altLang="zh-CN" sz="2000" dirty="0">
                <a:solidFill>
                  <a:srgbClr val="595959"/>
                </a:solidFill>
                <a:latin typeface="微软雅黑" panose="020B0503020204020204" pitchFamily="34" charset="-122"/>
                <a:ea typeface="微软雅黑" panose="020B0503020204020204" pitchFamily="34" charset="-122"/>
                <a:cs typeface="+mn-ea"/>
              </a:rPr>
              <a:t>用于</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搭建具有</a:t>
            </a:r>
            <a:r>
              <a:rPr lang="zh-CN" altLang="zh-CN" sz="2000" dirty="0">
                <a:solidFill>
                  <a:srgbClr val="1369B2"/>
                </a:solidFill>
                <a:latin typeface="微软雅黑" panose="020B0503020204020204" pitchFamily="34" charset="-122"/>
                <a:ea typeface="微软雅黑" panose="020B0503020204020204" pitchFamily="34" charset="-122"/>
                <a:cs typeface="+mn-ea"/>
              </a:rPr>
              <a:t>实时重新加载功能</a:t>
            </a:r>
            <a:r>
              <a:rPr lang="zh-CN" altLang="zh-CN" sz="2000" dirty="0">
                <a:solidFill>
                  <a:srgbClr val="595959"/>
                </a:solidFill>
                <a:latin typeface="微软雅黑" panose="020B0503020204020204" pitchFamily="34" charset="-122"/>
                <a:ea typeface="微软雅黑" panose="020B0503020204020204" pitchFamily="34" charset="-122"/>
                <a:cs typeface="+mn-ea"/>
              </a:rPr>
              <a:t>的本地服务器，可以实现保存代码后</a:t>
            </a:r>
            <a:r>
              <a:rPr lang="zh-CN" altLang="zh-CN" sz="2000" dirty="0">
                <a:solidFill>
                  <a:srgbClr val="1369B2"/>
                </a:solidFill>
                <a:latin typeface="微软雅黑" panose="020B0503020204020204" pitchFamily="34" charset="-122"/>
                <a:ea typeface="微软雅黑" panose="020B0503020204020204" pitchFamily="34" charset="-122"/>
                <a:cs typeface="+mn-ea"/>
              </a:rPr>
              <a:t>浏览器自动同步刷新</a:t>
            </a:r>
            <a:r>
              <a:rPr lang="zh-CN" altLang="zh-CN" sz="2000" dirty="0">
                <a:solidFill>
                  <a:srgbClr val="595959"/>
                </a:solidFill>
                <a:latin typeface="微软雅黑" panose="020B0503020204020204" pitchFamily="34" charset="-122"/>
                <a:ea typeface="微软雅黑" panose="020B0503020204020204" pitchFamily="34" charset="-122"/>
                <a:cs typeface="+mn-ea"/>
              </a:rPr>
              <a:t>，即时查看网页效果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单击</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初始界面左侧的第</a:t>
            </a:r>
            <a:r>
              <a:rPr lang="en-US"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zh-CN" sz="2000" dirty="0">
                <a:solidFill>
                  <a:srgbClr val="595959"/>
                </a:solidFill>
                <a:latin typeface="微软雅黑" panose="020B0503020204020204" pitchFamily="34" charset="-122"/>
                <a:ea typeface="微软雅黑" panose="020B0503020204020204" pitchFamily="34" charset="-122"/>
                <a:cs typeface="+mn-ea"/>
              </a:rPr>
              <a:t>个图标按钮</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进入扩展界面，在该界面的搜索框中输入关键词</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Live Server</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找到</a:t>
            </a:r>
            <a:r>
              <a:rPr lang="en-US" altLang="zh-CN" sz="2000" dirty="0">
                <a:solidFill>
                  <a:srgbClr val="595959"/>
                </a:solidFill>
                <a:latin typeface="微软雅黑" panose="020B0503020204020204" pitchFamily="34" charset="-122"/>
                <a:ea typeface="微软雅黑" panose="020B0503020204020204" pitchFamily="34" charset="-122"/>
                <a:cs typeface="+mn-ea"/>
              </a:rPr>
              <a:t>Live Server</a:t>
            </a:r>
            <a:r>
              <a:rPr lang="zh-CN" altLang="zh-CN" sz="2000" dirty="0">
                <a:solidFill>
                  <a:srgbClr val="595959"/>
                </a:solidFill>
                <a:latin typeface="微软雅黑" panose="020B0503020204020204" pitchFamily="34" charset="-122"/>
                <a:ea typeface="微软雅黑" panose="020B0503020204020204" pitchFamily="34" charset="-122"/>
                <a:cs typeface="+mn-ea"/>
              </a:rPr>
              <a:t>扩展，单击</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安装</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按钮进行安装即可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1143690" y="1115504"/>
            <a:ext cx="2863283"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smtClean="0">
                <a:solidFill>
                  <a:srgbClr val="FFFFFF"/>
                </a:solidFill>
                <a:latin typeface="微软雅黑" panose="020B0503020204020204" pitchFamily="34" charset="-122"/>
                <a:ea typeface="微软雅黑" panose="020B0503020204020204" pitchFamily="34" charset="-122"/>
              </a:rPr>
              <a:t>3</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安装</a:t>
            </a:r>
            <a:r>
              <a:rPr lang="en-US" altLang="zh-CN" sz="2000" smtClean="0">
                <a:solidFill>
                  <a:srgbClr val="FFFFFF"/>
                </a:solidFill>
                <a:latin typeface="微软雅黑" panose="020B0503020204020204" pitchFamily="34" charset="-122"/>
                <a:ea typeface="微软雅黑" panose="020B0503020204020204" pitchFamily="34" charset="-122"/>
              </a:rPr>
              <a:t>Live Server</a:t>
            </a:r>
            <a:r>
              <a:rPr lang="zh-CN" altLang="en-US" sz="2000" smtClean="0">
                <a:solidFill>
                  <a:srgbClr val="FFFFFF"/>
                </a:solidFill>
                <a:latin typeface="微软雅黑" panose="020B0503020204020204" pitchFamily="34" charset="-122"/>
                <a:ea typeface="微软雅黑" panose="020B0503020204020204" pitchFamily="34" charset="-122"/>
              </a:rPr>
              <a:t>扩展</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9" name="图片 8"/>
          <p:cNvPicPr/>
          <p:nvPr/>
        </p:nvPicPr>
        <p:blipFill>
          <a:blip r:embed="rId2"/>
          <a:stretch>
            <a:fillRect/>
          </a:stretch>
        </p:blipFill>
        <p:spPr>
          <a:xfrm>
            <a:off x="2291973" y="3213770"/>
            <a:ext cx="216024" cy="173238"/>
          </a:xfrm>
          <a:prstGeom prst="rect">
            <a:avLst/>
          </a:prstGeom>
        </p:spPr>
      </p:pic>
    </p:spTree>
    <p:extLst>
      <p:ext uri="{BB962C8B-B14F-4D97-AF65-F5344CB8AC3E}">
        <p14:creationId xmlns:p14="http://schemas.microsoft.com/office/powerpoint/2010/main" val="4187964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31354" y="1845618"/>
            <a:ext cx="10225136" cy="55399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安装</a:t>
            </a:r>
            <a:r>
              <a:rPr lang="en-US" altLang="zh-CN" sz="2000" dirty="0">
                <a:solidFill>
                  <a:srgbClr val="595959"/>
                </a:solidFill>
                <a:latin typeface="微软雅黑" panose="020B0503020204020204" pitchFamily="34" charset="-122"/>
                <a:ea typeface="微软雅黑" panose="020B0503020204020204" pitchFamily="34" charset="-122"/>
                <a:cs typeface="+mn-ea"/>
              </a:rPr>
              <a:t>Live Server</a:t>
            </a:r>
            <a:r>
              <a:rPr lang="zh-CN" altLang="zh-CN" sz="2000" dirty="0">
                <a:solidFill>
                  <a:srgbClr val="595959"/>
                </a:solidFill>
                <a:latin typeface="微软雅黑" panose="020B0503020204020204" pitchFamily="34" charset="-122"/>
                <a:ea typeface="微软雅黑" panose="020B0503020204020204" pitchFamily="34" charset="-122"/>
                <a:cs typeface="+mn-ea"/>
              </a:rPr>
              <a:t>扩展界面</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1143690" y="1115504"/>
            <a:ext cx="2863283"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smtClean="0">
                <a:solidFill>
                  <a:srgbClr val="FFFFFF"/>
                </a:solidFill>
                <a:latin typeface="微软雅黑" panose="020B0503020204020204" pitchFamily="34" charset="-122"/>
                <a:ea typeface="微软雅黑" panose="020B0503020204020204" pitchFamily="34" charset="-122"/>
              </a:rPr>
              <a:t>3</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安装</a:t>
            </a:r>
            <a:r>
              <a:rPr lang="en-US" altLang="zh-CN" sz="2000" smtClean="0">
                <a:solidFill>
                  <a:srgbClr val="FFFFFF"/>
                </a:solidFill>
                <a:latin typeface="微软雅黑" panose="020B0503020204020204" pitchFamily="34" charset="-122"/>
                <a:ea typeface="微软雅黑" panose="020B0503020204020204" pitchFamily="34" charset="-122"/>
              </a:rPr>
              <a:t>Live Server</a:t>
            </a:r>
            <a:r>
              <a:rPr lang="zh-CN" altLang="en-US" sz="2000" smtClean="0">
                <a:solidFill>
                  <a:srgbClr val="FFFFFF"/>
                </a:solidFill>
                <a:latin typeface="微软雅黑" panose="020B0503020204020204" pitchFamily="34" charset="-122"/>
                <a:ea typeface="微软雅黑" panose="020B0503020204020204" pitchFamily="34" charset="-122"/>
              </a:rPr>
              <a:t>扩展</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6894" y="2493690"/>
            <a:ext cx="4968552" cy="3726414"/>
          </a:xfrm>
          <a:prstGeom prst="rect">
            <a:avLst/>
          </a:prstGeom>
        </p:spPr>
      </p:pic>
    </p:spTree>
    <p:extLst>
      <p:ext uri="{BB962C8B-B14F-4D97-AF65-F5344CB8AC3E}">
        <p14:creationId xmlns:p14="http://schemas.microsoft.com/office/powerpoint/2010/main" val="1631591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44752" y="2417360"/>
            <a:ext cx="6005363" cy="1477328"/>
          </a:xfrm>
          <a:prstGeom prst="rect">
            <a:avLst/>
          </a:prstGeom>
        </p:spPr>
        <p:txBody>
          <a:bodyPr wrap="square">
            <a:spAutoFit/>
          </a:bodyPr>
          <a:lstStyle/>
          <a:p>
            <a:pPr>
              <a:lnSpc>
                <a:spcPct val="150000"/>
              </a:lnSpc>
            </a:pPr>
            <a:r>
              <a:rPr lang="zh-CN" altLang="zh-CN" sz="2000" smtClean="0">
                <a:solidFill>
                  <a:srgbClr val="595959"/>
                </a:solidFill>
                <a:latin typeface="Microsoft YaHei" panose="020B0503020204020204" pitchFamily="34" charset="-122"/>
                <a:ea typeface="Microsoft YaHei" panose="020B0503020204020204" pitchFamily="34" charset="-122"/>
              </a:rPr>
              <a:t>安装</a:t>
            </a:r>
            <a:r>
              <a:rPr lang="en-US" altLang="zh-CN" sz="2000">
                <a:solidFill>
                  <a:srgbClr val="595959"/>
                </a:solidFill>
                <a:latin typeface="Microsoft YaHei" panose="020B0503020204020204" pitchFamily="34" charset="-122"/>
                <a:ea typeface="Microsoft YaHei" panose="020B0503020204020204" pitchFamily="34" charset="-122"/>
              </a:rPr>
              <a:t>Live Server</a:t>
            </a:r>
            <a:r>
              <a:rPr lang="zh-CN" altLang="zh-CN" sz="2000">
                <a:solidFill>
                  <a:srgbClr val="595959"/>
                </a:solidFill>
                <a:latin typeface="Microsoft YaHei" panose="020B0503020204020204" pitchFamily="34" charset="-122"/>
                <a:ea typeface="Microsoft YaHei" panose="020B0503020204020204" pitchFamily="34" charset="-122"/>
              </a:rPr>
              <a:t>扩展后，可在编写好的网页文件中右击，在弹出的快捷菜单中选择</a:t>
            </a:r>
            <a:r>
              <a:rPr lang="zh-CN" altLang="zh-CN" sz="2000">
                <a:solidFill>
                  <a:srgbClr val="1369B2"/>
                </a:solidFill>
                <a:latin typeface="Microsoft YaHei" panose="020B0503020204020204" pitchFamily="34" charset="-122"/>
                <a:ea typeface="Microsoft YaHei" panose="020B0503020204020204" pitchFamily="34" charset="-122"/>
              </a:rPr>
              <a:t>“</a:t>
            </a:r>
            <a:r>
              <a:rPr lang="en-US" altLang="zh-CN" sz="2000">
                <a:solidFill>
                  <a:srgbClr val="1369B2"/>
                </a:solidFill>
                <a:latin typeface="Microsoft YaHei" panose="020B0503020204020204" pitchFamily="34" charset="-122"/>
                <a:ea typeface="Microsoft YaHei" panose="020B0503020204020204" pitchFamily="34" charset="-122"/>
              </a:rPr>
              <a:t>Open with Live Server</a:t>
            </a:r>
            <a:r>
              <a:rPr lang="zh-CN" altLang="zh-CN" sz="2000">
                <a:solidFill>
                  <a:srgbClr val="1369B2"/>
                </a:solidFill>
                <a:latin typeface="Microsoft YaHei" panose="020B0503020204020204" pitchFamily="34" charset="-122"/>
                <a:ea typeface="Microsoft YaHei" panose="020B0503020204020204" pitchFamily="34" charset="-122"/>
              </a:rPr>
              <a:t>”</a:t>
            </a:r>
            <a:r>
              <a:rPr lang="zh-CN" altLang="zh-CN" sz="2000">
                <a:solidFill>
                  <a:srgbClr val="595959"/>
                </a:solidFill>
                <a:latin typeface="Microsoft YaHei" panose="020B0503020204020204" pitchFamily="34" charset="-122"/>
                <a:ea typeface="Microsoft YaHei" panose="020B0503020204020204" pitchFamily="34" charset="-122"/>
              </a:rPr>
              <a:t>调用浏览器打开网页文件</a:t>
            </a:r>
            <a:r>
              <a:rPr lang="zh-CN" altLang="zh-CN" sz="2000" smtClean="0">
                <a:solidFill>
                  <a:srgbClr val="595959"/>
                </a:solidFill>
                <a:latin typeface="Microsoft YaHei" panose="020B0503020204020204" pitchFamily="34" charset="-122"/>
                <a:ea typeface="Microsoft YaHei" panose="020B0503020204020204" pitchFamily="34" charset="-122"/>
              </a:rPr>
              <a:t>。</a:t>
            </a:r>
            <a:endParaRPr lang="zh-CN" altLang="zh-CN" sz="2000">
              <a:solidFill>
                <a:srgbClr val="595959"/>
              </a:solidFill>
              <a:latin typeface="Microsoft YaHei" panose="020B0503020204020204" pitchFamily="34" charset="-122"/>
              <a:ea typeface="Microsoft YaHei" panose="020B0503020204020204" pitchFamily="34" charset="-122"/>
            </a:endParaRPr>
          </a:p>
        </p:txBody>
      </p:sp>
      <p:sp>
        <p:nvSpPr>
          <p:cNvPr id="9" name="Shape 2015"/>
          <p:cNvSpPr/>
          <p:nvPr/>
        </p:nvSpPr>
        <p:spPr>
          <a:xfrm>
            <a:off x="4943078" y="2162174"/>
            <a:ext cx="6408712" cy="198770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36703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31354" y="1777886"/>
            <a:ext cx="10225136" cy="193899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开发项目时，需要创建项目文件夹，以保存项目所需的文件。下面在本地创建一个文件夹</a:t>
            </a:r>
            <a:r>
              <a:rPr lang="en-US" altLang="zh-CN" sz="2000" dirty="0">
                <a:solidFill>
                  <a:srgbClr val="1369B2"/>
                </a:solidFill>
                <a:latin typeface="微软雅黑" panose="020B0503020204020204" pitchFamily="34" charset="-122"/>
                <a:ea typeface="微软雅黑" panose="020B0503020204020204" pitchFamily="34" charset="-122"/>
                <a:cs typeface="+mn-ea"/>
              </a:rPr>
              <a:t>Chapter01</a:t>
            </a:r>
            <a:r>
              <a:rPr lang="zh-CN" altLang="zh-CN" sz="2000" dirty="0">
                <a:solidFill>
                  <a:srgbClr val="595959"/>
                </a:solidFill>
                <a:latin typeface="微软雅黑" panose="020B0503020204020204" pitchFamily="34" charset="-122"/>
                <a:ea typeface="微软雅黑" panose="020B0503020204020204" pitchFamily="34" charset="-122"/>
                <a:cs typeface="+mn-ea"/>
              </a:rPr>
              <a:t>，创建好文件夹后，首先在</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代码编辑器的菜单栏中单击</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“文件”</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然后单击</a:t>
            </a:r>
            <a:r>
              <a:rPr lang="zh-CN" altLang="zh-CN" sz="2000" dirty="0">
                <a:solidFill>
                  <a:srgbClr val="1369B2"/>
                </a:solidFill>
                <a:latin typeface="微软雅黑" panose="020B0503020204020204" pitchFamily="34" charset="-122"/>
                <a:ea typeface="微软雅黑" panose="020B0503020204020204" pitchFamily="34" charset="-122"/>
                <a:cs typeface="+mn-ea"/>
              </a:rPr>
              <a:t>“打开文件夹</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并选择</a:t>
            </a:r>
            <a:r>
              <a:rPr lang="en-US" altLang="zh-CN" sz="2000" dirty="0">
                <a:solidFill>
                  <a:srgbClr val="595959"/>
                </a:solidFill>
                <a:latin typeface="微软雅黑" panose="020B0503020204020204" pitchFamily="34" charset="-122"/>
                <a:ea typeface="微软雅黑" panose="020B0503020204020204" pitchFamily="34" charset="-122"/>
                <a:cs typeface="+mn-ea"/>
              </a:rPr>
              <a:t>Chapter01</a:t>
            </a:r>
            <a:r>
              <a:rPr lang="zh-CN" altLang="zh-CN" sz="2000" dirty="0">
                <a:solidFill>
                  <a:srgbClr val="595959"/>
                </a:solidFill>
                <a:latin typeface="微软雅黑" panose="020B0503020204020204" pitchFamily="34" charset="-122"/>
                <a:ea typeface="微软雅黑" panose="020B0503020204020204" pitchFamily="34" charset="-122"/>
                <a:cs typeface="+mn-ea"/>
              </a:rPr>
              <a:t>文件夹。打开文件夹后的界面</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1143690" y="1115504"/>
            <a:ext cx="2359227"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4</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创建项目文件夹</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代码编辑器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1030" y="3411792"/>
            <a:ext cx="4315995" cy="3236996"/>
          </a:xfrm>
          <a:prstGeom prst="rect">
            <a:avLst/>
          </a:prstGeom>
        </p:spPr>
      </p:pic>
    </p:spTree>
    <p:extLst>
      <p:ext uri="{BB962C8B-B14F-4D97-AF65-F5344CB8AC3E}">
        <p14:creationId xmlns:p14="http://schemas.microsoft.com/office/powerpoint/2010/main" val="807431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en-US" altLang="zh-CN" sz="4800" b="1" smtClean="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基本使用</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097641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45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初体验</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代码编辑器中</a:t>
            </a:r>
            <a:r>
              <a:rPr lang="zh-CN" altLang="zh-CN" sz="2000" dirty="0">
                <a:solidFill>
                  <a:srgbClr val="1369B2"/>
                </a:solidFill>
                <a:latin typeface="微软雅黑" panose="020B0503020204020204" pitchFamily="34" charset="-122"/>
                <a:ea typeface="微软雅黑" panose="020B0503020204020204" pitchFamily="34" charset="-122"/>
                <a:cs typeface="+mn-ea"/>
              </a:rPr>
              <a:t>编写</a:t>
            </a:r>
            <a:r>
              <a:rPr lang="zh-CN" altLang="zh-CN" sz="2000" dirty="0">
                <a:solidFill>
                  <a:srgbClr val="595959"/>
                </a:solidFill>
                <a:latin typeface="微软雅黑" panose="020B0503020204020204" pitchFamily="34" charset="-122"/>
                <a:ea typeface="微软雅黑" panose="020B0503020204020204" pitchFamily="34" charset="-122"/>
                <a:cs typeface="+mn-ea"/>
              </a:rPr>
              <a:t>一段简单的</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a:t>
            </a:r>
            <a:endParaRPr lang="en-US" altLang="zh-CN"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初体验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671904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初体验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51607" y="2016885"/>
            <a:ext cx="6962406" cy="1938992"/>
          </a:xfrm>
          <a:prstGeom prst="rect">
            <a:avLst/>
          </a:prstGeom>
        </p:spPr>
        <p:txBody>
          <a:bodyPr wrap="square">
            <a:spAutoFit/>
          </a:bodyPr>
          <a:lstStyle/>
          <a:p>
            <a:pPr algn="just">
              <a:lnSpc>
                <a:spcPct val="150000"/>
              </a:lnSpc>
              <a:spcAft>
                <a:spcPts val="0"/>
              </a:spcAft>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将通过一个案例演示如何在</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代码编辑器中编写一段简单的</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代码。本案例的需求是</a:t>
            </a:r>
            <a:r>
              <a:rPr lang="zh-CN" altLang="zh-CN" sz="2000" dirty="0">
                <a:solidFill>
                  <a:srgbClr val="1369B2"/>
                </a:solidFill>
                <a:latin typeface="微软雅黑" panose="020B0503020204020204" pitchFamily="34" charset="-122"/>
                <a:ea typeface="微软雅黑" panose="020B0503020204020204" pitchFamily="34" charset="-122"/>
                <a:cs typeface="+mn-ea"/>
              </a:rPr>
              <a:t>打开网页时自动弹出一个警告框</a:t>
            </a:r>
            <a:r>
              <a:rPr lang="zh-CN" altLang="zh-CN" sz="2000" dirty="0">
                <a:solidFill>
                  <a:srgbClr val="595959"/>
                </a:solidFill>
                <a:latin typeface="微软雅黑" panose="020B0503020204020204" pitchFamily="34" charset="-122"/>
                <a:ea typeface="微软雅黑" panose="020B0503020204020204" pitchFamily="34" charset="-122"/>
                <a:cs typeface="+mn-ea"/>
              </a:rPr>
              <a:t>，警告框中的提示内容为</a:t>
            </a:r>
            <a:r>
              <a:rPr lang="zh-CN" altLang="zh-CN" sz="2000" dirty="0">
                <a:solidFill>
                  <a:srgbClr val="1369B2"/>
                </a:solidFill>
                <a:latin typeface="微软雅黑" panose="020B0503020204020204" pitchFamily="34" charset="-122"/>
                <a:ea typeface="微软雅黑" panose="020B0503020204020204" pitchFamily="34" charset="-122"/>
                <a:cs typeface="+mn-ea"/>
              </a:rPr>
              <a:t>“锲而不舍，金石可镂”</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2"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3" name="Shape 2015"/>
          <p:cNvSpPr/>
          <p:nvPr/>
        </p:nvSpPr>
        <p:spPr>
          <a:xfrm>
            <a:off x="1016000" y="1750881"/>
            <a:ext cx="7233620" cy="247100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51383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982638" y="1146749"/>
            <a:ext cx="10585176" cy="147732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编写</a:t>
            </a:r>
            <a:r>
              <a:rPr lang="zh-CN" altLang="zh-CN" sz="2000" dirty="0">
                <a:solidFill>
                  <a:srgbClr val="595959"/>
                </a:solidFill>
                <a:latin typeface="微软雅黑" panose="020B0503020204020204" pitchFamily="34" charset="-122"/>
                <a:ea typeface="微软雅黑" panose="020B0503020204020204" pitchFamily="34" charset="-122"/>
                <a:cs typeface="+mn-ea"/>
              </a:rPr>
              <a:t>完</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代码后，按</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Ctrl+S</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快捷键保存代码，然后右击</a:t>
            </a:r>
            <a:r>
              <a:rPr lang="en-US" altLang="zh-CN" sz="2000" dirty="0">
                <a:solidFill>
                  <a:srgbClr val="595959"/>
                </a:solidFill>
                <a:latin typeface="微软雅黑" panose="020B0503020204020204" pitchFamily="34" charset="-122"/>
                <a:ea typeface="微软雅黑" panose="020B0503020204020204" pitchFamily="34" charset="-122"/>
                <a:cs typeface="+mn-ea"/>
              </a:rPr>
              <a:t>Visual Studio Code</a:t>
            </a:r>
            <a:r>
              <a:rPr lang="zh-CN" altLang="zh-CN" sz="2000" dirty="0">
                <a:solidFill>
                  <a:srgbClr val="595959"/>
                </a:solidFill>
                <a:latin typeface="微软雅黑" panose="020B0503020204020204" pitchFamily="34" charset="-122"/>
                <a:ea typeface="微软雅黑" panose="020B0503020204020204" pitchFamily="34" charset="-122"/>
                <a:cs typeface="+mn-ea"/>
              </a:rPr>
              <a:t>代码编辑器中的</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Example1.html</a:t>
            </a:r>
            <a:r>
              <a:rPr lang="zh-CN" altLang="zh-CN" sz="2000" dirty="0">
                <a:solidFill>
                  <a:srgbClr val="595959"/>
                </a:solidFill>
                <a:latin typeface="微软雅黑" panose="020B0503020204020204" pitchFamily="34" charset="-122"/>
                <a:ea typeface="微软雅黑" panose="020B0503020204020204" pitchFamily="34" charset="-122"/>
                <a:cs typeface="+mn-ea"/>
              </a:rPr>
              <a:t>文件，选择</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Open with Live Server</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，就会自动通过浏览器打开</a:t>
            </a:r>
            <a:r>
              <a:rPr lang="en-US" altLang="zh-CN" sz="2000" dirty="0">
                <a:solidFill>
                  <a:srgbClr val="595959"/>
                </a:solidFill>
                <a:latin typeface="微软雅黑" panose="020B0503020204020204" pitchFamily="34" charset="-122"/>
                <a:ea typeface="微软雅黑" panose="020B0503020204020204" pitchFamily="34" charset="-122"/>
                <a:cs typeface="+mn-ea"/>
              </a:rPr>
              <a:t>Example1.html</a:t>
            </a:r>
            <a:r>
              <a:rPr lang="zh-CN" altLang="zh-CN" sz="2000" dirty="0">
                <a:solidFill>
                  <a:srgbClr val="595959"/>
                </a:solidFill>
                <a:latin typeface="微软雅黑" panose="020B0503020204020204" pitchFamily="34" charset="-122"/>
                <a:ea typeface="微软雅黑" panose="020B0503020204020204" pitchFamily="34" charset="-122"/>
                <a:cs typeface="+mn-ea"/>
              </a:rPr>
              <a:t>文件</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1.3.1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初体验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3840" y="2853730"/>
            <a:ext cx="6942772" cy="2808312"/>
          </a:xfrm>
          <a:prstGeom prst="rect">
            <a:avLst/>
          </a:prstGeom>
        </p:spPr>
      </p:pic>
    </p:spTree>
    <p:extLst>
      <p:ext uri="{BB962C8B-B14F-4D97-AF65-F5344CB8AC3E}">
        <p14:creationId xmlns:p14="http://schemas.microsoft.com/office/powerpoint/2010/main" val="1121255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JavaScript</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代码引入方式</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mn-ea"/>
              </a:rPr>
              <a:t>灵活运用</a:t>
            </a:r>
            <a:r>
              <a:rPr lang="zh-CN" altLang="zh-CN" sz="2000" dirty="0">
                <a:solidFill>
                  <a:srgbClr val="1369B2"/>
                </a:solidFill>
                <a:latin typeface="微软雅黑" panose="020B0503020204020204" pitchFamily="34" charset="-122"/>
                <a:ea typeface="微软雅黑" panose="020B0503020204020204" pitchFamily="34" charset="-122"/>
                <a:cs typeface="+mn-ea"/>
              </a:rPr>
              <a:t>行内式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内部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外部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的方式引入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2633976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7" y="1985403"/>
            <a:ext cx="5948287" cy="2596519"/>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237956" y="2421626"/>
              <a:ext cx="6063355" cy="2552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网页中编写</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代码时，有</a:t>
              </a:r>
              <a:r>
                <a:rPr lang="en-US" altLang="zh-CN" sz="2000" dirty="0">
                  <a:solidFill>
                    <a:srgbClr val="1369B2"/>
                  </a:solidFill>
                  <a:latin typeface="微软雅黑" panose="020B0503020204020204" pitchFamily="34" charset="-122"/>
                  <a:ea typeface="微软雅黑" panose="020B0503020204020204" pitchFamily="34" charset="-122"/>
                </a:rPr>
                <a:t>3</a:t>
              </a:r>
              <a:r>
                <a:rPr lang="zh-CN" altLang="zh-CN" sz="2000" dirty="0">
                  <a:solidFill>
                    <a:srgbClr val="1369B2"/>
                  </a:solidFill>
                  <a:latin typeface="微软雅黑" panose="020B0503020204020204" pitchFamily="34" charset="-122"/>
                  <a:ea typeface="微软雅黑" panose="020B0503020204020204" pitchFamily="34" charset="-122"/>
                </a:rPr>
                <a:t>种</a:t>
              </a:r>
              <a:r>
                <a:rPr lang="zh-CN" altLang="zh-CN" sz="2000" dirty="0">
                  <a:solidFill>
                    <a:srgbClr val="595959"/>
                  </a:solidFill>
                  <a:latin typeface="微软雅黑" panose="020B0503020204020204" pitchFamily="34" charset="-122"/>
                  <a:ea typeface="微软雅黑" panose="020B0503020204020204" pitchFamily="34" charset="-122"/>
                </a:rPr>
                <a:t>引入</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代码的方式，分别是</a:t>
              </a:r>
              <a:r>
                <a:rPr lang="zh-CN" altLang="zh-CN" sz="2000" dirty="0">
                  <a:solidFill>
                    <a:srgbClr val="1369B2"/>
                  </a:solidFill>
                  <a:latin typeface="微软雅黑" panose="020B0503020204020204" pitchFamily="34" charset="-122"/>
                  <a:ea typeface="微软雅黑" panose="020B0503020204020204" pitchFamily="34" charset="-122"/>
                </a:rPr>
                <a:t>行内式</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内部</a:t>
              </a:r>
              <a:r>
                <a:rPr lang="zh-CN" altLang="zh-CN" sz="2000" dirty="0" smtClean="0">
                  <a:solidFill>
                    <a:srgbClr val="1369B2"/>
                  </a:solidFill>
                  <a:latin typeface="微软雅黑" panose="020B0503020204020204" pitchFamily="34" charset="-122"/>
                  <a:ea typeface="微软雅黑" panose="020B0503020204020204" pitchFamily="34" charset="-122"/>
                </a:rPr>
                <a:t>式</a:t>
              </a:r>
              <a:r>
                <a:rPr lang="zh-CN" altLang="zh-CN"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外部</a:t>
              </a:r>
              <a:r>
                <a:rPr lang="zh-CN" altLang="zh-CN" sz="2000" dirty="0" smtClean="0">
                  <a:solidFill>
                    <a:srgbClr val="1369B2"/>
                  </a:solidFill>
                  <a:latin typeface="微软雅黑" panose="020B0503020204020204" pitchFamily="34" charset="-122"/>
                  <a:ea typeface="微软雅黑" panose="020B0503020204020204" pitchFamily="34" charset="-122"/>
                </a:rPr>
                <a:t>式</a:t>
              </a:r>
              <a:r>
                <a:rPr lang="zh-CN" altLang="zh-CN" sz="2000" dirty="0">
                  <a:solidFill>
                    <a:srgbClr val="595959"/>
                  </a:solidFill>
                  <a:latin typeface="微软雅黑" panose="020B0503020204020204" pitchFamily="34" charset="-122"/>
                  <a:ea typeface="微软雅黑" panose="020B0503020204020204" pitchFamily="34" charset="-122"/>
                </a:rPr>
                <a:t>，下面分别对这</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种引入方式进行讲解。</a:t>
              </a:r>
            </a:p>
          </p:txBody>
        </p:sp>
      </p:grpSp>
    </p:spTree>
    <p:extLst>
      <p:ext uri="{BB962C8B-B14F-4D97-AF65-F5344CB8AC3E}">
        <p14:creationId xmlns:p14="http://schemas.microsoft.com/office/powerpoint/2010/main" val="3393968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43690" y="1917626"/>
            <a:ext cx="10352116" cy="1015663"/>
          </a:xfrm>
          <a:prstGeom prst="rect">
            <a:avLst/>
          </a:prstGeom>
          <a:noFill/>
        </p:spPr>
        <p:txBody>
          <a:bodyPr wrap="square">
            <a:spAutoFit/>
          </a:bodyPr>
          <a:lstStyle/>
          <a:p>
            <a:pPr>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行</a:t>
            </a:r>
            <a:r>
              <a:rPr lang="zh-CN" altLang="zh-CN" sz="2000" dirty="0">
                <a:solidFill>
                  <a:srgbClr val="1369B2"/>
                </a:solidFill>
                <a:latin typeface="微软雅黑" panose="020B0503020204020204" pitchFamily="34" charset="-122"/>
                <a:ea typeface="微软雅黑" panose="020B0503020204020204" pitchFamily="34" charset="-122"/>
                <a:cs typeface="+mn-ea"/>
              </a:rPr>
              <a:t>内式</a:t>
            </a:r>
            <a:r>
              <a:rPr lang="zh-CN" altLang="zh-CN" sz="2000" dirty="0">
                <a:solidFill>
                  <a:srgbClr val="595959"/>
                </a:solidFill>
                <a:latin typeface="微软雅黑" panose="020B0503020204020204" pitchFamily="34" charset="-122"/>
                <a:ea typeface="微软雅黑" panose="020B0503020204020204" pitchFamily="34" charset="-122"/>
                <a:cs typeface="+mn-ea"/>
              </a:rPr>
              <a:t>是将</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代码作为</a:t>
            </a:r>
            <a:r>
              <a:rPr lang="en-US" altLang="zh-CN" sz="2000" dirty="0">
                <a:solidFill>
                  <a:srgbClr val="1369B2"/>
                </a:solidFill>
                <a:latin typeface="微软雅黑" panose="020B0503020204020204" pitchFamily="34" charset="-122"/>
                <a:ea typeface="微软雅黑" panose="020B0503020204020204" pitchFamily="34" charset="-122"/>
                <a:cs typeface="+mn-ea"/>
              </a:rPr>
              <a:t>HTML</a:t>
            </a:r>
            <a:r>
              <a:rPr lang="zh-CN" altLang="zh-CN" sz="2000" dirty="0">
                <a:solidFill>
                  <a:srgbClr val="1369B2"/>
                </a:solidFill>
                <a:latin typeface="微软雅黑" panose="020B0503020204020204" pitchFamily="34" charset="-122"/>
                <a:ea typeface="微软雅黑" panose="020B0503020204020204" pitchFamily="34" charset="-122"/>
                <a:cs typeface="+mn-ea"/>
              </a:rPr>
              <a:t>标签的属性值</a:t>
            </a:r>
            <a:r>
              <a:rPr lang="zh-CN" altLang="zh-CN" sz="2000" dirty="0">
                <a:solidFill>
                  <a:srgbClr val="595959"/>
                </a:solidFill>
                <a:latin typeface="微软雅黑" panose="020B0503020204020204" pitchFamily="34" charset="-122"/>
                <a:ea typeface="微软雅黑" panose="020B0503020204020204" pitchFamily="34" charset="-122"/>
                <a:cs typeface="+mn-ea"/>
              </a:rPr>
              <a:t>使用。例如，在打开网页时自动弹出一个警告框，警告框中的提示内容为“通过行内式引入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代码”，示例代码如下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1143691" y="1115504"/>
            <a:ext cx="156714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1. </a:t>
            </a:r>
            <a:r>
              <a:rPr lang="zh-CN" altLang="en-US" sz="2000" dirty="0">
                <a:solidFill>
                  <a:srgbClr val="FFFFFF"/>
                </a:solidFill>
                <a:latin typeface="微软雅黑" panose="020B0503020204020204" pitchFamily="34" charset="-122"/>
                <a:ea typeface="微软雅黑" panose="020B0503020204020204" pitchFamily="34" charset="-122"/>
              </a:rPr>
              <a:t>行内式</a:t>
            </a: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2102948" y="3304831"/>
            <a:ext cx="8433600" cy="961289"/>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body </a:t>
            </a:r>
            <a:r>
              <a:rPr lang="en-US" altLang="zh-CN" sz="2000" dirty="0" err="1">
                <a:solidFill>
                  <a:srgbClr val="595959"/>
                </a:solidFill>
                <a:latin typeface="微软雅黑" panose="020B0503020204020204" pitchFamily="34" charset="-122"/>
                <a:ea typeface="微软雅黑" panose="020B0503020204020204" pitchFamily="34" charset="-122"/>
                <a:cs typeface="+mn-ea"/>
              </a:rPr>
              <a:t>onload</a:t>
            </a:r>
            <a:r>
              <a:rPr lang="en-US" altLang="zh-CN" sz="2000" dirty="0">
                <a:solidFill>
                  <a:srgbClr val="595959"/>
                </a:solidFill>
                <a:latin typeface="微软雅黑" panose="020B0503020204020204" pitchFamily="34" charset="-122"/>
                <a:ea typeface="微软雅黑" panose="020B0503020204020204" pitchFamily="34" charset="-122"/>
                <a:cs typeface="+mn-ea"/>
              </a:rPr>
              <a:t>="alert('</a:t>
            </a:r>
            <a:r>
              <a:rPr lang="zh-CN" altLang="zh-CN" sz="2000" dirty="0">
                <a:solidFill>
                  <a:srgbClr val="595959"/>
                </a:solidFill>
                <a:latin typeface="微软雅黑" panose="020B0503020204020204" pitchFamily="34" charset="-122"/>
                <a:ea typeface="微软雅黑" panose="020B0503020204020204" pitchFamily="34" charset="-122"/>
                <a:cs typeface="+mn-ea"/>
              </a:rPr>
              <a:t>通过行内式引入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a:t>
            </a:r>
            <a:r>
              <a:rPr lang="en-US" altLang="zh-CN" sz="2000" dirty="0">
                <a:solidFill>
                  <a:srgbClr val="595959"/>
                </a:solidFill>
                <a:latin typeface="微软雅黑" panose="020B0503020204020204" pitchFamily="34" charset="-122"/>
                <a:ea typeface="微软雅黑" panose="020B0503020204020204" pitchFamily="34" charset="-122"/>
                <a:cs typeface="+mn-ea"/>
              </a:rPr>
              <a: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&lt;/body</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4797946"/>
            <a:ext cx="10352116"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上述</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示例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中，</a:t>
            </a:r>
            <a:r>
              <a:rPr lang="en-US" altLang="zh-CN" sz="2000" dirty="0">
                <a:solidFill>
                  <a:srgbClr val="595959"/>
                </a:solidFill>
                <a:latin typeface="微软雅黑" panose="020B0503020204020204" pitchFamily="34" charset="-122"/>
                <a:ea typeface="微软雅黑" panose="020B0503020204020204" pitchFamily="34" charset="-122"/>
                <a:cs typeface="+mn-ea"/>
              </a:rPr>
              <a:t>&lt;body&gt;</a:t>
            </a:r>
            <a:r>
              <a:rPr lang="zh-CN" altLang="zh-CN" sz="2000" dirty="0">
                <a:solidFill>
                  <a:srgbClr val="595959"/>
                </a:solidFill>
                <a:latin typeface="微软雅黑" panose="020B0503020204020204" pitchFamily="34" charset="-122"/>
                <a:ea typeface="微软雅黑" panose="020B0503020204020204" pitchFamily="34" charset="-122"/>
                <a:cs typeface="+mn-ea"/>
              </a:rPr>
              <a:t>标签的</a:t>
            </a:r>
            <a:r>
              <a:rPr lang="en-US" altLang="zh-CN" sz="2000" dirty="0" err="1">
                <a:solidFill>
                  <a:srgbClr val="1369B2"/>
                </a:solidFill>
                <a:latin typeface="微软雅黑" panose="020B0503020204020204" pitchFamily="34" charset="-122"/>
                <a:ea typeface="微软雅黑" panose="020B0503020204020204" pitchFamily="34" charset="-122"/>
                <a:cs typeface="+mn-ea"/>
              </a:rPr>
              <a:t>onload</a:t>
            </a:r>
            <a:r>
              <a:rPr lang="zh-CN" altLang="zh-CN" sz="2000" dirty="0">
                <a:solidFill>
                  <a:srgbClr val="1369B2"/>
                </a:solidFill>
                <a:latin typeface="微软雅黑" panose="020B0503020204020204" pitchFamily="34" charset="-122"/>
                <a:ea typeface="微软雅黑" panose="020B0503020204020204" pitchFamily="34" charset="-122"/>
                <a:cs typeface="+mn-ea"/>
              </a:rPr>
              <a:t>属性表示页面加载事件</a:t>
            </a:r>
            <a:r>
              <a:rPr lang="zh-CN" altLang="zh-CN" sz="2000" dirty="0">
                <a:solidFill>
                  <a:srgbClr val="595959"/>
                </a:solidFill>
                <a:latin typeface="微软雅黑" panose="020B0503020204020204" pitchFamily="34" charset="-122"/>
                <a:ea typeface="微软雅黑" panose="020B0503020204020204" pitchFamily="34" charset="-122"/>
                <a:cs typeface="+mn-ea"/>
              </a:rPr>
              <a:t>，用于在网页打开时自动执行</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代码，该属性的值为</a:t>
            </a:r>
            <a:r>
              <a:rPr lang="zh-CN" altLang="zh-CN" sz="2000" dirty="0">
                <a:solidFill>
                  <a:srgbClr val="1369B2"/>
                </a:solidFill>
                <a:latin typeface="微软雅黑" panose="020B0503020204020204" pitchFamily="34" charset="-122"/>
                <a:ea typeface="微软雅黑" panose="020B0503020204020204" pitchFamily="34" charset="-122"/>
                <a:cs typeface="+mn-ea"/>
              </a:rPr>
              <a:t>行内式</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2275507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8902" y="2031693"/>
            <a:ext cx="6887815" cy="1477328"/>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595959"/>
                </a:solidFill>
                <a:latin typeface="微软雅黑" panose="020B0503020204020204" pitchFamily="34" charset="-122"/>
                <a:ea typeface="微软雅黑" panose="020B0503020204020204" pitchFamily="34" charset="-122"/>
                <a:cs typeface="+mn-ea"/>
              </a:rPr>
              <a:t>说明的是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使用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行</a:t>
            </a:r>
            <a:r>
              <a:rPr lang="zh-CN" altLang="zh-CN" sz="2000" dirty="0">
                <a:solidFill>
                  <a:srgbClr val="1369B2"/>
                </a:solidFill>
                <a:latin typeface="微软雅黑" panose="020B0503020204020204" pitchFamily="34" charset="-122"/>
                <a:ea typeface="微软雅黑" panose="020B0503020204020204" pitchFamily="34" charset="-122"/>
                <a:cs typeface="+mn-ea"/>
              </a:rPr>
              <a:t>内式不</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适合</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在</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HTML</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标签中书写</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大量</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，这是因为行内</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式代码</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en-US" altLang="zh-CN" sz="2000" dirty="0">
                <a:solidFill>
                  <a:srgbClr val="595959"/>
                </a:solidFill>
                <a:latin typeface="微软雅黑" panose="020B0503020204020204" pitchFamily="34" charset="-122"/>
                <a:ea typeface="微软雅黑" panose="020B0503020204020204" pitchFamily="34" charset="-122"/>
                <a:cs typeface="+mn-ea"/>
              </a:rPr>
              <a:t>HTML</a:t>
            </a:r>
            <a:r>
              <a:rPr lang="zh-CN" altLang="zh-CN" sz="2000" dirty="0">
                <a:solidFill>
                  <a:srgbClr val="595959"/>
                </a:solidFill>
                <a:latin typeface="微软雅黑" panose="020B0503020204020204" pitchFamily="34" charset="-122"/>
                <a:ea typeface="微软雅黑" panose="020B0503020204020204" pitchFamily="34" charset="-122"/>
                <a:cs typeface="+mn-ea"/>
              </a:rPr>
              <a:t>标签混合在一起，</a:t>
            </a:r>
            <a:r>
              <a:rPr lang="zh-CN" altLang="zh-CN" sz="2000" dirty="0">
                <a:solidFill>
                  <a:srgbClr val="1369B2"/>
                </a:solidFill>
                <a:latin typeface="微软雅黑" panose="020B0503020204020204" pitchFamily="34" charset="-122"/>
                <a:ea typeface="微软雅黑" panose="020B0503020204020204" pitchFamily="34" charset="-122"/>
                <a:cs typeface="+mn-ea"/>
              </a:rPr>
              <a:t>不利于代码维护</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2"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3" name="Shape 2015"/>
          <p:cNvSpPr/>
          <p:nvPr/>
        </p:nvSpPr>
        <p:spPr>
          <a:xfrm>
            <a:off x="1016000" y="1750881"/>
            <a:ext cx="7233620" cy="203895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978783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270670" y="1773610"/>
            <a:ext cx="9793088" cy="1477328"/>
          </a:xfrm>
          <a:prstGeom prst="rect">
            <a:avLst/>
          </a:prstGeom>
          <a:noFill/>
        </p:spPr>
        <p:txBody>
          <a:bodyPr wrap="square">
            <a:spAutoFit/>
          </a:bodyPr>
          <a:lstStyle/>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rPr>
              <a:t>内部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式将</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代码</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写在</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&lt;script</a:t>
            </a:r>
            <a:r>
              <a:rPr lang="en-US" altLang="zh-CN" sz="2000" dirty="0">
                <a:solidFill>
                  <a:srgbClr val="1369B2"/>
                </a:solidFill>
                <a:latin typeface="微软雅黑" panose="020B0503020204020204" pitchFamily="34" charset="-122"/>
                <a:ea typeface="微软雅黑" panose="020B0503020204020204" pitchFamily="34" charset="-122"/>
                <a:cs typeface="+mn-ea"/>
              </a:rPr>
              <a:t>&gt;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标签</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中</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&lt;script&gt;</a:t>
            </a:r>
            <a:r>
              <a:rPr lang="zh-CN" altLang="zh-CN" sz="2000" dirty="0">
                <a:solidFill>
                  <a:srgbClr val="595959"/>
                </a:solidFill>
                <a:latin typeface="微软雅黑" panose="020B0503020204020204" pitchFamily="34" charset="-122"/>
                <a:ea typeface="微软雅黑" panose="020B0503020204020204" pitchFamily="34" charset="-122"/>
                <a:cs typeface="+mn-ea"/>
              </a:rPr>
              <a:t>标签可以写在</a:t>
            </a:r>
            <a:r>
              <a:rPr lang="en-US" altLang="zh-CN" sz="2000" dirty="0">
                <a:solidFill>
                  <a:srgbClr val="1369B2"/>
                </a:solidFill>
                <a:latin typeface="微软雅黑" panose="020B0503020204020204" pitchFamily="34" charset="-122"/>
                <a:ea typeface="微软雅黑" panose="020B0503020204020204" pitchFamily="34" charset="-122"/>
                <a:cs typeface="+mn-ea"/>
              </a:rPr>
              <a:t>&lt;head&gt;</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en-US" altLang="zh-CN" sz="2000" dirty="0">
                <a:solidFill>
                  <a:srgbClr val="1369B2"/>
                </a:solidFill>
                <a:latin typeface="微软雅黑" panose="020B0503020204020204" pitchFamily="34" charset="-122"/>
                <a:ea typeface="微软雅黑" panose="020B0503020204020204" pitchFamily="34" charset="-122"/>
                <a:cs typeface="+mn-ea"/>
              </a:rPr>
              <a:t>&lt;body&gt;</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中。例如，在打开网页时自动弹出一个警告框，警告框中的提示内容为“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通过</a:t>
            </a:r>
            <a:r>
              <a:rPr lang="zh-CN" altLang="en-US" sz="2000" dirty="0">
                <a:solidFill>
                  <a:srgbClr val="595959"/>
                </a:solidFill>
                <a:latin typeface="微软雅黑" panose="020B0503020204020204" pitchFamily="34" charset="-122"/>
                <a:ea typeface="微软雅黑" panose="020B0503020204020204" pitchFamily="34" charset="-122"/>
                <a:cs typeface="+mn-ea"/>
              </a:rPr>
              <a:t>内部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代码”，示例代码如下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1143691" y="1115504"/>
            <a:ext cx="156714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内部式</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941780" y="3573810"/>
            <a:ext cx="8704449" cy="2400657"/>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body&gt;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&lt;script&gt;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alert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通过</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内部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&lt;/script&gt;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&lt;/body&gt;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240316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91887" y="2511110"/>
            <a:ext cx="6495070" cy="1477328"/>
          </a:xfrm>
          <a:prstGeom prst="rect">
            <a:avLst/>
          </a:prstGeom>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由于通过</a:t>
            </a:r>
            <a:r>
              <a:rPr lang="zh-CN" altLang="en-US" sz="2000" dirty="0" smtClean="0">
                <a:solidFill>
                  <a:srgbClr val="1369B2"/>
                </a:solidFill>
                <a:latin typeface="Microsoft YaHei" panose="020B0503020204020204" pitchFamily="34" charset="-122"/>
                <a:ea typeface="Microsoft YaHei" panose="020B0503020204020204" pitchFamily="34" charset="-122"/>
              </a:rPr>
              <a:t>内部</a:t>
            </a:r>
            <a:r>
              <a:rPr lang="zh-CN" altLang="zh-CN" sz="2000" dirty="0" smtClean="0">
                <a:solidFill>
                  <a:srgbClr val="1369B2"/>
                </a:solidFill>
                <a:latin typeface="Microsoft YaHei" panose="020B0503020204020204" pitchFamily="34" charset="-122"/>
                <a:ea typeface="Microsoft YaHei" panose="020B0503020204020204" pitchFamily="34" charset="-122"/>
              </a:rPr>
              <a:t>式</a:t>
            </a:r>
            <a:r>
              <a:rPr lang="zh-CN" altLang="zh-CN" sz="2000" dirty="0">
                <a:solidFill>
                  <a:srgbClr val="595959"/>
                </a:solidFill>
                <a:latin typeface="Microsoft YaHei" panose="020B0503020204020204" pitchFamily="34" charset="-122"/>
                <a:ea typeface="Microsoft YaHei" panose="020B0503020204020204" pitchFamily="34" charset="-122"/>
              </a:rPr>
              <a:t>可以将</a:t>
            </a:r>
            <a:r>
              <a:rPr lang="zh-CN" altLang="zh-CN" sz="2000" dirty="0">
                <a:solidFill>
                  <a:srgbClr val="1369B2"/>
                </a:solidFill>
                <a:latin typeface="Microsoft YaHei" panose="020B0503020204020204" pitchFamily="34" charset="-122"/>
                <a:ea typeface="Microsoft YaHei" panose="020B0503020204020204" pitchFamily="34" charset="-122"/>
              </a:rPr>
              <a:t>多行</a:t>
            </a:r>
            <a:r>
              <a:rPr lang="en-US" altLang="zh-CN" sz="2000" dirty="0">
                <a:solidFill>
                  <a:srgbClr val="1369B2"/>
                </a:solidFill>
                <a:latin typeface="Microsoft YaHei" panose="020B0503020204020204" pitchFamily="34" charset="-122"/>
                <a:ea typeface="Microsoft YaHei" panose="020B0503020204020204" pitchFamily="34" charset="-122"/>
              </a:rPr>
              <a:t>JavaScript</a:t>
            </a:r>
            <a:r>
              <a:rPr lang="zh-CN" altLang="zh-CN" sz="2000" dirty="0">
                <a:solidFill>
                  <a:srgbClr val="1369B2"/>
                </a:solidFill>
                <a:latin typeface="Microsoft YaHei" panose="020B0503020204020204" pitchFamily="34" charset="-122"/>
                <a:ea typeface="Microsoft YaHei" panose="020B0503020204020204" pitchFamily="34" charset="-122"/>
              </a:rPr>
              <a:t>代码</a:t>
            </a:r>
            <a:r>
              <a:rPr lang="zh-CN" altLang="zh-CN" sz="2000" dirty="0">
                <a:solidFill>
                  <a:srgbClr val="595959"/>
                </a:solidFill>
                <a:latin typeface="Microsoft YaHei" panose="020B0503020204020204" pitchFamily="34" charset="-122"/>
                <a:ea typeface="Microsoft YaHei" panose="020B0503020204020204" pitchFamily="34" charset="-122"/>
              </a:rPr>
              <a:t>写在</a:t>
            </a:r>
            <a:r>
              <a:rPr lang="en-US" altLang="zh-CN" sz="2000" dirty="0">
                <a:solidFill>
                  <a:srgbClr val="1369B2"/>
                </a:solidFill>
                <a:latin typeface="Microsoft YaHei" panose="020B0503020204020204" pitchFamily="34" charset="-122"/>
                <a:ea typeface="Microsoft YaHei" panose="020B0503020204020204" pitchFamily="34" charset="-122"/>
              </a:rPr>
              <a:t>&lt;script&gt;</a:t>
            </a:r>
            <a:r>
              <a:rPr lang="zh-CN" altLang="zh-CN" sz="2000" dirty="0">
                <a:solidFill>
                  <a:srgbClr val="595959"/>
                </a:solidFill>
                <a:latin typeface="Microsoft YaHei" panose="020B0503020204020204" pitchFamily="34" charset="-122"/>
                <a:ea typeface="Microsoft YaHei" panose="020B0503020204020204" pitchFamily="34" charset="-122"/>
              </a:rPr>
              <a:t>标签中，相比于行内式，</a:t>
            </a:r>
            <a:r>
              <a:rPr lang="zh-CN" altLang="zh-CN" sz="2000" dirty="0" smtClean="0">
                <a:solidFill>
                  <a:srgbClr val="1369B2"/>
                </a:solidFill>
                <a:latin typeface="Microsoft YaHei" panose="020B0503020204020204" pitchFamily="34" charset="-122"/>
                <a:ea typeface="Microsoft YaHei" panose="020B0503020204020204" pitchFamily="34" charset="-122"/>
              </a:rPr>
              <a:t>使用</a:t>
            </a:r>
            <a:r>
              <a:rPr lang="zh-CN" altLang="en-US" sz="2000" dirty="0" smtClean="0">
                <a:solidFill>
                  <a:srgbClr val="1369B2"/>
                </a:solidFill>
                <a:latin typeface="Microsoft YaHei" panose="020B0503020204020204" pitchFamily="34" charset="-122"/>
                <a:ea typeface="Microsoft YaHei" panose="020B0503020204020204" pitchFamily="34" charset="-122"/>
              </a:rPr>
              <a:t>内部</a:t>
            </a:r>
            <a:r>
              <a:rPr lang="zh-CN" altLang="zh-CN" sz="2000" dirty="0" smtClean="0">
                <a:solidFill>
                  <a:srgbClr val="1369B2"/>
                </a:solidFill>
                <a:latin typeface="Microsoft YaHei" panose="020B0503020204020204" pitchFamily="34" charset="-122"/>
                <a:ea typeface="Microsoft YaHei" panose="020B0503020204020204" pitchFamily="34" charset="-122"/>
              </a:rPr>
              <a:t>式</a:t>
            </a:r>
            <a:r>
              <a:rPr lang="zh-CN" altLang="zh-CN" sz="2000" dirty="0">
                <a:solidFill>
                  <a:srgbClr val="1369B2"/>
                </a:solidFill>
                <a:latin typeface="Microsoft YaHei" panose="020B0503020204020204" pitchFamily="34" charset="-122"/>
                <a:ea typeface="Microsoft YaHei" panose="020B0503020204020204" pitchFamily="34" charset="-122"/>
              </a:rPr>
              <a:t>更方便阅读代码</a:t>
            </a:r>
            <a:r>
              <a:rPr lang="zh-CN" altLang="zh-CN" sz="2000" dirty="0">
                <a:solidFill>
                  <a:srgbClr val="595959"/>
                </a:solidFill>
                <a:latin typeface="Microsoft YaHei" panose="020B0503020204020204" pitchFamily="34" charset="-122"/>
                <a:ea typeface="Microsoft YaHei" panose="020B0503020204020204" pitchFamily="34" charset="-122"/>
              </a:rPr>
              <a:t>，</a:t>
            </a:r>
            <a:r>
              <a:rPr lang="zh-CN" altLang="zh-CN" sz="2000" dirty="0" smtClean="0">
                <a:solidFill>
                  <a:srgbClr val="595959"/>
                </a:solidFill>
                <a:latin typeface="Microsoft YaHei" panose="020B0503020204020204" pitchFamily="34" charset="-122"/>
                <a:ea typeface="Microsoft YaHei" panose="020B0503020204020204" pitchFamily="34" charset="-122"/>
              </a:rPr>
              <a:t>所以</a:t>
            </a:r>
            <a:r>
              <a:rPr lang="zh-CN" altLang="en-US" sz="2000" dirty="0" smtClean="0">
                <a:solidFill>
                  <a:srgbClr val="595959"/>
                </a:solidFill>
                <a:latin typeface="Microsoft YaHei" panose="020B0503020204020204" pitchFamily="34" charset="-122"/>
                <a:ea typeface="Microsoft YaHei" panose="020B0503020204020204" pitchFamily="34" charset="-122"/>
              </a:rPr>
              <a:t>内部</a:t>
            </a:r>
            <a:r>
              <a:rPr lang="zh-CN" altLang="zh-CN" sz="2000" dirty="0" smtClean="0">
                <a:solidFill>
                  <a:srgbClr val="595959"/>
                </a:solidFill>
                <a:latin typeface="Microsoft YaHei" panose="020B0503020204020204" pitchFamily="34" charset="-122"/>
                <a:ea typeface="Microsoft YaHei" panose="020B0503020204020204" pitchFamily="34" charset="-122"/>
              </a:rPr>
              <a:t>式是</a:t>
            </a:r>
            <a:r>
              <a:rPr lang="zh-CN" altLang="en-US" sz="2000" dirty="0">
                <a:solidFill>
                  <a:srgbClr val="595959"/>
                </a:solidFill>
                <a:latin typeface="Microsoft YaHei" panose="020B0503020204020204" pitchFamily="34" charset="-122"/>
                <a:ea typeface="Microsoft YaHei" panose="020B0503020204020204" pitchFamily="34" charset="-122"/>
              </a:rPr>
              <a:t>引入</a:t>
            </a:r>
            <a:r>
              <a:rPr lang="en-US" altLang="zh-CN" sz="2000" dirty="0" smtClean="0">
                <a:solidFill>
                  <a:srgbClr val="595959"/>
                </a:solidFill>
                <a:latin typeface="Microsoft YaHei" panose="020B0503020204020204" pitchFamily="34" charset="-122"/>
                <a:ea typeface="Microsoft YaHei" panose="020B0503020204020204" pitchFamily="34" charset="-122"/>
              </a:rPr>
              <a:t>JavaScript</a:t>
            </a:r>
            <a:r>
              <a:rPr lang="zh-CN" altLang="en-US" sz="2000" dirty="0" smtClean="0">
                <a:solidFill>
                  <a:srgbClr val="595959"/>
                </a:solidFill>
                <a:latin typeface="Microsoft YaHei" panose="020B0503020204020204" pitchFamily="34" charset="-122"/>
                <a:ea typeface="Microsoft YaHei" panose="020B0503020204020204" pitchFamily="34" charset="-122"/>
              </a:rPr>
              <a:t>代码的</a:t>
            </a:r>
            <a:r>
              <a:rPr lang="zh-CN" altLang="zh-CN" sz="2000" dirty="0" smtClean="0">
                <a:solidFill>
                  <a:srgbClr val="595959"/>
                </a:solidFill>
                <a:latin typeface="Microsoft YaHei" panose="020B0503020204020204" pitchFamily="34" charset="-122"/>
                <a:ea typeface="Microsoft YaHei" panose="020B0503020204020204" pitchFamily="34" charset="-122"/>
              </a:rPr>
              <a:t>常用方式</a:t>
            </a:r>
            <a:r>
              <a:rPr lang="zh-CN" altLang="zh-CN" sz="2000" dirty="0">
                <a:solidFill>
                  <a:srgbClr val="595959"/>
                </a:solidFill>
                <a:latin typeface="Microsoft YaHei" panose="020B0503020204020204" pitchFamily="34" charset="-122"/>
                <a:ea typeface="Microsoft YaHei" panose="020B0503020204020204" pitchFamily="34" charset="-122"/>
              </a:rPr>
              <a:t>之一。</a:t>
            </a:r>
          </a:p>
        </p:txBody>
      </p:sp>
      <p:sp>
        <p:nvSpPr>
          <p:cNvPr id="9" name="Shape 2015"/>
          <p:cNvSpPr/>
          <p:nvPr/>
        </p:nvSpPr>
        <p:spPr>
          <a:xfrm>
            <a:off x="4727054" y="2061642"/>
            <a:ext cx="6624736" cy="2376264"/>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7"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1749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8902" y="2031693"/>
            <a:ext cx="6887815" cy="1477328"/>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另外</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&lt;script&gt;</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有一个</a:t>
            </a:r>
            <a:r>
              <a:rPr lang="en-US" altLang="zh-CN" sz="2000" dirty="0">
                <a:solidFill>
                  <a:srgbClr val="1369B2"/>
                </a:solidFill>
                <a:latin typeface="微软雅黑" panose="020B0503020204020204" pitchFamily="34" charset="-122"/>
                <a:ea typeface="微软雅黑" panose="020B0503020204020204" pitchFamily="34" charset="-122"/>
                <a:cs typeface="+mn-ea"/>
              </a:rPr>
              <a:t>type</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，该属性表示</a:t>
            </a:r>
            <a:r>
              <a:rPr lang="zh-CN" altLang="zh-CN" sz="2000" dirty="0">
                <a:solidFill>
                  <a:srgbClr val="1369B2"/>
                </a:solidFill>
                <a:latin typeface="微软雅黑" panose="020B0503020204020204" pitchFamily="34" charset="-122"/>
                <a:ea typeface="微软雅黑" panose="020B0503020204020204" pitchFamily="34" charset="-122"/>
                <a:cs typeface="+mn-ea"/>
              </a:rPr>
              <a:t>脚本类型</a:t>
            </a:r>
            <a:r>
              <a:rPr lang="zh-CN" altLang="zh-CN" sz="2000" dirty="0">
                <a:solidFill>
                  <a:srgbClr val="595959"/>
                </a:solidFill>
                <a:latin typeface="微软雅黑" panose="020B0503020204020204" pitchFamily="34" charset="-122"/>
                <a:ea typeface="微软雅黑" panose="020B0503020204020204" pitchFamily="34" charset="-122"/>
                <a:cs typeface="+mn-ea"/>
              </a:rPr>
              <a:t>。由于在</a:t>
            </a:r>
            <a:r>
              <a:rPr lang="en-US" altLang="zh-CN" sz="2000" dirty="0">
                <a:solidFill>
                  <a:srgbClr val="595959"/>
                </a:solidFill>
                <a:latin typeface="微软雅黑" panose="020B0503020204020204" pitchFamily="34" charset="-122"/>
                <a:ea typeface="微软雅黑" panose="020B0503020204020204" pitchFamily="34" charset="-122"/>
                <a:cs typeface="+mn-ea"/>
              </a:rPr>
              <a:t>HTML5</a:t>
            </a:r>
            <a:r>
              <a:rPr lang="zh-CN" altLang="zh-CN" sz="2000" dirty="0">
                <a:solidFill>
                  <a:srgbClr val="595959"/>
                </a:solidFill>
                <a:latin typeface="微软雅黑" panose="020B0503020204020204" pitchFamily="34" charset="-122"/>
                <a:ea typeface="微软雅黑" panose="020B0503020204020204" pitchFamily="34" charset="-122"/>
                <a:cs typeface="+mn-ea"/>
              </a:rPr>
              <a:t>中</a:t>
            </a:r>
            <a:r>
              <a:rPr lang="en-US" altLang="zh-CN" sz="2000" dirty="0">
                <a:solidFill>
                  <a:srgbClr val="595959"/>
                </a:solidFill>
                <a:latin typeface="微软雅黑" panose="020B0503020204020204" pitchFamily="34" charset="-122"/>
                <a:ea typeface="微软雅黑" panose="020B0503020204020204" pitchFamily="34" charset="-122"/>
                <a:cs typeface="+mn-ea"/>
              </a:rPr>
              <a:t>type</a:t>
            </a:r>
            <a:r>
              <a:rPr lang="zh-CN" altLang="zh-CN" sz="2000" dirty="0">
                <a:solidFill>
                  <a:srgbClr val="595959"/>
                </a:solidFill>
                <a:latin typeface="微软雅黑" panose="020B0503020204020204" pitchFamily="34" charset="-122"/>
                <a:ea typeface="微软雅黑" panose="020B0503020204020204" pitchFamily="34" charset="-122"/>
                <a:cs typeface="+mn-ea"/>
              </a:rPr>
              <a:t>属性的默认值为</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text/</a:t>
            </a:r>
            <a:r>
              <a:rPr lang="en-US" altLang="zh-CN" sz="2000" dirty="0" err="1" smtClean="0">
                <a:solidFill>
                  <a:srgbClr val="1369B2"/>
                </a:solidFill>
                <a:latin typeface="微软雅黑" panose="020B0503020204020204" pitchFamily="34" charset="-122"/>
                <a:ea typeface="微软雅黑" panose="020B0503020204020204" pitchFamily="34" charset="-122"/>
                <a:cs typeface="+mn-ea"/>
              </a:rPr>
              <a:t>javascript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所以在使用</a:t>
            </a:r>
            <a:r>
              <a:rPr lang="en-US" altLang="zh-CN" sz="2000" dirty="0">
                <a:solidFill>
                  <a:srgbClr val="1369B2"/>
                </a:solidFill>
                <a:latin typeface="微软雅黑" panose="020B0503020204020204" pitchFamily="34" charset="-122"/>
                <a:ea typeface="微软雅黑" panose="020B0503020204020204" pitchFamily="34" charset="-122"/>
                <a:cs typeface="+mn-ea"/>
              </a:rPr>
              <a:t>HTML5</a:t>
            </a:r>
            <a:r>
              <a:rPr lang="zh-CN" altLang="zh-CN" sz="2000" dirty="0">
                <a:solidFill>
                  <a:srgbClr val="595959"/>
                </a:solidFill>
                <a:latin typeface="微软雅黑" panose="020B0503020204020204" pitchFamily="34" charset="-122"/>
                <a:ea typeface="微软雅黑" panose="020B0503020204020204" pitchFamily="34" charset="-122"/>
                <a:cs typeface="+mn-ea"/>
              </a:rPr>
              <a:t>时可以</a:t>
            </a:r>
            <a:r>
              <a:rPr lang="zh-CN" altLang="zh-CN" sz="2000" dirty="0">
                <a:solidFill>
                  <a:srgbClr val="1369B2"/>
                </a:solidFill>
                <a:latin typeface="微软雅黑" panose="020B0503020204020204" pitchFamily="34" charset="-122"/>
                <a:ea typeface="微软雅黑" panose="020B0503020204020204" pitchFamily="34" charset="-122"/>
                <a:cs typeface="+mn-ea"/>
              </a:rPr>
              <a:t>省略</a:t>
            </a:r>
            <a:r>
              <a:rPr lang="en-US" altLang="zh-CN" sz="2000" dirty="0">
                <a:solidFill>
                  <a:srgbClr val="1369B2"/>
                </a:solidFill>
                <a:latin typeface="微软雅黑" panose="020B0503020204020204" pitchFamily="34" charset="-122"/>
                <a:ea typeface="微软雅黑" panose="020B0503020204020204" pitchFamily="34" charset="-122"/>
                <a:cs typeface="+mn-ea"/>
              </a:rPr>
              <a:t>type</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2"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3" name="Shape 2015"/>
          <p:cNvSpPr/>
          <p:nvPr/>
        </p:nvSpPr>
        <p:spPr>
          <a:xfrm>
            <a:off x="1016000" y="1750881"/>
            <a:ext cx="7233620" cy="203895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753528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43690" y="1701602"/>
            <a:ext cx="10280108" cy="1477328"/>
          </a:xfrm>
          <a:prstGeom prst="rect">
            <a:avLst/>
          </a:prstGeom>
          <a:noFill/>
        </p:spPr>
        <p:txBody>
          <a:bodyPr wrap="square">
            <a:spAutoFit/>
          </a:bodyPr>
          <a:lstStyle/>
          <a:p>
            <a:pPr>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外</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式将</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代码单独写在一个文件</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中</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一般使用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js</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作为该文件的扩展名</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然后在</a:t>
            </a:r>
            <a:r>
              <a:rPr lang="en-US" altLang="zh-CN" sz="2000" dirty="0">
                <a:solidFill>
                  <a:srgbClr val="595959"/>
                </a:solidFill>
                <a:latin typeface="微软雅黑" panose="020B0503020204020204" pitchFamily="34" charset="-122"/>
                <a:ea typeface="微软雅黑" panose="020B0503020204020204" pitchFamily="34" charset="-122"/>
                <a:cs typeface="+mn-ea"/>
              </a:rPr>
              <a:t>HTML</a:t>
            </a:r>
            <a:r>
              <a:rPr lang="zh-CN" altLang="zh-CN" sz="2000" dirty="0">
                <a:solidFill>
                  <a:srgbClr val="595959"/>
                </a:solidFill>
                <a:latin typeface="微软雅黑" panose="020B0503020204020204" pitchFamily="34" charset="-122"/>
                <a:ea typeface="微软雅黑" panose="020B0503020204020204" pitchFamily="34" charset="-122"/>
                <a:cs typeface="+mn-ea"/>
              </a:rPr>
              <a:t>中通过</a:t>
            </a:r>
            <a:r>
              <a:rPr lang="en-US" altLang="zh-CN" sz="2000" dirty="0">
                <a:solidFill>
                  <a:srgbClr val="1369B2"/>
                </a:solidFill>
                <a:latin typeface="微软雅黑" panose="020B0503020204020204" pitchFamily="34" charset="-122"/>
                <a:ea typeface="微软雅黑" panose="020B0503020204020204" pitchFamily="34" charset="-122"/>
                <a:cs typeface="+mn-ea"/>
              </a:rPr>
              <a:t>&lt;script&gt;</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引入该文件。</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外</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适合在</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代码量较多的情况</a:t>
            </a:r>
            <a:r>
              <a:rPr lang="zh-CN" altLang="zh-CN" sz="2000" dirty="0">
                <a:solidFill>
                  <a:srgbClr val="595959"/>
                </a:solidFill>
                <a:latin typeface="微软雅黑" panose="020B0503020204020204" pitchFamily="34" charset="-122"/>
                <a:ea typeface="微软雅黑" panose="020B0503020204020204" pitchFamily="34" charset="-122"/>
                <a:cs typeface="+mn-ea"/>
              </a:rPr>
              <a:t>下使用。例如，创建一个</a:t>
            </a:r>
            <a:r>
              <a:rPr lang="en-US" altLang="zh-CN" sz="2000" dirty="0">
                <a:solidFill>
                  <a:srgbClr val="595959"/>
                </a:solidFill>
                <a:latin typeface="微软雅黑" panose="020B0503020204020204" pitchFamily="34" charset="-122"/>
                <a:ea typeface="微软雅黑" panose="020B0503020204020204" pitchFamily="34" charset="-122"/>
                <a:cs typeface="+mn-ea"/>
              </a:rPr>
              <a:t>test.js</a:t>
            </a:r>
            <a:r>
              <a:rPr lang="zh-CN" altLang="zh-CN" sz="2000" dirty="0">
                <a:solidFill>
                  <a:srgbClr val="595959"/>
                </a:solidFill>
                <a:latin typeface="微软雅黑" panose="020B0503020204020204" pitchFamily="34" charset="-122"/>
                <a:ea typeface="微软雅黑" panose="020B0503020204020204" pitchFamily="34" charset="-122"/>
                <a:cs typeface="+mn-ea"/>
              </a:rPr>
              <a:t>文件，在该文件中编写如下代码。</a:t>
            </a:r>
          </a:p>
        </p:txBody>
      </p:sp>
      <p:sp>
        <p:nvSpPr>
          <p:cNvPr id="7" name="矩形 6"/>
          <p:cNvSpPr/>
          <p:nvPr/>
        </p:nvSpPr>
        <p:spPr>
          <a:xfrm>
            <a:off x="1143691" y="1115504"/>
            <a:ext cx="156714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3. </a:t>
            </a:r>
            <a:r>
              <a:rPr lang="zh-CN" altLang="en-US" sz="2000" dirty="0" smtClean="0">
                <a:solidFill>
                  <a:srgbClr val="FFFFFF"/>
                </a:solidFill>
                <a:latin typeface="微软雅黑" panose="020B0503020204020204" pitchFamily="34" charset="-122"/>
                <a:ea typeface="微软雅黑" panose="020B0503020204020204" pitchFamily="34" charset="-122"/>
              </a:rPr>
              <a:t>外部式</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926649" y="3213770"/>
            <a:ext cx="8433600" cy="553998"/>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alert('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通过外</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引入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代码</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26654" y="3782529"/>
            <a:ext cx="10301844" cy="553998"/>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HTML</a:t>
            </a:r>
            <a:r>
              <a:rPr lang="zh-CN" altLang="zh-CN" sz="2000" dirty="0">
                <a:solidFill>
                  <a:srgbClr val="595959"/>
                </a:solidFill>
                <a:latin typeface="微软雅黑" panose="020B0503020204020204" pitchFamily="34" charset="-122"/>
                <a:ea typeface="微软雅黑" panose="020B0503020204020204" pitchFamily="34" charset="-122"/>
                <a:cs typeface="+mn-ea"/>
              </a:rPr>
              <a:t>文件中</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外</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部</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式</a:t>
            </a:r>
            <a:r>
              <a:rPr lang="zh-CN" altLang="zh-CN" sz="2000" dirty="0">
                <a:solidFill>
                  <a:srgbClr val="1369B2"/>
                </a:solidFill>
                <a:latin typeface="微软雅黑" panose="020B0503020204020204" pitchFamily="34" charset="-122"/>
                <a:ea typeface="微软雅黑" panose="020B0503020204020204" pitchFamily="34" charset="-122"/>
                <a:cs typeface="+mn-ea"/>
              </a:rPr>
              <a:t>引入</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8" name="文本框 7">
            <a:extLst>
              <a:ext uri="{FF2B5EF4-FFF2-40B4-BE49-F238E27FC236}">
                <a16:creationId xmlns:a16="http://schemas.microsoft.com/office/drawing/2014/main" id="{2BD7E020-D0A4-47DE-BE0C-F3967B274E91}"/>
              </a:ext>
            </a:extLst>
          </p:cNvPr>
          <p:cNvSpPr txBox="1"/>
          <p:nvPr/>
        </p:nvSpPr>
        <p:spPr>
          <a:xfrm>
            <a:off x="1926649" y="4393418"/>
            <a:ext cx="8433600" cy="1422954"/>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&lt;</a:t>
            </a:r>
            <a:r>
              <a:rPr lang="en-US" altLang="zh-CN" sz="2000">
                <a:solidFill>
                  <a:srgbClr val="595959"/>
                </a:solidFill>
                <a:latin typeface="微软雅黑" panose="020B0503020204020204" pitchFamily="34" charset="-122"/>
                <a:ea typeface="微软雅黑" panose="020B0503020204020204" pitchFamily="34" charset="-122"/>
                <a:cs typeface="+mn-ea"/>
              </a:rPr>
              <a:t>body&gt;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&lt;script src="test.js"&gt;&lt;/script&gt;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&lt;/body&gt;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126654" y="5803563"/>
            <a:ext cx="8887157" cy="553998"/>
          </a:xfrm>
          <a:prstGeom prst="rect">
            <a:avLst/>
          </a:prstGeom>
        </p:spPr>
        <p:txBody>
          <a:bodyPr wrap="square">
            <a:spAutoFit/>
          </a:bodyPr>
          <a:lstStyle/>
          <a:p>
            <a:pPr algn="just">
              <a:lnSpc>
                <a:spcPct val="150000"/>
              </a:lnSpc>
              <a:spcAft>
                <a:spcPts val="0"/>
              </a:spcAft>
            </a:pPr>
            <a:r>
              <a:rPr lang="zh-CN" altLang="zh-CN" sz="2000" dirty="0">
                <a:solidFill>
                  <a:srgbClr val="FF0000"/>
                </a:solidFill>
                <a:latin typeface="微软雅黑" panose="020B0503020204020204" pitchFamily="34" charset="-122"/>
                <a:ea typeface="微软雅黑" panose="020B0503020204020204" pitchFamily="34" charset="-122"/>
                <a:cs typeface="+mn-ea"/>
              </a:rPr>
              <a:t>需要注意的是，在使用</a:t>
            </a:r>
            <a:r>
              <a:rPr lang="zh-CN" altLang="zh-CN" sz="2000" dirty="0" smtClean="0">
                <a:solidFill>
                  <a:srgbClr val="FF0000"/>
                </a:solidFill>
                <a:latin typeface="微软雅黑" panose="020B0503020204020204" pitchFamily="34" charset="-122"/>
                <a:ea typeface="微软雅黑" panose="020B0503020204020204" pitchFamily="34" charset="-122"/>
                <a:cs typeface="+mn-ea"/>
              </a:rPr>
              <a:t>外</a:t>
            </a:r>
            <a:r>
              <a:rPr lang="zh-CN" altLang="en-US" sz="2000" dirty="0" smtClean="0">
                <a:solidFill>
                  <a:srgbClr val="FF0000"/>
                </a:solidFill>
                <a:latin typeface="微软雅黑" panose="020B0503020204020204" pitchFamily="34" charset="-122"/>
                <a:ea typeface="微软雅黑" panose="020B0503020204020204" pitchFamily="34" charset="-122"/>
                <a:cs typeface="+mn-ea"/>
              </a:rPr>
              <a:t>部</a:t>
            </a:r>
            <a:r>
              <a:rPr lang="zh-CN" altLang="zh-CN" sz="2000" dirty="0" smtClean="0">
                <a:solidFill>
                  <a:srgbClr val="FF0000"/>
                </a:solidFill>
                <a:latin typeface="微软雅黑" panose="020B0503020204020204" pitchFamily="34" charset="-122"/>
                <a:ea typeface="微软雅黑" panose="020B0503020204020204" pitchFamily="34" charset="-122"/>
                <a:cs typeface="+mn-ea"/>
              </a:rPr>
              <a:t>式</a:t>
            </a:r>
            <a:r>
              <a:rPr lang="zh-CN" altLang="zh-CN" sz="2000" dirty="0">
                <a:solidFill>
                  <a:srgbClr val="FF0000"/>
                </a:solidFill>
                <a:latin typeface="微软雅黑" panose="020B0503020204020204" pitchFamily="34" charset="-122"/>
                <a:ea typeface="微软雅黑" panose="020B0503020204020204" pitchFamily="34" charset="-122"/>
                <a:cs typeface="+mn-ea"/>
              </a:rPr>
              <a:t>时，</a:t>
            </a:r>
            <a:r>
              <a:rPr lang="en-US" altLang="zh-CN" sz="2000" dirty="0">
                <a:solidFill>
                  <a:srgbClr val="FF0000"/>
                </a:solidFill>
                <a:latin typeface="微软雅黑" panose="020B0503020204020204" pitchFamily="34" charset="-122"/>
                <a:ea typeface="微软雅黑" panose="020B0503020204020204" pitchFamily="34" charset="-122"/>
                <a:cs typeface="+mn-ea"/>
              </a:rPr>
              <a:t>&lt;script&gt;</a:t>
            </a:r>
            <a:r>
              <a:rPr lang="zh-CN" altLang="zh-CN" sz="2000" dirty="0">
                <a:solidFill>
                  <a:srgbClr val="FF0000"/>
                </a:solidFill>
                <a:latin typeface="微软雅黑" panose="020B0503020204020204" pitchFamily="34" charset="-122"/>
                <a:ea typeface="微软雅黑" panose="020B0503020204020204" pitchFamily="34" charset="-122"/>
                <a:cs typeface="+mn-ea"/>
              </a:rPr>
              <a:t>标签内不可以编写</a:t>
            </a:r>
            <a:r>
              <a:rPr lang="en-US" altLang="zh-CN" sz="2000" dirty="0">
                <a:solidFill>
                  <a:srgbClr val="FF0000"/>
                </a:solidFill>
                <a:latin typeface="微软雅黑" panose="020B0503020204020204" pitchFamily="34" charset="-122"/>
                <a:ea typeface="微软雅黑" panose="020B0503020204020204" pitchFamily="34" charset="-122"/>
                <a:cs typeface="+mn-ea"/>
              </a:rPr>
              <a:t>JavaScript</a:t>
            </a:r>
            <a:r>
              <a:rPr lang="zh-CN" altLang="zh-CN" sz="2000" dirty="0">
                <a:solidFill>
                  <a:srgbClr val="FF0000"/>
                </a:solidFill>
                <a:latin typeface="微软雅黑" panose="020B0503020204020204" pitchFamily="34" charset="-122"/>
                <a:ea typeface="微软雅黑" panose="020B0503020204020204" pitchFamily="34" charset="-122"/>
                <a:cs typeface="+mn-ea"/>
              </a:rPr>
              <a:t>代码。</a:t>
            </a:r>
          </a:p>
        </p:txBody>
      </p:sp>
    </p:spTree>
    <p:extLst>
      <p:ext uri="{BB962C8B-B14F-4D97-AF65-F5344CB8AC3E}">
        <p14:creationId xmlns:p14="http://schemas.microsoft.com/office/powerpoint/2010/main" val="1098947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91887" y="2301473"/>
            <a:ext cx="6495070" cy="2400657"/>
          </a:xfrm>
          <a:prstGeom prst="rect">
            <a:avLst/>
          </a:prstGeom>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以上</a:t>
            </a:r>
            <a:r>
              <a:rPr lang="zh-CN" altLang="zh-CN" sz="2000" dirty="0">
                <a:solidFill>
                  <a:srgbClr val="595959"/>
                </a:solidFill>
                <a:latin typeface="Microsoft YaHei" panose="020B0503020204020204" pitchFamily="34" charset="-122"/>
                <a:ea typeface="Microsoft YaHei" panose="020B0503020204020204" pitchFamily="34" charset="-122"/>
              </a:rPr>
              <a:t>分别介绍了引入</a:t>
            </a:r>
            <a:r>
              <a:rPr lang="en-US" altLang="zh-CN" sz="2000" dirty="0">
                <a:solidFill>
                  <a:srgbClr val="595959"/>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代码的</a:t>
            </a:r>
            <a:r>
              <a:rPr lang="en-US" altLang="zh-CN" sz="2000" dirty="0">
                <a:solidFill>
                  <a:srgbClr val="595959"/>
                </a:solidFill>
                <a:latin typeface="Microsoft YaHei" panose="020B0503020204020204" pitchFamily="34" charset="-122"/>
                <a:ea typeface="Microsoft YaHei" panose="020B0503020204020204" pitchFamily="34" charset="-122"/>
              </a:rPr>
              <a:t>3</a:t>
            </a:r>
            <a:r>
              <a:rPr lang="zh-CN" altLang="zh-CN" sz="2000" dirty="0">
                <a:solidFill>
                  <a:srgbClr val="595959"/>
                </a:solidFill>
                <a:latin typeface="Microsoft YaHei" panose="020B0503020204020204" pitchFamily="34" charset="-122"/>
                <a:ea typeface="Microsoft YaHei" panose="020B0503020204020204" pitchFamily="34" charset="-122"/>
              </a:rPr>
              <a:t>种方式。在实际开发中，提倡</a:t>
            </a:r>
            <a:r>
              <a:rPr lang="zh-CN" altLang="zh-CN" sz="2000" dirty="0">
                <a:solidFill>
                  <a:srgbClr val="1369B2"/>
                </a:solidFill>
                <a:latin typeface="Microsoft YaHei" panose="020B0503020204020204" pitchFamily="34" charset="-122"/>
                <a:ea typeface="Microsoft YaHei" panose="020B0503020204020204" pitchFamily="34" charset="-122"/>
              </a:rPr>
              <a:t>结构</a:t>
            </a:r>
            <a:r>
              <a:rPr lang="zh-CN" altLang="zh-CN" sz="2000" dirty="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1369B2"/>
                </a:solidFill>
                <a:latin typeface="Microsoft YaHei" panose="020B0503020204020204" pitchFamily="34" charset="-122"/>
                <a:ea typeface="Microsoft YaHei" panose="020B0503020204020204" pitchFamily="34" charset="-122"/>
              </a:rPr>
              <a:t>样式</a:t>
            </a:r>
            <a:r>
              <a:rPr lang="zh-CN" altLang="zh-CN" sz="2000" dirty="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1369B2"/>
                </a:solidFill>
                <a:latin typeface="Microsoft YaHei" panose="020B0503020204020204" pitchFamily="34" charset="-122"/>
                <a:ea typeface="Microsoft YaHei" panose="020B0503020204020204" pitchFamily="34" charset="-122"/>
              </a:rPr>
              <a:t>行为</a:t>
            </a:r>
            <a:r>
              <a:rPr lang="zh-CN" altLang="zh-CN" sz="2000" dirty="0">
                <a:solidFill>
                  <a:srgbClr val="595959"/>
                </a:solidFill>
                <a:latin typeface="Microsoft YaHei" panose="020B0503020204020204" pitchFamily="34" charset="-122"/>
                <a:ea typeface="Microsoft YaHei" panose="020B0503020204020204" pitchFamily="34" charset="-122"/>
              </a:rPr>
              <a:t>的分离，即</a:t>
            </a:r>
            <a:r>
              <a:rPr lang="zh-CN" altLang="zh-CN" sz="2000" dirty="0">
                <a:solidFill>
                  <a:srgbClr val="1369B2"/>
                </a:solidFill>
                <a:latin typeface="Microsoft YaHei" panose="020B0503020204020204" pitchFamily="34" charset="-122"/>
                <a:ea typeface="Microsoft YaHei" panose="020B0503020204020204" pitchFamily="34" charset="-122"/>
              </a:rPr>
              <a:t>分离</a:t>
            </a:r>
            <a:r>
              <a:rPr lang="en-US" altLang="zh-CN" sz="2000" dirty="0">
                <a:solidFill>
                  <a:srgbClr val="1369B2"/>
                </a:solidFill>
                <a:latin typeface="Microsoft YaHei" panose="020B0503020204020204" pitchFamily="34" charset="-122"/>
                <a:ea typeface="Microsoft YaHei" panose="020B0503020204020204" pitchFamily="34" charset="-122"/>
              </a:rPr>
              <a:t>HTML</a:t>
            </a:r>
            <a:r>
              <a:rPr lang="zh-CN" altLang="zh-CN" sz="2000" dirty="0">
                <a:solidFill>
                  <a:srgbClr val="595959"/>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CSS</a:t>
            </a:r>
            <a:r>
              <a:rPr lang="zh-CN" altLang="zh-CN" sz="2000" dirty="0">
                <a:solidFill>
                  <a:srgbClr val="595959"/>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这</a:t>
            </a:r>
            <a:r>
              <a:rPr lang="en-US" altLang="zh-CN" sz="2000" dirty="0">
                <a:solidFill>
                  <a:srgbClr val="595959"/>
                </a:solidFill>
                <a:latin typeface="Microsoft YaHei" panose="020B0503020204020204" pitchFamily="34" charset="-122"/>
                <a:ea typeface="Microsoft YaHei" panose="020B0503020204020204" pitchFamily="34" charset="-122"/>
              </a:rPr>
              <a:t>3</a:t>
            </a:r>
            <a:r>
              <a:rPr lang="zh-CN" altLang="zh-CN" sz="2000" dirty="0">
                <a:solidFill>
                  <a:srgbClr val="595959"/>
                </a:solidFill>
                <a:latin typeface="Microsoft YaHei" panose="020B0503020204020204" pitchFamily="34" charset="-122"/>
                <a:ea typeface="Microsoft YaHei" panose="020B0503020204020204" pitchFamily="34" charset="-122"/>
              </a:rPr>
              <a:t>部分代码，这样可以提高代码的</a:t>
            </a:r>
            <a:r>
              <a:rPr lang="zh-CN" altLang="zh-CN" sz="2000" dirty="0">
                <a:solidFill>
                  <a:srgbClr val="1369B2"/>
                </a:solidFill>
                <a:latin typeface="Microsoft YaHei" panose="020B0503020204020204" pitchFamily="34" charset="-122"/>
                <a:ea typeface="Microsoft YaHei" panose="020B0503020204020204" pitchFamily="34" charset="-122"/>
              </a:rPr>
              <a:t>可读性</a:t>
            </a:r>
            <a:r>
              <a:rPr lang="zh-CN" altLang="zh-CN" sz="2000" dirty="0">
                <a:solidFill>
                  <a:srgbClr val="595959"/>
                </a:solidFill>
                <a:latin typeface="Microsoft YaHei" panose="020B0503020204020204" pitchFamily="34" charset="-122"/>
                <a:ea typeface="Microsoft YaHei" panose="020B0503020204020204" pitchFamily="34" charset="-122"/>
              </a:rPr>
              <a:t>和</a:t>
            </a:r>
            <a:r>
              <a:rPr lang="zh-CN" altLang="zh-CN" sz="2000" dirty="0">
                <a:solidFill>
                  <a:srgbClr val="1369B2"/>
                </a:solidFill>
                <a:latin typeface="Microsoft YaHei" panose="020B0503020204020204" pitchFamily="34" charset="-122"/>
                <a:ea typeface="Microsoft YaHei" panose="020B0503020204020204" pitchFamily="34" charset="-122"/>
              </a:rPr>
              <a:t>可维护性</a:t>
            </a:r>
            <a:r>
              <a:rPr lang="zh-CN" altLang="zh-CN" sz="2000" dirty="0">
                <a:solidFill>
                  <a:srgbClr val="595959"/>
                </a:solidFill>
                <a:latin typeface="Microsoft YaHei" panose="020B0503020204020204" pitchFamily="34" charset="-122"/>
                <a:ea typeface="Microsoft YaHei" panose="020B0503020204020204" pitchFamily="34" charset="-122"/>
              </a:rPr>
              <a:t>。当需要编写</a:t>
            </a:r>
            <a:r>
              <a:rPr lang="zh-CN" altLang="zh-CN" sz="2000" dirty="0">
                <a:solidFill>
                  <a:srgbClr val="1369B2"/>
                </a:solidFill>
                <a:latin typeface="Microsoft YaHei" panose="020B0503020204020204" pitchFamily="34" charset="-122"/>
                <a:ea typeface="Microsoft YaHei" panose="020B0503020204020204" pitchFamily="34" charset="-122"/>
              </a:rPr>
              <a:t>大量</a:t>
            </a:r>
            <a:r>
              <a:rPr lang="zh-CN" altLang="zh-CN" sz="2000" dirty="0">
                <a:solidFill>
                  <a:srgbClr val="595959"/>
                </a:solidFill>
                <a:latin typeface="Microsoft YaHei" panose="020B0503020204020204" pitchFamily="34" charset="-122"/>
                <a:ea typeface="Microsoft YaHei" panose="020B0503020204020204" pitchFamily="34" charset="-122"/>
              </a:rPr>
              <a:t>的、</a:t>
            </a:r>
            <a:r>
              <a:rPr lang="zh-CN" altLang="zh-CN" sz="2000" dirty="0">
                <a:solidFill>
                  <a:srgbClr val="1369B2"/>
                </a:solidFill>
                <a:latin typeface="Microsoft YaHei" panose="020B0503020204020204" pitchFamily="34" charset="-122"/>
                <a:ea typeface="Microsoft YaHei" panose="020B0503020204020204" pitchFamily="34" charset="-122"/>
              </a:rPr>
              <a:t>逻辑复杂</a:t>
            </a:r>
            <a:r>
              <a:rPr lang="zh-CN" altLang="zh-CN" sz="2000" dirty="0">
                <a:solidFill>
                  <a:srgbClr val="595959"/>
                </a:solidFill>
                <a:latin typeface="Microsoft YaHei" panose="020B0503020204020204" pitchFamily="34" charset="-122"/>
                <a:ea typeface="Microsoft YaHei" panose="020B0503020204020204" pitchFamily="34" charset="-122"/>
              </a:rPr>
              <a:t>的、</a:t>
            </a:r>
            <a:r>
              <a:rPr lang="zh-CN" altLang="zh-CN" sz="2000" dirty="0">
                <a:solidFill>
                  <a:srgbClr val="1369B2"/>
                </a:solidFill>
                <a:latin typeface="Microsoft YaHei" panose="020B0503020204020204" pitchFamily="34" charset="-122"/>
                <a:ea typeface="Microsoft YaHei" panose="020B0503020204020204" pitchFamily="34" charset="-122"/>
              </a:rPr>
              <a:t>具有特定功能</a:t>
            </a:r>
            <a:r>
              <a:rPr lang="zh-CN" altLang="zh-CN" sz="2000" dirty="0">
                <a:solidFill>
                  <a:srgbClr val="595959"/>
                </a:solidFill>
                <a:latin typeface="Microsoft YaHei" panose="020B0503020204020204" pitchFamily="34" charset="-122"/>
                <a:ea typeface="Microsoft YaHei" panose="020B0503020204020204" pitchFamily="34" charset="-122"/>
              </a:rPr>
              <a:t>的</a:t>
            </a:r>
            <a:r>
              <a:rPr lang="en-US" altLang="zh-CN" sz="2000" dirty="0">
                <a:solidFill>
                  <a:srgbClr val="595959"/>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代码时，</a:t>
            </a:r>
            <a:r>
              <a:rPr lang="zh-CN" altLang="zh-CN" sz="2000" dirty="0">
                <a:solidFill>
                  <a:srgbClr val="1369B2"/>
                </a:solidFill>
                <a:latin typeface="Microsoft YaHei" panose="020B0503020204020204" pitchFamily="34" charset="-122"/>
                <a:ea typeface="Microsoft YaHei" panose="020B0503020204020204" pitchFamily="34" charset="-122"/>
              </a:rPr>
              <a:t>推荐使用</a:t>
            </a:r>
            <a:r>
              <a:rPr lang="zh-CN" altLang="zh-CN" sz="2000" dirty="0" smtClean="0">
                <a:solidFill>
                  <a:srgbClr val="1369B2"/>
                </a:solidFill>
                <a:latin typeface="Microsoft YaHei" panose="020B0503020204020204" pitchFamily="34" charset="-122"/>
                <a:ea typeface="Microsoft YaHei" panose="020B0503020204020204" pitchFamily="34" charset="-122"/>
              </a:rPr>
              <a:t>外</a:t>
            </a:r>
            <a:r>
              <a:rPr lang="zh-CN" altLang="en-US" sz="2000" dirty="0" smtClean="0">
                <a:solidFill>
                  <a:srgbClr val="1369B2"/>
                </a:solidFill>
                <a:latin typeface="Microsoft YaHei" panose="020B0503020204020204" pitchFamily="34" charset="-122"/>
                <a:ea typeface="Microsoft YaHei" panose="020B0503020204020204" pitchFamily="34" charset="-122"/>
              </a:rPr>
              <a:t>部</a:t>
            </a:r>
            <a:r>
              <a:rPr lang="zh-CN" altLang="zh-CN" sz="2000" dirty="0" smtClean="0">
                <a:solidFill>
                  <a:srgbClr val="1369B2"/>
                </a:solidFill>
                <a:latin typeface="Microsoft YaHei" panose="020B0503020204020204" pitchFamily="34" charset="-122"/>
                <a:ea typeface="Microsoft YaHei" panose="020B0503020204020204" pitchFamily="34" charset="-122"/>
              </a:rPr>
              <a:t>式</a:t>
            </a:r>
            <a:r>
              <a:rPr lang="zh-CN" altLang="zh-CN" sz="2000" dirty="0">
                <a:solidFill>
                  <a:srgbClr val="595959"/>
                </a:solidFill>
                <a:latin typeface="Microsoft YaHei" panose="020B0503020204020204" pitchFamily="34" charset="-122"/>
                <a:ea typeface="Microsoft YaHei" panose="020B0503020204020204" pitchFamily="34" charset="-122"/>
              </a:rPr>
              <a:t>。</a:t>
            </a:r>
          </a:p>
        </p:txBody>
      </p:sp>
      <p:sp>
        <p:nvSpPr>
          <p:cNvPr id="9" name="Shape 2015"/>
          <p:cNvSpPr/>
          <p:nvPr/>
        </p:nvSpPr>
        <p:spPr>
          <a:xfrm>
            <a:off x="4727054" y="2061642"/>
            <a:ext cx="6624736" cy="288032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7"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16976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bwMode="auto">
          <a:xfrm>
            <a:off x="910630" y="3402011"/>
            <a:ext cx="1463675" cy="1465262"/>
          </a:xfrm>
          <a:custGeom>
            <a:avLst/>
            <a:gdLst>
              <a:gd name="T0" fmla="*/ 1098181 w 861"/>
              <a:gd name="T1" fmla="*/ 731780 h 861"/>
              <a:gd name="T2" fmla="*/ 730988 w 861"/>
              <a:gd name="T3" fmla="*/ 1097670 h 861"/>
              <a:gd name="T4" fmla="*/ 365494 w 861"/>
              <a:gd name="T5" fmla="*/ 731780 h 861"/>
              <a:gd name="T6" fmla="*/ 730988 w 861"/>
              <a:gd name="T7" fmla="*/ 365890 h 861"/>
              <a:gd name="T8" fmla="*/ 829586 w 861"/>
              <a:gd name="T9" fmla="*/ 379505 h 861"/>
              <a:gd name="T10" fmla="*/ 710588 w 861"/>
              <a:gd name="T11" fmla="*/ 0 h 861"/>
              <a:gd name="T12" fmla="*/ 0 w 861"/>
              <a:gd name="T13" fmla="*/ 731780 h 861"/>
              <a:gd name="T14" fmla="*/ 730988 w 861"/>
              <a:gd name="T15" fmla="*/ 1465262 h 861"/>
              <a:gd name="T16" fmla="*/ 1463675 w 861"/>
              <a:gd name="T17" fmla="*/ 731780 h 861"/>
              <a:gd name="T18" fmla="*/ 1261378 w 861"/>
              <a:gd name="T19" fmla="*/ 226341 h 861"/>
              <a:gd name="T20" fmla="*/ 1002983 w 861"/>
              <a:gd name="T21" fmla="*/ 486719 h 861"/>
              <a:gd name="T22" fmla="*/ 1098181 w 861"/>
              <a:gd name="T23" fmla="*/ 73178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1" h="861">
                <a:moveTo>
                  <a:pt x="646" y="430"/>
                </a:moveTo>
                <a:cubicBezTo>
                  <a:pt x="646" y="549"/>
                  <a:pt x="549" y="645"/>
                  <a:pt x="430" y="645"/>
                </a:cubicBezTo>
                <a:cubicBezTo>
                  <a:pt x="311" y="645"/>
                  <a:pt x="215" y="549"/>
                  <a:pt x="215" y="430"/>
                </a:cubicBezTo>
                <a:cubicBezTo>
                  <a:pt x="215" y="311"/>
                  <a:pt x="311" y="215"/>
                  <a:pt x="430" y="215"/>
                </a:cubicBezTo>
                <a:cubicBezTo>
                  <a:pt x="450" y="215"/>
                  <a:pt x="470" y="218"/>
                  <a:pt x="488" y="223"/>
                </a:cubicBezTo>
                <a:cubicBezTo>
                  <a:pt x="447" y="156"/>
                  <a:pt x="422" y="80"/>
                  <a:pt x="418" y="0"/>
                </a:cubicBezTo>
                <a:cubicBezTo>
                  <a:pt x="186" y="6"/>
                  <a:pt x="0" y="196"/>
                  <a:pt x="0" y="430"/>
                </a:cubicBezTo>
                <a:cubicBezTo>
                  <a:pt x="0" y="668"/>
                  <a:pt x="192" y="861"/>
                  <a:pt x="430" y="861"/>
                </a:cubicBezTo>
                <a:cubicBezTo>
                  <a:pt x="668" y="861"/>
                  <a:pt x="861" y="668"/>
                  <a:pt x="861" y="430"/>
                </a:cubicBezTo>
                <a:cubicBezTo>
                  <a:pt x="861" y="315"/>
                  <a:pt x="816" y="211"/>
                  <a:pt x="742" y="133"/>
                </a:cubicBezTo>
                <a:cubicBezTo>
                  <a:pt x="590" y="286"/>
                  <a:pt x="590" y="286"/>
                  <a:pt x="590" y="286"/>
                </a:cubicBezTo>
                <a:cubicBezTo>
                  <a:pt x="625" y="325"/>
                  <a:pt x="646" y="375"/>
                  <a:pt x="646" y="43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9" name="Freeform 6"/>
          <p:cNvSpPr/>
          <p:nvPr/>
        </p:nvSpPr>
        <p:spPr bwMode="auto">
          <a:xfrm>
            <a:off x="1690093" y="2625723"/>
            <a:ext cx="1463675" cy="1276350"/>
          </a:xfrm>
          <a:custGeom>
            <a:avLst/>
            <a:gdLst>
              <a:gd name="T0" fmla="*/ 1256279 w 861"/>
              <a:gd name="T1" fmla="*/ 1244016 h 750"/>
              <a:gd name="T2" fmla="*/ 1256279 w 861"/>
              <a:gd name="T3" fmla="*/ 1242314 h 750"/>
              <a:gd name="T4" fmla="*/ 1463675 w 861"/>
              <a:gd name="T5" fmla="*/ 733476 h 750"/>
              <a:gd name="T6" fmla="*/ 730988 w 861"/>
              <a:gd name="T7" fmla="*/ 0 h 750"/>
              <a:gd name="T8" fmla="*/ 0 w 861"/>
              <a:gd name="T9" fmla="*/ 733476 h 750"/>
              <a:gd name="T10" fmla="*/ 203997 w 861"/>
              <a:gd name="T11" fmla="*/ 1240612 h 750"/>
              <a:gd name="T12" fmla="*/ 203997 w 861"/>
              <a:gd name="T13" fmla="*/ 1242314 h 750"/>
              <a:gd name="T14" fmla="*/ 224396 w 861"/>
              <a:gd name="T15" fmla="*/ 1262736 h 750"/>
              <a:gd name="T16" fmla="*/ 482792 w 861"/>
              <a:gd name="T17" fmla="*/ 1002360 h 750"/>
              <a:gd name="T18" fmla="*/ 472592 w 861"/>
              <a:gd name="T19" fmla="*/ 992149 h 750"/>
              <a:gd name="T20" fmla="*/ 470892 w 861"/>
              <a:gd name="T21" fmla="*/ 990448 h 750"/>
              <a:gd name="T22" fmla="*/ 365494 w 861"/>
              <a:gd name="T23" fmla="*/ 733476 h 750"/>
              <a:gd name="T24" fmla="*/ 730988 w 861"/>
              <a:gd name="T25" fmla="*/ 365887 h 750"/>
              <a:gd name="T26" fmla="*/ 1096481 w 861"/>
              <a:gd name="T27" fmla="*/ 733476 h 750"/>
              <a:gd name="T28" fmla="*/ 992783 w 861"/>
              <a:gd name="T29" fmla="*/ 988746 h 750"/>
              <a:gd name="T30" fmla="*/ 992783 w 861"/>
              <a:gd name="T31" fmla="*/ 988746 h 750"/>
              <a:gd name="T32" fmla="*/ 992783 w 861"/>
              <a:gd name="T33" fmla="*/ 988746 h 750"/>
              <a:gd name="T34" fmla="*/ 957084 w 861"/>
              <a:gd name="T35" fmla="*/ 1026185 h 750"/>
              <a:gd name="T36" fmla="*/ 1225679 w 861"/>
              <a:gd name="T37" fmla="*/ 1276350 h 750"/>
              <a:gd name="T38" fmla="*/ 1256279 w 861"/>
              <a:gd name="T39" fmla="*/ 1244016 h 7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1" h="750">
                <a:moveTo>
                  <a:pt x="739" y="731"/>
                </a:moveTo>
                <a:cubicBezTo>
                  <a:pt x="739" y="730"/>
                  <a:pt x="739" y="730"/>
                  <a:pt x="739" y="730"/>
                </a:cubicBezTo>
                <a:cubicBezTo>
                  <a:pt x="814" y="653"/>
                  <a:pt x="861" y="547"/>
                  <a:pt x="861" y="431"/>
                </a:cubicBezTo>
                <a:cubicBezTo>
                  <a:pt x="861" y="193"/>
                  <a:pt x="668" y="0"/>
                  <a:pt x="430" y="0"/>
                </a:cubicBezTo>
                <a:cubicBezTo>
                  <a:pt x="192" y="0"/>
                  <a:pt x="0" y="193"/>
                  <a:pt x="0" y="431"/>
                </a:cubicBezTo>
                <a:cubicBezTo>
                  <a:pt x="0" y="547"/>
                  <a:pt x="45" y="652"/>
                  <a:pt x="120" y="729"/>
                </a:cubicBezTo>
                <a:cubicBezTo>
                  <a:pt x="120" y="730"/>
                  <a:pt x="120" y="730"/>
                  <a:pt x="120" y="730"/>
                </a:cubicBezTo>
                <a:cubicBezTo>
                  <a:pt x="124" y="734"/>
                  <a:pt x="128" y="738"/>
                  <a:pt x="132" y="742"/>
                </a:cubicBezTo>
                <a:cubicBezTo>
                  <a:pt x="284" y="589"/>
                  <a:pt x="284" y="589"/>
                  <a:pt x="284" y="589"/>
                </a:cubicBezTo>
                <a:cubicBezTo>
                  <a:pt x="282" y="587"/>
                  <a:pt x="280" y="585"/>
                  <a:pt x="278" y="583"/>
                </a:cubicBezTo>
                <a:cubicBezTo>
                  <a:pt x="277" y="582"/>
                  <a:pt x="277" y="582"/>
                  <a:pt x="277" y="582"/>
                </a:cubicBezTo>
                <a:cubicBezTo>
                  <a:pt x="239" y="543"/>
                  <a:pt x="215" y="490"/>
                  <a:pt x="215" y="431"/>
                </a:cubicBezTo>
                <a:cubicBezTo>
                  <a:pt x="215" y="312"/>
                  <a:pt x="311" y="215"/>
                  <a:pt x="430" y="215"/>
                </a:cubicBezTo>
                <a:cubicBezTo>
                  <a:pt x="549" y="215"/>
                  <a:pt x="645" y="312"/>
                  <a:pt x="645" y="431"/>
                </a:cubicBezTo>
                <a:cubicBezTo>
                  <a:pt x="645" y="489"/>
                  <a:pt x="622" y="542"/>
                  <a:pt x="584" y="581"/>
                </a:cubicBezTo>
                <a:cubicBezTo>
                  <a:pt x="584" y="581"/>
                  <a:pt x="584" y="581"/>
                  <a:pt x="584" y="581"/>
                </a:cubicBezTo>
                <a:cubicBezTo>
                  <a:pt x="584" y="581"/>
                  <a:pt x="584" y="581"/>
                  <a:pt x="584" y="581"/>
                </a:cubicBezTo>
                <a:cubicBezTo>
                  <a:pt x="577" y="588"/>
                  <a:pt x="570" y="596"/>
                  <a:pt x="563" y="603"/>
                </a:cubicBezTo>
                <a:cubicBezTo>
                  <a:pt x="721" y="750"/>
                  <a:pt x="721" y="750"/>
                  <a:pt x="721" y="750"/>
                </a:cubicBezTo>
                <a:cubicBezTo>
                  <a:pt x="727" y="743"/>
                  <a:pt x="733" y="737"/>
                  <a:pt x="739" y="731"/>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10" name="Freeform 7"/>
          <p:cNvSpPr/>
          <p:nvPr/>
        </p:nvSpPr>
        <p:spPr bwMode="auto">
          <a:xfrm>
            <a:off x="2466380" y="3402011"/>
            <a:ext cx="1465263" cy="1465262"/>
          </a:xfrm>
          <a:custGeom>
            <a:avLst/>
            <a:gdLst>
              <a:gd name="T0" fmla="*/ 753030 w 862"/>
              <a:gd name="T1" fmla="*/ 0 h 861"/>
              <a:gd name="T2" fmla="*/ 634041 w 862"/>
              <a:gd name="T3" fmla="*/ 379505 h 861"/>
              <a:gd name="T4" fmla="*/ 732632 w 862"/>
              <a:gd name="T5" fmla="*/ 365890 h 861"/>
              <a:gd name="T6" fmla="*/ 1098097 w 862"/>
              <a:gd name="T7" fmla="*/ 731780 h 861"/>
              <a:gd name="T8" fmla="*/ 732632 w 862"/>
              <a:gd name="T9" fmla="*/ 1097670 h 861"/>
              <a:gd name="T10" fmla="*/ 367166 w 862"/>
              <a:gd name="T11" fmla="*/ 731780 h 861"/>
              <a:gd name="T12" fmla="*/ 448758 w 862"/>
              <a:gd name="T13" fmla="*/ 500333 h 861"/>
              <a:gd name="T14" fmla="*/ 180183 w 862"/>
              <a:gd name="T15" fmla="*/ 250167 h 861"/>
              <a:gd name="T16" fmla="*/ 0 w 862"/>
              <a:gd name="T17" fmla="*/ 731780 h 861"/>
              <a:gd name="T18" fmla="*/ 732632 w 862"/>
              <a:gd name="T19" fmla="*/ 1465262 h 861"/>
              <a:gd name="T20" fmla="*/ 1465263 w 862"/>
              <a:gd name="T21" fmla="*/ 731780 h 861"/>
              <a:gd name="T22" fmla="*/ 753030 w 862"/>
              <a:gd name="T23" fmla="*/ 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2" h="861">
                <a:moveTo>
                  <a:pt x="443" y="0"/>
                </a:moveTo>
                <a:cubicBezTo>
                  <a:pt x="439" y="80"/>
                  <a:pt x="415" y="156"/>
                  <a:pt x="373" y="223"/>
                </a:cubicBezTo>
                <a:cubicBezTo>
                  <a:pt x="391" y="218"/>
                  <a:pt x="411" y="215"/>
                  <a:pt x="431" y="215"/>
                </a:cubicBezTo>
                <a:cubicBezTo>
                  <a:pt x="550" y="215"/>
                  <a:pt x="646" y="311"/>
                  <a:pt x="646" y="430"/>
                </a:cubicBezTo>
                <a:cubicBezTo>
                  <a:pt x="646" y="549"/>
                  <a:pt x="550" y="645"/>
                  <a:pt x="431" y="645"/>
                </a:cubicBezTo>
                <a:cubicBezTo>
                  <a:pt x="312" y="645"/>
                  <a:pt x="216" y="549"/>
                  <a:pt x="216" y="430"/>
                </a:cubicBezTo>
                <a:cubicBezTo>
                  <a:pt x="216" y="378"/>
                  <a:pt x="234" y="331"/>
                  <a:pt x="264" y="294"/>
                </a:cubicBezTo>
                <a:cubicBezTo>
                  <a:pt x="106" y="147"/>
                  <a:pt x="106" y="147"/>
                  <a:pt x="106" y="147"/>
                </a:cubicBezTo>
                <a:cubicBezTo>
                  <a:pt x="40" y="223"/>
                  <a:pt x="0" y="322"/>
                  <a:pt x="0" y="430"/>
                </a:cubicBezTo>
                <a:cubicBezTo>
                  <a:pt x="0" y="668"/>
                  <a:pt x="193" y="861"/>
                  <a:pt x="431" y="861"/>
                </a:cubicBezTo>
                <a:cubicBezTo>
                  <a:pt x="669" y="861"/>
                  <a:pt x="862" y="668"/>
                  <a:pt x="862" y="430"/>
                </a:cubicBezTo>
                <a:cubicBezTo>
                  <a:pt x="862" y="196"/>
                  <a:pt x="675" y="6"/>
                  <a:pt x="443" y="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itchFamily="2" charset="-122"/>
              <a:cs typeface="+mn-lt"/>
            </a:endParaRPr>
          </a:p>
        </p:txBody>
      </p:sp>
      <p:sp>
        <p:nvSpPr>
          <p:cNvPr id="11" name="TextBox 175"/>
          <p:cNvSpPr txBox="1">
            <a:spLocks noChangeArrowheads="1"/>
          </p:cNvSpPr>
          <p:nvPr/>
        </p:nvSpPr>
        <p:spPr bwMode="auto">
          <a:xfrm>
            <a:off x="2172692" y="3109911"/>
            <a:ext cx="4810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dirty="0">
                <a:ln>
                  <a:noFill/>
                </a:ln>
                <a:solidFill>
                  <a:srgbClr val="014076"/>
                </a:solidFill>
                <a:effectLst/>
                <a:uLnTx/>
                <a:uFillTx/>
                <a:latin typeface="+mn-lt"/>
                <a:ea typeface="微软雅黑" panose="020B0503020204020204" pitchFamily="34" charset="-122"/>
                <a:cs typeface="+mn-lt"/>
                <a:sym typeface="Arial" panose="020B0604020202020204" pitchFamily="34" charset="0"/>
              </a:rPr>
              <a:t>01</a:t>
            </a:r>
          </a:p>
        </p:txBody>
      </p:sp>
      <p:sp>
        <p:nvSpPr>
          <p:cNvPr id="12" name="TextBox 176"/>
          <p:cNvSpPr txBox="1">
            <a:spLocks noChangeArrowheads="1"/>
          </p:cNvSpPr>
          <p:nvPr/>
        </p:nvSpPr>
        <p:spPr bwMode="auto">
          <a:xfrm>
            <a:off x="1374180" y="3902073"/>
            <a:ext cx="52387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7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02</a:t>
            </a:r>
          </a:p>
        </p:txBody>
      </p:sp>
      <p:sp>
        <p:nvSpPr>
          <p:cNvPr id="13" name="TextBox 177"/>
          <p:cNvSpPr txBox="1">
            <a:spLocks noChangeArrowheads="1"/>
          </p:cNvSpPr>
          <p:nvPr/>
        </p:nvSpPr>
        <p:spPr bwMode="auto">
          <a:xfrm>
            <a:off x="2920405" y="3902073"/>
            <a:ext cx="4810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702030404030204" pitchFamily="34" charset="0"/>
                <a:ea typeface="宋体" pitchFamily="2" charset="-122"/>
              </a:defRPr>
            </a:lvl1pPr>
            <a:lvl2pPr marL="742950" indent="-285750" defTabSz="455295">
              <a:defRPr>
                <a:solidFill>
                  <a:schemeClr val="tx1"/>
                </a:solidFill>
                <a:latin typeface="Calibri" panose="020F0702030404030204" pitchFamily="34" charset="0"/>
                <a:ea typeface="宋体" pitchFamily="2" charset="-122"/>
              </a:defRPr>
            </a:lvl2pPr>
            <a:lvl3pPr marL="1143000" indent="-228600" defTabSz="455295">
              <a:defRPr>
                <a:solidFill>
                  <a:schemeClr val="tx1"/>
                </a:solidFill>
                <a:latin typeface="Calibri" panose="020F0702030404030204" pitchFamily="34" charset="0"/>
                <a:ea typeface="宋体" pitchFamily="2" charset="-122"/>
              </a:defRPr>
            </a:lvl3pPr>
            <a:lvl4pPr marL="1600200" indent="-228600" defTabSz="455295">
              <a:defRPr>
                <a:solidFill>
                  <a:schemeClr val="tx1"/>
                </a:solidFill>
                <a:latin typeface="Calibri" panose="020F0702030404030204" pitchFamily="34" charset="0"/>
                <a:ea typeface="宋体" pitchFamily="2" charset="-122"/>
              </a:defRPr>
            </a:lvl4pPr>
            <a:lvl5pPr marL="2057400" indent="-228600" defTabSz="455295">
              <a:defRPr>
                <a:solidFill>
                  <a:schemeClr val="tx1"/>
                </a:solidFill>
                <a:latin typeface="Calibri" panose="020F0702030404030204" pitchFamily="34" charset="0"/>
                <a:ea typeface="宋体"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03</a:t>
            </a:r>
          </a:p>
        </p:txBody>
      </p:sp>
      <p:sp>
        <p:nvSpPr>
          <p:cNvPr id="14" name="Line 7"/>
          <p:cNvSpPr>
            <a:spLocks noChangeShapeType="1"/>
          </p:cNvSpPr>
          <p:nvPr/>
        </p:nvSpPr>
        <p:spPr bwMode="auto">
          <a:xfrm>
            <a:off x="4464237" y="1815668"/>
            <a:ext cx="0" cy="3744416"/>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702030404030204" pitchFamily="34" charset="0"/>
              <a:ea typeface="宋体" pitchFamily="2" charset="-122"/>
              <a:cs typeface="+mn-cs"/>
            </a:endParaRPr>
          </a:p>
        </p:txBody>
      </p:sp>
      <p:sp>
        <p:nvSpPr>
          <p:cNvPr id="15" name="AutoShape 9"/>
          <p:cNvSpPr>
            <a:spLocks noChangeArrowheads="1"/>
          </p:cNvSpPr>
          <p:nvPr/>
        </p:nvSpPr>
        <p:spPr bwMode="auto">
          <a:xfrm>
            <a:off x="4827207" y="1469894"/>
            <a:ext cx="762000" cy="1004887"/>
          </a:xfrm>
          <a:custGeom>
            <a:avLst/>
            <a:gdLst>
              <a:gd name="T0" fmla="*/ 13440833 w 21600"/>
              <a:gd name="T1" fmla="*/ 23374974 h 21600"/>
              <a:gd name="T2" fmla="*/ 13440833 w 21600"/>
              <a:gd name="T3" fmla="*/ 23374974 h 21600"/>
              <a:gd name="T4" fmla="*/ 13440833 w 21600"/>
              <a:gd name="T5" fmla="*/ 23374974 h 21600"/>
              <a:gd name="T6" fmla="*/ 13440833 w 21600"/>
              <a:gd name="T7" fmla="*/ 23374974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mn-lt"/>
                <a:sym typeface="Arial" panose="020B0604020202020204" pitchFamily="34" charset="0"/>
              </a:rPr>
              <a:t>1</a:t>
            </a:r>
          </a:p>
        </p:txBody>
      </p:sp>
      <p:sp>
        <p:nvSpPr>
          <p:cNvPr id="16" name="AutoShape 12"/>
          <p:cNvSpPr>
            <a:spLocks noChangeArrowheads="1"/>
          </p:cNvSpPr>
          <p:nvPr/>
        </p:nvSpPr>
        <p:spPr bwMode="auto">
          <a:xfrm>
            <a:off x="4843928" y="3174955"/>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s-ES" altLang="en-US" sz="6000" dirty="0">
                <a:solidFill>
                  <a:srgbClr val="0070C0"/>
                </a:solidFill>
                <a:latin typeface="Microsoft YaHei" panose="020B0503020204020204" pitchFamily="34" charset="-122"/>
                <a:ea typeface="Microsoft YaHei" panose="020B0503020204020204" pitchFamily="34" charset="-122"/>
                <a:cs typeface="+mn-lt"/>
                <a:sym typeface="Arial" panose="020B0604020202020204" pitchFamily="34" charset="0"/>
              </a:rPr>
              <a:t>2</a:t>
            </a:r>
          </a:p>
        </p:txBody>
      </p:sp>
      <p:sp>
        <p:nvSpPr>
          <p:cNvPr id="17" name="AutoShape 15"/>
          <p:cNvSpPr>
            <a:spLocks noChangeArrowheads="1"/>
          </p:cNvSpPr>
          <p:nvPr/>
        </p:nvSpPr>
        <p:spPr bwMode="auto">
          <a:xfrm>
            <a:off x="4877794" y="4871591"/>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702030404030204" pitchFamily="34" charset="0"/>
                <a:ea typeface="宋体"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mn-lt"/>
                <a:sym typeface="Arial" panose="020B0604020202020204" pitchFamily="34" charset="0"/>
              </a:rPr>
              <a:t>3</a:t>
            </a:r>
          </a:p>
        </p:txBody>
      </p:sp>
      <p:sp>
        <p:nvSpPr>
          <p:cNvPr id="18" name="TextBox 35"/>
          <p:cNvSpPr txBox="1"/>
          <p:nvPr/>
        </p:nvSpPr>
        <p:spPr>
          <a:xfrm>
            <a:off x="5643936" y="1425368"/>
            <a:ext cx="5891171" cy="1338828"/>
          </a:xfrm>
          <a:prstGeom prst="rect">
            <a:avLst/>
          </a:prstGeom>
          <a:noFill/>
        </p:spPr>
        <p:txBody>
          <a:bodyPr wrap="square" rtlCol="0">
            <a:spAutoFit/>
          </a:bodyPr>
          <a:lstStyle/>
          <a:p>
            <a:pPr defTabSz="914400">
              <a:lnSpc>
                <a:spcPct val="150000"/>
              </a:lnSpc>
              <a:defRPr/>
            </a:pP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使用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外</a:t>
            </a: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式</a:t>
            </a:r>
            <a:r>
              <a:rPr lang="en-US" altLang="zh-CN" sz="1800" dirty="0" smtClean="0">
                <a:solidFill>
                  <a:srgbClr val="1369B2"/>
                </a:solidFill>
                <a:latin typeface="Microsoft YaHei" panose="020B0503020204020204" pitchFamily="34" charset="-122"/>
                <a:ea typeface="Microsoft YaHei" panose="020B0503020204020204" pitchFamily="34" charset="-122"/>
                <a:cs typeface="+mn-lt"/>
              </a:rPr>
              <a:t>JavaScript</a:t>
            </a: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代码</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存在</a:t>
            </a:r>
            <a:r>
              <a:rPr lang="zh-CN" altLang="zh-CN" sz="1800" dirty="0">
                <a:solidFill>
                  <a:srgbClr val="595959"/>
                </a:solidFill>
                <a:latin typeface="Microsoft YaHei" panose="020B0503020204020204" pitchFamily="34" charset="-122"/>
                <a:ea typeface="Microsoft YaHei" panose="020B0503020204020204" pitchFamily="34" charset="-122"/>
                <a:cs typeface="+mn-lt"/>
              </a:rPr>
              <a:t>于</a:t>
            </a:r>
            <a:r>
              <a:rPr lang="zh-CN" altLang="zh-CN" sz="1800" dirty="0">
                <a:solidFill>
                  <a:srgbClr val="1369B2"/>
                </a:solidFill>
                <a:latin typeface="Microsoft YaHei" panose="020B0503020204020204" pitchFamily="34" charset="-122"/>
                <a:ea typeface="Microsoft YaHei" panose="020B0503020204020204" pitchFamily="34" charset="-122"/>
                <a:cs typeface="+mn-lt"/>
              </a:rPr>
              <a:t>独立文件</a:t>
            </a:r>
            <a:r>
              <a:rPr lang="zh-CN" altLang="zh-CN" sz="1800" dirty="0">
                <a:solidFill>
                  <a:srgbClr val="595959"/>
                </a:solidFill>
                <a:latin typeface="Microsoft YaHei" panose="020B0503020204020204" pitchFamily="34" charset="-122"/>
                <a:ea typeface="Microsoft YaHei" panose="020B0503020204020204" pitchFamily="34" charset="-122"/>
                <a:cs typeface="+mn-lt"/>
              </a:rPr>
              <a:t>中，有利于修改和</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维护，而</a:t>
            </a:r>
            <a:r>
              <a:rPr lang="zh-CN" altLang="en-US" sz="1800" dirty="0" smtClean="0">
                <a:solidFill>
                  <a:srgbClr val="595959"/>
                </a:solidFill>
                <a:latin typeface="Microsoft YaHei" panose="020B0503020204020204" pitchFamily="34" charset="-122"/>
                <a:ea typeface="Microsoft YaHei" panose="020B0503020204020204" pitchFamily="34" charset="-122"/>
                <a:cs typeface="+mn-lt"/>
              </a:rPr>
              <a:t>使用</a:t>
            </a: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内部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式</a:t>
            </a:r>
            <a:r>
              <a:rPr lang="zh-CN" altLang="zh-CN" sz="1800" dirty="0">
                <a:solidFill>
                  <a:srgbClr val="595959"/>
                </a:solidFill>
                <a:latin typeface="Microsoft YaHei" panose="020B0503020204020204" pitchFamily="34" charset="-122"/>
                <a:ea typeface="Microsoft YaHei" panose="020B0503020204020204" pitchFamily="34" charset="-122"/>
                <a:cs typeface="+mn-lt"/>
              </a:rPr>
              <a:t>会导致</a:t>
            </a:r>
            <a:r>
              <a:rPr lang="en-US" altLang="zh-CN" sz="1800" dirty="0">
                <a:solidFill>
                  <a:srgbClr val="1369B2"/>
                </a:solidFill>
                <a:latin typeface="Microsoft YaHei" panose="020B0503020204020204" pitchFamily="34" charset="-122"/>
                <a:ea typeface="Microsoft YaHei" panose="020B0503020204020204" pitchFamily="34" charset="-122"/>
                <a:cs typeface="+mn-lt"/>
              </a:rPr>
              <a:t>HTML</a:t>
            </a:r>
            <a:r>
              <a:rPr lang="zh-CN" altLang="zh-CN" sz="1800" dirty="0">
                <a:solidFill>
                  <a:srgbClr val="1369B2"/>
                </a:solidFill>
                <a:latin typeface="Microsoft YaHei" panose="020B0503020204020204" pitchFamily="34" charset="-122"/>
                <a:ea typeface="Microsoft YaHei" panose="020B0503020204020204" pitchFamily="34" charset="-122"/>
                <a:cs typeface="+mn-lt"/>
              </a:rPr>
              <a:t>代码</a:t>
            </a:r>
            <a:r>
              <a:rPr lang="zh-CN" altLang="zh-CN" sz="1800" dirty="0">
                <a:solidFill>
                  <a:srgbClr val="595959"/>
                </a:solidFill>
                <a:latin typeface="Microsoft YaHei" panose="020B0503020204020204" pitchFamily="34" charset="-122"/>
                <a:ea typeface="Microsoft YaHei" panose="020B0503020204020204" pitchFamily="34" charset="-122"/>
                <a:cs typeface="+mn-lt"/>
              </a:rPr>
              <a:t>与</a:t>
            </a:r>
            <a:r>
              <a:rPr lang="en-US" altLang="zh-CN" sz="1800" dirty="0">
                <a:solidFill>
                  <a:srgbClr val="1369B2"/>
                </a:solidFill>
                <a:latin typeface="Microsoft YaHei" panose="020B0503020204020204" pitchFamily="34" charset="-122"/>
                <a:ea typeface="Microsoft YaHei" panose="020B0503020204020204" pitchFamily="34" charset="-122"/>
                <a:cs typeface="+mn-lt"/>
              </a:rPr>
              <a:t>JavaScript</a:t>
            </a:r>
            <a:r>
              <a:rPr lang="zh-CN" altLang="zh-CN" sz="1800" dirty="0">
                <a:solidFill>
                  <a:srgbClr val="1369B2"/>
                </a:solidFill>
                <a:latin typeface="Microsoft YaHei" panose="020B0503020204020204" pitchFamily="34" charset="-122"/>
                <a:ea typeface="Microsoft YaHei" panose="020B0503020204020204" pitchFamily="34" charset="-122"/>
                <a:cs typeface="+mn-lt"/>
              </a:rPr>
              <a:t>代码混合</a:t>
            </a:r>
            <a:r>
              <a:rPr lang="zh-CN" altLang="zh-CN" sz="1800" dirty="0">
                <a:solidFill>
                  <a:srgbClr val="595959"/>
                </a:solidFill>
                <a:latin typeface="Microsoft YaHei" panose="020B0503020204020204" pitchFamily="34" charset="-122"/>
                <a:ea typeface="Microsoft YaHei" panose="020B0503020204020204" pitchFamily="34" charset="-122"/>
                <a:cs typeface="+mn-lt"/>
              </a:rPr>
              <a:t>在一起。</a:t>
            </a:r>
          </a:p>
        </p:txBody>
      </p:sp>
      <p:sp>
        <p:nvSpPr>
          <p:cNvPr id="20" name="TextBox 35"/>
          <p:cNvSpPr txBox="1"/>
          <p:nvPr/>
        </p:nvSpPr>
        <p:spPr>
          <a:xfrm>
            <a:off x="5672096" y="2968723"/>
            <a:ext cx="5890635" cy="1754326"/>
          </a:xfrm>
          <a:prstGeom prst="rect">
            <a:avLst/>
          </a:prstGeom>
          <a:noFill/>
        </p:spPr>
        <p:txBody>
          <a:bodyPr wrap="square" rtlCol="0">
            <a:spAutoFit/>
          </a:bodyPr>
          <a:lstStyle/>
          <a:p>
            <a:pPr>
              <a:lnSpc>
                <a:spcPct val="150000"/>
              </a:lnSpc>
              <a:defRPr/>
            </a:pP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使用外部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式</a:t>
            </a:r>
            <a:r>
              <a:rPr lang="zh-CN" altLang="zh-CN" sz="1800" dirty="0">
                <a:solidFill>
                  <a:srgbClr val="1369B2"/>
                </a:solidFill>
                <a:latin typeface="Microsoft YaHei" panose="020B0503020204020204" pitchFamily="34" charset="-122"/>
                <a:ea typeface="Microsoft YaHei" panose="020B0503020204020204" pitchFamily="34" charset="-122"/>
                <a:cs typeface="+mn-lt"/>
              </a:rPr>
              <a:t>可以通过浏览器缓存</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提高</a:t>
            </a: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响应</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速度</a:t>
            </a:r>
            <a:r>
              <a:rPr lang="zh-CN" altLang="zh-CN" sz="1800" dirty="0">
                <a:solidFill>
                  <a:srgbClr val="595959"/>
                </a:solidFill>
                <a:latin typeface="Microsoft YaHei" panose="020B0503020204020204" pitchFamily="34" charset="-122"/>
                <a:ea typeface="Microsoft YaHei" panose="020B0503020204020204" pitchFamily="34" charset="-122"/>
                <a:cs typeface="+mn-lt"/>
              </a:rPr>
              <a:t>。例如，在多个页面中引入相同的</a:t>
            </a:r>
            <a:r>
              <a:rPr lang="en-US" altLang="zh-CN" sz="18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800" dirty="0">
                <a:solidFill>
                  <a:srgbClr val="595959"/>
                </a:solidFill>
                <a:latin typeface="Microsoft YaHei" panose="020B0503020204020204" pitchFamily="34" charset="-122"/>
                <a:ea typeface="Microsoft YaHei" panose="020B0503020204020204" pitchFamily="34" charset="-122"/>
                <a:cs typeface="+mn-lt"/>
              </a:rPr>
              <a:t>文件时，打开第</a:t>
            </a:r>
            <a:r>
              <a:rPr lang="en-US" altLang="zh-CN" sz="1800" dirty="0">
                <a:solidFill>
                  <a:srgbClr val="595959"/>
                </a:solidFill>
                <a:latin typeface="Microsoft YaHei" panose="020B0503020204020204" pitchFamily="34" charset="-122"/>
                <a:ea typeface="Microsoft YaHei" panose="020B0503020204020204" pitchFamily="34" charset="-122"/>
                <a:cs typeface="+mn-lt"/>
              </a:rPr>
              <a:t>1</a:t>
            </a:r>
            <a:r>
              <a:rPr lang="zh-CN" altLang="zh-CN" sz="1800" dirty="0">
                <a:solidFill>
                  <a:srgbClr val="595959"/>
                </a:solidFill>
                <a:latin typeface="Microsoft YaHei" panose="020B0503020204020204" pitchFamily="34" charset="-122"/>
                <a:ea typeface="Microsoft YaHei" panose="020B0503020204020204" pitchFamily="34" charset="-122"/>
                <a:cs typeface="+mn-lt"/>
              </a:rPr>
              <a:t>个页面后，浏览器会将</a:t>
            </a:r>
            <a:r>
              <a:rPr lang="en-US" altLang="zh-CN" sz="18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800" dirty="0">
                <a:solidFill>
                  <a:srgbClr val="595959"/>
                </a:solidFill>
                <a:latin typeface="Microsoft YaHei" panose="020B0503020204020204" pitchFamily="34" charset="-122"/>
                <a:ea typeface="Microsoft YaHei" panose="020B0503020204020204" pitchFamily="34" charset="-122"/>
                <a:cs typeface="+mn-lt"/>
              </a:rPr>
              <a:t>文件缓存下来，下次打开其他页面时就不用重新下载该文件。</a:t>
            </a:r>
          </a:p>
        </p:txBody>
      </p:sp>
      <p:sp>
        <p:nvSpPr>
          <p:cNvPr id="22" name="TextBox 35"/>
          <p:cNvSpPr txBox="1"/>
          <p:nvPr/>
        </p:nvSpPr>
        <p:spPr>
          <a:xfrm>
            <a:off x="5665345" y="4960908"/>
            <a:ext cx="5848352" cy="1338828"/>
          </a:xfrm>
          <a:prstGeom prst="rect">
            <a:avLst/>
          </a:prstGeom>
          <a:noFill/>
        </p:spPr>
        <p:txBody>
          <a:bodyPr wrap="square" rtlCol="0">
            <a:spAutoFit/>
          </a:bodyPr>
          <a:lstStyle/>
          <a:p>
            <a:pPr>
              <a:lnSpc>
                <a:spcPct val="150000"/>
              </a:lnSpc>
              <a:defRPr/>
            </a:pP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使用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外</a:t>
            </a:r>
            <a:r>
              <a:rPr lang="zh-CN" altLang="en-US" sz="1800" dirty="0" smtClean="0">
                <a:solidFill>
                  <a:srgbClr val="1369B2"/>
                </a:solidFill>
                <a:latin typeface="Microsoft YaHei" panose="020B0503020204020204" pitchFamily="34" charset="-122"/>
                <a:ea typeface="Microsoft YaHei" panose="020B0503020204020204" pitchFamily="34" charset="-122"/>
                <a:cs typeface="+mn-lt"/>
              </a:rPr>
              <a:t>部</a:t>
            </a:r>
            <a:r>
              <a:rPr lang="zh-CN" altLang="zh-CN" sz="1800" dirty="0" smtClean="0">
                <a:solidFill>
                  <a:srgbClr val="1369B2"/>
                </a:solidFill>
                <a:latin typeface="Microsoft YaHei" panose="020B0503020204020204" pitchFamily="34" charset="-122"/>
                <a:ea typeface="Microsoft YaHei" panose="020B0503020204020204" pitchFamily="34" charset="-122"/>
                <a:cs typeface="+mn-lt"/>
              </a:rPr>
              <a:t>式</a:t>
            </a:r>
            <a:r>
              <a:rPr lang="zh-CN" altLang="zh-CN" sz="1800" dirty="0">
                <a:solidFill>
                  <a:srgbClr val="1369B2"/>
                </a:solidFill>
                <a:latin typeface="Microsoft YaHei" panose="020B0503020204020204" pitchFamily="34" charset="-122"/>
                <a:ea typeface="Microsoft YaHei" panose="020B0503020204020204" pitchFamily="34" charset="-122"/>
                <a:cs typeface="+mn-lt"/>
              </a:rPr>
              <a:t>有利于</a:t>
            </a:r>
            <a:r>
              <a:rPr lang="en-US" altLang="zh-CN" sz="1800" dirty="0">
                <a:solidFill>
                  <a:srgbClr val="1369B2"/>
                </a:solidFill>
                <a:latin typeface="Microsoft YaHei" panose="020B0503020204020204" pitchFamily="34" charset="-122"/>
                <a:ea typeface="Microsoft YaHei" panose="020B0503020204020204" pitchFamily="34" charset="-122"/>
                <a:cs typeface="+mn-lt"/>
              </a:rPr>
              <a:t>HTML</a:t>
            </a:r>
            <a:r>
              <a:rPr lang="zh-CN" altLang="zh-CN" sz="1800" dirty="0">
                <a:solidFill>
                  <a:srgbClr val="1369B2"/>
                </a:solidFill>
                <a:latin typeface="Microsoft YaHei" panose="020B0503020204020204" pitchFamily="34" charset="-122"/>
                <a:ea typeface="Microsoft YaHei" panose="020B0503020204020204" pitchFamily="34" charset="-122"/>
                <a:cs typeface="+mn-lt"/>
              </a:rPr>
              <a:t>页面代码结构化</a:t>
            </a:r>
            <a:r>
              <a:rPr lang="zh-CN" altLang="zh-CN" sz="1800" dirty="0">
                <a:solidFill>
                  <a:srgbClr val="595959"/>
                </a:solidFill>
                <a:latin typeface="Microsoft YaHei" panose="020B0503020204020204" pitchFamily="34" charset="-122"/>
                <a:ea typeface="Microsoft YaHei" panose="020B0503020204020204" pitchFamily="34" charset="-122"/>
                <a:cs typeface="+mn-lt"/>
              </a:rPr>
              <a:t>，可以把大量的</a:t>
            </a:r>
            <a:r>
              <a:rPr lang="en-US" altLang="zh-CN" sz="1800" dirty="0">
                <a:solidFill>
                  <a:srgbClr val="595959"/>
                </a:solidFill>
                <a:latin typeface="Microsoft YaHei" panose="020B0503020204020204" pitchFamily="34" charset="-122"/>
                <a:ea typeface="Microsoft YaHei" panose="020B0503020204020204" pitchFamily="34" charset="-122"/>
                <a:cs typeface="+mn-lt"/>
              </a:rPr>
              <a:t>JavaScript</a:t>
            </a:r>
            <a:r>
              <a:rPr lang="zh-CN" altLang="zh-CN" sz="1800" dirty="0">
                <a:solidFill>
                  <a:srgbClr val="595959"/>
                </a:solidFill>
                <a:latin typeface="Microsoft YaHei" panose="020B0503020204020204" pitchFamily="34" charset="-122"/>
                <a:ea typeface="Microsoft YaHei" panose="020B0503020204020204" pitchFamily="34" charset="-122"/>
                <a:cs typeface="+mn-lt"/>
              </a:rPr>
              <a:t>代码分离到</a:t>
            </a:r>
            <a:r>
              <a:rPr lang="en-US" altLang="zh-CN" sz="1800" dirty="0">
                <a:solidFill>
                  <a:srgbClr val="595959"/>
                </a:solidFill>
                <a:latin typeface="Microsoft YaHei" panose="020B0503020204020204" pitchFamily="34" charset="-122"/>
                <a:ea typeface="Microsoft YaHei" panose="020B0503020204020204" pitchFamily="34" charset="-122"/>
                <a:cs typeface="+mn-lt"/>
              </a:rPr>
              <a:t>HTML</a:t>
            </a:r>
            <a:r>
              <a:rPr lang="zh-CN" altLang="zh-CN" sz="1800" dirty="0">
                <a:solidFill>
                  <a:srgbClr val="595959"/>
                </a:solidFill>
                <a:latin typeface="Microsoft YaHei" panose="020B0503020204020204" pitchFamily="34" charset="-122"/>
                <a:ea typeface="Microsoft YaHei" panose="020B0503020204020204" pitchFamily="34" charset="-122"/>
                <a:cs typeface="+mn-lt"/>
              </a:rPr>
              <a:t>页面外</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a:t>
            </a:r>
            <a:r>
              <a:rPr lang="zh-CN" altLang="en-US" sz="1800" dirty="0" smtClean="0">
                <a:solidFill>
                  <a:srgbClr val="595959"/>
                </a:solidFill>
                <a:latin typeface="Microsoft YaHei" panose="020B0503020204020204" pitchFamily="34" charset="-122"/>
                <a:ea typeface="Microsoft YaHei" panose="020B0503020204020204" pitchFamily="34" charset="-122"/>
                <a:cs typeface="+mn-lt"/>
              </a:rPr>
              <a:t>这样</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既</a:t>
            </a:r>
            <a:r>
              <a:rPr lang="zh-CN" altLang="zh-CN" sz="1800" dirty="0">
                <a:solidFill>
                  <a:srgbClr val="595959"/>
                </a:solidFill>
                <a:latin typeface="Microsoft YaHei" panose="020B0503020204020204" pitchFamily="34" charset="-122"/>
                <a:ea typeface="Microsoft YaHei" panose="020B0503020204020204" pitchFamily="34" charset="-122"/>
                <a:cs typeface="+mn-lt"/>
              </a:rPr>
              <a:t>美观</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a:t>
            </a:r>
            <a:r>
              <a:rPr lang="zh-CN" altLang="en-US" sz="1800" dirty="0" smtClean="0">
                <a:solidFill>
                  <a:srgbClr val="595959"/>
                </a:solidFill>
                <a:latin typeface="Microsoft YaHei" panose="020B0503020204020204" pitchFamily="34" charset="-122"/>
                <a:ea typeface="Microsoft YaHei" panose="020B0503020204020204" pitchFamily="34" charset="-122"/>
                <a:cs typeface="+mn-lt"/>
              </a:rPr>
              <a:t>又</a:t>
            </a:r>
            <a:r>
              <a:rPr lang="zh-CN" altLang="zh-CN" sz="1800" dirty="0" smtClean="0">
                <a:solidFill>
                  <a:srgbClr val="595959"/>
                </a:solidFill>
                <a:latin typeface="Microsoft YaHei" panose="020B0503020204020204" pitchFamily="34" charset="-122"/>
                <a:ea typeface="Microsoft YaHei" panose="020B0503020204020204" pitchFamily="34" charset="-122"/>
                <a:cs typeface="+mn-lt"/>
              </a:rPr>
              <a:t>方便</a:t>
            </a:r>
            <a:r>
              <a:rPr lang="zh-CN" altLang="zh-CN" sz="1800" dirty="0">
                <a:solidFill>
                  <a:srgbClr val="595959"/>
                </a:solidFill>
                <a:latin typeface="Microsoft YaHei" panose="020B0503020204020204" pitchFamily="34" charset="-122"/>
                <a:ea typeface="Microsoft YaHei" panose="020B0503020204020204" pitchFamily="34" charset="-122"/>
                <a:cs typeface="+mn-lt"/>
              </a:rPr>
              <a:t>文件级别的代码复用。</a:t>
            </a:r>
          </a:p>
        </p:txBody>
      </p:sp>
      <p:sp>
        <p:nvSpPr>
          <p:cNvPr id="25"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649187" y="1053530"/>
            <a:ext cx="4967385" cy="400110"/>
          </a:xfrm>
          <a:prstGeom prst="rect">
            <a:avLst/>
          </a:prstGeom>
        </p:spPr>
        <p:txBody>
          <a:bodyPr wrap="none">
            <a:spAutoFit/>
          </a:bodyPr>
          <a:lstStyle/>
          <a:p>
            <a:pPr indent="269240" algn="just">
              <a:spcAft>
                <a:spcPts val="0"/>
              </a:spcAft>
            </a:pPr>
            <a:r>
              <a:rPr lang="zh-CN" altLang="zh-CN" sz="2000" dirty="0" smtClean="0">
                <a:solidFill>
                  <a:srgbClr val="1369B2"/>
                </a:solidFill>
                <a:latin typeface="Microsoft YaHei" panose="020B0503020204020204" pitchFamily="34" charset="-122"/>
                <a:ea typeface="Microsoft YaHei" panose="020B0503020204020204" pitchFamily="34" charset="-122"/>
              </a:rPr>
              <a:t>外</a:t>
            </a:r>
            <a:r>
              <a:rPr lang="zh-CN" altLang="en-US" sz="2000" dirty="0" smtClean="0">
                <a:solidFill>
                  <a:srgbClr val="1369B2"/>
                </a:solidFill>
                <a:latin typeface="Microsoft YaHei" panose="020B0503020204020204" pitchFamily="34" charset="-122"/>
                <a:ea typeface="Microsoft YaHei" panose="020B0503020204020204" pitchFamily="34" charset="-122"/>
              </a:rPr>
              <a:t>部</a:t>
            </a:r>
            <a:r>
              <a:rPr lang="zh-CN" altLang="zh-CN" sz="2000" dirty="0" smtClean="0">
                <a:solidFill>
                  <a:srgbClr val="1369B2"/>
                </a:solidFill>
                <a:latin typeface="Microsoft YaHei" panose="020B0503020204020204" pitchFamily="34" charset="-122"/>
                <a:ea typeface="Microsoft YaHei" panose="020B0503020204020204" pitchFamily="34" charset="-122"/>
              </a:rPr>
              <a:t>式</a:t>
            </a:r>
            <a:r>
              <a:rPr lang="zh-CN" altLang="zh-CN" sz="2000" dirty="0" smtClean="0">
                <a:solidFill>
                  <a:srgbClr val="595959"/>
                </a:solidFill>
                <a:latin typeface="Microsoft YaHei" panose="020B0503020204020204" pitchFamily="34" charset="-122"/>
                <a:ea typeface="Microsoft YaHei" panose="020B0503020204020204" pitchFamily="34" charset="-122"/>
              </a:rPr>
              <a:t>相比</a:t>
            </a:r>
            <a:r>
              <a:rPr lang="zh-CN" altLang="en-US" sz="2000" dirty="0" smtClean="0">
                <a:solidFill>
                  <a:srgbClr val="1369B2"/>
                </a:solidFill>
                <a:latin typeface="Microsoft YaHei" panose="020B0503020204020204" pitchFamily="34" charset="-122"/>
                <a:ea typeface="Microsoft YaHei" panose="020B0503020204020204" pitchFamily="34" charset="-122"/>
              </a:rPr>
              <a:t>内部</a:t>
            </a:r>
            <a:r>
              <a:rPr lang="zh-CN" altLang="zh-CN" sz="2000" dirty="0" smtClean="0">
                <a:solidFill>
                  <a:srgbClr val="1369B2"/>
                </a:solidFill>
                <a:latin typeface="Microsoft YaHei" panose="020B0503020204020204" pitchFamily="34" charset="-122"/>
                <a:ea typeface="Microsoft YaHei" panose="020B0503020204020204" pitchFamily="34" charset="-122"/>
              </a:rPr>
              <a:t>式</a:t>
            </a:r>
            <a:r>
              <a:rPr lang="zh-CN" altLang="zh-CN" sz="2000" dirty="0">
                <a:solidFill>
                  <a:srgbClr val="595959"/>
                </a:solidFill>
                <a:latin typeface="Microsoft YaHei" panose="020B0503020204020204" pitchFamily="34" charset="-122"/>
                <a:ea typeface="Microsoft YaHei" panose="020B0503020204020204" pitchFamily="34" charset="-122"/>
              </a:rPr>
              <a:t>，具有以下</a:t>
            </a:r>
            <a:r>
              <a:rPr lang="en-US" altLang="zh-CN" sz="2000" dirty="0">
                <a:solidFill>
                  <a:srgbClr val="1369B2"/>
                </a:solidFill>
                <a:latin typeface="Microsoft YaHei" panose="020B0503020204020204" pitchFamily="34" charset="-122"/>
                <a:ea typeface="Microsoft YaHei" panose="020B0503020204020204" pitchFamily="34" charset="-122"/>
              </a:rPr>
              <a:t>3</a:t>
            </a:r>
            <a:r>
              <a:rPr lang="zh-CN" altLang="zh-CN" sz="2000" dirty="0">
                <a:solidFill>
                  <a:srgbClr val="1369B2"/>
                </a:solidFill>
                <a:latin typeface="Microsoft YaHei" panose="020B0503020204020204" pitchFamily="34" charset="-122"/>
                <a:ea typeface="Microsoft YaHei" panose="020B0503020204020204" pitchFamily="34" charset="-122"/>
              </a:rPr>
              <a:t>点优势</a:t>
            </a:r>
            <a:r>
              <a:rPr lang="zh-CN" altLang="zh-CN" sz="2000" dirty="0">
                <a:solidFill>
                  <a:srgbClr val="595959"/>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63495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8902" y="1966072"/>
            <a:ext cx="6887815" cy="2400657"/>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另外，浏览器</a:t>
            </a:r>
            <a:r>
              <a:rPr lang="zh-CN" altLang="zh-CN" sz="2000" dirty="0">
                <a:solidFill>
                  <a:srgbClr val="595959"/>
                </a:solidFill>
                <a:latin typeface="微软雅黑" panose="020B0503020204020204" pitchFamily="34" charset="-122"/>
                <a:ea typeface="微软雅黑" panose="020B0503020204020204" pitchFamily="34" charset="-122"/>
                <a:cs typeface="+mn-ea"/>
              </a:rPr>
              <a:t>运行 </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 </a:t>
            </a:r>
            <a:r>
              <a:rPr lang="zh-CN" altLang="zh-CN" sz="2000" dirty="0">
                <a:solidFill>
                  <a:srgbClr val="595959"/>
                </a:solidFill>
                <a:latin typeface="微软雅黑" panose="020B0503020204020204" pitchFamily="34" charset="-122"/>
                <a:ea typeface="微软雅黑" panose="020B0503020204020204" pitchFamily="34" charset="-122"/>
                <a:cs typeface="+mn-ea"/>
              </a:rPr>
              <a:t>代码时，无论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的是内部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还是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外</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式</a:t>
            </a:r>
            <a:r>
              <a:rPr lang="zh-CN" altLang="zh-CN" sz="2000" dirty="0">
                <a:solidFill>
                  <a:srgbClr val="595959"/>
                </a:solidFill>
                <a:latin typeface="微软雅黑" panose="020B0503020204020204" pitchFamily="34" charset="-122"/>
                <a:ea typeface="微软雅黑" panose="020B0503020204020204" pitchFamily="34" charset="-122"/>
                <a:cs typeface="+mn-ea"/>
              </a:rPr>
              <a:t>，页面的</a:t>
            </a:r>
            <a:r>
              <a:rPr lang="zh-CN" altLang="zh-CN" sz="2000" dirty="0">
                <a:solidFill>
                  <a:srgbClr val="1369B2"/>
                </a:solidFill>
                <a:latin typeface="微软雅黑" panose="020B0503020204020204" pitchFamily="34" charset="-122"/>
                <a:ea typeface="微软雅黑" panose="020B0503020204020204" pitchFamily="34" charset="-122"/>
                <a:cs typeface="+mn-ea"/>
              </a:rPr>
              <a:t>加载</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渲染</a:t>
            </a:r>
            <a:r>
              <a:rPr lang="zh-CN" altLang="zh-CN" sz="2000" dirty="0">
                <a:solidFill>
                  <a:srgbClr val="595959"/>
                </a:solidFill>
                <a:latin typeface="微软雅黑" panose="020B0503020204020204" pitchFamily="34" charset="-122"/>
                <a:ea typeface="微软雅黑" panose="020B0503020204020204" pitchFamily="34" charset="-122"/>
                <a:cs typeface="+mn-ea"/>
              </a:rPr>
              <a:t>都会暂停，等待</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脚本</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执</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行</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完成</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后</a:t>
            </a:r>
            <a:r>
              <a:rPr lang="zh-CN" altLang="zh-CN" sz="2000" dirty="0">
                <a:solidFill>
                  <a:srgbClr val="595959"/>
                </a:solidFill>
                <a:latin typeface="微软雅黑" panose="020B0503020204020204" pitchFamily="34" charset="-122"/>
                <a:ea typeface="微软雅黑" panose="020B0503020204020204" pitchFamily="34" charset="-122"/>
                <a:cs typeface="+mn-ea"/>
              </a:rPr>
              <a:t>才会继续。为了尽可能减少对整个页面的影响，推荐将</a:t>
            </a:r>
            <a:r>
              <a:rPr lang="zh-CN" altLang="zh-CN" sz="2000" dirty="0">
                <a:solidFill>
                  <a:srgbClr val="1369B2"/>
                </a:solidFill>
                <a:latin typeface="微软雅黑" panose="020B0503020204020204" pitchFamily="34" charset="-122"/>
                <a:ea typeface="微软雅黑" panose="020B0503020204020204" pitchFamily="34" charset="-122"/>
                <a:cs typeface="+mn-ea"/>
              </a:rPr>
              <a:t>不需要提前运行的</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代码所在的</a:t>
            </a:r>
            <a:r>
              <a:rPr lang="en-US" altLang="zh-CN" sz="2000" dirty="0">
                <a:solidFill>
                  <a:srgbClr val="1369B2"/>
                </a:solidFill>
                <a:latin typeface="微软雅黑" panose="020B0503020204020204" pitchFamily="34" charset="-122"/>
                <a:ea typeface="微软雅黑" panose="020B0503020204020204" pitchFamily="34" charset="-122"/>
                <a:cs typeface="+mn-ea"/>
              </a:rPr>
              <a:t>&lt;script&gt;</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放</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HTML</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文档</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的底部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3" name="Shape 2015"/>
          <p:cNvSpPr/>
          <p:nvPr/>
        </p:nvSpPr>
        <p:spPr>
          <a:xfrm>
            <a:off x="1016000" y="1750881"/>
            <a:ext cx="7233620" cy="283104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402023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71712" y="1352729"/>
            <a:ext cx="1015842" cy="1015842"/>
          </a:xfrm>
          <a:prstGeom prst="rect">
            <a:avLst/>
          </a:prstGeom>
        </p:spPr>
      </p:pic>
      <p:sp>
        <p:nvSpPr>
          <p:cNvPr id="12" name="矩形 11"/>
          <p:cNvSpPr/>
          <p:nvPr/>
        </p:nvSpPr>
        <p:spPr>
          <a:xfrm>
            <a:off x="2150111" y="1607820"/>
            <a:ext cx="250493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1987554" y="1758950"/>
            <a:ext cx="2807702" cy="400110"/>
          </a:xfrm>
          <a:prstGeom prst="rect">
            <a:avLst/>
          </a:prstGeom>
          <a:noFill/>
        </p:spPr>
        <p:txBody>
          <a:bodyPr wrap="square" rtlCol="0">
            <a:spAutoFit/>
          </a:bodyPr>
          <a:lstStyle/>
          <a:p>
            <a:pPr algn="ctr"/>
            <a:r>
              <a:rPr lang="en-US" altLang="zh-CN"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JavaScript</a:t>
            </a: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异步加载</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475394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4941647"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7" name="文本框 16">
            <a:extLst>
              <a:ext uri="{FF2B5EF4-FFF2-40B4-BE49-F238E27FC236}">
                <a16:creationId xmlns:a16="http://schemas.microsoft.com/office/drawing/2014/main" id="{0AC76212-EC23-4F95-A3FA-72E85045A7CA}"/>
              </a:ext>
            </a:extLst>
          </p:cNvPr>
          <p:cNvSpPr txBox="1"/>
          <p:nvPr/>
        </p:nvSpPr>
        <p:spPr>
          <a:xfrm>
            <a:off x="1143690" y="2443955"/>
            <a:ext cx="10352116" cy="1754326"/>
          </a:xfrm>
          <a:prstGeom prst="rect">
            <a:avLst/>
          </a:prstGeom>
          <a:noFill/>
        </p:spPr>
        <p:txBody>
          <a:bodyPr wrap="square">
            <a:spAutoFit/>
          </a:bodyPr>
          <a:lstStyle/>
          <a:p>
            <a:pPr>
              <a:lnSpc>
                <a:spcPct val="150000"/>
              </a:lnSpc>
            </a:pPr>
            <a:r>
              <a:rPr lang="zh-CN" altLang="zh-CN" sz="1800" dirty="0" smtClean="0">
                <a:solidFill>
                  <a:srgbClr val="595959"/>
                </a:solidFill>
                <a:latin typeface="Microsoft YaHei" panose="020B0503020204020204" pitchFamily="34" charset="-122"/>
                <a:ea typeface="Microsoft YaHei" panose="020B0503020204020204" pitchFamily="34" charset="-122"/>
              </a:rPr>
              <a:t>使用外</a:t>
            </a:r>
            <a:r>
              <a:rPr lang="zh-CN" altLang="en-US" sz="1800" dirty="0" smtClean="0">
                <a:solidFill>
                  <a:srgbClr val="595959"/>
                </a:solidFill>
                <a:latin typeface="Microsoft YaHei" panose="020B0503020204020204" pitchFamily="34" charset="-122"/>
                <a:ea typeface="Microsoft YaHei" panose="020B0503020204020204" pitchFamily="34" charset="-122"/>
              </a:rPr>
              <a:t>部</a:t>
            </a:r>
            <a:r>
              <a:rPr lang="zh-CN" altLang="zh-CN" sz="1800" dirty="0" smtClean="0">
                <a:solidFill>
                  <a:srgbClr val="595959"/>
                </a:solidFill>
                <a:latin typeface="Microsoft YaHei" panose="020B0503020204020204" pitchFamily="34" charset="-122"/>
                <a:ea typeface="Microsoft YaHei" panose="020B0503020204020204" pitchFamily="34" charset="-122"/>
              </a:rPr>
              <a:t>式</a:t>
            </a:r>
            <a:r>
              <a:rPr lang="zh-CN" altLang="zh-CN" sz="1800" dirty="0">
                <a:solidFill>
                  <a:srgbClr val="595959"/>
                </a:solidFill>
                <a:latin typeface="Microsoft YaHei" panose="020B0503020204020204" pitchFamily="34" charset="-122"/>
                <a:ea typeface="Microsoft YaHei" panose="020B0503020204020204" pitchFamily="34" charset="-122"/>
              </a:rPr>
              <a:t>时，为了减少</a:t>
            </a:r>
            <a:r>
              <a:rPr lang="en-US" altLang="zh-CN" sz="1800" dirty="0">
                <a:solidFill>
                  <a:srgbClr val="595959"/>
                </a:solidFill>
                <a:latin typeface="Microsoft YaHei" panose="020B0503020204020204" pitchFamily="34" charset="-122"/>
                <a:ea typeface="Microsoft YaHei" panose="020B0503020204020204" pitchFamily="34" charset="-122"/>
              </a:rPr>
              <a:t>JavaScript</a:t>
            </a:r>
            <a:r>
              <a:rPr lang="zh-CN" altLang="zh-CN" sz="1800" dirty="0">
                <a:solidFill>
                  <a:srgbClr val="595959"/>
                </a:solidFill>
                <a:latin typeface="Microsoft YaHei" panose="020B0503020204020204" pitchFamily="34" charset="-122"/>
                <a:ea typeface="Microsoft YaHei" panose="020B0503020204020204" pitchFamily="34" charset="-122"/>
              </a:rPr>
              <a:t>加载过程对页面造成的影响，可以使用</a:t>
            </a:r>
            <a:r>
              <a:rPr lang="en-US" altLang="zh-CN" sz="1800" dirty="0">
                <a:solidFill>
                  <a:srgbClr val="595959"/>
                </a:solidFill>
                <a:latin typeface="Microsoft YaHei" panose="020B0503020204020204" pitchFamily="34" charset="-122"/>
                <a:ea typeface="Microsoft YaHei" panose="020B0503020204020204" pitchFamily="34" charset="-122"/>
              </a:rPr>
              <a:t>HTML5</a:t>
            </a:r>
            <a:r>
              <a:rPr lang="zh-CN" altLang="zh-CN" sz="1800" dirty="0">
                <a:solidFill>
                  <a:srgbClr val="595959"/>
                </a:solidFill>
                <a:latin typeface="Microsoft YaHei" panose="020B0503020204020204" pitchFamily="34" charset="-122"/>
                <a:ea typeface="Microsoft YaHei" panose="020B0503020204020204" pitchFamily="34" charset="-122"/>
              </a:rPr>
              <a:t>为</a:t>
            </a:r>
            <a:r>
              <a:rPr lang="en-US" altLang="zh-CN" sz="1800" dirty="0">
                <a:solidFill>
                  <a:srgbClr val="595959"/>
                </a:solidFill>
                <a:latin typeface="Microsoft YaHei" panose="020B0503020204020204" pitchFamily="34" charset="-122"/>
                <a:ea typeface="Microsoft YaHei" panose="020B0503020204020204" pitchFamily="34" charset="-122"/>
              </a:rPr>
              <a:t>&lt;script&gt;</a:t>
            </a:r>
            <a:r>
              <a:rPr lang="zh-CN" altLang="zh-CN" sz="1800" dirty="0">
                <a:solidFill>
                  <a:srgbClr val="595959"/>
                </a:solidFill>
                <a:latin typeface="Microsoft YaHei" panose="020B0503020204020204" pitchFamily="34" charset="-122"/>
                <a:ea typeface="Microsoft YaHei" panose="020B0503020204020204" pitchFamily="34" charset="-122"/>
              </a:rPr>
              <a:t>标签新增的两个可选属性</a:t>
            </a:r>
            <a:r>
              <a:rPr lang="en-US" altLang="zh-CN" sz="1800" dirty="0" err="1">
                <a:solidFill>
                  <a:srgbClr val="1369B2"/>
                </a:solidFill>
                <a:latin typeface="Microsoft YaHei" panose="020B0503020204020204" pitchFamily="34" charset="-122"/>
                <a:ea typeface="Microsoft YaHei" panose="020B0503020204020204" pitchFamily="34" charset="-122"/>
              </a:rPr>
              <a:t>async</a:t>
            </a:r>
            <a:r>
              <a:rPr lang="zh-CN" altLang="zh-CN" sz="1800" dirty="0">
                <a:solidFill>
                  <a:srgbClr val="595959"/>
                </a:solidFill>
                <a:latin typeface="Microsoft YaHei" panose="020B0503020204020204" pitchFamily="34" charset="-122"/>
                <a:ea typeface="Microsoft YaHei" panose="020B0503020204020204" pitchFamily="34" charset="-122"/>
              </a:rPr>
              <a:t>和</a:t>
            </a:r>
            <a:r>
              <a:rPr lang="en-US" altLang="zh-CN" sz="1800" dirty="0" smtClean="0">
                <a:solidFill>
                  <a:srgbClr val="1369B2"/>
                </a:solidFill>
                <a:latin typeface="Microsoft YaHei" panose="020B0503020204020204" pitchFamily="34" charset="-122"/>
                <a:ea typeface="Microsoft YaHei" panose="020B0503020204020204" pitchFamily="34" charset="-122"/>
              </a:rPr>
              <a:t>defer</a:t>
            </a:r>
            <a:r>
              <a:rPr lang="zh-CN" altLang="en-US" sz="1800" dirty="0" smtClean="0">
                <a:solidFill>
                  <a:srgbClr val="595959"/>
                </a:solidFill>
                <a:latin typeface="Microsoft YaHei" panose="020B0503020204020204" pitchFamily="34" charset="-122"/>
                <a:ea typeface="Microsoft YaHei" panose="020B0503020204020204" pitchFamily="34" charset="-122"/>
              </a:rPr>
              <a:t>，</a:t>
            </a:r>
            <a:r>
              <a:rPr lang="zh-CN" altLang="zh-CN" sz="1800" dirty="0" smtClean="0">
                <a:solidFill>
                  <a:srgbClr val="595959"/>
                </a:solidFill>
                <a:latin typeface="Microsoft YaHei" panose="020B0503020204020204" pitchFamily="34" charset="-122"/>
                <a:ea typeface="Microsoft YaHei" panose="020B0503020204020204" pitchFamily="34" charset="-122"/>
              </a:rPr>
              <a:t>实现</a:t>
            </a:r>
            <a:r>
              <a:rPr lang="zh-CN" altLang="zh-CN" sz="1800" dirty="0">
                <a:solidFill>
                  <a:srgbClr val="1369B2"/>
                </a:solidFill>
                <a:latin typeface="Microsoft YaHei" panose="020B0503020204020204" pitchFamily="34" charset="-122"/>
                <a:ea typeface="Microsoft YaHei" panose="020B0503020204020204" pitchFamily="34" charset="-122"/>
              </a:rPr>
              <a:t>异步加载</a:t>
            </a:r>
            <a:r>
              <a:rPr lang="zh-CN" altLang="zh-CN" sz="1800" dirty="0">
                <a:solidFill>
                  <a:srgbClr val="595959"/>
                </a:solidFill>
                <a:latin typeface="Microsoft YaHei" panose="020B0503020204020204" pitchFamily="34" charset="-122"/>
                <a:ea typeface="Microsoft YaHei" panose="020B0503020204020204" pitchFamily="34" charset="-122"/>
              </a:rPr>
              <a:t>。实现异步加载后，即使</a:t>
            </a:r>
            <a:r>
              <a:rPr lang="en-US" altLang="zh-CN" sz="1800" dirty="0">
                <a:solidFill>
                  <a:srgbClr val="595959"/>
                </a:solidFill>
                <a:latin typeface="Microsoft YaHei" panose="020B0503020204020204" pitchFamily="34" charset="-122"/>
                <a:ea typeface="Microsoft YaHei" panose="020B0503020204020204" pitchFamily="34" charset="-122"/>
              </a:rPr>
              <a:t>JavaScript</a:t>
            </a:r>
            <a:r>
              <a:rPr lang="zh-CN" altLang="zh-CN" sz="1800" dirty="0">
                <a:solidFill>
                  <a:srgbClr val="595959"/>
                </a:solidFill>
                <a:latin typeface="Microsoft YaHei" panose="020B0503020204020204" pitchFamily="34" charset="-122"/>
                <a:ea typeface="Microsoft YaHei" panose="020B0503020204020204" pitchFamily="34" charset="-122"/>
              </a:rPr>
              <a:t>文件下载失败，也不会阻塞后面的</a:t>
            </a:r>
            <a:r>
              <a:rPr lang="en-US" altLang="zh-CN" sz="1800" dirty="0">
                <a:solidFill>
                  <a:srgbClr val="595959"/>
                </a:solidFill>
                <a:latin typeface="Microsoft YaHei" panose="020B0503020204020204" pitchFamily="34" charset="-122"/>
                <a:ea typeface="Microsoft YaHei" panose="020B0503020204020204" pitchFamily="34" charset="-122"/>
              </a:rPr>
              <a:t>JavaScript</a:t>
            </a:r>
            <a:r>
              <a:rPr lang="zh-CN" altLang="zh-CN" sz="1800" dirty="0">
                <a:solidFill>
                  <a:srgbClr val="595959"/>
                </a:solidFill>
                <a:latin typeface="Microsoft YaHei" panose="020B0503020204020204" pitchFamily="34" charset="-122"/>
                <a:ea typeface="Microsoft YaHei" panose="020B0503020204020204" pitchFamily="34" charset="-122"/>
              </a:rPr>
              <a:t>代码运行</a:t>
            </a:r>
            <a:r>
              <a:rPr lang="zh-CN" altLang="zh-CN" sz="1800" dirty="0" smtClean="0">
                <a:solidFill>
                  <a:srgbClr val="595959"/>
                </a:solidFill>
                <a:latin typeface="Microsoft YaHei" panose="020B0503020204020204" pitchFamily="34" charset="-122"/>
                <a:ea typeface="Microsoft YaHei" panose="020B0503020204020204" pitchFamily="34" charset="-122"/>
              </a:rPr>
              <a:t>。</a:t>
            </a:r>
            <a:r>
              <a:rPr lang="en-US" altLang="zh-CN" sz="1800" dirty="0" err="1" smtClean="0">
                <a:solidFill>
                  <a:srgbClr val="1369B2"/>
                </a:solidFill>
                <a:latin typeface="Microsoft YaHei" panose="020B0503020204020204" pitchFamily="34" charset="-122"/>
                <a:ea typeface="Microsoft YaHei" panose="020B0503020204020204" pitchFamily="34" charset="-122"/>
              </a:rPr>
              <a:t>async</a:t>
            </a:r>
            <a:r>
              <a:rPr lang="zh-CN" altLang="zh-CN" sz="1800" dirty="0">
                <a:solidFill>
                  <a:srgbClr val="1369B2"/>
                </a:solidFill>
                <a:latin typeface="Microsoft YaHei" panose="020B0503020204020204" pitchFamily="34" charset="-122"/>
                <a:ea typeface="Microsoft YaHei" panose="020B0503020204020204" pitchFamily="34" charset="-122"/>
              </a:rPr>
              <a:t>属性</a:t>
            </a:r>
            <a:r>
              <a:rPr lang="zh-CN" altLang="zh-CN" sz="1800" dirty="0" smtClean="0">
                <a:solidFill>
                  <a:srgbClr val="1369B2"/>
                </a:solidFill>
                <a:latin typeface="Microsoft YaHei" panose="020B0503020204020204" pitchFamily="34" charset="-122"/>
                <a:ea typeface="Microsoft YaHei" panose="020B0503020204020204" pitchFamily="34" charset="-122"/>
              </a:rPr>
              <a:t>用于</a:t>
            </a:r>
            <a:r>
              <a:rPr lang="zh-CN" altLang="en-US" sz="1800" dirty="0">
                <a:solidFill>
                  <a:srgbClr val="1369B2"/>
                </a:solidFill>
                <a:latin typeface="Microsoft YaHei" panose="020B0503020204020204" pitchFamily="34" charset="-122"/>
                <a:ea typeface="Microsoft YaHei" panose="020B0503020204020204" pitchFamily="34" charset="-122"/>
              </a:rPr>
              <a:t>异步</a:t>
            </a:r>
            <a:r>
              <a:rPr lang="zh-CN" altLang="en-US" sz="1800" dirty="0" smtClean="0">
                <a:solidFill>
                  <a:srgbClr val="1369B2"/>
                </a:solidFill>
                <a:latin typeface="Microsoft YaHei" panose="020B0503020204020204" pitchFamily="34" charset="-122"/>
                <a:ea typeface="Microsoft YaHei" panose="020B0503020204020204" pitchFamily="34" charset="-122"/>
              </a:rPr>
              <a:t>加载，即先</a:t>
            </a:r>
            <a:r>
              <a:rPr lang="zh-CN" altLang="zh-CN" sz="1800" dirty="0" smtClean="0">
                <a:solidFill>
                  <a:srgbClr val="1369B2"/>
                </a:solidFill>
                <a:latin typeface="Microsoft YaHei" panose="020B0503020204020204" pitchFamily="34" charset="-122"/>
                <a:ea typeface="Microsoft YaHei" panose="020B0503020204020204" pitchFamily="34" charset="-122"/>
              </a:rPr>
              <a:t>下载</a:t>
            </a:r>
            <a:r>
              <a:rPr lang="zh-CN" altLang="zh-CN" sz="1800" dirty="0">
                <a:solidFill>
                  <a:srgbClr val="1369B2"/>
                </a:solidFill>
                <a:latin typeface="Microsoft YaHei" panose="020B0503020204020204" pitchFamily="34" charset="-122"/>
                <a:ea typeface="Microsoft YaHei" panose="020B0503020204020204" pitchFamily="34" charset="-122"/>
              </a:rPr>
              <a:t>文件</a:t>
            </a:r>
            <a:r>
              <a:rPr lang="zh-CN" altLang="zh-CN" sz="1800" dirty="0">
                <a:solidFill>
                  <a:srgbClr val="595959"/>
                </a:solidFill>
                <a:latin typeface="Microsoft YaHei" panose="020B0503020204020204" pitchFamily="34" charset="-122"/>
                <a:ea typeface="Microsoft YaHei" panose="020B0503020204020204" pitchFamily="34" charset="-122"/>
              </a:rPr>
              <a:t>，不阻塞其他代码运行，下载完成后再运行，示例代码如下</a:t>
            </a:r>
            <a:r>
              <a:rPr lang="zh-CN" altLang="zh-CN" sz="1800" dirty="0" smtClean="0">
                <a:solidFill>
                  <a:srgbClr val="595959"/>
                </a:solidFill>
                <a:latin typeface="Microsoft YaHei" panose="020B0503020204020204" pitchFamily="34" charset="-122"/>
                <a:ea typeface="Microsoft YaHei" panose="020B0503020204020204" pitchFamily="34" charset="-122"/>
              </a:rPr>
              <a:t>。</a:t>
            </a:r>
            <a:endParaRPr lang="zh-CN" altLang="zh-CN" sz="1800" dirty="0">
              <a:solidFill>
                <a:srgbClr val="595959"/>
              </a:solidFill>
              <a:latin typeface="Microsoft YaHei" panose="020B0503020204020204" pitchFamily="34" charset="-122"/>
              <a:ea typeface="Microsoft YaHei" panose="020B0503020204020204" pitchFamily="34" charset="-122"/>
            </a:endParaRPr>
          </a:p>
        </p:txBody>
      </p:sp>
      <p:sp>
        <p:nvSpPr>
          <p:cNvPr id="18" name="Title 1"/>
          <p:cNvSpPr txBox="1"/>
          <p:nvPr/>
        </p:nvSpPr>
        <p:spPr>
          <a:xfrm>
            <a:off x="1143690" y="266995"/>
            <a:ext cx="43754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1.3.2  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代码引入方式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2BD7E020-D0A4-47DE-BE0C-F3967B274E91}"/>
              </a:ext>
            </a:extLst>
          </p:cNvPr>
          <p:cNvSpPr txBox="1"/>
          <p:nvPr/>
        </p:nvSpPr>
        <p:spPr>
          <a:xfrm>
            <a:off x="2198110" y="4293890"/>
            <a:ext cx="8433600" cy="458908"/>
          </a:xfrm>
          <a:prstGeom prst="rect">
            <a:avLst/>
          </a:prstGeom>
          <a:solidFill>
            <a:srgbClr val="F2F2F2"/>
          </a:solidFill>
        </p:spPr>
        <p:txBody>
          <a:bodyPr wrap="square" rtlCol="0">
            <a:spAutoFit/>
          </a:bodyPr>
          <a:lstStyle/>
          <a:p>
            <a:pPr lvl="1">
              <a:lnSpc>
                <a:spcPct val="150000"/>
              </a:lnSpc>
            </a:pPr>
            <a:r>
              <a:rPr lang="en-US" altLang="zh-CN" sz="1800" dirty="0" smtClean="0">
                <a:solidFill>
                  <a:srgbClr val="595959"/>
                </a:solidFill>
                <a:latin typeface="微软雅黑" panose="020B0503020204020204" pitchFamily="34" charset="-122"/>
                <a:ea typeface="微软雅黑" panose="020B0503020204020204" pitchFamily="34" charset="-122"/>
                <a:cs typeface="+mn-ea"/>
              </a:rPr>
              <a:t>&lt;script </a:t>
            </a:r>
            <a:r>
              <a:rPr lang="en-US" altLang="zh-CN" sz="1800" dirty="0" err="1" smtClean="0">
                <a:solidFill>
                  <a:srgbClr val="595959"/>
                </a:solidFill>
                <a:latin typeface="微软雅黑" panose="020B0503020204020204" pitchFamily="34" charset="-122"/>
                <a:ea typeface="微软雅黑" panose="020B0503020204020204" pitchFamily="34" charset="-122"/>
                <a:cs typeface="+mn-ea"/>
              </a:rPr>
              <a:t>src</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="file.js" </a:t>
            </a:r>
            <a:r>
              <a:rPr lang="en-US" altLang="zh-CN" sz="1800" dirty="0" err="1" smtClean="0">
                <a:solidFill>
                  <a:srgbClr val="595959"/>
                </a:solidFill>
                <a:latin typeface="微软雅黑" panose="020B0503020204020204" pitchFamily="34" charset="-122"/>
                <a:ea typeface="微软雅黑" panose="020B0503020204020204" pitchFamily="34" charset="-122"/>
                <a:cs typeface="+mn-ea"/>
              </a:rPr>
              <a:t>async</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&gt;&lt;/script&gt;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270670" y="4797946"/>
            <a:ext cx="10225136" cy="923330"/>
          </a:xfrm>
          <a:prstGeom prst="rect">
            <a:avLst/>
          </a:prstGeom>
        </p:spPr>
        <p:txBody>
          <a:bodyPr wrap="square">
            <a:spAutoFit/>
          </a:bodyPr>
          <a:lstStyle/>
          <a:p>
            <a:pPr algn="just">
              <a:lnSpc>
                <a:spcPct val="150000"/>
              </a:lnSpc>
              <a:spcAft>
                <a:spcPts val="0"/>
              </a:spcAft>
            </a:pPr>
            <a:r>
              <a:rPr lang="en-US" altLang="zh-CN" sz="1800" dirty="0">
                <a:solidFill>
                  <a:srgbClr val="1369B2"/>
                </a:solidFill>
                <a:latin typeface="Microsoft YaHei" panose="020B0503020204020204" pitchFamily="34" charset="-122"/>
                <a:ea typeface="Microsoft YaHei" panose="020B0503020204020204" pitchFamily="34" charset="-122"/>
              </a:rPr>
              <a:t>defer</a:t>
            </a:r>
            <a:r>
              <a:rPr lang="zh-CN" altLang="zh-CN" sz="1800" dirty="0">
                <a:solidFill>
                  <a:srgbClr val="1369B2"/>
                </a:solidFill>
                <a:latin typeface="Microsoft YaHei" panose="020B0503020204020204" pitchFamily="34" charset="-122"/>
                <a:ea typeface="Microsoft YaHei" panose="020B0503020204020204" pitchFamily="34" charset="-122"/>
              </a:rPr>
              <a:t>属性</a:t>
            </a:r>
            <a:r>
              <a:rPr lang="zh-CN" altLang="zh-CN" sz="1800" dirty="0" smtClean="0">
                <a:solidFill>
                  <a:srgbClr val="1369B2"/>
                </a:solidFill>
                <a:latin typeface="Microsoft YaHei" panose="020B0503020204020204" pitchFamily="34" charset="-122"/>
                <a:ea typeface="Microsoft YaHei" panose="020B0503020204020204" pitchFamily="34" charset="-122"/>
              </a:rPr>
              <a:t>用于</a:t>
            </a:r>
            <a:r>
              <a:rPr lang="zh-CN" altLang="en-US" sz="1800" dirty="0" smtClean="0">
                <a:solidFill>
                  <a:srgbClr val="1369B2"/>
                </a:solidFill>
                <a:latin typeface="Microsoft YaHei" panose="020B0503020204020204" pitchFamily="34" charset="-122"/>
                <a:ea typeface="Microsoft YaHei" panose="020B0503020204020204" pitchFamily="34" charset="-122"/>
              </a:rPr>
              <a:t>延后执行，即</a:t>
            </a:r>
            <a:r>
              <a:rPr lang="zh-CN" altLang="zh-CN" sz="1800" dirty="0" smtClean="0">
                <a:solidFill>
                  <a:srgbClr val="1369B2"/>
                </a:solidFill>
                <a:latin typeface="Microsoft YaHei" panose="020B0503020204020204" pitchFamily="34" charset="-122"/>
                <a:ea typeface="Microsoft YaHei" panose="020B0503020204020204" pitchFamily="34" charset="-122"/>
              </a:rPr>
              <a:t>先</a:t>
            </a:r>
            <a:r>
              <a:rPr lang="zh-CN" altLang="zh-CN" sz="1800" dirty="0">
                <a:solidFill>
                  <a:srgbClr val="1369B2"/>
                </a:solidFill>
                <a:latin typeface="Microsoft YaHei" panose="020B0503020204020204" pitchFamily="34" charset="-122"/>
                <a:ea typeface="Microsoft YaHei" panose="020B0503020204020204" pitchFamily="34" charset="-122"/>
              </a:rPr>
              <a:t>下载文件</a:t>
            </a:r>
            <a:r>
              <a:rPr lang="zh-CN" altLang="zh-CN" sz="1800" dirty="0">
                <a:solidFill>
                  <a:srgbClr val="595959"/>
                </a:solidFill>
                <a:latin typeface="Microsoft YaHei" panose="020B0503020204020204" pitchFamily="34" charset="-122"/>
                <a:ea typeface="Microsoft YaHei" panose="020B0503020204020204" pitchFamily="34" charset="-122"/>
              </a:rPr>
              <a:t>，不阻塞其他代码运行，直到网页加载完成后再运行，示例代码如下。</a:t>
            </a:r>
          </a:p>
        </p:txBody>
      </p:sp>
      <p:sp>
        <p:nvSpPr>
          <p:cNvPr id="20" name="文本框 19">
            <a:extLst>
              <a:ext uri="{FF2B5EF4-FFF2-40B4-BE49-F238E27FC236}">
                <a16:creationId xmlns:a16="http://schemas.microsoft.com/office/drawing/2014/main" id="{2BD7E020-D0A4-47DE-BE0C-F3967B274E91}"/>
              </a:ext>
            </a:extLst>
          </p:cNvPr>
          <p:cNvSpPr txBox="1"/>
          <p:nvPr/>
        </p:nvSpPr>
        <p:spPr>
          <a:xfrm>
            <a:off x="2198110" y="5862033"/>
            <a:ext cx="8433600" cy="458908"/>
          </a:xfrm>
          <a:prstGeom prst="rect">
            <a:avLst/>
          </a:prstGeom>
          <a:solidFill>
            <a:srgbClr val="F2F2F2"/>
          </a:solidFill>
        </p:spPr>
        <p:txBody>
          <a:bodyPr wrap="square" rtlCol="0">
            <a:spAutoFit/>
          </a:bodyPr>
          <a:lstStyle/>
          <a:p>
            <a:pPr lvl="1">
              <a:lnSpc>
                <a:spcPct val="150000"/>
              </a:lnSpc>
            </a:pPr>
            <a:r>
              <a:rPr lang="en-US" altLang="zh-CN" sz="1800" smtClean="0">
                <a:solidFill>
                  <a:srgbClr val="595959"/>
                </a:solidFill>
                <a:latin typeface="微软雅黑" panose="020B0503020204020204" pitchFamily="34" charset="-122"/>
                <a:ea typeface="微软雅黑" panose="020B0503020204020204" pitchFamily="34" charset="-122"/>
                <a:cs typeface="+mn-ea"/>
              </a:rPr>
              <a:t>&lt;</a:t>
            </a:r>
            <a:r>
              <a:rPr lang="en-US" altLang="zh-CN" sz="1800">
                <a:solidFill>
                  <a:srgbClr val="595959"/>
                </a:solidFill>
                <a:latin typeface="微软雅黑" panose="020B0503020204020204" pitchFamily="34" charset="-122"/>
                <a:ea typeface="微软雅黑" panose="020B0503020204020204" pitchFamily="34" charset="-122"/>
                <a:cs typeface="+mn-ea"/>
              </a:rPr>
              <a:t>script src="file.js" defer&gt;&lt;/script&gt;</a:t>
            </a:r>
            <a:endParaRPr lang="zh-CN" altLang="zh-CN" sz="18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229484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10630" y="2231474"/>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常用的输入输出语句</a:t>
            </a:r>
            <a:r>
              <a:rPr lang="zh-CN" altLang="zh-CN" sz="2000" dirty="0">
                <a:solidFill>
                  <a:srgbClr val="595959"/>
                </a:solidFill>
                <a:latin typeface="微软雅黑" panose="020B0503020204020204" pitchFamily="34" charset="-122"/>
                <a:ea typeface="微软雅黑" panose="020B0503020204020204" pitchFamily="34" charset="-122"/>
                <a:cs typeface="+mn-ea"/>
              </a:rPr>
              <a:t>，能够灵活运用</a:t>
            </a:r>
            <a:r>
              <a:rPr lang="en-US" altLang="zh-CN" sz="2000" dirty="0">
                <a:solidFill>
                  <a:srgbClr val="1369B2"/>
                </a:solidFill>
                <a:latin typeface="微软雅黑" panose="020B0503020204020204" pitchFamily="34" charset="-122"/>
                <a:ea typeface="微软雅黑" panose="020B0503020204020204" pitchFamily="34" charset="-122"/>
                <a:cs typeface="+mn-ea"/>
              </a:rPr>
              <a:t>prompt()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alert()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document.write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console.log</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语句</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9894783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10630" y="1218179"/>
            <a:ext cx="10369152"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实际开发中，为了方便数据的输入和输出，</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提供了输入输出语句</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常用</a:t>
            </a:r>
            <a:r>
              <a:rPr lang="zh-CN" altLang="zh-CN" sz="2000" dirty="0">
                <a:solidFill>
                  <a:srgbClr val="1369B2"/>
                </a:solidFill>
                <a:latin typeface="微软雅黑" panose="020B0503020204020204" pitchFamily="34" charset="-122"/>
                <a:ea typeface="微软雅黑" panose="020B0503020204020204" pitchFamily="34" charset="-122"/>
                <a:cs typeface="+mn-ea"/>
              </a:rPr>
              <a:t>的输入输出语句</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表</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所示。</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10" name="表格 9">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1699059623"/>
              </p:ext>
            </p:extLst>
          </p:nvPr>
        </p:nvGraphicFramePr>
        <p:xfrm>
          <a:off x="1950382" y="2709714"/>
          <a:ext cx="8001615" cy="3060340"/>
        </p:xfrm>
        <a:graphic>
          <a:graphicData uri="http://schemas.openxmlformats.org/drawingml/2006/table">
            <a:tbl>
              <a:tblPr>
                <a:tableStyleId>{7DF18680-E054-41AD-8BC1-D1AEF772440D}</a:tableStyleId>
              </a:tblPr>
              <a:tblGrid>
                <a:gridCol w="1664911">
                  <a:extLst>
                    <a:ext uri="{9D8B030D-6E8A-4147-A177-3AD203B41FA5}">
                      <a16:colId xmlns:a16="http://schemas.microsoft.com/office/drawing/2014/main" val="394377544"/>
                    </a:ext>
                  </a:extLst>
                </a:gridCol>
                <a:gridCol w="2664296">
                  <a:extLst>
                    <a:ext uri="{9D8B030D-6E8A-4147-A177-3AD203B41FA5}">
                      <a16:colId xmlns:a16="http://schemas.microsoft.com/office/drawing/2014/main" val="1296770823"/>
                    </a:ext>
                  </a:extLst>
                </a:gridCol>
                <a:gridCol w="3672408">
                  <a:extLst>
                    <a:ext uri="{9D8B030D-6E8A-4147-A177-3AD203B41FA5}">
                      <a16:colId xmlns:a16="http://schemas.microsoft.com/office/drawing/2014/main" val="1945888999"/>
                    </a:ext>
                  </a:extLst>
                </a:gridCol>
              </a:tblGrid>
              <a:tr h="612068">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类型</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语句</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0000"/>
                  </a:ext>
                </a:extLst>
              </a:tr>
              <a:tr h="612068">
                <a:tc>
                  <a:txBody>
                    <a:bodyPr/>
                    <a:lstStyle/>
                    <a:p>
                      <a:pPr marL="0" indent="127000" algn="ctr" defTabSz="1219200" rtl="0" eaLnBrk="1" latinLnBrk="0" hangingPunct="1">
                        <a:spcAft>
                          <a:spcPts val="0"/>
                        </a:spcAft>
                      </a:pPr>
                      <a:r>
                        <a:rPr lang="zh-CN" altLang="en-US"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输入</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prompt()</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在网页中弹出输入框</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141778534"/>
                  </a:ext>
                </a:extLst>
              </a:tr>
              <a:tr h="612068">
                <a:tc rowSpan="3">
                  <a:txBody>
                    <a:bodyPr/>
                    <a:lstStyle/>
                    <a:p>
                      <a:pPr indent="127000" algn="ctr">
                        <a:spcAft>
                          <a:spcPts val="0"/>
                        </a:spcAft>
                      </a:pPr>
                      <a:r>
                        <a:rPr lang="zh-CN" altLang="en-US"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输出</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alert()</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在网页中弹出警告框</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3260076697"/>
                  </a:ext>
                </a:extLst>
              </a:tr>
              <a:tr h="612068">
                <a:tc vMerge="1">
                  <a:txBody>
                    <a:bodyPr/>
                    <a:lstStyle/>
                    <a:p>
                      <a:pPr indent="127000" algn="ctr">
                        <a:spcAft>
                          <a:spcPts val="0"/>
                        </a:spcAft>
                      </a:pP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en-US"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document.write()</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在网页</a:t>
                      </a:r>
                      <a:r>
                        <a:rPr lang="zh-CN" altLang="en-US"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中输出内容</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2850073451"/>
                  </a:ext>
                </a:extLst>
              </a:tr>
              <a:tr h="612068">
                <a:tc vMerge="1">
                  <a:txBody>
                    <a:bodyPr/>
                    <a:lstStyle/>
                    <a:p>
                      <a:pPr indent="127000" algn="ctr">
                        <a:spcAft>
                          <a:spcPts val="0"/>
                        </a:spcAft>
                      </a:pP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console.log()</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ctr" defTabSz="1219200" rtl="0" eaLnBrk="1" latinLnBrk="0" hangingPunct="1">
                        <a:spcAft>
                          <a:spcPts val="0"/>
                        </a:spcAft>
                      </a:pP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控制台</a:t>
                      </a:r>
                      <a:r>
                        <a:rPr lang="zh-CN"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中</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输出内容</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extLst>
                  <a:ext uri="{0D108BD9-81ED-4DB2-BD59-A6C34878D82A}">
                    <a16:rowId xmlns:a16="http://schemas.microsoft.com/office/drawing/2014/main" val="2980835038"/>
                  </a:ext>
                </a:extLst>
              </a:tr>
            </a:tbl>
          </a:graphicData>
        </a:graphic>
      </p:graphicFrame>
    </p:spTree>
    <p:extLst>
      <p:ext uri="{BB962C8B-B14F-4D97-AF65-F5344CB8AC3E}">
        <p14:creationId xmlns:p14="http://schemas.microsoft.com/office/powerpoint/2010/main" val="3462801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849128"/>
            <a:ext cx="9937104"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prompt()</a:t>
            </a:r>
            <a:r>
              <a:rPr lang="zh-CN" altLang="zh-CN" sz="2000" dirty="0">
                <a:solidFill>
                  <a:srgbClr val="595959"/>
                </a:solidFill>
                <a:latin typeface="微软雅黑" panose="020B0503020204020204" pitchFamily="34" charset="-122"/>
                <a:ea typeface="微软雅黑" panose="020B0503020204020204" pitchFamily="34" charset="-122"/>
                <a:cs typeface="+mn-ea"/>
              </a:rPr>
              <a:t>语句实现在网页中弹出一个</a:t>
            </a:r>
            <a:r>
              <a:rPr lang="zh-CN" altLang="zh-CN" sz="2000" dirty="0">
                <a:solidFill>
                  <a:srgbClr val="1369B2"/>
                </a:solidFill>
                <a:latin typeface="微软雅黑" panose="020B0503020204020204" pitchFamily="34" charset="-122"/>
                <a:ea typeface="微软雅黑" panose="020B0503020204020204" pitchFamily="34" charset="-122"/>
                <a:cs typeface="+mn-ea"/>
              </a:rPr>
              <a:t>带有提示信息的输入框</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43690" y="1115504"/>
            <a:ext cx="214320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1</a:t>
            </a:r>
            <a:r>
              <a:rPr lang="en-US" altLang="zh-CN" sz="2000" smtClean="0">
                <a:solidFill>
                  <a:srgbClr val="FFFFFF"/>
                </a:solidFill>
                <a:latin typeface="微软雅黑" panose="020B0503020204020204" pitchFamily="34" charset="-122"/>
                <a:ea typeface="微软雅黑" panose="020B0503020204020204" pitchFamily="34" charset="-122"/>
              </a:rPr>
              <a:t>. prompt()</a:t>
            </a:r>
            <a:r>
              <a:rPr lang="zh-CN" altLang="en-US" sz="2000" smtClean="0">
                <a:solidFill>
                  <a:srgbClr val="FFFFFF"/>
                </a:solidFill>
                <a:latin typeface="微软雅黑" panose="020B0503020204020204" pitchFamily="34" charset="-122"/>
                <a:ea typeface="微软雅黑" panose="020B0503020204020204" pitchFamily="34" charset="-122"/>
              </a:rPr>
              <a:t>语句</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310453" y="2637706"/>
            <a:ext cx="6881097"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prompt</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请输入手机号：</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2878" y="3493478"/>
            <a:ext cx="5585944" cy="2629128"/>
          </a:xfrm>
          <a:prstGeom prst="rect">
            <a:avLst/>
          </a:prstGeom>
        </p:spPr>
      </p:pic>
    </p:spTree>
    <p:extLst>
      <p:ext uri="{BB962C8B-B14F-4D97-AF65-F5344CB8AC3E}">
        <p14:creationId xmlns:p14="http://schemas.microsoft.com/office/powerpoint/2010/main" val="1094895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846734" y="1796694"/>
            <a:ext cx="7344816"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alert</a:t>
            </a:r>
            <a:r>
              <a:rPr lang="en-US" altLang="zh-CN" sz="2000" smtClean="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语句实现在网页中弹出一</a:t>
            </a:r>
            <a:r>
              <a:rPr lang="zh-CN" altLang="zh-CN" sz="2000" smtClean="0">
                <a:solidFill>
                  <a:srgbClr val="595959"/>
                </a:solidFill>
                <a:latin typeface="微软雅黑" panose="020B0503020204020204" pitchFamily="34" charset="-122"/>
                <a:ea typeface="微软雅黑" panose="020B0503020204020204" pitchFamily="34" charset="-122"/>
                <a:cs typeface="+mn-ea"/>
              </a:rPr>
              <a:t>个</a:t>
            </a:r>
            <a:r>
              <a:rPr lang="zh-CN" altLang="en-US" sz="2000" smtClean="0">
                <a:solidFill>
                  <a:srgbClr val="1369B2"/>
                </a:solidFill>
                <a:latin typeface="微软雅黑" panose="020B0503020204020204" pitchFamily="34" charset="-122"/>
                <a:ea typeface="微软雅黑" panose="020B0503020204020204" pitchFamily="34" charset="-122"/>
                <a:cs typeface="+mn-ea"/>
              </a:rPr>
              <a:t>警告框</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43690" y="1115504"/>
            <a:ext cx="214320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2. </a:t>
            </a:r>
            <a:r>
              <a:rPr lang="en-US" altLang="zh-CN" sz="2000" dirty="0">
                <a:solidFill>
                  <a:srgbClr val="FFFFFF"/>
                </a:solidFill>
                <a:latin typeface="微软雅黑" panose="020B0503020204020204" pitchFamily="34" charset="-122"/>
                <a:ea typeface="微软雅黑" panose="020B0503020204020204" pitchFamily="34" charset="-122"/>
              </a:rPr>
              <a:t>alert</a:t>
            </a:r>
            <a:r>
              <a:rPr lang="en-US" altLang="zh-CN" sz="2000" dirty="0" smtClean="0">
                <a:solidFill>
                  <a:srgbClr val="FFFFFF"/>
                </a:solidFill>
                <a:latin typeface="微软雅黑" panose="020B0503020204020204" pitchFamily="34" charset="-122"/>
                <a:ea typeface="微软雅黑" panose="020B0503020204020204" pitchFamily="34" charset="-122"/>
              </a:rPr>
              <a:t>()</a:t>
            </a:r>
            <a:r>
              <a:rPr lang="zh-CN" altLang="en-US" sz="2000" dirty="0" smtClean="0">
                <a:solidFill>
                  <a:srgbClr val="FFFFFF"/>
                </a:solidFill>
                <a:latin typeface="微软雅黑" panose="020B0503020204020204" pitchFamily="34" charset="-122"/>
                <a:ea typeface="微软雅黑" panose="020B0503020204020204" pitchFamily="34" charset="-122"/>
              </a:rPr>
              <a:t>语句</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1852909" y="2585398"/>
            <a:ext cx="7554665" cy="553998"/>
          </a:xfrm>
          <a:prstGeom prst="rect">
            <a:avLst/>
          </a:prstGeom>
          <a:solidFill>
            <a:srgbClr val="F2F2F2"/>
          </a:solidFill>
        </p:spPr>
        <p:txBody>
          <a:bodyPr wrap="square" rtlCol="0">
            <a:spAutoFit/>
          </a:bodyPr>
          <a:lstStyle/>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alert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这是一个警告框</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0677" y="3429794"/>
            <a:ext cx="5976664" cy="2600466"/>
          </a:xfrm>
          <a:prstGeom prst="rect">
            <a:avLst/>
          </a:prstGeom>
        </p:spPr>
      </p:pic>
    </p:spTree>
    <p:extLst>
      <p:ext uri="{BB962C8B-B14F-4D97-AF65-F5344CB8AC3E}">
        <p14:creationId xmlns:p14="http://schemas.microsoft.com/office/powerpoint/2010/main" val="3477300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283520" y="1822763"/>
            <a:ext cx="9992076"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document.write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语句时，如果</a:t>
            </a:r>
            <a:r>
              <a:rPr lang="zh-CN" altLang="zh-CN" sz="2000" dirty="0">
                <a:solidFill>
                  <a:srgbClr val="1369B2"/>
                </a:solidFill>
                <a:latin typeface="微软雅黑" panose="020B0503020204020204" pitchFamily="34" charset="-122"/>
                <a:ea typeface="微软雅黑" panose="020B0503020204020204" pitchFamily="34" charset="-122"/>
                <a:cs typeface="+mn-ea"/>
              </a:rPr>
              <a:t>输出内容中含有</a:t>
            </a:r>
            <a:r>
              <a:rPr lang="en-US" altLang="zh-CN" sz="2000" dirty="0">
                <a:solidFill>
                  <a:srgbClr val="1369B2"/>
                </a:solidFill>
                <a:latin typeface="微软雅黑" panose="020B0503020204020204" pitchFamily="34" charset="-122"/>
                <a:ea typeface="微软雅黑" panose="020B0503020204020204" pitchFamily="34" charset="-122"/>
                <a:cs typeface="+mn-ea"/>
              </a:rPr>
              <a:t>HTML</a:t>
            </a:r>
            <a:r>
              <a:rPr lang="zh-CN" altLang="zh-CN" sz="2000" dirty="0">
                <a:solidFill>
                  <a:srgbClr val="1369B2"/>
                </a:solidFill>
                <a:latin typeface="微软雅黑" panose="020B0503020204020204" pitchFamily="34" charset="-122"/>
                <a:ea typeface="微软雅黑" panose="020B0503020204020204" pitchFamily="34" charset="-122"/>
                <a:cs typeface="+mn-ea"/>
              </a:rPr>
              <a:t>标签</a:t>
            </a:r>
            <a:r>
              <a:rPr lang="zh-CN" altLang="zh-CN" sz="2000" dirty="0">
                <a:solidFill>
                  <a:srgbClr val="595959"/>
                </a:solidFill>
                <a:latin typeface="微软雅黑" panose="020B0503020204020204" pitchFamily="34" charset="-122"/>
                <a:ea typeface="微软雅黑" panose="020B0503020204020204" pitchFamily="34" charset="-122"/>
                <a:cs typeface="+mn-ea"/>
              </a:rPr>
              <a:t>，则</a:t>
            </a:r>
            <a:r>
              <a:rPr lang="zh-CN" altLang="zh-CN" sz="2000" dirty="0">
                <a:solidFill>
                  <a:srgbClr val="1369B2"/>
                </a:solidFill>
                <a:latin typeface="微软雅黑" panose="020B0503020204020204" pitchFamily="34" charset="-122"/>
                <a:ea typeface="微软雅黑" panose="020B0503020204020204" pitchFamily="34" charset="-122"/>
                <a:cs typeface="+mn-ea"/>
              </a:rPr>
              <a:t>输出内容会被浏览器解析</a:t>
            </a:r>
            <a:r>
              <a:rPr lang="zh-CN" altLang="zh-CN" sz="2000" dirty="0">
                <a:solidFill>
                  <a:srgbClr val="595959"/>
                </a:solidFill>
                <a:latin typeface="微软雅黑" panose="020B0503020204020204" pitchFamily="34" charset="-122"/>
                <a:ea typeface="微软雅黑" panose="020B0503020204020204" pitchFamily="34" charset="-122"/>
                <a:cs typeface="+mn-ea"/>
              </a:rPr>
              <a:t>。下面使用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document.write</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语句在页面中输出</a:t>
            </a:r>
            <a:r>
              <a:rPr lang="zh-CN" altLang="zh-CN" sz="2000" dirty="0">
                <a:solidFill>
                  <a:srgbClr val="1369B2"/>
                </a:solidFill>
                <a:latin typeface="微软雅黑" panose="020B0503020204020204" pitchFamily="34" charset="-122"/>
                <a:ea typeface="微软雅黑" panose="020B0503020204020204" pitchFamily="34" charset="-122"/>
                <a:cs typeface="+mn-ea"/>
              </a:rPr>
              <a:t>“谁知盘中餐，粒粒皆辛苦。”</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43690" y="1115504"/>
            <a:ext cx="322332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3. </a:t>
            </a:r>
            <a:r>
              <a:rPr lang="en-US" altLang="zh-CN" sz="2000" dirty="0" err="1" smtClean="0">
                <a:solidFill>
                  <a:srgbClr val="FFFFFF"/>
                </a:solidFill>
                <a:latin typeface="微软雅黑" panose="020B0503020204020204" pitchFamily="34" charset="-122"/>
                <a:ea typeface="微软雅黑" panose="020B0503020204020204" pitchFamily="34" charset="-122"/>
              </a:rPr>
              <a:t>document.write</a:t>
            </a:r>
            <a:r>
              <a:rPr lang="en-US" altLang="zh-CN" sz="2000" dirty="0" smtClean="0">
                <a:solidFill>
                  <a:srgbClr val="FFFFFF"/>
                </a:solidFill>
                <a:latin typeface="微软雅黑" panose="020B0503020204020204" pitchFamily="34" charset="-122"/>
                <a:ea typeface="微软雅黑" panose="020B0503020204020204" pitchFamily="34" charset="-122"/>
              </a:rPr>
              <a:t>()</a:t>
            </a:r>
            <a:r>
              <a:rPr lang="zh-CN" altLang="en-US" sz="2000" dirty="0" smtClean="0">
                <a:solidFill>
                  <a:srgbClr val="FFFFFF"/>
                </a:solidFill>
                <a:latin typeface="微软雅黑" panose="020B0503020204020204" pitchFamily="34" charset="-122"/>
                <a:ea typeface="微软雅黑" panose="020B0503020204020204" pitchFamily="34" charset="-122"/>
              </a:rPr>
              <a:t>语句</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062758" y="3534067"/>
            <a:ext cx="7488832"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document.write</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谁知盘中餐，粒粒皆辛苦。</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2878" y="4365898"/>
            <a:ext cx="5760640" cy="1632181"/>
          </a:xfrm>
          <a:prstGeom prst="rect">
            <a:avLst/>
          </a:prstGeom>
        </p:spPr>
      </p:pic>
    </p:spTree>
    <p:extLst>
      <p:ext uri="{BB962C8B-B14F-4D97-AF65-F5344CB8AC3E}">
        <p14:creationId xmlns:p14="http://schemas.microsoft.com/office/powerpoint/2010/main" val="2129834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3690" y="1773610"/>
            <a:ext cx="956002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console.log()</a:t>
            </a:r>
            <a:r>
              <a:rPr lang="zh-CN" altLang="zh-CN" sz="2000" dirty="0">
                <a:solidFill>
                  <a:srgbClr val="595959"/>
                </a:solidFill>
                <a:latin typeface="微软雅黑" panose="020B0503020204020204" pitchFamily="34" charset="-122"/>
                <a:ea typeface="微软雅黑" panose="020B0503020204020204" pitchFamily="34" charset="-122"/>
                <a:cs typeface="+mn-ea"/>
              </a:rPr>
              <a:t>语句在控制台中输出</a:t>
            </a:r>
            <a:r>
              <a:rPr lang="zh-CN" altLang="zh-CN" sz="2000" dirty="0">
                <a:solidFill>
                  <a:srgbClr val="1369B2"/>
                </a:solidFill>
                <a:latin typeface="微软雅黑" panose="020B0503020204020204" pitchFamily="34" charset="-122"/>
                <a:ea typeface="微软雅黑" panose="020B0503020204020204" pitchFamily="34" charset="-122"/>
                <a:cs typeface="+mn-ea"/>
              </a:rPr>
              <a:t>“一年之计在于春，一日之计在于晨。”</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43690" y="1115504"/>
            <a:ext cx="322332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FFFFF"/>
                </a:solidFill>
                <a:latin typeface="微软雅黑" panose="020B0503020204020204" pitchFamily="34" charset="-122"/>
                <a:ea typeface="微软雅黑" panose="020B0503020204020204" pitchFamily="34" charset="-122"/>
              </a:rPr>
              <a:t>4</a:t>
            </a:r>
            <a:r>
              <a:rPr lang="en-US" altLang="zh-CN" sz="2000" smtClean="0">
                <a:solidFill>
                  <a:srgbClr val="FFFFFF"/>
                </a:solidFill>
                <a:latin typeface="微软雅黑" panose="020B0503020204020204" pitchFamily="34" charset="-122"/>
                <a:ea typeface="微软雅黑" panose="020B0503020204020204" pitchFamily="34" charset="-122"/>
              </a:rPr>
              <a:t>. console.log()</a:t>
            </a:r>
            <a:r>
              <a:rPr lang="zh-CN" altLang="en-US" sz="2000" smtClean="0">
                <a:solidFill>
                  <a:srgbClr val="FFFFFF"/>
                </a:solidFill>
                <a:latin typeface="微软雅黑" panose="020B0503020204020204" pitchFamily="34" charset="-122"/>
                <a:ea typeface="微软雅黑" panose="020B0503020204020204" pitchFamily="34" charset="-122"/>
              </a:rPr>
              <a:t>语句</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1982086" y="2925738"/>
            <a:ext cx="7497496" cy="553998"/>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一年之计在于春，一日之计在于晨。</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950" y="3789834"/>
            <a:ext cx="4852023" cy="2304407"/>
          </a:xfrm>
          <a:prstGeom prst="rect">
            <a:avLst/>
          </a:prstGeom>
        </p:spPr>
      </p:pic>
    </p:spTree>
    <p:extLst>
      <p:ext uri="{BB962C8B-B14F-4D97-AF65-F5344CB8AC3E}">
        <p14:creationId xmlns:p14="http://schemas.microsoft.com/office/powerpoint/2010/main" val="274126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302706" y="2508989"/>
            <a:ext cx="10193099"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595959"/>
                </a:solidFill>
                <a:latin typeface="微软雅黑" panose="020B0503020204020204" pitchFamily="34" charset="-122"/>
                <a:ea typeface="微软雅黑" panose="020B0503020204020204" pitchFamily="34" charset="-122"/>
                <a:cs typeface="+mn-ea"/>
              </a:rPr>
              <a:t>输出的内容中</a:t>
            </a:r>
            <a:r>
              <a:rPr lang="zh-CN" altLang="zh-CN" sz="2000" dirty="0">
                <a:solidFill>
                  <a:srgbClr val="1369B2"/>
                </a:solidFill>
                <a:latin typeface="微软雅黑" panose="020B0503020204020204" pitchFamily="34" charset="-122"/>
                <a:ea typeface="微软雅黑" panose="020B0503020204020204" pitchFamily="34" charset="-122"/>
                <a:cs typeface="+mn-ea"/>
              </a:rPr>
              <a:t>包含</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结束标签</a:t>
            </a:r>
            <a:r>
              <a:rPr lang="zh-CN" altLang="zh-CN" sz="2000" dirty="0">
                <a:solidFill>
                  <a:srgbClr val="595959"/>
                </a:solidFill>
                <a:latin typeface="微软雅黑" panose="020B0503020204020204" pitchFamily="34" charset="-122"/>
                <a:ea typeface="微软雅黑" panose="020B0503020204020204" pitchFamily="34" charset="-122"/>
                <a:cs typeface="+mn-ea"/>
              </a:rPr>
              <a:t>，则会导致</a:t>
            </a:r>
            <a:r>
              <a:rPr lang="zh-CN" altLang="zh-CN" sz="2000" dirty="0">
                <a:solidFill>
                  <a:srgbClr val="1369B2"/>
                </a:solidFill>
                <a:latin typeface="微软雅黑" panose="020B0503020204020204" pitchFamily="34" charset="-122"/>
                <a:ea typeface="微软雅黑" panose="020B0503020204020204" pitchFamily="34" charset="-122"/>
                <a:cs typeface="+mn-ea"/>
              </a:rPr>
              <a:t>代码提前结束</a:t>
            </a:r>
            <a:r>
              <a:rPr lang="zh-CN" altLang="zh-CN" sz="2000" dirty="0">
                <a:solidFill>
                  <a:srgbClr val="595959"/>
                </a:solidFill>
                <a:latin typeface="微软雅黑" panose="020B0503020204020204" pitchFamily="34" charset="-122"/>
                <a:ea typeface="微软雅黑" panose="020B0503020204020204" pitchFamily="34" charset="-122"/>
                <a:cs typeface="+mn-ea"/>
              </a:rPr>
              <a:t>。若要解决这个问题，需要</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”对结束标签的“</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”进行转义</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即</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使用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&lt;\/script&gt;</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13" name="Title 1"/>
          <p:cNvSpPr txBox="1"/>
          <p:nvPr/>
        </p:nvSpPr>
        <p:spPr>
          <a:xfrm>
            <a:off x="1143690" y="266995"/>
            <a:ext cx="538356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常用的输入输出语句</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8" name="图形 28" descr="灯泡和齿轮"/>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03300" y="1334042"/>
            <a:ext cx="944034" cy="944034"/>
          </a:xfrm>
          <a:prstGeom prst="rect">
            <a:avLst/>
          </a:prstGeom>
        </p:spPr>
      </p:pic>
      <p:sp>
        <p:nvSpPr>
          <p:cNvPr id="9" name="矩形 8"/>
          <p:cNvSpPr/>
          <p:nvPr/>
        </p:nvSpPr>
        <p:spPr>
          <a:xfrm>
            <a:off x="2181859" y="1470660"/>
            <a:ext cx="4911120" cy="7080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文本框 35"/>
          <p:cNvSpPr txBox="1"/>
          <p:nvPr/>
        </p:nvSpPr>
        <p:spPr>
          <a:xfrm>
            <a:off x="2206624" y="1622784"/>
            <a:ext cx="4886355" cy="400110"/>
          </a:xfrm>
          <a:prstGeom prst="rect">
            <a:avLst/>
          </a:prstGeom>
          <a:solidFill>
            <a:srgbClr val="C00000"/>
          </a:solidFill>
        </p:spPr>
        <p:txBody>
          <a:bodyPr wrap="square" rtlCol="0">
            <a:spAutoFit/>
          </a:bodyPr>
          <a:lstStyle/>
          <a:p>
            <a:pPr algn="dist"/>
            <a:r>
              <a:rPr lang="zh-CN" altLang="en-US" sz="200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输出内容包含</a:t>
            </a:r>
            <a:r>
              <a:rPr lang="en-US" altLang="zh-CN" sz="200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JavaScript</a:t>
            </a:r>
            <a:r>
              <a:rPr lang="zh-CN" altLang="en-US" sz="200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结束标签的情况</a:t>
            </a:r>
            <a:endParaRPr sz="200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 name="矩形 10"/>
          <p:cNvSpPr/>
          <p:nvPr/>
        </p:nvSpPr>
        <p:spPr>
          <a:xfrm>
            <a:off x="7209756" y="1468239"/>
            <a:ext cx="83127" cy="7092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4" name="矩形 13"/>
          <p:cNvSpPr/>
          <p:nvPr/>
        </p:nvSpPr>
        <p:spPr>
          <a:xfrm>
            <a:off x="7394945" y="1468239"/>
            <a:ext cx="83127" cy="7092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custDataLst>
              <p:tags r:id="rId1"/>
            </p:custDataLst>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脚下留心</a:t>
            </a:r>
          </a:p>
        </p:txBody>
      </p:sp>
      <p:sp>
        <p:nvSpPr>
          <p:cNvPr id="16" name="文本框 15">
            <a:extLst>
              <a:ext uri="{FF2B5EF4-FFF2-40B4-BE49-F238E27FC236}">
                <a16:creationId xmlns:a16="http://schemas.microsoft.com/office/drawing/2014/main" id="{2BD7E020-D0A4-47DE-BE0C-F3967B274E91}"/>
              </a:ext>
            </a:extLst>
          </p:cNvPr>
          <p:cNvSpPr txBox="1"/>
          <p:nvPr/>
        </p:nvSpPr>
        <p:spPr>
          <a:xfrm>
            <a:off x="2134766" y="3933850"/>
            <a:ext cx="8433600" cy="499624"/>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document.write</a:t>
            </a:r>
            <a:r>
              <a:rPr lang="en-US" altLang="zh-CN" sz="2000" dirty="0">
                <a:solidFill>
                  <a:srgbClr val="595959"/>
                </a:solidFill>
                <a:latin typeface="微软雅黑" panose="020B0503020204020204" pitchFamily="34" charset="-122"/>
                <a:ea typeface="微软雅黑" panose="020B0503020204020204" pitchFamily="34" charset="-122"/>
                <a:cs typeface="+mn-ea"/>
              </a:rPr>
              <a:t>('&lt;script&gt;alert(1);&lt;\/script&gt;');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414686" y="4725938"/>
            <a:ext cx="10009110"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运行</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上述</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示例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后，页面中会弹出一个警告框。如果没有使用“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”对结束</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标签</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进行</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转义，</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则</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script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&gt;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会</a:t>
            </a:r>
            <a:r>
              <a:rPr lang="zh-CN" altLang="zh-CN" sz="2000" dirty="0">
                <a:solidFill>
                  <a:srgbClr val="595959"/>
                </a:solidFill>
                <a:latin typeface="微软雅黑" panose="020B0503020204020204" pitchFamily="34" charset="-122"/>
                <a:ea typeface="微软雅黑" panose="020B0503020204020204" pitchFamily="34" charset="-122"/>
                <a:cs typeface="+mn-ea"/>
              </a:rPr>
              <a:t>被当成结束标签</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使得</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页面</a:t>
            </a:r>
            <a:r>
              <a:rPr lang="zh-CN" altLang="zh-CN" sz="2000" dirty="0">
                <a:solidFill>
                  <a:srgbClr val="595959"/>
                </a:solidFill>
                <a:latin typeface="微软雅黑" panose="020B0503020204020204" pitchFamily="34" charset="-122"/>
                <a:ea typeface="微软雅黑" panose="020B0503020204020204" pitchFamily="34" charset="-122"/>
                <a:cs typeface="+mn-ea"/>
              </a:rPr>
              <a:t>不会弹出警告框，程序会报错。</a:t>
            </a:r>
          </a:p>
        </p:txBody>
      </p:sp>
    </p:spTree>
    <p:extLst>
      <p:ext uri="{BB962C8B-B14F-4D97-AF65-F5344CB8AC3E}">
        <p14:creationId xmlns:p14="http://schemas.microsoft.com/office/powerpoint/2010/main" val="2920993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注释的使用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，能够合理运用</a:t>
            </a:r>
            <a:r>
              <a:rPr lang="zh-CN" altLang="zh-CN" sz="2000" dirty="0">
                <a:solidFill>
                  <a:srgbClr val="1369B2"/>
                </a:solidFill>
                <a:latin typeface="微软雅黑" panose="020B0503020204020204" pitchFamily="34" charset="-122"/>
                <a:ea typeface="微软雅黑" panose="020B0503020204020204" pitchFamily="34" charset="-122"/>
                <a:cs typeface="+mn-ea"/>
              </a:rPr>
              <a:t>单行注释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多行注释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增强代码的可读性</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22332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注释</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083229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7" y="1985403"/>
            <a:ext cx="6236319" cy="3170982"/>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237955" y="2180526"/>
              <a:ext cx="6246208" cy="3084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注释</a:t>
              </a:r>
              <a:r>
                <a:rPr lang="zh-CN" altLang="zh-CN" sz="2000">
                  <a:solidFill>
                    <a:srgbClr val="595959"/>
                  </a:solidFill>
                  <a:latin typeface="微软雅黑" panose="020B0503020204020204" pitchFamily="34" charset="-122"/>
                  <a:ea typeface="微软雅黑" panose="020B0503020204020204" pitchFamily="34" charset="-122"/>
                </a:rPr>
                <a:t>用于</a:t>
              </a:r>
              <a:r>
                <a:rPr lang="zh-CN" altLang="zh-CN" sz="2000">
                  <a:solidFill>
                    <a:srgbClr val="1369B2"/>
                  </a:solidFill>
                  <a:latin typeface="微软雅黑" panose="020B0503020204020204" pitchFamily="34" charset="-122"/>
                  <a:ea typeface="微软雅黑" panose="020B0503020204020204" pitchFamily="34" charset="-122"/>
                </a:rPr>
                <a:t>对代码进行解释和说明</a:t>
              </a:r>
              <a:r>
                <a:rPr lang="zh-CN" altLang="zh-CN" sz="2000">
                  <a:solidFill>
                    <a:srgbClr val="595959"/>
                  </a:solidFill>
                  <a:latin typeface="微软雅黑" panose="020B0503020204020204" pitchFamily="34" charset="-122"/>
                  <a:ea typeface="微软雅黑" panose="020B0503020204020204" pitchFamily="34" charset="-122"/>
                </a:rPr>
                <a:t>，其目的是让代码阅读者能够更加轻松地了解代码的</a:t>
              </a:r>
              <a:r>
                <a:rPr lang="zh-CN" altLang="zh-CN" sz="2000">
                  <a:solidFill>
                    <a:srgbClr val="1369B2"/>
                  </a:solidFill>
                  <a:latin typeface="微软雅黑" panose="020B0503020204020204" pitchFamily="34" charset="-122"/>
                  <a:ea typeface="微软雅黑" panose="020B0503020204020204" pitchFamily="34" charset="-122"/>
                </a:rPr>
                <a:t>设计逻辑</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用途</a:t>
              </a:r>
              <a:r>
                <a:rPr lang="zh-CN" altLang="zh-CN" sz="2000">
                  <a:solidFill>
                    <a:srgbClr val="595959"/>
                  </a:solidFill>
                  <a:latin typeface="微软雅黑" panose="020B0503020204020204" pitchFamily="34" charset="-122"/>
                  <a:ea typeface="微软雅黑" panose="020B0503020204020204" pitchFamily="34" charset="-122"/>
                </a:rPr>
                <a:t>等。在实际开发中，为了提高代码的</a:t>
              </a:r>
              <a:r>
                <a:rPr lang="zh-CN" altLang="zh-CN" sz="2000">
                  <a:solidFill>
                    <a:srgbClr val="1369B2"/>
                  </a:solidFill>
                  <a:latin typeface="微软雅黑" panose="020B0503020204020204" pitchFamily="34" charset="-122"/>
                  <a:ea typeface="微软雅黑" panose="020B0503020204020204" pitchFamily="34" charset="-122"/>
                </a:rPr>
                <a:t>可读性</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方便代码的维护</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升级</a:t>
              </a:r>
              <a:r>
                <a:rPr lang="zh-CN" altLang="zh-CN" sz="2000">
                  <a:solidFill>
                    <a:srgbClr val="595959"/>
                  </a:solidFill>
                  <a:latin typeface="微软雅黑" panose="020B0503020204020204" pitchFamily="34" charset="-122"/>
                  <a:ea typeface="微软雅黑" panose="020B0503020204020204" pitchFamily="34" charset="-122"/>
                </a:rPr>
                <a:t>，可以在编写</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代码时添加注释。</a:t>
              </a:r>
              <a:r>
                <a:rPr lang="zh-CN" altLang="zh-CN" sz="2000">
                  <a:solidFill>
                    <a:srgbClr val="1369B2"/>
                  </a:solidFill>
                  <a:latin typeface="微软雅黑" panose="020B0503020204020204" pitchFamily="34" charset="-122"/>
                  <a:ea typeface="微软雅黑" panose="020B0503020204020204" pitchFamily="34" charset="-122"/>
                </a:rPr>
                <a:t>注释在程序解析时会被</a:t>
              </a:r>
              <a:r>
                <a:rPr lang="en-US" altLang="zh-CN" sz="2000">
                  <a:solidFill>
                    <a:srgbClr val="1369B2"/>
                  </a:solidFill>
                  <a:latin typeface="微软雅黑" panose="020B0503020204020204" pitchFamily="34" charset="-122"/>
                  <a:ea typeface="微软雅黑" panose="020B0503020204020204" pitchFamily="34" charset="-122"/>
                </a:rPr>
                <a:t>JavaScript</a:t>
              </a:r>
              <a:r>
                <a:rPr lang="zh-CN" altLang="zh-CN" sz="2000">
                  <a:solidFill>
                    <a:srgbClr val="1369B2"/>
                  </a:solidFill>
                  <a:latin typeface="微软雅黑" panose="020B0503020204020204" pitchFamily="34" charset="-122"/>
                  <a:ea typeface="微软雅黑" panose="020B0503020204020204" pitchFamily="34" charset="-122"/>
                </a:rPr>
                <a:t>解释器忽略</a:t>
              </a:r>
              <a:r>
                <a:rPr lang="zh-CN" altLang="zh-CN" sz="2000">
                  <a:solidFill>
                    <a:srgbClr val="595959"/>
                  </a:solidFill>
                  <a:latin typeface="微软雅黑" panose="020B0503020204020204" pitchFamily="34" charset="-122"/>
                  <a:ea typeface="微软雅黑" panose="020B0503020204020204" pitchFamily="34" charset="-122"/>
                </a:rPr>
                <a:t>。</a:t>
              </a:r>
            </a:p>
          </p:txBody>
        </p:sp>
      </p:grpSp>
      <p:sp>
        <p:nvSpPr>
          <p:cNvPr id="11" name="Title 1"/>
          <p:cNvSpPr txBox="1"/>
          <p:nvPr/>
        </p:nvSpPr>
        <p:spPr>
          <a:xfrm>
            <a:off x="1143691" y="266995"/>
            <a:ext cx="322332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注释</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656855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3690" y="1917626"/>
            <a:ext cx="10208100"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单行</a:t>
            </a:r>
            <a:r>
              <a:rPr lang="zh-CN" altLang="zh-CN" sz="2000" dirty="0">
                <a:solidFill>
                  <a:srgbClr val="595959"/>
                </a:solidFill>
                <a:latin typeface="微软雅黑" panose="020B0503020204020204" pitchFamily="34" charset="-122"/>
                <a:ea typeface="微软雅黑" panose="020B0503020204020204" pitchFamily="34" charset="-122"/>
                <a:cs typeface="+mn-ea"/>
              </a:rPr>
              <a:t>注释以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开始，到该行结束之前的内容都是注释</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a:t>
            </a:r>
            <a:r>
              <a:rPr lang="zh-CN" altLang="zh-CN" sz="2000" dirty="0">
                <a:solidFill>
                  <a:srgbClr val="1369B2"/>
                </a:solidFill>
                <a:latin typeface="微软雅黑" panose="020B0503020204020204" pitchFamily="34" charset="-122"/>
                <a:ea typeface="微软雅黑" panose="020B0503020204020204" pitchFamily="34" charset="-122"/>
                <a:cs typeface="+mn-ea"/>
              </a:rPr>
              <a:t>单行注释的</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使用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矩形 4"/>
          <p:cNvSpPr/>
          <p:nvPr/>
        </p:nvSpPr>
        <p:spPr>
          <a:xfrm>
            <a:off x="1143690" y="1115504"/>
            <a:ext cx="156714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1</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单行注释</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016368" y="3223369"/>
            <a:ext cx="8433600" cy="553998"/>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prompt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请输入用户名：</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提示</a:t>
            </a:r>
            <a:r>
              <a:rPr lang="zh-CN" altLang="zh-CN" sz="2000" dirty="0">
                <a:solidFill>
                  <a:srgbClr val="595959"/>
                </a:solidFill>
                <a:latin typeface="微软雅黑" panose="020B0503020204020204" pitchFamily="34" charset="-122"/>
                <a:ea typeface="微软雅黑" panose="020B0503020204020204" pitchFamily="34" charset="-122"/>
                <a:cs typeface="+mn-ea"/>
              </a:rPr>
              <a:t>用户输入用户名</a:t>
            </a:r>
          </a:p>
        </p:txBody>
      </p:sp>
      <p:sp>
        <p:nvSpPr>
          <p:cNvPr id="4" name="矩形 3"/>
          <p:cNvSpPr/>
          <p:nvPr/>
        </p:nvSpPr>
        <p:spPr>
          <a:xfrm>
            <a:off x="1270670" y="4168901"/>
            <a:ext cx="10081120" cy="101566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上述</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示例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中，“</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”和后面的“提示用户输入用户名”是一条单行注释，运行代码后这部分内容</a:t>
            </a:r>
            <a:r>
              <a:rPr lang="zh-CN" altLang="zh-CN" sz="2000" dirty="0">
                <a:solidFill>
                  <a:srgbClr val="1369B2"/>
                </a:solidFill>
                <a:latin typeface="微软雅黑" panose="020B0503020204020204" pitchFamily="34" charset="-122"/>
                <a:ea typeface="微软雅黑" panose="020B0503020204020204" pitchFamily="34" charset="-122"/>
                <a:cs typeface="+mn-ea"/>
              </a:rPr>
              <a:t>不会在页面中显示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Title 1"/>
          <p:cNvSpPr txBox="1"/>
          <p:nvPr/>
        </p:nvSpPr>
        <p:spPr>
          <a:xfrm>
            <a:off x="1143691" y="266995"/>
            <a:ext cx="322332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注释</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825503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8964" y="1954549"/>
            <a:ext cx="10130817"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多</a:t>
            </a:r>
            <a:r>
              <a:rPr lang="zh-CN" altLang="zh-CN" sz="2000" dirty="0">
                <a:solidFill>
                  <a:srgbClr val="595959"/>
                </a:solidFill>
                <a:latin typeface="微软雅黑" panose="020B0503020204020204" pitchFamily="34" charset="-122"/>
                <a:ea typeface="微软雅黑" panose="020B0503020204020204" pitchFamily="34" charset="-122"/>
                <a:cs typeface="+mn-ea"/>
              </a:rPr>
              <a:t>行注释以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开始，以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结束。在多行注释中</a:t>
            </a:r>
            <a:r>
              <a:rPr lang="zh-CN" altLang="zh-CN" sz="2000" dirty="0">
                <a:solidFill>
                  <a:srgbClr val="1369B2"/>
                </a:solidFill>
                <a:latin typeface="微软雅黑" panose="020B0503020204020204" pitchFamily="34" charset="-122"/>
                <a:ea typeface="微软雅黑" panose="020B0503020204020204" pitchFamily="34" charset="-122"/>
                <a:cs typeface="+mn-ea"/>
              </a:rPr>
              <a:t>可以嵌套单行注释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，但</a:t>
            </a:r>
            <a:r>
              <a:rPr lang="zh-CN" altLang="zh-CN" sz="2000" dirty="0">
                <a:solidFill>
                  <a:srgbClr val="1369B2"/>
                </a:solidFill>
                <a:latin typeface="微软雅黑" panose="020B0503020204020204" pitchFamily="34" charset="-122"/>
                <a:ea typeface="微软雅黑" panose="020B0503020204020204" pitchFamily="34" charset="-122"/>
                <a:cs typeface="+mn-ea"/>
              </a:rPr>
              <a:t>不可以嵌套多行注释</a:t>
            </a: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。下面通过代码演示多行注释的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矩形 4"/>
          <p:cNvSpPr/>
          <p:nvPr/>
        </p:nvSpPr>
        <p:spPr>
          <a:xfrm>
            <a:off x="1143690" y="1115504"/>
            <a:ext cx="156714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2. </a:t>
            </a:r>
            <a:r>
              <a:rPr lang="zh-CN" altLang="en-US" sz="2000" dirty="0">
                <a:solidFill>
                  <a:srgbClr val="FFFFFF"/>
                </a:solidFill>
                <a:latin typeface="微软雅黑" panose="020B0503020204020204" pitchFamily="34" charset="-122"/>
                <a:ea typeface="微软雅黑" panose="020B0503020204020204" pitchFamily="34" charset="-122"/>
              </a:rPr>
              <a:t>多</a:t>
            </a:r>
            <a:r>
              <a:rPr lang="zh-CN" altLang="en-US" sz="2000" dirty="0" smtClean="0">
                <a:solidFill>
                  <a:srgbClr val="FFFFFF"/>
                </a:solidFill>
                <a:latin typeface="微软雅黑" panose="020B0503020204020204" pitchFamily="34" charset="-122"/>
                <a:ea typeface="微软雅黑" panose="020B0503020204020204" pitchFamily="34" charset="-122"/>
              </a:rPr>
              <a:t>行注释</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1927260" y="3446842"/>
            <a:ext cx="8433600" cy="1015663"/>
          </a:xfrm>
          <a:prstGeom prst="rect">
            <a:avLst/>
          </a:prstGeom>
          <a:solidFill>
            <a:srgbClr val="F2F2F2"/>
          </a:solidFill>
        </p:spPr>
        <p:txBody>
          <a:bodyPr wrap="square" rtlCol="0">
            <a:spAutoFit/>
          </a:bodyPr>
          <a:lstStyle/>
          <a:p>
            <a:pPr lvl="1"/>
            <a:r>
              <a:rPr lang="en-US"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r>
              <a:rPr lang="en-US" altLang="zh-CN" sz="2000">
                <a:solidFill>
                  <a:srgbClr val="595959"/>
                </a:solidFill>
                <a:latin typeface="微软雅黑" panose="020B0503020204020204" pitchFamily="34" charset="-122"/>
                <a:ea typeface="微软雅黑" panose="020B0503020204020204" pitchFamily="34" charset="-122"/>
                <a:cs typeface="+mn-ea"/>
              </a:rPr>
              <a:t>  prompt('</a:t>
            </a:r>
            <a:r>
              <a:rPr lang="zh-CN" altLang="zh-CN" sz="2000">
                <a:solidFill>
                  <a:srgbClr val="595959"/>
                </a:solidFill>
                <a:latin typeface="微软雅黑" panose="020B0503020204020204" pitchFamily="34" charset="-122"/>
                <a:ea typeface="微软雅黑" panose="020B0503020204020204" pitchFamily="34" charset="-122"/>
                <a:cs typeface="+mn-ea"/>
              </a:rPr>
              <a:t>请输入用户名：</a:t>
            </a:r>
            <a:r>
              <a:rPr lang="en-US" altLang="zh-CN" sz="2000">
                <a:solidFill>
                  <a:srgbClr val="595959"/>
                </a:solidFill>
                <a:latin typeface="微软雅黑" panose="020B0503020204020204" pitchFamily="34" charset="-122"/>
                <a:ea typeface="微软雅黑" panose="020B0503020204020204" pitchFamily="34" charset="-122"/>
                <a:cs typeface="+mn-ea"/>
              </a:rPr>
              <a:t>');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Title 1"/>
          <p:cNvSpPr txBox="1"/>
          <p:nvPr/>
        </p:nvSpPr>
        <p:spPr>
          <a:xfrm>
            <a:off x="1143691" y="266995"/>
            <a:ext cx="322332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注释</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20881" y="4908362"/>
            <a:ext cx="9338821" cy="400110"/>
          </a:xfrm>
          <a:prstGeom prst="rect">
            <a:avLst/>
          </a:prstGeom>
        </p:spPr>
        <p:txBody>
          <a:bodyPr wrap="square">
            <a:spAutoFit/>
          </a:bodyPr>
          <a:lstStyle/>
          <a:p>
            <a:pPr algn="just">
              <a:spcAft>
                <a:spcPts val="0"/>
              </a:spcAft>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上述</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示例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cs typeface="+mn-ea"/>
              </a:rPr>
              <a:t>中，从“</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”开始到“</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”结束的内容就是多行注释。</a:t>
            </a:r>
          </a:p>
        </p:txBody>
      </p:sp>
    </p:spTree>
    <p:extLst>
      <p:ext uri="{BB962C8B-B14F-4D97-AF65-F5344CB8AC3E}">
        <p14:creationId xmlns:p14="http://schemas.microsoft.com/office/powerpoint/2010/main" val="10972490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91887" y="2301473"/>
            <a:ext cx="6495070" cy="1477328"/>
          </a:xfrm>
          <a:prstGeom prst="rect">
            <a:avLst/>
          </a:prstGeom>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a:t>
            </a:r>
            <a:r>
              <a:rPr lang="en-US" altLang="zh-CN" sz="2000" dirty="0">
                <a:solidFill>
                  <a:srgbClr val="595959"/>
                </a:solidFill>
                <a:latin typeface="Microsoft YaHei" panose="020B0503020204020204" pitchFamily="34" charset="-122"/>
                <a:ea typeface="Microsoft YaHei" panose="020B0503020204020204" pitchFamily="34" charset="-122"/>
              </a:rPr>
              <a:t>Visual Studio Code</a:t>
            </a:r>
            <a:r>
              <a:rPr lang="zh-CN" altLang="zh-CN" sz="2000" dirty="0">
                <a:solidFill>
                  <a:srgbClr val="595959"/>
                </a:solidFill>
                <a:latin typeface="Microsoft YaHei" panose="020B0503020204020204" pitchFamily="34" charset="-122"/>
                <a:ea typeface="Microsoft YaHei" panose="020B0503020204020204" pitchFamily="34" charset="-122"/>
              </a:rPr>
              <a:t>代码编辑器中，可以使用快捷键对当前选中的行</a:t>
            </a:r>
            <a:r>
              <a:rPr lang="zh-CN" altLang="zh-CN" sz="2000" dirty="0">
                <a:solidFill>
                  <a:srgbClr val="1369B2"/>
                </a:solidFill>
                <a:latin typeface="Microsoft YaHei" panose="020B0503020204020204" pitchFamily="34" charset="-122"/>
                <a:ea typeface="Microsoft YaHei" panose="020B0503020204020204" pitchFamily="34" charset="-122"/>
              </a:rPr>
              <a:t>添加注释</a:t>
            </a:r>
            <a:r>
              <a:rPr lang="zh-CN" altLang="zh-CN" sz="2000" dirty="0">
                <a:solidFill>
                  <a:srgbClr val="595959"/>
                </a:solidFill>
                <a:latin typeface="Microsoft YaHei" panose="020B0503020204020204" pitchFamily="34" charset="-122"/>
                <a:ea typeface="Microsoft YaHei" panose="020B0503020204020204" pitchFamily="34" charset="-122"/>
              </a:rPr>
              <a:t>或</a:t>
            </a:r>
            <a:r>
              <a:rPr lang="zh-CN" altLang="zh-CN" sz="2000" dirty="0">
                <a:solidFill>
                  <a:srgbClr val="1369B2"/>
                </a:solidFill>
                <a:latin typeface="Microsoft YaHei" panose="020B0503020204020204" pitchFamily="34" charset="-122"/>
                <a:ea typeface="Microsoft YaHei" panose="020B0503020204020204" pitchFamily="34" charset="-122"/>
              </a:rPr>
              <a:t>取消注释</a:t>
            </a:r>
            <a:r>
              <a:rPr lang="zh-CN" altLang="zh-CN" sz="2000" dirty="0">
                <a:solidFill>
                  <a:srgbClr val="595959"/>
                </a:solidFill>
                <a:latin typeface="Microsoft YaHei" panose="020B0503020204020204" pitchFamily="34" charset="-122"/>
                <a:ea typeface="Microsoft YaHei" panose="020B0503020204020204" pitchFamily="34" charset="-122"/>
              </a:rPr>
              <a:t>，单行注释使用快捷键</a:t>
            </a:r>
            <a:r>
              <a:rPr lang="zh-CN" altLang="zh-CN" sz="2000" dirty="0">
                <a:solidFill>
                  <a:srgbClr val="1369B2"/>
                </a:solidFill>
                <a:latin typeface="Microsoft YaHei" panose="020B0503020204020204" pitchFamily="34" charset="-122"/>
                <a:ea typeface="Microsoft YaHei" panose="020B0503020204020204" pitchFamily="34" charset="-122"/>
              </a:rPr>
              <a:t>“</a:t>
            </a:r>
            <a:r>
              <a:rPr lang="en-US" altLang="zh-CN" sz="2000" dirty="0">
                <a:solidFill>
                  <a:srgbClr val="1369B2"/>
                </a:solidFill>
                <a:latin typeface="Microsoft YaHei" panose="020B0503020204020204" pitchFamily="34" charset="-122"/>
                <a:ea typeface="Microsoft YaHei" panose="020B0503020204020204" pitchFamily="34" charset="-122"/>
              </a:rPr>
              <a:t>Ctrl+/</a:t>
            </a:r>
            <a:r>
              <a:rPr lang="zh-CN" altLang="zh-CN" sz="2000" dirty="0">
                <a:solidFill>
                  <a:srgbClr val="1369B2"/>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，多行注释使用快捷键</a:t>
            </a:r>
            <a:r>
              <a:rPr lang="zh-CN" altLang="zh-CN" sz="2000" dirty="0">
                <a:solidFill>
                  <a:srgbClr val="1369B2"/>
                </a:solidFill>
                <a:latin typeface="Microsoft YaHei" panose="020B0503020204020204" pitchFamily="34" charset="-122"/>
                <a:ea typeface="Microsoft YaHei" panose="020B0503020204020204" pitchFamily="34" charset="-122"/>
              </a:rPr>
              <a:t>“</a:t>
            </a:r>
            <a:r>
              <a:rPr lang="en-US" altLang="zh-CN" sz="2000" dirty="0" err="1" smtClean="0">
                <a:solidFill>
                  <a:srgbClr val="1369B2"/>
                </a:solidFill>
                <a:latin typeface="Microsoft YaHei" panose="020B0503020204020204" pitchFamily="34" charset="-122"/>
                <a:ea typeface="Microsoft YaHei" panose="020B0503020204020204" pitchFamily="34" charset="-122"/>
              </a:rPr>
              <a:t>Shift+Alt+A</a:t>
            </a:r>
            <a:r>
              <a:rPr lang="zh-CN" altLang="zh-CN" sz="2000" dirty="0" smtClean="0">
                <a:solidFill>
                  <a:srgbClr val="1369B2"/>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a:t>
            </a:r>
          </a:p>
        </p:txBody>
      </p:sp>
      <p:sp>
        <p:nvSpPr>
          <p:cNvPr id="9" name="Shape 2015"/>
          <p:cNvSpPr/>
          <p:nvPr/>
        </p:nvSpPr>
        <p:spPr>
          <a:xfrm>
            <a:off x="4727054" y="2061642"/>
            <a:ext cx="6624736" cy="1944216"/>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pic>
        <p:nvPicPr>
          <p:cNvPr id="10" name="图片 9"/>
          <p:cNvPicPr>
            <a:picLocks noChangeAspect="1"/>
          </p:cNvPicPr>
          <p:nvPr/>
        </p:nvPicPr>
        <p:blipFill>
          <a:blip r:embed="rId2"/>
          <a:stretch>
            <a:fillRect/>
          </a:stretch>
        </p:blipFill>
        <p:spPr>
          <a:xfrm>
            <a:off x="592096" y="1607165"/>
            <a:ext cx="3715858" cy="4006159"/>
          </a:xfrm>
          <a:prstGeom prst="rect">
            <a:avLst/>
          </a:prstGeom>
        </p:spPr>
      </p:pic>
      <p:sp>
        <p:nvSpPr>
          <p:cNvPr id="8" name="Title 1"/>
          <p:cNvSpPr txBox="1"/>
          <p:nvPr/>
        </p:nvSpPr>
        <p:spPr>
          <a:xfrm>
            <a:off x="1143691" y="266995"/>
            <a:ext cx="322332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1.3.4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JavaScript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注释</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15168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2341112" cy="830997"/>
          </a:xfrm>
          <a:prstGeom prst="rect">
            <a:avLst/>
          </a:prstGeom>
          <a:noFill/>
        </p:spPr>
        <p:txBody>
          <a:bodyPr wrap="square" lIns="91443" tIns="45720" rIns="91443" bIns="45720" rtlCol="0">
            <a:spAutoFit/>
          </a:bodyPr>
          <a:lstStyle/>
          <a:p>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变量</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058905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703732"/>
            <a:ext cx="5429568"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rPr>
              <a:t>什么是变量</a:t>
            </a:r>
            <a:r>
              <a:rPr lang="zh-CN" altLang="zh-CN" sz="2000" dirty="0">
                <a:solidFill>
                  <a:srgbClr val="595959"/>
                </a:solidFill>
                <a:latin typeface="微软雅黑" panose="020B0503020204020204" pitchFamily="34" charset="-122"/>
                <a:ea typeface="微软雅黑" panose="020B0503020204020204" pitchFamily="34" charset="-122"/>
                <a:cs typeface="+mn-ea"/>
              </a:rPr>
              <a:t>，能够描述</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变量的概念</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25989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1.4.1</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什么是变量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384846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7" y="1985403"/>
            <a:ext cx="6236319" cy="2524511"/>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224356" y="2381726"/>
              <a:ext cx="6090553" cy="262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变量</a:t>
              </a:r>
              <a:r>
                <a:rPr lang="zh-CN" altLang="zh-CN" sz="2000" dirty="0">
                  <a:solidFill>
                    <a:srgbClr val="595959"/>
                  </a:solidFill>
                  <a:latin typeface="微软雅黑" panose="020B0503020204020204" pitchFamily="34" charset="-122"/>
                  <a:ea typeface="微软雅黑" panose="020B0503020204020204" pitchFamily="34" charset="-122"/>
                </a:rPr>
                <a:t>是指程序在</a:t>
              </a:r>
              <a:r>
                <a:rPr lang="zh-CN" altLang="zh-CN" sz="2000" dirty="0">
                  <a:solidFill>
                    <a:srgbClr val="1369B2"/>
                  </a:solidFill>
                  <a:latin typeface="微软雅黑" panose="020B0503020204020204" pitchFamily="34" charset="-122"/>
                  <a:ea typeface="微软雅黑" panose="020B0503020204020204" pitchFamily="34" charset="-122"/>
                </a:rPr>
                <a:t>内存</a:t>
              </a:r>
              <a:r>
                <a:rPr lang="zh-CN" altLang="zh-CN" sz="2000" dirty="0">
                  <a:solidFill>
                    <a:srgbClr val="595959"/>
                  </a:solidFill>
                  <a:latin typeface="微软雅黑" panose="020B0503020204020204" pitchFamily="34" charset="-122"/>
                  <a:ea typeface="微软雅黑" panose="020B0503020204020204" pitchFamily="34" charset="-122"/>
                </a:rPr>
                <a:t>中申请的一块用来</a:t>
              </a:r>
              <a:r>
                <a:rPr lang="zh-CN" altLang="zh-CN" sz="2000" dirty="0">
                  <a:solidFill>
                    <a:srgbClr val="1369B2"/>
                  </a:solidFill>
                  <a:latin typeface="微软雅黑" panose="020B0503020204020204" pitchFamily="34" charset="-122"/>
                  <a:ea typeface="微软雅黑" panose="020B0503020204020204" pitchFamily="34" charset="-122"/>
                </a:rPr>
                <a:t>存放数据的空间</a:t>
              </a:r>
              <a:r>
                <a:rPr lang="zh-CN" altLang="zh-CN" sz="2000" dirty="0">
                  <a:solidFill>
                    <a:srgbClr val="595959"/>
                  </a:solidFill>
                  <a:latin typeface="微软雅黑" panose="020B0503020204020204" pitchFamily="34" charset="-122"/>
                  <a:ea typeface="微软雅黑" panose="020B0503020204020204" pitchFamily="34" charset="-122"/>
                </a:rPr>
                <a:t>，用于存储程序运行过程中产生的</a:t>
              </a:r>
              <a:r>
                <a:rPr lang="zh-CN" altLang="zh-CN" sz="2000" dirty="0">
                  <a:solidFill>
                    <a:srgbClr val="1369B2"/>
                  </a:solidFill>
                  <a:latin typeface="微软雅黑" panose="020B0503020204020204" pitchFamily="34" charset="-122"/>
                  <a:ea typeface="微软雅黑" panose="020B0503020204020204" pitchFamily="34" charset="-122"/>
                </a:rPr>
                <a:t>临时数据</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变量由</a:t>
              </a:r>
              <a:r>
                <a:rPr lang="zh-CN" altLang="zh-CN" sz="2000" dirty="0">
                  <a:solidFill>
                    <a:srgbClr val="1369B2"/>
                  </a:solidFill>
                  <a:latin typeface="微软雅黑" panose="020B0503020204020204" pitchFamily="34" charset="-122"/>
                  <a:ea typeface="微软雅黑" panose="020B0503020204020204" pitchFamily="34" charset="-122"/>
                </a:rPr>
                <a:t>变量名</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变量值</a:t>
              </a:r>
              <a:r>
                <a:rPr lang="zh-CN" altLang="zh-CN" sz="2000" dirty="0">
                  <a:solidFill>
                    <a:srgbClr val="595959"/>
                  </a:solidFill>
                  <a:latin typeface="微软雅黑" panose="020B0503020204020204" pitchFamily="34" charset="-122"/>
                  <a:ea typeface="微软雅黑" panose="020B0503020204020204" pitchFamily="34" charset="-122"/>
                </a:rPr>
                <a:t>组成，通过变量名可以访问</a:t>
              </a:r>
              <a:r>
                <a:rPr lang="zh-CN" altLang="zh-CN" sz="2000" dirty="0" smtClean="0">
                  <a:solidFill>
                    <a:srgbClr val="595959"/>
                  </a:solidFill>
                  <a:latin typeface="微软雅黑" panose="020B0503020204020204" pitchFamily="34" charset="-122"/>
                  <a:ea typeface="微软雅黑" panose="020B0503020204020204" pitchFamily="34" charset="-122"/>
                </a:rPr>
                <a:t>变量值</a:t>
              </a:r>
              <a:r>
                <a:rPr lang="zh-CN" altLang="zh-CN" sz="2000" dirty="0">
                  <a:solidFill>
                    <a:srgbClr val="595959"/>
                  </a:solidFill>
                  <a:latin typeface="微软雅黑" panose="020B0503020204020204" pitchFamily="34" charset="-122"/>
                  <a:ea typeface="微软雅黑" panose="020B0503020204020204" pitchFamily="34" charset="-122"/>
                </a:rPr>
                <a:t>。</a:t>
              </a:r>
            </a:p>
          </p:txBody>
        </p:sp>
      </p:grpSp>
      <p:sp>
        <p:nvSpPr>
          <p:cNvPr id="12" name="Title 1"/>
          <p:cNvSpPr txBox="1"/>
          <p:nvPr/>
        </p:nvSpPr>
        <p:spPr>
          <a:xfrm>
            <a:off x="1143691" y="266995"/>
            <a:ext cx="264725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1.4.1</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什么是变量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314446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p:nvPr/>
        </p:nvSpPr>
        <p:spPr>
          <a:xfrm>
            <a:off x="1143691" y="266995"/>
            <a:ext cx="264725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1.4.1</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什么是变量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19699" y="1130762"/>
            <a:ext cx="10352115"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假设把</a:t>
            </a:r>
            <a:r>
              <a:rPr lang="zh-CN" altLang="zh-CN" sz="2000" dirty="0">
                <a:solidFill>
                  <a:srgbClr val="1369B2"/>
                </a:solidFill>
                <a:latin typeface="微软雅黑" panose="020B0503020204020204" pitchFamily="34" charset="-122"/>
                <a:ea typeface="微软雅黑" panose="020B0503020204020204" pitchFamily="34" charset="-122"/>
              </a:rPr>
              <a:t>内存</a:t>
            </a:r>
            <a:r>
              <a:rPr lang="zh-CN" altLang="zh-CN" sz="2000" dirty="0">
                <a:solidFill>
                  <a:srgbClr val="595959"/>
                </a:solidFill>
                <a:latin typeface="微软雅黑" panose="020B0503020204020204" pitchFamily="34" charset="-122"/>
                <a:ea typeface="微软雅黑" panose="020B0503020204020204" pitchFamily="34" charset="-122"/>
              </a:rPr>
              <a:t>想象成</a:t>
            </a:r>
            <a:r>
              <a:rPr lang="zh-CN" altLang="zh-CN" sz="2000" dirty="0">
                <a:solidFill>
                  <a:srgbClr val="1369B2"/>
                </a:solidFill>
                <a:latin typeface="微软雅黑" panose="020B0503020204020204" pitchFamily="34" charset="-122"/>
                <a:ea typeface="微软雅黑" panose="020B0503020204020204" pitchFamily="34" charset="-122"/>
              </a:rPr>
              <a:t>一列火车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变量</a:t>
            </a:r>
            <a:r>
              <a:rPr lang="zh-CN" altLang="zh-CN" sz="2000" dirty="0">
                <a:solidFill>
                  <a:srgbClr val="595959"/>
                </a:solidFill>
                <a:latin typeface="微软雅黑" panose="020B0503020204020204" pitchFamily="34" charset="-122"/>
                <a:ea typeface="微软雅黑" panose="020B0503020204020204" pitchFamily="34" charset="-122"/>
              </a:rPr>
              <a:t>相当于火车的</a:t>
            </a:r>
            <a:r>
              <a:rPr lang="zh-CN" altLang="zh-CN" sz="2000" dirty="0">
                <a:solidFill>
                  <a:srgbClr val="1369B2"/>
                </a:solidFill>
                <a:latin typeface="微软雅黑" panose="020B0503020204020204" pitchFamily="34" charset="-122"/>
                <a:ea typeface="微软雅黑" panose="020B0503020204020204" pitchFamily="34" charset="-122"/>
              </a:rPr>
              <a:t>车厢</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变量名</a:t>
            </a:r>
            <a:r>
              <a:rPr lang="zh-CN" altLang="zh-CN" sz="2000" dirty="0">
                <a:solidFill>
                  <a:srgbClr val="595959"/>
                </a:solidFill>
                <a:latin typeface="微软雅黑" panose="020B0503020204020204" pitchFamily="34" charset="-122"/>
                <a:ea typeface="微软雅黑" panose="020B0503020204020204" pitchFamily="34" charset="-122"/>
              </a:rPr>
              <a:t>相当于</a:t>
            </a:r>
            <a:r>
              <a:rPr lang="zh-CN" altLang="zh-CN" sz="2000" dirty="0">
                <a:solidFill>
                  <a:srgbClr val="1369B2"/>
                </a:solidFill>
                <a:latin typeface="微软雅黑" panose="020B0503020204020204" pitchFamily="34" charset="-122"/>
                <a:ea typeface="微软雅黑" panose="020B0503020204020204" pitchFamily="34" charset="-122"/>
              </a:rPr>
              <a:t>火车</a:t>
            </a:r>
            <a:r>
              <a:rPr lang="zh-CN" altLang="zh-CN" sz="2000" dirty="0" smtClean="0">
                <a:solidFill>
                  <a:srgbClr val="1369B2"/>
                </a:solidFill>
                <a:latin typeface="微软雅黑" panose="020B0503020204020204" pitchFamily="34" charset="-122"/>
                <a:ea typeface="微软雅黑" panose="020B0503020204020204" pitchFamily="34" charset="-122"/>
              </a:rPr>
              <a:t>座</a:t>
            </a:r>
            <a:r>
              <a:rPr lang="zh-CN" altLang="en-US" sz="2000" dirty="0" smtClean="0">
                <a:solidFill>
                  <a:srgbClr val="1369B2"/>
                </a:solidFill>
                <a:latin typeface="微软雅黑" panose="020B0503020204020204" pitchFamily="34" charset="-122"/>
                <a:ea typeface="微软雅黑" panose="020B0503020204020204" pitchFamily="34" charset="-122"/>
              </a:rPr>
              <a:t>车厢的座</a:t>
            </a:r>
            <a:r>
              <a:rPr lang="zh-CN" altLang="zh-CN" sz="2000" dirty="0" smtClean="0">
                <a:solidFill>
                  <a:srgbClr val="1369B2"/>
                </a:solidFill>
                <a:latin typeface="微软雅黑" panose="020B0503020204020204" pitchFamily="34" charset="-122"/>
                <a:ea typeface="微软雅黑" panose="020B0503020204020204" pitchFamily="34" charset="-122"/>
              </a:rPr>
              <a:t>位</a:t>
            </a:r>
            <a:r>
              <a:rPr lang="zh-CN" altLang="zh-CN" sz="2000" dirty="0">
                <a:solidFill>
                  <a:srgbClr val="1369B2"/>
                </a:solidFill>
                <a:latin typeface="微软雅黑" panose="020B0503020204020204" pitchFamily="34" charset="-122"/>
                <a:ea typeface="微软雅黑" panose="020B0503020204020204" pitchFamily="34" charset="-122"/>
              </a:rPr>
              <a:t>号</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变量值</a:t>
            </a:r>
            <a:r>
              <a:rPr lang="zh-CN" altLang="zh-CN" sz="2000" dirty="0">
                <a:solidFill>
                  <a:srgbClr val="595959"/>
                </a:solidFill>
                <a:latin typeface="微软雅黑" panose="020B0503020204020204" pitchFamily="34" charset="-122"/>
                <a:ea typeface="微软雅黑" panose="020B0503020204020204" pitchFamily="34" charset="-122"/>
              </a:rPr>
              <a:t>相当于</a:t>
            </a:r>
            <a:r>
              <a:rPr lang="zh-CN" altLang="zh-CN" sz="2000" dirty="0">
                <a:solidFill>
                  <a:srgbClr val="1369B2"/>
                </a:solidFill>
                <a:latin typeface="微软雅黑" panose="020B0503020204020204" pitchFamily="34" charset="-122"/>
                <a:ea typeface="微软雅黑" panose="020B0503020204020204" pitchFamily="34" charset="-122"/>
              </a:rPr>
              <a:t>乘客</a:t>
            </a:r>
            <a:r>
              <a:rPr lang="zh-CN" altLang="zh-CN" sz="2000" dirty="0">
                <a:solidFill>
                  <a:srgbClr val="595959"/>
                </a:solidFill>
                <a:latin typeface="微软雅黑" panose="020B0503020204020204" pitchFamily="34" charset="-122"/>
                <a:ea typeface="微软雅黑" panose="020B0503020204020204" pitchFamily="34" charset="-122"/>
              </a:rPr>
              <a:t>。乘务员通过火车车厢的座位号就可以找到对应的乘客。例如，程序在内存中</a:t>
            </a:r>
            <a:r>
              <a:rPr lang="zh-CN" altLang="zh-CN" sz="2000" dirty="0" smtClean="0">
                <a:solidFill>
                  <a:srgbClr val="595959"/>
                </a:solidFill>
                <a:latin typeface="微软雅黑" panose="020B0503020204020204" pitchFamily="34" charset="-122"/>
                <a:ea typeface="微软雅黑" panose="020B0503020204020204" pitchFamily="34" charset="-122"/>
              </a:rPr>
              <a:t>保存名</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1369B2"/>
                </a:solidFill>
                <a:latin typeface="微软雅黑" panose="020B0503020204020204" pitchFamily="34" charset="-122"/>
                <a:ea typeface="微软雅黑" panose="020B0503020204020204" pitchFamily="34" charset="-122"/>
              </a:rPr>
              <a:t>seat01</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seat02</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seat03</a:t>
            </a:r>
            <a:r>
              <a:rPr lang="zh-CN" altLang="zh-CN"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个变量，变量值分别为</a:t>
            </a:r>
            <a:r>
              <a:rPr lang="zh-CN" altLang="zh-CN" sz="2000" dirty="0">
                <a:solidFill>
                  <a:srgbClr val="1369B2"/>
                </a:solidFill>
                <a:latin typeface="微软雅黑" panose="020B0503020204020204" pitchFamily="34" charset="-122"/>
                <a:ea typeface="微软雅黑" panose="020B0503020204020204" pitchFamily="34" charset="-122"/>
              </a:rPr>
              <a:t>小明</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小智</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小华</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如下图所示。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910" y="3039016"/>
            <a:ext cx="5391377" cy="2601103"/>
          </a:xfrm>
          <a:prstGeom prst="rect">
            <a:avLst/>
          </a:prstGeom>
        </p:spPr>
      </p:pic>
    </p:spTree>
    <p:extLst>
      <p:ext uri="{BB962C8B-B14F-4D97-AF65-F5344CB8AC3E}">
        <p14:creationId xmlns:p14="http://schemas.microsoft.com/office/powerpoint/2010/main" val="3802314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变量的命名规则</a:t>
            </a:r>
            <a:r>
              <a:rPr lang="zh-CN" altLang="zh-CN" sz="2000" dirty="0">
                <a:solidFill>
                  <a:srgbClr val="595959"/>
                </a:solidFill>
                <a:latin typeface="微软雅黑" panose="020B0503020204020204" pitchFamily="34" charset="-122"/>
                <a:ea typeface="微软雅黑" panose="020B0503020204020204" pitchFamily="34" charset="-122"/>
                <a:cs typeface="+mn-ea"/>
              </a:rPr>
              <a:t>，能够根据变量的命名规则</a:t>
            </a:r>
            <a:r>
              <a:rPr lang="zh-CN" altLang="zh-CN" sz="2000" dirty="0">
                <a:solidFill>
                  <a:srgbClr val="1369B2"/>
                </a:solidFill>
                <a:latin typeface="微软雅黑" panose="020B0503020204020204" pitchFamily="34" charset="-122"/>
                <a:ea typeface="微软雅黑" panose="020B0503020204020204" pitchFamily="34" charset="-122"/>
                <a:cs typeface="+mn-ea"/>
              </a:rPr>
              <a:t>为变量命名</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3306552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5" y="1985403"/>
            <a:ext cx="6164311" cy="2246559"/>
            <a:chOff x="4899444" y="1985402"/>
            <a:chExt cx="6740375" cy="3669248"/>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435008" y="449838"/>
              <a:ext cx="3669248"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180006" y="2236572"/>
              <a:ext cx="6179253" cy="3166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程序中，使用</a:t>
              </a:r>
              <a:r>
                <a:rPr lang="zh-CN" altLang="zh-CN" sz="2000" dirty="0">
                  <a:solidFill>
                    <a:srgbClr val="1369B2"/>
                  </a:solidFill>
                  <a:latin typeface="微软雅黑" panose="020B0503020204020204" pitchFamily="34" charset="-122"/>
                  <a:ea typeface="微软雅黑" panose="020B0503020204020204" pitchFamily="34" charset="-122"/>
                </a:rPr>
                <a:t>规范的变量名</a:t>
              </a:r>
              <a:r>
                <a:rPr lang="zh-CN" altLang="zh-CN" sz="2000" dirty="0">
                  <a:solidFill>
                    <a:srgbClr val="595959"/>
                  </a:solidFill>
                  <a:latin typeface="微软雅黑" panose="020B0503020204020204" pitchFamily="34" charset="-122"/>
                  <a:ea typeface="微软雅黑" panose="020B0503020204020204" pitchFamily="34" charset="-122"/>
                </a:rPr>
                <a:t>有助于代码阅读者</a:t>
              </a:r>
              <a:r>
                <a:rPr lang="zh-CN" altLang="zh-CN" sz="2000" dirty="0">
                  <a:solidFill>
                    <a:srgbClr val="1369B2"/>
                  </a:solidFill>
                  <a:latin typeface="微软雅黑" panose="020B0503020204020204" pitchFamily="34" charset="-122"/>
                  <a:ea typeface="微软雅黑" panose="020B0503020204020204" pitchFamily="34" charset="-122"/>
                </a:rPr>
                <a:t>更好地理解</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阅读代码</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中，变量的命名需要遵循相关规则，从而避免</a:t>
              </a:r>
              <a:r>
                <a:rPr lang="zh-CN" altLang="zh-CN" sz="2000" dirty="0" smtClean="0">
                  <a:solidFill>
                    <a:srgbClr val="595959"/>
                  </a:solidFill>
                  <a:latin typeface="微软雅黑" panose="020B0503020204020204" pitchFamily="34" charset="-122"/>
                  <a:ea typeface="微软雅黑" panose="020B0503020204020204" pitchFamily="34" charset="-122"/>
                </a:rPr>
                <a:t>代码</a:t>
              </a:r>
              <a:r>
                <a:rPr lang="zh-CN" altLang="en-US" sz="2000" dirty="0" smtClean="0">
                  <a:solidFill>
                    <a:srgbClr val="595959"/>
                  </a:solidFill>
                  <a:latin typeface="微软雅黑" panose="020B0503020204020204" pitchFamily="34" charset="-122"/>
                  <a:ea typeface="微软雅黑" panose="020B0503020204020204" pitchFamily="34" charset="-122"/>
                </a:rPr>
                <a:t>编写</a:t>
              </a:r>
              <a:r>
                <a:rPr lang="zh-CN" altLang="zh-CN" sz="2000" dirty="0" smtClean="0">
                  <a:solidFill>
                    <a:srgbClr val="595959"/>
                  </a:solidFill>
                  <a:latin typeface="微软雅黑" panose="020B0503020204020204" pitchFamily="34" charset="-122"/>
                  <a:ea typeface="微软雅黑" panose="020B0503020204020204" pitchFamily="34" charset="-122"/>
                </a:rPr>
                <a:t>出错</a:t>
              </a:r>
              <a:r>
                <a:rPr lang="zh-CN" altLang="zh-CN" sz="2000" dirty="0">
                  <a:solidFill>
                    <a:srgbClr val="595959"/>
                  </a:solidFill>
                  <a:latin typeface="微软雅黑" panose="020B0503020204020204" pitchFamily="34" charset="-122"/>
                  <a:ea typeface="微软雅黑" panose="020B0503020204020204" pitchFamily="34" charset="-122"/>
                </a:rPr>
                <a:t>。</a:t>
              </a:r>
            </a:p>
          </p:txBody>
        </p:sp>
      </p:grpSp>
      <p:sp>
        <p:nvSpPr>
          <p:cNvPr id="1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66437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10630" y="1634819"/>
            <a:ext cx="4489049" cy="400110"/>
          </a:xfrm>
          <a:prstGeom prst="rect">
            <a:avLst/>
          </a:prstGeom>
        </p:spPr>
        <p:txBody>
          <a:bodyPr wrap="none">
            <a:spAutoFit/>
          </a:bodyPr>
          <a:lstStyle/>
          <a:p>
            <a:pPr indent="269240" algn="just">
              <a:spcAft>
                <a:spcPts val="0"/>
              </a:spcAft>
            </a:pPr>
            <a:r>
              <a:rPr lang="en-US" altLang="zh-CN" sz="2000">
                <a:solidFill>
                  <a:srgbClr val="1369B2"/>
                </a:solidFill>
                <a:latin typeface="微软雅黑" panose="020B0503020204020204" pitchFamily="34" charset="-122"/>
                <a:ea typeface="微软雅黑" panose="020B0503020204020204" pitchFamily="34" charset="-122"/>
              </a:rPr>
              <a:t>JavaScript</a:t>
            </a:r>
            <a:r>
              <a:rPr lang="zh-CN" altLang="zh-CN" sz="2000">
                <a:solidFill>
                  <a:srgbClr val="1369B2"/>
                </a:solidFill>
                <a:latin typeface="微软雅黑" panose="020B0503020204020204" pitchFamily="34" charset="-122"/>
                <a:ea typeface="微软雅黑" panose="020B0503020204020204" pitchFamily="34" charset="-122"/>
              </a:rPr>
              <a:t>中变量的命名规则</a:t>
            </a:r>
            <a:r>
              <a:rPr lang="zh-CN" altLang="zh-CN" sz="2000">
                <a:solidFill>
                  <a:srgbClr val="595959"/>
                </a:solidFill>
                <a:latin typeface="微软雅黑" panose="020B0503020204020204" pitchFamily="34" charset="-122"/>
                <a:ea typeface="微软雅黑" panose="020B0503020204020204" pitchFamily="34" charset="-122"/>
              </a:rPr>
              <a:t>如下。</a:t>
            </a:r>
          </a:p>
        </p:txBody>
      </p:sp>
      <p:sp>
        <p:nvSpPr>
          <p:cNvPr id="3" name="矩形 2"/>
          <p:cNvSpPr/>
          <p:nvPr/>
        </p:nvSpPr>
        <p:spPr>
          <a:xfrm>
            <a:off x="1198662" y="2282890"/>
            <a:ext cx="10153128" cy="1938992"/>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rPr>
              <a:t>不能以</a:t>
            </a:r>
            <a:r>
              <a:rPr lang="zh-CN" altLang="zh-CN" sz="2000" dirty="0">
                <a:solidFill>
                  <a:srgbClr val="1369B2"/>
                </a:solidFill>
                <a:latin typeface="微软雅黑" panose="020B0503020204020204" pitchFamily="34" charset="-122"/>
                <a:ea typeface="微软雅黑" panose="020B0503020204020204" pitchFamily="34" charset="-122"/>
              </a:rPr>
              <a:t>数字开头</a:t>
            </a:r>
            <a:r>
              <a:rPr lang="zh-CN" altLang="zh-CN" sz="2000" dirty="0">
                <a:solidFill>
                  <a:srgbClr val="595959"/>
                </a:solidFill>
                <a:latin typeface="微软雅黑" panose="020B0503020204020204" pitchFamily="34" charset="-122"/>
                <a:ea typeface="微软雅黑" panose="020B0503020204020204" pitchFamily="34" charset="-122"/>
              </a:rPr>
              <a:t>，且</a:t>
            </a:r>
            <a:r>
              <a:rPr lang="zh-CN" altLang="zh-CN" sz="2000" dirty="0">
                <a:solidFill>
                  <a:srgbClr val="1369B2"/>
                </a:solidFill>
                <a:latin typeface="微软雅黑" panose="020B0503020204020204" pitchFamily="34" charset="-122"/>
                <a:ea typeface="微软雅黑" panose="020B0503020204020204" pitchFamily="34" charset="-122"/>
              </a:rPr>
              <a:t>不能包含</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等运算符</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595959"/>
                </a:solidFill>
                <a:latin typeface="微软雅黑" panose="020B0503020204020204" pitchFamily="34" charset="-122"/>
                <a:ea typeface="微软雅黑" panose="020B0503020204020204" pitchFamily="34" charset="-122"/>
              </a:rPr>
              <a:t>01user</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02-user</a:t>
            </a:r>
            <a:r>
              <a:rPr lang="zh-CN" altLang="zh-CN" sz="2000" dirty="0">
                <a:solidFill>
                  <a:srgbClr val="595959"/>
                </a:solidFill>
                <a:latin typeface="微软雅黑" panose="020B0503020204020204" pitchFamily="34" charset="-122"/>
                <a:ea typeface="微软雅黑" panose="020B0503020204020204" pitchFamily="34" charset="-122"/>
              </a:rPr>
              <a:t>是非法的变量名。</a:t>
            </a:r>
          </a:p>
          <a:p>
            <a:pPr marL="342900" lvl="0" indent="-342900" algn="just">
              <a:lnSpc>
                <a:spcPct val="150000"/>
              </a:lnSpc>
              <a:spcAft>
                <a:spcPts val="0"/>
              </a:spcAft>
              <a:buClr>
                <a:srgbClr val="595959"/>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rPr>
              <a:t>严格区分大小写</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595959"/>
                </a:solidFill>
                <a:latin typeface="微软雅黑" panose="020B0503020204020204" pitchFamily="34" charset="-122"/>
                <a:ea typeface="微软雅黑" panose="020B0503020204020204" pitchFamily="34" charset="-122"/>
              </a:rPr>
              <a:t>apple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Apple</a:t>
            </a:r>
            <a:r>
              <a:rPr lang="zh-CN" altLang="zh-CN" sz="2000" dirty="0">
                <a:solidFill>
                  <a:srgbClr val="595959"/>
                </a:solidFill>
                <a:latin typeface="微软雅黑" panose="020B0503020204020204" pitchFamily="34" charset="-122"/>
                <a:ea typeface="微软雅黑" panose="020B0503020204020204" pitchFamily="34" charset="-122"/>
              </a:rPr>
              <a:t>是两个不相同的变量名。</a:t>
            </a:r>
          </a:p>
          <a:p>
            <a:pPr marL="342900" lvl="0" indent="-342900" algn="just">
              <a:lnSpc>
                <a:spcPct val="150000"/>
              </a:lnSpc>
              <a:spcAft>
                <a:spcPts val="0"/>
              </a:spcAft>
              <a:buClr>
                <a:srgbClr val="595959"/>
              </a:buClr>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rPr>
              <a:t>不能使用</a:t>
            </a:r>
            <a:r>
              <a:rPr lang="en-US" altLang="zh-CN" sz="2000" dirty="0">
                <a:solidFill>
                  <a:srgbClr val="1369B2"/>
                </a:solidFill>
                <a:latin typeface="微软雅黑" panose="020B0503020204020204" pitchFamily="34" charset="-122"/>
                <a:ea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rPr>
              <a:t>中的关键字命名</a:t>
            </a:r>
            <a:r>
              <a:rPr lang="zh-CN" altLang="zh-CN" sz="2000" dirty="0">
                <a:solidFill>
                  <a:srgbClr val="595959"/>
                </a:solidFill>
                <a:latin typeface="微软雅黑" panose="020B0503020204020204" pitchFamily="34" charset="-122"/>
                <a:ea typeface="微软雅黑" panose="020B0503020204020204" pitchFamily="34" charset="-122"/>
              </a:rPr>
              <a:t>。关键字</a:t>
            </a:r>
            <a:r>
              <a:rPr lang="zh-CN" altLang="zh-CN" sz="2000" dirty="0" smtClean="0">
                <a:solidFill>
                  <a:srgbClr val="595959"/>
                </a:solidFill>
                <a:latin typeface="微软雅黑" panose="020B0503020204020204" pitchFamily="34" charset="-122"/>
                <a:ea typeface="微软雅黑" panose="020B0503020204020204" pitchFamily="34" charset="-122"/>
              </a:rPr>
              <a:t>是</a:t>
            </a:r>
            <a:r>
              <a:rPr lang="zh-CN" altLang="en-US" sz="2000" dirty="0" smtClean="0">
                <a:solidFill>
                  <a:srgbClr val="595959"/>
                </a:solidFill>
                <a:latin typeface="微软雅黑" panose="020B0503020204020204" pitchFamily="34" charset="-122"/>
                <a:ea typeface="微软雅黑" panose="020B0503020204020204" pitchFamily="34" charset="-122"/>
              </a:rPr>
              <a:t>指在</a:t>
            </a:r>
            <a:r>
              <a:rPr lang="en-US" altLang="zh-CN" sz="2000" dirty="0" smtClean="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中被事先定义并赋予特殊含义的单词，如</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this</a:t>
            </a:r>
            <a:r>
              <a:rPr lang="zh-CN" altLang="zh-CN" sz="2000" dirty="0">
                <a:solidFill>
                  <a:srgbClr val="595959"/>
                </a:solidFill>
                <a:latin typeface="微软雅黑" panose="020B0503020204020204" pitchFamily="34" charset="-122"/>
                <a:ea typeface="微软雅黑" panose="020B0503020204020204" pitchFamily="34" charset="-122"/>
              </a:rPr>
              <a:t>就是</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中的关键字。</a:t>
            </a:r>
          </a:p>
        </p:txBody>
      </p:sp>
    </p:spTree>
    <p:extLst>
      <p:ext uri="{BB962C8B-B14F-4D97-AF65-F5344CB8AC3E}">
        <p14:creationId xmlns:p14="http://schemas.microsoft.com/office/powerpoint/2010/main" val="2501385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838622" y="1706826"/>
            <a:ext cx="7125027" cy="400110"/>
          </a:xfrm>
          <a:prstGeom prst="rect">
            <a:avLst/>
          </a:prstGeom>
        </p:spPr>
        <p:txBody>
          <a:bodyPr wrap="none">
            <a:spAutoFit/>
          </a:bodyPr>
          <a:lstStyle/>
          <a:p>
            <a:pPr indent="269240" algn="just"/>
            <a:r>
              <a:rPr lang="zh-CN" altLang="zh-CN" sz="2000" smtClean="0">
                <a:solidFill>
                  <a:srgbClr val="595959"/>
                </a:solidFill>
                <a:latin typeface="微软雅黑" panose="020B0503020204020204" pitchFamily="34" charset="-122"/>
                <a:ea typeface="微软雅黑" panose="020B0503020204020204" pitchFamily="34" charset="-122"/>
              </a:rPr>
              <a:t>为了</a:t>
            </a:r>
            <a:r>
              <a:rPr lang="zh-CN" altLang="zh-CN" sz="2000">
                <a:solidFill>
                  <a:srgbClr val="1369B2"/>
                </a:solidFill>
                <a:latin typeface="微软雅黑" panose="020B0503020204020204" pitchFamily="34" charset="-122"/>
                <a:ea typeface="微软雅黑" panose="020B0503020204020204" pitchFamily="34" charset="-122"/>
              </a:rPr>
              <a:t>提高代码的可读性</a:t>
            </a:r>
            <a:r>
              <a:rPr lang="zh-CN" altLang="zh-CN" sz="2000">
                <a:solidFill>
                  <a:srgbClr val="595959"/>
                </a:solidFill>
                <a:latin typeface="微软雅黑" panose="020B0503020204020204" pitchFamily="34" charset="-122"/>
                <a:ea typeface="微软雅黑" panose="020B0503020204020204" pitchFamily="34" charset="-122"/>
              </a:rPr>
              <a:t>，在对变量命名时应遵循以下</a:t>
            </a:r>
            <a:r>
              <a:rPr lang="zh-CN" altLang="zh-CN" sz="2000">
                <a:solidFill>
                  <a:srgbClr val="1369B2"/>
                </a:solidFill>
                <a:latin typeface="微软雅黑" panose="020B0503020204020204" pitchFamily="34" charset="-122"/>
                <a:ea typeface="微软雅黑" panose="020B0503020204020204" pitchFamily="34" charset="-122"/>
              </a:rPr>
              <a:t>建议</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1054646" y="2426906"/>
            <a:ext cx="10225136" cy="1938992"/>
          </a:xfrm>
          <a:prstGeom prst="rect">
            <a:avLst/>
          </a:prstGeom>
        </p:spPr>
        <p:txBody>
          <a:bodyPr wrap="square">
            <a:spAutoFit/>
          </a:bodyPr>
          <a:lstStyle/>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使用</a:t>
            </a:r>
            <a:r>
              <a:rPr lang="zh-CN" altLang="zh-CN" sz="2000" dirty="0">
                <a:solidFill>
                  <a:srgbClr val="1369B2"/>
                </a:solidFill>
                <a:latin typeface="微软雅黑" panose="020B0503020204020204" pitchFamily="34" charset="-122"/>
                <a:ea typeface="微软雅黑" panose="020B0503020204020204" pitchFamily="34" charset="-122"/>
              </a:rPr>
              <a:t>字母、下画线</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zh-CN" sz="2000" dirty="0">
                <a:solidFill>
                  <a:srgbClr val="1369B2"/>
                </a:solidFill>
                <a:latin typeface="微软雅黑" panose="020B0503020204020204" pitchFamily="34" charset="-122"/>
                <a:ea typeface="微软雅黑" panose="020B0503020204020204" pitchFamily="34" charset="-122"/>
              </a:rPr>
              <a:t>美元符号（</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命名，如</a:t>
            </a:r>
            <a:r>
              <a:rPr lang="en-US" altLang="zh-CN" sz="2000" dirty="0">
                <a:solidFill>
                  <a:srgbClr val="595959"/>
                </a:solidFill>
                <a:latin typeface="微软雅黑" panose="020B0503020204020204" pitchFamily="34" charset="-122"/>
                <a:ea typeface="微软雅黑" panose="020B0503020204020204" pitchFamily="34" charset="-122"/>
              </a:rPr>
              <a:t>score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set_name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user01</a:t>
            </a:r>
            <a:r>
              <a:rPr lang="zh-CN" altLang="zh-CN" sz="2000" dirty="0">
                <a:solidFill>
                  <a:srgbClr val="595959"/>
                </a:solidFill>
                <a:latin typeface="微软雅黑" panose="020B0503020204020204" pitchFamily="34" charset="-122"/>
                <a:ea typeface="微软雅黑" panose="020B0503020204020204" pitchFamily="34" charset="-122"/>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尽量做到</a:t>
            </a:r>
            <a:r>
              <a:rPr lang="zh-CN" altLang="zh-CN" sz="2000" dirty="0">
                <a:solidFill>
                  <a:srgbClr val="1369B2"/>
                </a:solidFill>
                <a:latin typeface="微软雅黑" panose="020B0503020204020204" pitchFamily="34" charset="-122"/>
                <a:ea typeface="微软雅黑" panose="020B0503020204020204" pitchFamily="34" charset="-122"/>
              </a:rPr>
              <a:t>“见其名知其义”</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595959"/>
                </a:solidFill>
                <a:latin typeface="微软雅黑" panose="020B0503020204020204" pitchFamily="34" charset="-122"/>
                <a:ea typeface="微软雅黑" panose="020B0503020204020204" pitchFamily="34" charset="-122"/>
              </a:rPr>
              <a:t>age</a:t>
            </a:r>
            <a:r>
              <a:rPr lang="zh-CN" altLang="zh-CN" sz="2000" dirty="0">
                <a:solidFill>
                  <a:srgbClr val="595959"/>
                </a:solidFill>
                <a:latin typeface="微软雅黑" panose="020B0503020204020204" pitchFamily="34" charset="-122"/>
                <a:ea typeface="微软雅黑" panose="020B0503020204020204" pitchFamily="34" charset="-122"/>
              </a:rPr>
              <a:t>表示年龄、</a:t>
            </a:r>
            <a:r>
              <a:rPr lang="en-US" altLang="zh-CN" sz="2000" dirty="0">
                <a:solidFill>
                  <a:srgbClr val="595959"/>
                </a:solidFill>
                <a:latin typeface="微软雅黑" panose="020B0503020204020204" pitchFamily="34" charset="-122"/>
                <a:ea typeface="微软雅黑" panose="020B0503020204020204" pitchFamily="34" charset="-122"/>
              </a:rPr>
              <a:t>sex</a:t>
            </a:r>
            <a:r>
              <a:rPr lang="zh-CN" altLang="zh-CN" sz="2000" dirty="0">
                <a:solidFill>
                  <a:srgbClr val="595959"/>
                </a:solidFill>
                <a:latin typeface="微软雅黑" panose="020B0503020204020204" pitchFamily="34" charset="-122"/>
                <a:ea typeface="微软雅黑" panose="020B0503020204020204" pitchFamily="34" charset="-122"/>
              </a:rPr>
              <a:t>表示性别、</a:t>
            </a:r>
            <a:r>
              <a:rPr lang="en-US" altLang="zh-CN" sz="2000" dirty="0" err="1">
                <a:solidFill>
                  <a:srgbClr val="595959"/>
                </a:solidFill>
                <a:latin typeface="微软雅黑" panose="020B0503020204020204" pitchFamily="34" charset="-122"/>
                <a:ea typeface="微软雅黑" panose="020B0503020204020204" pitchFamily="34" charset="-122"/>
              </a:rPr>
              <a:t>num</a:t>
            </a:r>
            <a:r>
              <a:rPr lang="zh-CN" altLang="zh-CN" sz="2000" dirty="0">
                <a:solidFill>
                  <a:srgbClr val="595959"/>
                </a:solidFill>
                <a:latin typeface="微软雅黑" panose="020B0503020204020204" pitchFamily="34" charset="-122"/>
                <a:ea typeface="微软雅黑" panose="020B0503020204020204" pitchFamily="34" charset="-122"/>
              </a:rPr>
              <a:t>表示数字等。</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用</a:t>
            </a:r>
            <a:r>
              <a:rPr lang="zh-CN" altLang="zh-CN" sz="2000" dirty="0">
                <a:solidFill>
                  <a:srgbClr val="1369B2"/>
                </a:solidFill>
                <a:latin typeface="微软雅黑" panose="020B0503020204020204" pitchFamily="34" charset="-122"/>
                <a:ea typeface="微软雅黑" panose="020B0503020204020204" pitchFamily="34" charset="-122"/>
              </a:rPr>
              <a:t>下画线分隔多个单词</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err="1">
                <a:solidFill>
                  <a:srgbClr val="595959"/>
                </a:solidFill>
                <a:latin typeface="微软雅黑" panose="020B0503020204020204" pitchFamily="34" charset="-122"/>
                <a:ea typeface="微软雅黑" panose="020B0503020204020204" pitchFamily="34" charset="-122"/>
              </a:rPr>
              <a:t>show_message</a:t>
            </a:r>
            <a:r>
              <a:rPr lang="zh-CN" altLang="zh-CN" sz="2000" dirty="0">
                <a:solidFill>
                  <a:srgbClr val="595959"/>
                </a:solidFill>
                <a:latin typeface="微软雅黑" panose="020B0503020204020204" pitchFamily="34" charset="-122"/>
                <a:ea typeface="微软雅黑" panose="020B0503020204020204" pitchFamily="34" charset="-122"/>
              </a:rPr>
              <a:t>；或采用</a:t>
            </a:r>
            <a:r>
              <a:rPr lang="zh-CN" altLang="zh-CN" sz="2000" dirty="0">
                <a:solidFill>
                  <a:srgbClr val="1369B2"/>
                </a:solidFill>
                <a:latin typeface="微软雅黑" panose="020B0503020204020204" pitchFamily="34" charset="-122"/>
                <a:ea typeface="微软雅黑" panose="020B0503020204020204" pitchFamily="34" charset="-122"/>
              </a:rPr>
              <a:t>驼峰命名法</a:t>
            </a:r>
            <a:r>
              <a:rPr lang="zh-CN" altLang="zh-CN" sz="2000" dirty="0">
                <a:solidFill>
                  <a:srgbClr val="595959"/>
                </a:solidFill>
                <a:latin typeface="微软雅黑" panose="020B0503020204020204" pitchFamily="34" charset="-122"/>
                <a:ea typeface="微软雅黑" panose="020B0503020204020204" pitchFamily="34" charset="-122"/>
              </a:rPr>
              <a:t>，变量的第</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个单词首字母小写，后面的单词首字母大写，如</a:t>
            </a:r>
            <a:r>
              <a:rPr lang="en-US" altLang="zh-CN" sz="2000" dirty="0" err="1">
                <a:solidFill>
                  <a:srgbClr val="595959"/>
                </a:solidFill>
                <a:latin typeface="微软雅黑" panose="020B0503020204020204" pitchFamily="34" charset="-122"/>
                <a:ea typeface="微软雅黑" panose="020B0503020204020204" pitchFamily="34" charset="-122"/>
              </a:rPr>
              <a:t>leftHand</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myFirstName</a:t>
            </a:r>
            <a:r>
              <a:rPr lang="zh-CN" altLang="zh-CN" sz="2000" dirty="0">
                <a:solidFill>
                  <a:srgbClr val="595959"/>
                </a:solidFill>
                <a:latin typeface="微软雅黑" panose="020B0503020204020204" pitchFamily="34" charset="-122"/>
                <a:ea typeface="微软雅黑" panose="020B0503020204020204" pitchFamily="34" charset="-122"/>
              </a:rPr>
              <a:t>等。</a:t>
            </a:r>
          </a:p>
        </p:txBody>
      </p:sp>
    </p:spTree>
    <p:extLst>
      <p:ext uri="{BB962C8B-B14F-4D97-AF65-F5344CB8AC3E}">
        <p14:creationId xmlns:p14="http://schemas.microsoft.com/office/powerpoint/2010/main" val="3035648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8902" y="2082505"/>
            <a:ext cx="6887815" cy="1015663"/>
          </a:xfrm>
          <a:prstGeom prst="rect">
            <a:avLst/>
          </a:prstGeom>
        </p:spPr>
        <p:txBody>
          <a:bodyPr wrap="square">
            <a:spAutoFit/>
          </a:body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需要</a:t>
            </a:r>
            <a:r>
              <a:rPr lang="zh-CN" altLang="zh-CN" sz="2000">
                <a:solidFill>
                  <a:srgbClr val="595959"/>
                </a:solidFill>
                <a:latin typeface="微软雅黑" panose="020B0503020204020204" pitchFamily="34" charset="-122"/>
                <a:ea typeface="微软雅黑" panose="020B0503020204020204" pitchFamily="34" charset="-122"/>
                <a:cs typeface="+mn-ea"/>
              </a:rPr>
              <a:t>说明的是，只要程序不报错，</a:t>
            </a:r>
            <a:r>
              <a:rPr lang="zh-CN" altLang="zh-CN" sz="2000">
                <a:solidFill>
                  <a:srgbClr val="1369B2"/>
                </a:solidFill>
                <a:latin typeface="微软雅黑" panose="020B0503020204020204" pitchFamily="34" charset="-122"/>
                <a:ea typeface="微软雅黑" panose="020B0503020204020204" pitchFamily="34" charset="-122"/>
                <a:cs typeface="+mn-ea"/>
              </a:rPr>
              <a:t>其他字符（如中文字符）</a:t>
            </a:r>
            <a:r>
              <a:rPr lang="zh-CN" altLang="zh-CN" sz="2000">
                <a:solidFill>
                  <a:srgbClr val="595959"/>
                </a:solidFill>
                <a:latin typeface="微软雅黑" panose="020B0503020204020204" pitchFamily="34" charset="-122"/>
                <a:ea typeface="微软雅黑" panose="020B0503020204020204" pitchFamily="34" charset="-122"/>
                <a:cs typeface="+mn-ea"/>
              </a:rPr>
              <a:t>也能作为</a:t>
            </a:r>
            <a:r>
              <a:rPr lang="zh-CN" altLang="zh-CN" sz="2000">
                <a:solidFill>
                  <a:srgbClr val="1369B2"/>
                </a:solidFill>
                <a:latin typeface="微软雅黑" panose="020B0503020204020204" pitchFamily="34" charset="-122"/>
                <a:ea typeface="微软雅黑" panose="020B0503020204020204" pitchFamily="34" charset="-122"/>
                <a:cs typeface="+mn-ea"/>
              </a:rPr>
              <a:t>变量名</a:t>
            </a:r>
            <a:r>
              <a:rPr lang="zh-CN" altLang="zh-CN" sz="2000">
                <a:solidFill>
                  <a:srgbClr val="595959"/>
                </a:solidFill>
                <a:latin typeface="微软雅黑" panose="020B0503020204020204" pitchFamily="34" charset="-122"/>
                <a:ea typeface="微软雅黑" panose="020B0503020204020204" pitchFamily="34" charset="-122"/>
                <a:cs typeface="+mn-ea"/>
              </a:rPr>
              <a:t>使用，但是不推荐这种命名方式。</a:t>
            </a:r>
          </a:p>
        </p:txBody>
      </p:sp>
      <p:pic>
        <p:nvPicPr>
          <p:cNvPr id="12"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13" name="Shape 2015"/>
          <p:cNvSpPr/>
          <p:nvPr/>
        </p:nvSpPr>
        <p:spPr>
          <a:xfrm>
            <a:off x="1016000" y="1750881"/>
            <a:ext cx="7233620" cy="16789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555253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71712" y="1352729"/>
            <a:ext cx="1015842" cy="1015842"/>
          </a:xfrm>
          <a:prstGeom prst="rect">
            <a:avLst/>
          </a:prstGeom>
        </p:spPr>
      </p:pic>
      <p:sp>
        <p:nvSpPr>
          <p:cNvPr id="12" name="矩形 11"/>
          <p:cNvSpPr/>
          <p:nvPr/>
        </p:nvSpPr>
        <p:spPr>
          <a:xfrm>
            <a:off x="2150110" y="1607820"/>
            <a:ext cx="315300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05993" y="1770582"/>
            <a:ext cx="3197123" cy="400110"/>
          </a:xfrm>
          <a:prstGeom prst="rect">
            <a:avLst/>
          </a:prstGeom>
          <a:noFill/>
        </p:spPr>
        <p:txBody>
          <a:bodyPr wrap="square" rtlCol="0">
            <a:spAutoFit/>
          </a:bodyPr>
          <a:lstStyle/>
          <a:p>
            <a:pPr algn="ctr"/>
            <a:r>
              <a:rPr lang="en-US" altLang="zh-CN"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JavaScript</a:t>
            </a: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中常见的关键字</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392345"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58004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7" name="文本框 16">
            <a:extLst>
              <a:ext uri="{FF2B5EF4-FFF2-40B4-BE49-F238E27FC236}">
                <a16:creationId xmlns:a16="http://schemas.microsoft.com/office/drawing/2014/main" id="{0AC76212-EC23-4F95-A3FA-72E85045A7CA}"/>
              </a:ext>
            </a:extLst>
          </p:cNvPr>
          <p:cNvSpPr txBox="1"/>
          <p:nvPr/>
        </p:nvSpPr>
        <p:spPr>
          <a:xfrm>
            <a:off x="971712" y="2414131"/>
            <a:ext cx="10668109" cy="1015663"/>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a:t>
            </a:r>
            <a:r>
              <a:rPr lang="en-US" altLang="zh-CN" sz="2000" dirty="0">
                <a:solidFill>
                  <a:srgbClr val="595959"/>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中，关键字分为</a:t>
            </a:r>
            <a:r>
              <a:rPr lang="zh-CN" altLang="zh-CN" sz="2000" dirty="0">
                <a:solidFill>
                  <a:srgbClr val="1369B2"/>
                </a:solidFill>
                <a:latin typeface="Microsoft YaHei" panose="020B0503020204020204" pitchFamily="34" charset="-122"/>
                <a:ea typeface="Microsoft YaHei" panose="020B0503020204020204" pitchFamily="34" charset="-122"/>
              </a:rPr>
              <a:t>保留关键字</a:t>
            </a:r>
            <a:r>
              <a:rPr lang="zh-CN" altLang="zh-CN" sz="2000" dirty="0">
                <a:solidFill>
                  <a:srgbClr val="595959"/>
                </a:solidFill>
                <a:latin typeface="Microsoft YaHei" panose="020B0503020204020204" pitchFamily="34" charset="-122"/>
                <a:ea typeface="Microsoft YaHei" panose="020B0503020204020204" pitchFamily="34" charset="-122"/>
              </a:rPr>
              <a:t>和</a:t>
            </a:r>
            <a:r>
              <a:rPr lang="zh-CN" altLang="zh-CN" sz="2000" dirty="0">
                <a:solidFill>
                  <a:srgbClr val="1369B2"/>
                </a:solidFill>
                <a:latin typeface="Microsoft YaHei" panose="020B0503020204020204" pitchFamily="34" charset="-122"/>
                <a:ea typeface="Microsoft YaHei" panose="020B0503020204020204" pitchFamily="34" charset="-122"/>
              </a:rPr>
              <a:t>未来保留关键字</a:t>
            </a:r>
            <a:r>
              <a:rPr lang="zh-CN" altLang="zh-CN" sz="2000" dirty="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1369B2"/>
                </a:solidFill>
                <a:latin typeface="Microsoft YaHei" panose="020B0503020204020204" pitchFamily="34" charset="-122"/>
                <a:ea typeface="Microsoft YaHei" panose="020B0503020204020204" pitchFamily="34" charset="-122"/>
              </a:rPr>
              <a:t>保留关键字</a:t>
            </a:r>
            <a:r>
              <a:rPr lang="zh-CN" altLang="zh-CN" sz="2000" dirty="0">
                <a:solidFill>
                  <a:srgbClr val="595959"/>
                </a:solidFill>
                <a:latin typeface="Microsoft YaHei" panose="020B0503020204020204" pitchFamily="34" charset="-122"/>
                <a:ea typeface="Microsoft YaHei" panose="020B0503020204020204" pitchFamily="34" charset="-122"/>
              </a:rPr>
              <a:t>是</a:t>
            </a:r>
            <a:r>
              <a:rPr lang="zh-CN" altLang="zh-CN" sz="2000" dirty="0" smtClean="0">
                <a:solidFill>
                  <a:srgbClr val="595959"/>
                </a:solidFill>
                <a:latin typeface="Microsoft YaHei" panose="020B0503020204020204" pitchFamily="34" charset="-122"/>
                <a:ea typeface="Microsoft YaHei" panose="020B0503020204020204" pitchFamily="34" charset="-122"/>
              </a:rPr>
              <a:t>指</a:t>
            </a:r>
            <a:r>
              <a:rPr lang="zh-CN" altLang="en-US" sz="2000" dirty="0" smtClean="0">
                <a:solidFill>
                  <a:srgbClr val="595959"/>
                </a:solidFill>
                <a:latin typeface="Microsoft YaHei" panose="020B0503020204020204" pitchFamily="34" charset="-122"/>
                <a:ea typeface="Microsoft YaHei" panose="020B0503020204020204" pitchFamily="34" charset="-122"/>
              </a:rPr>
              <a:t>目前已经生效的关键字</a:t>
            </a:r>
            <a:r>
              <a:rPr lang="zh-CN" altLang="zh-CN" sz="2000" dirty="0" smtClean="0">
                <a:solidFill>
                  <a:srgbClr val="595959"/>
                </a:solidFill>
                <a:latin typeface="Microsoft YaHei" panose="020B0503020204020204" pitchFamily="34" charset="-122"/>
                <a:ea typeface="Microsoft YaHei" panose="020B0503020204020204" pitchFamily="34" charset="-122"/>
              </a:rPr>
              <a:t>。</a:t>
            </a:r>
            <a:r>
              <a:rPr lang="zh-CN" altLang="zh-CN" sz="2000" dirty="0">
                <a:solidFill>
                  <a:srgbClr val="595959"/>
                </a:solidFill>
                <a:latin typeface="Microsoft YaHei" panose="020B0503020204020204" pitchFamily="34" charset="-122"/>
                <a:ea typeface="Microsoft YaHei" panose="020B0503020204020204" pitchFamily="34" charset="-122"/>
              </a:rPr>
              <a:t>常见的保留关键字如</a:t>
            </a:r>
            <a:r>
              <a:rPr lang="zh-CN" altLang="en-US" sz="2000" dirty="0">
                <a:solidFill>
                  <a:srgbClr val="595959"/>
                </a:solidFill>
                <a:latin typeface="Microsoft YaHei" panose="020B0503020204020204" pitchFamily="34" charset="-122"/>
                <a:ea typeface="Microsoft YaHei" panose="020B0503020204020204" pitchFamily="34" charset="-122"/>
              </a:rPr>
              <a:t>下表所示。</a:t>
            </a:r>
            <a:endParaRPr lang="zh-CN" altLang="zh-CN" sz="2000" dirty="0">
              <a:solidFill>
                <a:srgbClr val="595959"/>
              </a:solidFill>
              <a:latin typeface="Microsoft YaHei" panose="020B0503020204020204" pitchFamily="34" charset="-122"/>
              <a:ea typeface="Microsoft YaHei" panose="020B0503020204020204" pitchFamily="34" charset="-122"/>
            </a:endParaRPr>
          </a:p>
        </p:txBody>
      </p:sp>
      <p:sp>
        <p:nvSpPr>
          <p:cNvPr id="2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22" name="表格 21">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2050640361"/>
              </p:ext>
            </p:extLst>
          </p:nvPr>
        </p:nvGraphicFramePr>
        <p:xfrm>
          <a:off x="2105994" y="3501802"/>
          <a:ext cx="8526705" cy="2916528"/>
        </p:xfrm>
        <a:graphic>
          <a:graphicData uri="http://schemas.openxmlformats.org/drawingml/2006/table">
            <a:tbl>
              <a:tblPr>
                <a:tableStyleId>{7DF18680-E054-41AD-8BC1-D1AEF772440D}</a:tableStyleId>
              </a:tblPr>
              <a:tblGrid>
                <a:gridCol w="1397915">
                  <a:extLst>
                    <a:ext uri="{9D8B030D-6E8A-4147-A177-3AD203B41FA5}">
                      <a16:colId xmlns:a16="http://schemas.microsoft.com/office/drawing/2014/main" val="1296770823"/>
                    </a:ext>
                  </a:extLst>
                </a:gridCol>
                <a:gridCol w="1440160">
                  <a:extLst>
                    <a:ext uri="{9D8B030D-6E8A-4147-A177-3AD203B41FA5}">
                      <a16:colId xmlns:a16="http://schemas.microsoft.com/office/drawing/2014/main" val="1945888999"/>
                    </a:ext>
                  </a:extLst>
                </a:gridCol>
                <a:gridCol w="1366707">
                  <a:extLst>
                    <a:ext uri="{9D8B030D-6E8A-4147-A177-3AD203B41FA5}">
                      <a16:colId xmlns:a16="http://schemas.microsoft.com/office/drawing/2014/main" val="3162303528"/>
                    </a:ext>
                  </a:extLst>
                </a:gridCol>
                <a:gridCol w="1440641">
                  <a:extLst>
                    <a:ext uri="{9D8B030D-6E8A-4147-A177-3AD203B41FA5}">
                      <a16:colId xmlns:a16="http://schemas.microsoft.com/office/drawing/2014/main" val="1374998295"/>
                    </a:ext>
                  </a:extLst>
                </a:gridCol>
                <a:gridCol w="1440641">
                  <a:extLst>
                    <a:ext uri="{9D8B030D-6E8A-4147-A177-3AD203B41FA5}">
                      <a16:colId xmlns:a16="http://schemas.microsoft.com/office/drawing/2014/main" val="4215240402"/>
                    </a:ext>
                  </a:extLst>
                </a:gridCol>
                <a:gridCol w="1440641">
                  <a:extLst>
                    <a:ext uri="{9D8B030D-6E8A-4147-A177-3AD203B41FA5}">
                      <a16:colId xmlns:a16="http://schemas.microsoft.com/office/drawing/2014/main" val="2400841071"/>
                    </a:ext>
                  </a:extLst>
                </a:gridCol>
              </a:tblGrid>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break</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case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catch</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class</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const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continue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0"/>
                  </a:ext>
                </a:extLst>
              </a:tr>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debugger</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default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delete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do</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else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export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41778534"/>
                  </a:ext>
                </a:extLst>
              </a:tr>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extends</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finally</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for</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dirty="0" smtClean="0">
                          <a:solidFill>
                            <a:srgbClr val="595959"/>
                          </a:solidFill>
                          <a:latin typeface="Microsoft YaHei" panose="020B0503020204020204" pitchFamily="34" charset="-122"/>
                          <a:ea typeface="Microsoft YaHei" panose="020B0503020204020204" pitchFamily="34" charset="-122"/>
                          <a:cs typeface="+mn-cs"/>
                        </a:rPr>
                        <a:t>function</a:t>
                      </a:r>
                      <a:endParaRPr lang="zh-CN" altLang="en-US" sz="2000" kern="1200" dirty="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if</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import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3260076697"/>
                  </a:ext>
                </a:extLst>
              </a:tr>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in</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instanceof</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new</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return</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super</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switch</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2850073451"/>
                  </a:ext>
                </a:extLst>
              </a:tr>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this</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throw</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try</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typeof</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var</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void</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2980835038"/>
                  </a:ext>
                </a:extLst>
              </a:tr>
              <a:tr h="486088">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while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with</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yield</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enum</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let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zh-CN" altLang="zh-CN" sz="2000" kern="1200" dirty="0" smtClean="0">
                          <a:solidFill>
                            <a:srgbClr val="595959"/>
                          </a:solidFill>
                          <a:latin typeface="Microsoft YaHei" panose="020B0503020204020204" pitchFamily="34" charset="-122"/>
                          <a:ea typeface="Microsoft YaHei" panose="020B0503020204020204" pitchFamily="34" charset="-122"/>
                          <a:cs typeface="+mn-cs"/>
                        </a:rPr>
                        <a:t>—</a:t>
                      </a:r>
                      <a:endParaRPr lang="zh-CN" altLang="en-US" sz="2000" kern="1200" dirty="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486410453"/>
                  </a:ext>
                </a:extLst>
              </a:tr>
            </a:tbl>
          </a:graphicData>
        </a:graphic>
      </p:graphicFrame>
    </p:spTree>
    <p:extLst>
      <p:ext uri="{BB962C8B-B14F-4D97-AF65-F5344CB8AC3E}">
        <p14:creationId xmlns:p14="http://schemas.microsoft.com/office/powerpoint/2010/main" val="1561011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7" name="文本框 16">
            <a:extLst>
              <a:ext uri="{FF2B5EF4-FFF2-40B4-BE49-F238E27FC236}">
                <a16:creationId xmlns:a16="http://schemas.microsoft.com/office/drawing/2014/main" id="{0AC76212-EC23-4F95-A3FA-72E85045A7CA}"/>
              </a:ext>
            </a:extLst>
          </p:cNvPr>
          <p:cNvSpPr txBox="1"/>
          <p:nvPr/>
        </p:nvSpPr>
        <p:spPr>
          <a:xfrm>
            <a:off x="982980" y="1680350"/>
            <a:ext cx="9864753" cy="1015663"/>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未来</a:t>
            </a:r>
            <a:r>
              <a:rPr lang="zh-CN" altLang="zh-CN" sz="2000" dirty="0">
                <a:solidFill>
                  <a:srgbClr val="595959"/>
                </a:solidFill>
                <a:latin typeface="Microsoft YaHei" panose="020B0503020204020204" pitchFamily="34" charset="-122"/>
                <a:ea typeface="Microsoft YaHei" panose="020B0503020204020204" pitchFamily="34" charset="-122"/>
              </a:rPr>
              <a:t>保留关键字是指</a:t>
            </a:r>
            <a:r>
              <a:rPr lang="en-US" altLang="zh-CN" sz="2000" dirty="0">
                <a:solidFill>
                  <a:srgbClr val="1369B2"/>
                </a:solidFill>
                <a:latin typeface="Microsoft YaHei" panose="020B0503020204020204" pitchFamily="34" charset="-122"/>
                <a:ea typeface="Microsoft YaHei" panose="020B0503020204020204" pitchFamily="34" charset="-122"/>
              </a:rPr>
              <a:t>ECMAScript</a:t>
            </a:r>
            <a:r>
              <a:rPr lang="zh-CN" altLang="zh-CN" sz="2000" dirty="0">
                <a:solidFill>
                  <a:srgbClr val="1369B2"/>
                </a:solidFill>
                <a:latin typeface="Microsoft YaHei" panose="020B0503020204020204" pitchFamily="34" charset="-122"/>
                <a:ea typeface="Microsoft YaHei" panose="020B0503020204020204" pitchFamily="34" charset="-122"/>
              </a:rPr>
              <a:t>规范中预留的关键字</a:t>
            </a:r>
            <a:r>
              <a:rPr lang="zh-CN" altLang="zh-CN" sz="2000" dirty="0">
                <a:solidFill>
                  <a:srgbClr val="595959"/>
                </a:solidFill>
                <a:latin typeface="Microsoft YaHei" panose="020B0503020204020204" pitchFamily="34" charset="-122"/>
                <a:ea typeface="Microsoft YaHei" panose="020B0503020204020204" pitchFamily="34" charset="-122"/>
              </a:rPr>
              <a:t>，目前它们</a:t>
            </a:r>
            <a:r>
              <a:rPr lang="zh-CN" altLang="zh-CN" sz="2000" dirty="0">
                <a:solidFill>
                  <a:srgbClr val="1369B2"/>
                </a:solidFill>
                <a:latin typeface="Microsoft YaHei" panose="020B0503020204020204" pitchFamily="34" charset="-122"/>
                <a:ea typeface="Microsoft YaHei" panose="020B0503020204020204" pitchFamily="34" charset="-122"/>
              </a:rPr>
              <a:t>没有特殊的作用</a:t>
            </a:r>
            <a:r>
              <a:rPr lang="zh-CN" altLang="zh-CN" sz="2000" dirty="0">
                <a:solidFill>
                  <a:srgbClr val="595959"/>
                </a:solidFill>
                <a:latin typeface="Microsoft YaHei" panose="020B0503020204020204" pitchFamily="34" charset="-122"/>
                <a:ea typeface="Microsoft YaHei" panose="020B0503020204020204" pitchFamily="34" charset="-122"/>
              </a:rPr>
              <a:t>，但是在未来的某个时间可能</a:t>
            </a:r>
            <a:r>
              <a:rPr lang="zh-CN" altLang="zh-CN" sz="2000" dirty="0" smtClean="0">
                <a:solidFill>
                  <a:srgbClr val="595959"/>
                </a:solidFill>
                <a:latin typeface="Microsoft YaHei" panose="020B0503020204020204" pitchFamily="34" charset="-122"/>
                <a:ea typeface="Microsoft YaHei" panose="020B0503020204020204" pitchFamily="34" charset="-122"/>
              </a:rPr>
              <a:t>会</a:t>
            </a:r>
            <a:r>
              <a:rPr lang="zh-CN" altLang="en-US" sz="2000" dirty="0" smtClean="0">
                <a:solidFill>
                  <a:srgbClr val="595959"/>
                </a:solidFill>
                <a:latin typeface="Microsoft YaHei" panose="020B0503020204020204" pitchFamily="34" charset="-122"/>
                <a:ea typeface="Microsoft YaHei" panose="020B0503020204020204" pitchFamily="34" charset="-122"/>
              </a:rPr>
              <a:t>具有一定</a:t>
            </a:r>
            <a:r>
              <a:rPr lang="zh-CN" altLang="zh-CN" sz="2000" dirty="0" smtClean="0">
                <a:solidFill>
                  <a:srgbClr val="595959"/>
                </a:solidFill>
                <a:latin typeface="Microsoft YaHei" panose="020B0503020204020204" pitchFamily="34" charset="-122"/>
                <a:ea typeface="Microsoft YaHei" panose="020B0503020204020204" pitchFamily="34" charset="-122"/>
              </a:rPr>
              <a:t>的</a:t>
            </a:r>
            <a:r>
              <a:rPr lang="zh-CN" altLang="zh-CN" sz="2000" dirty="0">
                <a:solidFill>
                  <a:srgbClr val="595959"/>
                </a:solidFill>
                <a:latin typeface="Microsoft YaHei" panose="020B0503020204020204" pitchFamily="34" charset="-122"/>
                <a:ea typeface="Microsoft YaHei" panose="020B0503020204020204" pitchFamily="34" charset="-122"/>
              </a:rPr>
              <a:t>作用。</a:t>
            </a:r>
            <a:r>
              <a:rPr lang="zh-CN" altLang="en-US" sz="2000" dirty="0">
                <a:solidFill>
                  <a:srgbClr val="595959"/>
                </a:solidFill>
                <a:latin typeface="Microsoft YaHei" panose="020B0503020204020204" pitchFamily="34" charset="-122"/>
                <a:ea typeface="Microsoft YaHei" panose="020B0503020204020204" pitchFamily="34" charset="-122"/>
              </a:rPr>
              <a:t>未来保留关键字如下表所示。</a:t>
            </a:r>
            <a:endParaRPr lang="zh-CN" altLang="zh-CN" sz="2000" dirty="0">
              <a:solidFill>
                <a:srgbClr val="595959"/>
              </a:solidFill>
              <a:latin typeface="Microsoft YaHei" panose="020B0503020204020204" pitchFamily="34" charset="-122"/>
              <a:ea typeface="Microsoft YaHei" panose="020B0503020204020204" pitchFamily="34" charset="-122"/>
            </a:endParaRPr>
          </a:p>
        </p:txBody>
      </p:sp>
      <p:sp>
        <p:nvSpPr>
          <p:cNvPr id="2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1.4.2</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变量的命名规则</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22" name="表格 21">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2540982693"/>
              </p:ext>
            </p:extLst>
          </p:nvPr>
        </p:nvGraphicFramePr>
        <p:xfrm>
          <a:off x="1882154" y="2925738"/>
          <a:ext cx="8389515" cy="1584176"/>
        </p:xfrm>
        <a:graphic>
          <a:graphicData uri="http://schemas.openxmlformats.org/drawingml/2006/table">
            <a:tbl>
              <a:tblPr>
                <a:tableStyleId>{7DF18680-E054-41AD-8BC1-D1AEF772440D}</a:tableStyleId>
              </a:tblPr>
              <a:tblGrid>
                <a:gridCol w="2789164">
                  <a:extLst>
                    <a:ext uri="{9D8B030D-6E8A-4147-A177-3AD203B41FA5}">
                      <a16:colId xmlns:a16="http://schemas.microsoft.com/office/drawing/2014/main" val="1296770823"/>
                    </a:ext>
                  </a:extLst>
                </a:gridCol>
                <a:gridCol w="2873453">
                  <a:extLst>
                    <a:ext uri="{9D8B030D-6E8A-4147-A177-3AD203B41FA5}">
                      <a16:colId xmlns:a16="http://schemas.microsoft.com/office/drawing/2014/main" val="1945888999"/>
                    </a:ext>
                  </a:extLst>
                </a:gridCol>
                <a:gridCol w="2726898">
                  <a:extLst>
                    <a:ext uri="{9D8B030D-6E8A-4147-A177-3AD203B41FA5}">
                      <a16:colId xmlns:a16="http://schemas.microsoft.com/office/drawing/2014/main" val="3162303528"/>
                    </a:ext>
                  </a:extLst>
                </a:gridCol>
              </a:tblGrid>
              <a:tr h="576064">
                <a:tc>
                  <a:txBody>
                    <a:bodyPr/>
                    <a:lstStyle/>
                    <a:p>
                      <a:pPr marL="0" algn="ctr" defTabSz="1219200" rtl="0" eaLnBrk="1" latinLnBrk="0" hangingPunct="1"/>
                      <a:r>
                        <a:rPr lang="en-US" altLang="zh-CN" sz="2000" kern="1200" dirty="0" smtClean="0">
                          <a:solidFill>
                            <a:srgbClr val="595959"/>
                          </a:solidFill>
                          <a:latin typeface="Microsoft YaHei" panose="020B0503020204020204" pitchFamily="34" charset="-122"/>
                          <a:ea typeface="Microsoft YaHei" panose="020B0503020204020204" pitchFamily="34" charset="-122"/>
                          <a:cs typeface="+mn-cs"/>
                        </a:rPr>
                        <a:t>implements</a:t>
                      </a:r>
                      <a:endParaRPr lang="zh-CN" altLang="en-US" sz="2000" kern="1200" dirty="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package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public</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0"/>
                  </a:ext>
                </a:extLst>
              </a:tr>
              <a:tr h="504056">
                <a:tc>
                  <a:txBody>
                    <a:bodyPr/>
                    <a:lstStyle/>
                    <a:p>
                      <a:pPr marL="0" algn="ctr" defTabSz="1219200" rtl="0" eaLnBrk="1" latinLnBrk="0" hangingPunct="1"/>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interface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private</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static</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41778534"/>
                  </a:ext>
                </a:extLst>
              </a:tr>
              <a:tr h="504056">
                <a:tc>
                  <a:txBody>
                    <a:bodyPr/>
                    <a:lstStyle/>
                    <a:p>
                      <a:pPr marL="0" algn="ctr" defTabSz="1219200" rtl="0" eaLnBrk="1" latinLnBrk="0" hangingPunct="1"/>
                      <a:r>
                        <a:rPr lang="en-US" altLang="zh-CN" sz="2000" kern="1200" smtClean="0">
                          <a:solidFill>
                            <a:srgbClr val="595959"/>
                          </a:solidFill>
                          <a:latin typeface="Microsoft YaHei" panose="020B0503020204020204" pitchFamily="34" charset="-122"/>
                          <a:ea typeface="Microsoft YaHei" panose="020B0503020204020204" pitchFamily="34" charset="-122"/>
                          <a:cs typeface="+mn-cs"/>
                        </a:rPr>
                        <a:t>protected</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zh-CN" altLang="zh-CN" sz="2000" kern="1200" smtClean="0">
                          <a:solidFill>
                            <a:srgbClr val="595959"/>
                          </a:solidFill>
                          <a:latin typeface="Microsoft YaHei" panose="020B0503020204020204" pitchFamily="34" charset="-122"/>
                          <a:ea typeface="Microsoft YaHei" panose="020B0503020204020204" pitchFamily="34" charset="-122"/>
                          <a:cs typeface="+mn-cs"/>
                        </a:rPr>
                        <a:t>—</a:t>
                      </a:r>
                      <a:endParaRPr lang="zh-CN" altLang="en-US" sz="2000" kern="120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tc>
                  <a:txBody>
                    <a:bodyPr/>
                    <a:lstStyle/>
                    <a:p>
                      <a:pPr algn="ctr"/>
                      <a:r>
                        <a:rPr lang="zh-CN" altLang="zh-CN" sz="2000" kern="1200" dirty="0" smtClean="0">
                          <a:solidFill>
                            <a:srgbClr val="595959"/>
                          </a:solidFill>
                          <a:latin typeface="Microsoft YaHei" panose="020B0503020204020204" pitchFamily="34" charset="-122"/>
                          <a:ea typeface="Microsoft YaHei" panose="020B0503020204020204" pitchFamily="34" charset="-122"/>
                          <a:cs typeface="+mn-cs"/>
                        </a:rPr>
                        <a:t>—</a:t>
                      </a:r>
                      <a:endParaRPr lang="zh-CN" altLang="en-US" sz="2000" kern="1200" dirty="0">
                        <a:solidFill>
                          <a:srgbClr val="595959"/>
                        </a:solidFill>
                        <a:latin typeface="Microsoft YaHei" panose="020B0503020204020204" pitchFamily="34" charset="-122"/>
                        <a:ea typeface="Microsoft YaHei"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3260076697"/>
                  </a:ext>
                </a:extLst>
              </a:tr>
            </a:tbl>
          </a:graphicData>
        </a:graphic>
      </p:graphicFrame>
      <p:sp>
        <p:nvSpPr>
          <p:cNvPr id="2" name="矩形 1"/>
          <p:cNvSpPr/>
          <p:nvPr/>
        </p:nvSpPr>
        <p:spPr>
          <a:xfrm>
            <a:off x="1143691" y="4725938"/>
            <a:ext cx="9704042"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Microsoft YaHei" panose="020B0503020204020204" pitchFamily="34" charset="-122"/>
                <a:ea typeface="Microsoft YaHei" panose="020B0503020204020204" pitchFamily="34" charset="-122"/>
              </a:rPr>
              <a:t>在命名变量时，不建议</a:t>
            </a:r>
            <a:r>
              <a:rPr lang="zh-CN" altLang="zh-CN" sz="2000" dirty="0" smtClean="0">
                <a:solidFill>
                  <a:srgbClr val="595959"/>
                </a:solidFill>
                <a:latin typeface="Microsoft YaHei" panose="020B0503020204020204" pitchFamily="34" charset="-122"/>
                <a:ea typeface="Microsoft YaHei" panose="020B0503020204020204" pitchFamily="34" charset="-122"/>
              </a:rPr>
              <a:t>使用</a:t>
            </a:r>
            <a:r>
              <a:rPr lang="zh-CN" altLang="en-US" sz="2000" dirty="0" smtClean="0">
                <a:solidFill>
                  <a:srgbClr val="595959"/>
                </a:solidFill>
                <a:latin typeface="Microsoft YaHei" panose="020B0503020204020204" pitchFamily="34" charset="-122"/>
                <a:ea typeface="Microsoft YaHei" panose="020B0503020204020204" pitchFamily="34" charset="-122"/>
              </a:rPr>
              <a:t>上</a:t>
            </a:r>
            <a:r>
              <a:rPr lang="zh-CN" altLang="zh-CN" sz="2000" dirty="0" smtClean="0">
                <a:solidFill>
                  <a:srgbClr val="595959"/>
                </a:solidFill>
                <a:latin typeface="Microsoft YaHei" panose="020B0503020204020204" pitchFamily="34" charset="-122"/>
                <a:ea typeface="Microsoft YaHei" panose="020B0503020204020204" pitchFamily="34" charset="-122"/>
              </a:rPr>
              <a:t>表</a:t>
            </a:r>
            <a:r>
              <a:rPr lang="zh-CN" altLang="zh-CN" sz="2000" dirty="0">
                <a:solidFill>
                  <a:srgbClr val="595959"/>
                </a:solidFill>
                <a:latin typeface="Microsoft YaHei" panose="020B0503020204020204" pitchFamily="34" charset="-122"/>
                <a:ea typeface="Microsoft YaHei" panose="020B0503020204020204" pitchFamily="34" charset="-122"/>
              </a:rPr>
              <a:t>中列举的未来保留关键字，以免未来它们转换</a:t>
            </a:r>
            <a:r>
              <a:rPr lang="zh-CN" altLang="zh-CN" sz="2000" dirty="0" smtClean="0">
                <a:solidFill>
                  <a:srgbClr val="595959"/>
                </a:solidFill>
                <a:latin typeface="Microsoft YaHei" panose="020B0503020204020204" pitchFamily="34" charset="-122"/>
                <a:ea typeface="Microsoft YaHei" panose="020B0503020204020204" pitchFamily="34" charset="-122"/>
              </a:rPr>
              <a:t>为</a:t>
            </a:r>
            <a:r>
              <a:rPr lang="zh-CN" altLang="en-US" sz="2000" dirty="0" smtClean="0">
                <a:solidFill>
                  <a:srgbClr val="595959"/>
                </a:solidFill>
                <a:latin typeface="Microsoft YaHei" panose="020B0503020204020204" pitchFamily="34" charset="-122"/>
                <a:ea typeface="Microsoft YaHei" panose="020B0503020204020204" pitchFamily="34" charset="-122"/>
              </a:rPr>
              <a:t>保留</a:t>
            </a:r>
            <a:r>
              <a:rPr lang="zh-CN" altLang="zh-CN" sz="2000" dirty="0" smtClean="0">
                <a:solidFill>
                  <a:srgbClr val="595959"/>
                </a:solidFill>
                <a:latin typeface="Microsoft YaHei" panose="020B0503020204020204" pitchFamily="34" charset="-122"/>
                <a:ea typeface="Microsoft YaHei" panose="020B0503020204020204" pitchFamily="34" charset="-122"/>
              </a:rPr>
              <a:t>关键字</a:t>
            </a:r>
            <a:r>
              <a:rPr lang="zh-CN" altLang="zh-CN" sz="2000" dirty="0">
                <a:solidFill>
                  <a:srgbClr val="595959"/>
                </a:solidFill>
                <a:latin typeface="Microsoft YaHei" panose="020B0503020204020204" pitchFamily="34" charset="-122"/>
                <a:ea typeface="Microsoft YaHei" panose="020B0503020204020204" pitchFamily="34" charset="-122"/>
              </a:rPr>
              <a:t>时程序出错。</a:t>
            </a:r>
          </a:p>
        </p:txBody>
      </p:sp>
    </p:spTree>
    <p:extLst>
      <p:ext uri="{BB962C8B-B14F-4D97-AF65-F5344CB8AC3E}">
        <p14:creationId xmlns:p14="http://schemas.microsoft.com/office/powerpoint/2010/main" val="366687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变量的声明与赋值</a:t>
            </a:r>
            <a:r>
              <a:rPr lang="zh-CN" altLang="zh-CN" sz="2000" dirty="0">
                <a:solidFill>
                  <a:srgbClr val="595959"/>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声明变量</a:t>
            </a:r>
            <a:r>
              <a:rPr lang="zh-CN" altLang="zh-CN" sz="2000" dirty="0">
                <a:solidFill>
                  <a:srgbClr val="595959"/>
                </a:solidFill>
                <a:latin typeface="微软雅黑" panose="020B0503020204020204" pitchFamily="34" charset="-122"/>
                <a:ea typeface="微软雅黑" panose="020B0503020204020204" pitchFamily="34" charset="-122"/>
                <a:cs typeface="+mn-ea"/>
              </a:rPr>
              <a:t>并为其</a:t>
            </a:r>
            <a:r>
              <a:rPr lang="zh-CN" altLang="zh-CN" sz="2000" dirty="0">
                <a:solidFill>
                  <a:srgbClr val="1369B2"/>
                </a:solidFill>
                <a:latin typeface="微软雅黑" panose="020B0503020204020204" pitchFamily="34" charset="-122"/>
                <a:ea typeface="微软雅黑" panose="020B0503020204020204" pitchFamily="34" charset="-122"/>
                <a:cs typeface="+mn-ea"/>
              </a:rPr>
              <a:t>赋值</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3262816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7" y="1985403"/>
            <a:ext cx="6236319" cy="2524511"/>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224356" y="2069235"/>
              <a:ext cx="6090553" cy="32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程序中，经常需要使用变量来</a:t>
              </a:r>
              <a:r>
                <a:rPr lang="zh-CN" altLang="zh-CN" sz="2000" dirty="0">
                  <a:solidFill>
                    <a:srgbClr val="1369B2"/>
                  </a:solidFill>
                  <a:latin typeface="微软雅黑" panose="020B0503020204020204" pitchFamily="34" charset="-122"/>
                  <a:ea typeface="微软雅黑" panose="020B0503020204020204" pitchFamily="34" charset="-122"/>
                </a:rPr>
                <a:t>保存数据</a:t>
              </a:r>
              <a:r>
                <a:rPr lang="zh-CN" altLang="zh-CN" sz="2000" dirty="0">
                  <a:solidFill>
                    <a:srgbClr val="595959"/>
                  </a:solidFill>
                  <a:latin typeface="微软雅黑" panose="020B0503020204020204" pitchFamily="34" charset="-122"/>
                  <a:ea typeface="微软雅黑" panose="020B0503020204020204" pitchFamily="34" charset="-122"/>
                </a:rPr>
                <a:t>。例如，将两个数字相乘的结果保存到变量中，以便在后面的计算中使用。</a:t>
              </a:r>
              <a:r>
                <a:rPr lang="zh-CN" altLang="zh-CN" sz="2000" dirty="0">
                  <a:solidFill>
                    <a:srgbClr val="1369B2"/>
                  </a:solidFill>
                  <a:latin typeface="微软雅黑" panose="020B0503020204020204" pitchFamily="34" charset="-122"/>
                  <a:ea typeface="微软雅黑" panose="020B0503020204020204" pitchFamily="34" charset="-122"/>
                </a:rPr>
                <a:t>在使用变量时，需要先声明变量</a:t>
              </a:r>
              <a:r>
                <a:rPr lang="zh-CN" altLang="zh-CN" sz="2000" dirty="0">
                  <a:solidFill>
                    <a:srgbClr val="595959"/>
                  </a:solidFill>
                  <a:latin typeface="微软雅黑" panose="020B0503020204020204" pitchFamily="34" charset="-122"/>
                  <a:ea typeface="微软雅黑" panose="020B0503020204020204" pitchFamily="34" charset="-122"/>
                </a:rPr>
                <a:t>，类似于坐火车时需要先预定火车票。</a:t>
              </a:r>
              <a:r>
                <a:rPr lang="zh-CN" altLang="zh-CN" sz="2000" dirty="0">
                  <a:solidFill>
                    <a:srgbClr val="1369B2"/>
                  </a:solidFill>
                  <a:latin typeface="微软雅黑" panose="020B0503020204020204" pitchFamily="34" charset="-122"/>
                  <a:ea typeface="微软雅黑" panose="020B0503020204020204" pitchFamily="34" charset="-122"/>
                </a:rPr>
                <a:t>声明变量后</a:t>
              </a:r>
              <a:r>
                <a:rPr lang="zh-CN" altLang="zh-CN" sz="2000" dirty="0">
                  <a:solidFill>
                    <a:srgbClr val="595959"/>
                  </a:solidFill>
                  <a:latin typeface="微软雅黑" panose="020B0503020204020204" pitchFamily="34" charset="-122"/>
                  <a:ea typeface="微软雅黑" panose="020B0503020204020204" pitchFamily="34" charset="-122"/>
                </a:rPr>
                <a:t>，就可以</a:t>
              </a:r>
              <a:r>
                <a:rPr lang="zh-CN" altLang="zh-CN" sz="2000" dirty="0">
                  <a:solidFill>
                    <a:srgbClr val="1369B2"/>
                  </a:solidFill>
                  <a:latin typeface="微软雅黑" panose="020B0503020204020204" pitchFamily="34" charset="-122"/>
                  <a:ea typeface="微软雅黑" panose="020B0503020204020204" pitchFamily="34" charset="-122"/>
                </a:rPr>
                <a:t>为变量赋值</a:t>
              </a:r>
              <a:r>
                <a:rPr lang="zh-CN" altLang="zh-CN" sz="2000" dirty="0">
                  <a:solidFill>
                    <a:srgbClr val="595959"/>
                  </a:solidFill>
                  <a:latin typeface="微软雅黑" panose="020B0503020204020204" pitchFamily="34" charset="-122"/>
                  <a:ea typeface="微软雅黑" panose="020B0503020204020204" pitchFamily="34" charset="-122"/>
                </a:rPr>
                <a:t>，从而完成</a:t>
              </a:r>
              <a:r>
                <a:rPr lang="zh-CN" altLang="zh-CN" sz="2000" dirty="0">
                  <a:solidFill>
                    <a:srgbClr val="1369B2"/>
                  </a:solidFill>
                  <a:latin typeface="微软雅黑" panose="020B0503020204020204" pitchFamily="34" charset="-122"/>
                  <a:ea typeface="微软雅黑" panose="020B0503020204020204" pitchFamily="34" charset="-122"/>
                </a:rPr>
                <a:t>数据的存储</a:t>
              </a:r>
              <a:r>
                <a:rPr lang="zh-CN" altLang="zh-CN" sz="2000" dirty="0">
                  <a:solidFill>
                    <a:srgbClr val="595959"/>
                  </a:solidFill>
                  <a:latin typeface="微软雅黑" panose="020B0503020204020204" pitchFamily="34" charset="-122"/>
                  <a:ea typeface="微软雅黑" panose="020B0503020204020204" pitchFamily="34" charset="-122"/>
                </a:rPr>
                <a:t>。</a:t>
              </a:r>
            </a:p>
          </p:txBody>
        </p:sp>
      </p:grpSp>
      <p:sp>
        <p:nvSpPr>
          <p:cNvPr id="11"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26741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3690" y="1702325"/>
            <a:ext cx="10136092"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中通常</a:t>
            </a:r>
            <a:r>
              <a:rPr lang="zh-CN" altLang="zh-CN" sz="2000" dirty="0">
                <a:solidFill>
                  <a:srgbClr val="1369B2"/>
                </a:solidFill>
                <a:latin typeface="微软雅黑" panose="020B0503020204020204" pitchFamily="34" charset="-122"/>
                <a:ea typeface="微软雅黑" panose="020B0503020204020204" pitchFamily="34" charset="-122"/>
              </a:rPr>
              <a:t>使用</a:t>
            </a:r>
            <a:r>
              <a:rPr lang="en-US" altLang="zh-CN" sz="2000" dirty="0" err="1">
                <a:solidFill>
                  <a:srgbClr val="1369B2"/>
                </a:solidFill>
                <a:latin typeface="微软雅黑" panose="020B0503020204020204" pitchFamily="34" charset="-122"/>
                <a:ea typeface="微软雅黑" panose="020B0503020204020204" pitchFamily="34" charset="-122"/>
              </a:rPr>
              <a:t>var</a:t>
            </a:r>
            <a:r>
              <a:rPr lang="zh-CN" altLang="zh-CN" sz="2000" dirty="0">
                <a:solidFill>
                  <a:srgbClr val="1369B2"/>
                </a:solidFill>
                <a:latin typeface="微软雅黑" panose="020B0503020204020204" pitchFamily="34" charset="-122"/>
                <a:ea typeface="微软雅黑" panose="020B0503020204020204" pitchFamily="34" charset="-122"/>
              </a:rPr>
              <a:t>关键字声明变量</a:t>
            </a:r>
            <a:r>
              <a:rPr lang="zh-CN" altLang="zh-CN" sz="2000" dirty="0">
                <a:solidFill>
                  <a:srgbClr val="595959"/>
                </a:solidFill>
                <a:latin typeface="微软雅黑" panose="020B0503020204020204" pitchFamily="34" charset="-122"/>
                <a:ea typeface="微软雅黑" panose="020B0503020204020204" pitchFamily="34" charset="-122"/>
                <a:cs typeface="+mn-ea"/>
              </a:rPr>
              <a:t>，声明变量后，变量值默认会被设定为</a:t>
            </a:r>
            <a:r>
              <a:rPr lang="en-US" altLang="zh-CN" sz="2000" dirty="0">
                <a:solidFill>
                  <a:srgbClr val="1369B2"/>
                </a:solidFill>
                <a:latin typeface="微软雅黑" panose="020B0503020204020204" pitchFamily="34" charset="-122"/>
                <a:ea typeface="微软雅黑" panose="020B0503020204020204" pitchFamily="34" charset="-122"/>
              </a:rPr>
              <a:t>undefined</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rPr>
              <a:t>未定义</a:t>
            </a:r>
            <a:r>
              <a:rPr lang="zh-CN" altLang="zh-CN" sz="2000" dirty="0">
                <a:solidFill>
                  <a:srgbClr val="595959"/>
                </a:solidFill>
                <a:latin typeface="微软雅黑" panose="020B0503020204020204" pitchFamily="34" charset="-122"/>
                <a:ea typeface="微软雅黑" panose="020B0503020204020204" pitchFamily="34" charset="-122"/>
                <a:cs typeface="+mn-ea"/>
              </a:rPr>
              <a:t>。如果需要使用变量保存具体的值就需要在声明变量后为其赋值</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先声明变量后赋值的示例代码如下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矩形 4"/>
          <p:cNvSpPr/>
          <p:nvPr/>
        </p:nvSpPr>
        <p:spPr>
          <a:xfrm>
            <a:off x="1143690" y="1115504"/>
            <a:ext cx="250324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rgbClr val="FFFFFF"/>
                </a:solidFill>
                <a:latin typeface="微软雅黑" panose="020B0503020204020204" pitchFamily="34" charset="-122"/>
                <a:ea typeface="微软雅黑" panose="020B0503020204020204" pitchFamily="34" charset="-122"/>
              </a:rPr>
              <a:t>1</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先声明变量后赋值</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054094" y="3209432"/>
            <a:ext cx="8433600" cy="3416320"/>
          </a:xfrm>
          <a:prstGeom prst="rect">
            <a:avLst/>
          </a:prstGeom>
          <a:solidFill>
            <a:srgbClr val="F2F2F2"/>
          </a:solidFill>
        </p:spPr>
        <p:txBody>
          <a:bodyPr wrap="square" rtlCol="0">
            <a:spAutoFit/>
          </a:bodyPr>
          <a:lstStyle/>
          <a:p>
            <a:pPr lvl="1">
              <a:lnSpc>
                <a:spcPct val="150000"/>
              </a:lnSpc>
            </a:pP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声明变量</a:t>
            </a: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var</a:t>
            </a:r>
            <a:r>
              <a:rPr lang="en-US" altLang="zh-CN" sz="1800" dirty="0">
                <a:solidFill>
                  <a:srgbClr val="595959"/>
                </a:solidFill>
                <a:latin typeface="微软雅黑" panose="020B0503020204020204" pitchFamily="34" charset="-122"/>
                <a:ea typeface="微软雅黑" panose="020B0503020204020204" pitchFamily="34" charset="-122"/>
                <a:cs typeface="+mn-ea"/>
              </a:rPr>
              <a:t> username;             	// </a:t>
            </a:r>
            <a:r>
              <a:rPr lang="zh-CN" altLang="zh-CN" sz="1800" dirty="0">
                <a:solidFill>
                  <a:srgbClr val="595959"/>
                </a:solidFill>
                <a:latin typeface="微软雅黑" panose="020B0503020204020204" pitchFamily="34" charset="-122"/>
                <a:ea typeface="微软雅黑" panose="020B0503020204020204" pitchFamily="34" charset="-122"/>
                <a:cs typeface="+mn-ea"/>
              </a:rPr>
              <a:t>声明一个名称为</a:t>
            </a:r>
            <a:r>
              <a:rPr lang="en-US" altLang="zh-CN" sz="1800" dirty="0">
                <a:solidFill>
                  <a:srgbClr val="595959"/>
                </a:solidFill>
                <a:latin typeface="微软雅黑" panose="020B0503020204020204" pitchFamily="34" charset="-122"/>
                <a:ea typeface="微软雅黑" panose="020B0503020204020204" pitchFamily="34" charset="-122"/>
                <a:cs typeface="+mn-ea"/>
              </a:rPr>
              <a:t>username</a:t>
            </a:r>
            <a:r>
              <a:rPr lang="zh-CN" altLang="zh-CN" sz="1800" dirty="0">
                <a:solidFill>
                  <a:srgbClr val="595959"/>
                </a:solidFill>
                <a:latin typeface="微软雅黑" panose="020B0503020204020204" pitchFamily="34" charset="-122"/>
                <a:ea typeface="微软雅黑" panose="020B0503020204020204" pitchFamily="34" charset="-122"/>
                <a:cs typeface="+mn-ea"/>
              </a:rPr>
              <a:t>的变量</a:t>
            </a: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var</a:t>
            </a:r>
            <a:r>
              <a:rPr lang="en-US" altLang="zh-CN" sz="1800" dirty="0">
                <a:solidFill>
                  <a:srgbClr val="595959"/>
                </a:solidFill>
                <a:latin typeface="微软雅黑" panose="020B0503020204020204" pitchFamily="34" charset="-122"/>
                <a:ea typeface="微软雅黑" panose="020B0503020204020204" pitchFamily="34" charset="-122"/>
                <a:cs typeface="+mn-ea"/>
              </a:rPr>
              <a:t> age, sex, height;    	// </a:t>
            </a:r>
            <a:r>
              <a:rPr lang="zh-CN" altLang="zh-CN" sz="1800" dirty="0">
                <a:solidFill>
                  <a:srgbClr val="595959"/>
                </a:solidFill>
                <a:latin typeface="微软雅黑" panose="020B0503020204020204" pitchFamily="34" charset="-122"/>
                <a:ea typeface="微软雅黑" panose="020B0503020204020204" pitchFamily="34" charset="-122"/>
                <a:cs typeface="+mn-ea"/>
              </a:rPr>
              <a:t>同时声明</a:t>
            </a:r>
            <a:r>
              <a:rPr lang="en-US" altLang="zh-CN" sz="1800" dirty="0">
                <a:solidFill>
                  <a:srgbClr val="595959"/>
                </a:solidFill>
                <a:latin typeface="微软雅黑" panose="020B0503020204020204" pitchFamily="34" charset="-122"/>
                <a:ea typeface="微软雅黑" panose="020B0503020204020204" pitchFamily="34" charset="-122"/>
                <a:cs typeface="+mn-ea"/>
              </a:rPr>
              <a:t>3</a:t>
            </a:r>
            <a:r>
              <a:rPr lang="zh-CN" altLang="zh-CN" sz="1800" dirty="0">
                <a:solidFill>
                  <a:srgbClr val="595959"/>
                </a:solidFill>
                <a:latin typeface="微软雅黑" panose="020B0503020204020204" pitchFamily="34" charset="-122"/>
                <a:ea typeface="微软雅黑" panose="020B0503020204020204" pitchFamily="34" charset="-122"/>
                <a:cs typeface="+mn-ea"/>
              </a:rPr>
              <a:t>个变量</a:t>
            </a:r>
          </a:p>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为变量赋值</a:t>
            </a:r>
          </a:p>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username = '</a:t>
            </a:r>
            <a:r>
              <a:rPr lang="zh-CN" altLang="zh-CN" sz="1800" dirty="0">
                <a:solidFill>
                  <a:srgbClr val="595959"/>
                </a:solidFill>
                <a:latin typeface="微软雅黑" panose="020B0503020204020204" pitchFamily="34" charset="-122"/>
                <a:ea typeface="微软雅黑" panose="020B0503020204020204" pitchFamily="34" charset="-122"/>
                <a:cs typeface="+mn-ea"/>
              </a:rPr>
              <a:t>小智</a:t>
            </a:r>
            <a:r>
              <a:rPr lang="en-US" altLang="zh-CN" sz="1800" dirty="0">
                <a:solidFill>
                  <a:srgbClr val="595959"/>
                </a:solidFill>
                <a:latin typeface="微软雅黑" panose="020B0503020204020204" pitchFamily="34" charset="-122"/>
                <a:ea typeface="微软雅黑" panose="020B0503020204020204" pitchFamily="34" charset="-122"/>
                <a:cs typeface="+mn-ea"/>
              </a:rPr>
              <a:t>';        	// </a:t>
            </a:r>
            <a:r>
              <a:rPr lang="zh-CN" altLang="zh-CN" sz="1800" dirty="0">
                <a:solidFill>
                  <a:srgbClr val="595959"/>
                </a:solidFill>
                <a:latin typeface="微软雅黑" panose="020B0503020204020204" pitchFamily="34" charset="-122"/>
                <a:ea typeface="微软雅黑" panose="020B0503020204020204" pitchFamily="34" charset="-122"/>
                <a:cs typeface="+mn-ea"/>
              </a:rPr>
              <a:t>为变量赋值</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小智</a:t>
            </a:r>
            <a:r>
              <a:rPr lang="en-US" altLang="zh-CN" sz="1800" dirty="0">
                <a:solidFill>
                  <a:srgbClr val="595959"/>
                </a:solidFill>
                <a:latin typeface="微软雅黑" panose="020B0503020204020204" pitchFamily="34" charset="-122"/>
                <a:ea typeface="微软雅黑" panose="020B0503020204020204" pitchFamily="34" charset="-122"/>
                <a:cs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age = 20;                 	// </a:t>
            </a:r>
            <a:r>
              <a:rPr lang="zh-CN" altLang="zh-CN" sz="1800" dirty="0">
                <a:solidFill>
                  <a:srgbClr val="595959"/>
                </a:solidFill>
                <a:latin typeface="微软雅黑" panose="020B0503020204020204" pitchFamily="34" charset="-122"/>
                <a:ea typeface="微软雅黑" panose="020B0503020204020204" pitchFamily="34" charset="-122"/>
                <a:cs typeface="+mn-ea"/>
              </a:rPr>
              <a:t>为变量</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赋值</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20</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sex = '</a:t>
            </a:r>
            <a:r>
              <a:rPr lang="zh-CN" altLang="zh-CN" sz="1800" dirty="0">
                <a:solidFill>
                  <a:srgbClr val="595959"/>
                </a:solidFill>
                <a:latin typeface="微软雅黑" panose="020B0503020204020204" pitchFamily="34" charset="-122"/>
                <a:ea typeface="微软雅黑" panose="020B0503020204020204" pitchFamily="34" charset="-122"/>
                <a:cs typeface="+mn-ea"/>
              </a:rPr>
              <a:t>男</a:t>
            </a:r>
            <a:r>
              <a:rPr lang="en-US" altLang="zh-CN" sz="1800" dirty="0">
                <a:solidFill>
                  <a:srgbClr val="595959"/>
                </a:solidFill>
                <a:latin typeface="微软雅黑" panose="020B0503020204020204" pitchFamily="34" charset="-122"/>
                <a:ea typeface="微软雅黑" panose="020B0503020204020204" pitchFamily="34" charset="-122"/>
                <a:cs typeface="+mn-ea"/>
              </a:rPr>
              <a:t>';               	// </a:t>
            </a:r>
            <a:r>
              <a:rPr lang="zh-CN" altLang="zh-CN" sz="1800" dirty="0">
                <a:solidFill>
                  <a:srgbClr val="595959"/>
                </a:solidFill>
                <a:latin typeface="微软雅黑" panose="020B0503020204020204" pitchFamily="34" charset="-122"/>
                <a:ea typeface="微软雅黑" panose="020B0503020204020204" pitchFamily="34" charset="-122"/>
                <a:cs typeface="+mn-ea"/>
              </a:rPr>
              <a:t>为变量赋值</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男</a:t>
            </a:r>
            <a:r>
              <a:rPr lang="en-US" altLang="zh-CN" sz="1800" dirty="0">
                <a:solidFill>
                  <a:srgbClr val="595959"/>
                </a:solidFill>
                <a:latin typeface="微软雅黑" panose="020B0503020204020204" pitchFamily="34" charset="-122"/>
                <a:ea typeface="微软雅黑" panose="020B0503020204020204" pitchFamily="34" charset="-122"/>
                <a:cs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height = 180;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为变量赋值</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180</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51852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307488"/>
            <a:ext cx="10585176"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当</a:t>
            </a:r>
            <a:r>
              <a:rPr lang="zh-CN" altLang="zh-CN" sz="2000" dirty="0">
                <a:solidFill>
                  <a:srgbClr val="595959"/>
                </a:solidFill>
                <a:latin typeface="微软雅黑" panose="020B0503020204020204" pitchFamily="34" charset="-122"/>
                <a:ea typeface="微软雅黑" panose="020B0503020204020204" pitchFamily="34" charset="-122"/>
                <a:cs typeface="+mn-ea"/>
              </a:rPr>
              <a:t>变量的值是</a:t>
            </a:r>
            <a:r>
              <a:rPr lang="zh-CN" altLang="zh-CN" sz="2000" dirty="0" smtClean="0">
                <a:solidFill>
                  <a:srgbClr val="1369B2"/>
                </a:solidFill>
                <a:latin typeface="微软雅黑" panose="020B0503020204020204" pitchFamily="34" charset="-122"/>
                <a:ea typeface="微软雅黑" panose="020B0503020204020204" pitchFamily="34" charset="-122"/>
              </a:rPr>
              <a:t>数字型</a:t>
            </a:r>
            <a:r>
              <a:rPr lang="zh-CN" altLang="en-US" sz="2000" dirty="0" smtClean="0">
                <a:solidFill>
                  <a:srgbClr val="1369B2"/>
                </a:solidFill>
                <a:latin typeface="微软雅黑" panose="020B0503020204020204" pitchFamily="34" charset="-122"/>
                <a:ea typeface="微软雅黑" panose="020B0503020204020204" pitchFamily="34" charset="-122"/>
              </a:rPr>
              <a:t>数据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时</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不需要将其写在单引号中</a:t>
            </a:r>
            <a:r>
              <a:rPr lang="zh-CN" altLang="zh-CN" sz="2000" dirty="0">
                <a:solidFill>
                  <a:srgbClr val="595959"/>
                </a:solidFill>
                <a:latin typeface="微软雅黑" panose="020B0503020204020204" pitchFamily="34" charset="-122"/>
                <a:ea typeface="微软雅黑" panose="020B0503020204020204" pitchFamily="34" charset="-122"/>
                <a:cs typeface="+mn-ea"/>
              </a:rPr>
              <a:t>，如果将数字型数据写到单引号中，则表示该数据为</a:t>
            </a:r>
            <a:r>
              <a:rPr lang="zh-CN" altLang="zh-CN" sz="2000" dirty="0">
                <a:solidFill>
                  <a:srgbClr val="1369B2"/>
                </a:solidFill>
                <a:latin typeface="微软雅黑" panose="020B0503020204020204" pitchFamily="34" charset="-122"/>
                <a:ea typeface="微软雅黑" panose="020B0503020204020204" pitchFamily="34" charset="-122"/>
              </a:rPr>
              <a:t>字符串</a:t>
            </a:r>
            <a:r>
              <a:rPr lang="zh-CN" altLang="zh-CN" sz="2000" dirty="0" smtClean="0">
                <a:solidFill>
                  <a:srgbClr val="1369B2"/>
                </a:solidFill>
                <a:latin typeface="微软雅黑" panose="020B0503020204020204" pitchFamily="34" charset="-122"/>
                <a:ea typeface="微软雅黑" panose="020B0503020204020204" pitchFamily="34" charset="-122"/>
              </a:rPr>
              <a:t>型</a:t>
            </a:r>
            <a:r>
              <a:rPr lang="zh-CN" altLang="en-US" sz="2000" dirty="0" smtClean="0">
                <a:solidFill>
                  <a:srgbClr val="1369B2"/>
                </a:solidFill>
                <a:latin typeface="微软雅黑" panose="020B0503020204020204" pitchFamily="34" charset="-122"/>
                <a:ea typeface="微软雅黑" panose="020B0503020204020204" pitchFamily="34" charset="-122"/>
              </a:rPr>
              <a:t>数据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而不是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数字型</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数据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如果想要查看变量的值，则可以使用</a:t>
            </a:r>
            <a:r>
              <a:rPr lang="en-US" altLang="zh-CN" sz="2000" dirty="0">
                <a:solidFill>
                  <a:srgbClr val="1369B2"/>
                </a:solidFill>
                <a:latin typeface="微软雅黑" panose="020B0503020204020204" pitchFamily="34" charset="-122"/>
                <a:ea typeface="微软雅黑" panose="020B0503020204020204" pitchFamily="34" charset="-122"/>
              </a:rPr>
              <a:t>console.log()</a:t>
            </a:r>
            <a:r>
              <a:rPr lang="zh-CN" altLang="zh-CN" sz="2000" dirty="0">
                <a:solidFill>
                  <a:srgbClr val="595959"/>
                </a:solidFill>
                <a:latin typeface="微软雅黑" panose="020B0503020204020204" pitchFamily="34" charset="-122"/>
                <a:ea typeface="微软雅黑" panose="020B0503020204020204" pitchFamily="34" charset="-122"/>
                <a:cs typeface="+mn-ea"/>
              </a:rPr>
              <a:t>语句将变量的值输出到控制台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058426" y="3573810"/>
            <a:ext cx="8433600" cy="193899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console.log(username</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输出变量</a:t>
            </a:r>
            <a:r>
              <a:rPr lang="en-US" altLang="zh-CN" sz="2000" dirty="0">
                <a:solidFill>
                  <a:srgbClr val="595959"/>
                </a:solidFill>
                <a:latin typeface="微软雅黑" panose="020B0503020204020204" pitchFamily="34" charset="-122"/>
                <a:ea typeface="微软雅黑" panose="020B0503020204020204" pitchFamily="34" charset="-122"/>
                <a:cs typeface="+mn-ea"/>
              </a:rPr>
              <a:t>username</a:t>
            </a:r>
            <a:r>
              <a:rPr lang="zh-CN" altLang="zh-CN" sz="2000" dirty="0">
                <a:solidFill>
                  <a:srgbClr val="595959"/>
                </a:solidFill>
                <a:latin typeface="微软雅黑" panose="020B0503020204020204" pitchFamily="34" charset="-122"/>
                <a:ea typeface="微软雅黑" panose="020B0503020204020204" pitchFamily="34" charset="-122"/>
                <a:cs typeface="+mn-ea"/>
              </a:rPr>
              <a:t>的值</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console.log(age);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输出变量</a:t>
            </a:r>
            <a:r>
              <a:rPr lang="en-US" altLang="zh-CN" sz="2000" dirty="0">
                <a:solidFill>
                  <a:srgbClr val="595959"/>
                </a:solidFill>
                <a:latin typeface="微软雅黑" panose="020B0503020204020204" pitchFamily="34" charset="-122"/>
                <a:ea typeface="微软雅黑" panose="020B0503020204020204" pitchFamily="34" charset="-122"/>
                <a:cs typeface="+mn-ea"/>
              </a:rPr>
              <a:t>age</a:t>
            </a:r>
            <a:r>
              <a:rPr lang="zh-CN" altLang="zh-CN" sz="2000" dirty="0">
                <a:solidFill>
                  <a:srgbClr val="595959"/>
                </a:solidFill>
                <a:latin typeface="微软雅黑" panose="020B0503020204020204" pitchFamily="34" charset="-122"/>
                <a:ea typeface="微软雅黑" panose="020B0503020204020204" pitchFamily="34" charset="-122"/>
                <a:cs typeface="+mn-ea"/>
              </a:rPr>
              <a:t>的值</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console.log(sex);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输出变量</a:t>
            </a:r>
            <a:r>
              <a:rPr lang="en-US" altLang="zh-CN" sz="2000" dirty="0">
                <a:solidFill>
                  <a:srgbClr val="595959"/>
                </a:solidFill>
                <a:latin typeface="微软雅黑" panose="020B0503020204020204" pitchFamily="34" charset="-122"/>
                <a:ea typeface="微软雅黑" panose="020B0503020204020204" pitchFamily="34" charset="-122"/>
                <a:cs typeface="+mn-ea"/>
              </a:rPr>
              <a:t>sex</a:t>
            </a:r>
            <a:r>
              <a:rPr lang="zh-CN" altLang="zh-CN" sz="2000" dirty="0">
                <a:solidFill>
                  <a:srgbClr val="595959"/>
                </a:solidFill>
                <a:latin typeface="微软雅黑" panose="020B0503020204020204" pitchFamily="34" charset="-122"/>
                <a:ea typeface="微软雅黑" panose="020B0503020204020204" pitchFamily="34" charset="-122"/>
                <a:cs typeface="+mn-ea"/>
              </a:rPr>
              <a:t>的值</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console.log(height);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输出变量</a:t>
            </a:r>
            <a:r>
              <a:rPr lang="en-US" altLang="zh-CN" sz="2000" dirty="0">
                <a:solidFill>
                  <a:srgbClr val="595959"/>
                </a:solidFill>
                <a:latin typeface="微软雅黑" panose="020B0503020204020204" pitchFamily="34" charset="-122"/>
                <a:ea typeface="微软雅黑" panose="020B0503020204020204" pitchFamily="34" charset="-122"/>
                <a:cs typeface="+mn-ea"/>
              </a:rPr>
              <a:t>height</a:t>
            </a:r>
            <a:r>
              <a:rPr lang="zh-CN" altLang="zh-CN" sz="2000" dirty="0">
                <a:solidFill>
                  <a:srgbClr val="595959"/>
                </a:solidFill>
                <a:latin typeface="微软雅黑" panose="020B0503020204020204" pitchFamily="34" charset="-122"/>
                <a:ea typeface="微软雅黑" panose="020B0503020204020204" pitchFamily="34" charset="-122"/>
                <a:cs typeface="+mn-ea"/>
              </a:rPr>
              <a:t>的值</a:t>
            </a:r>
          </a:p>
        </p:txBody>
      </p:sp>
      <p:sp>
        <p:nvSpPr>
          <p:cNvPr id="7"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290548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838" y="1701602"/>
            <a:ext cx="6154542" cy="3805998"/>
          </a:xfrm>
          <a:prstGeom prst="rect">
            <a:avLst/>
          </a:prstGeom>
        </p:spPr>
      </p:pic>
    </p:spTree>
    <p:extLst>
      <p:ext uri="{BB962C8B-B14F-4D97-AF65-F5344CB8AC3E}">
        <p14:creationId xmlns:p14="http://schemas.microsoft.com/office/powerpoint/2010/main" val="3680623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4899447" y="1985403"/>
            <a:ext cx="6164311" cy="2092464"/>
            <a:chOff x="4899446" y="1985402"/>
            <a:chExt cx="6740375" cy="3417567"/>
          </a:xfrm>
        </p:grpSpPr>
        <p:sp>
          <p:nvSpPr>
            <p:cNvPr id="9"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a:extLst>
                <a:ext uri="{FF2B5EF4-FFF2-40B4-BE49-F238E27FC236}">
                  <a16:creationId xmlns:a16="http://schemas.microsoft.com/office/drawing/2014/main" id="{8C22BF7A-4BC1-4144-9B36-68D1715B1173}"/>
                </a:ext>
              </a:extLst>
            </p:cNvPr>
            <p:cNvSpPr>
              <a:spLocks noChangeArrowheads="1"/>
            </p:cNvSpPr>
            <p:nvPr/>
          </p:nvSpPr>
          <p:spPr bwMode="auto">
            <a:xfrm>
              <a:off x="5180006" y="2487743"/>
              <a:ext cx="6179253" cy="241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ECMAScript 6.0</a:t>
              </a:r>
              <a:r>
                <a:rPr lang="zh-CN" altLang="zh-CN" sz="2000" dirty="0" smtClean="0">
                  <a:solidFill>
                    <a:srgbClr val="595959"/>
                  </a:solidFill>
                  <a:latin typeface="微软雅黑" panose="020B0503020204020204" pitchFamily="34" charset="-122"/>
                  <a:ea typeface="微软雅黑" panose="020B0503020204020204" pitchFamily="34" charset="-122"/>
                </a:rPr>
                <a:t>新增</a:t>
              </a:r>
              <a:r>
                <a:rPr lang="zh-CN" altLang="zh-CN" sz="2000" dirty="0">
                  <a:solidFill>
                    <a:srgbClr val="595959"/>
                  </a:solidFill>
                  <a:latin typeface="微软雅黑" panose="020B0503020204020204" pitchFamily="34" charset="-122"/>
                  <a:ea typeface="微软雅黑" panose="020B0503020204020204" pitchFamily="34" charset="-122"/>
                </a:rPr>
                <a:t>了</a:t>
              </a:r>
              <a:r>
                <a:rPr lang="en-US" altLang="zh-CN" sz="2000" dirty="0">
                  <a:solidFill>
                    <a:srgbClr val="1369B2"/>
                  </a:solidFill>
                  <a:latin typeface="微软雅黑" panose="020B0503020204020204" pitchFamily="34" charset="-122"/>
                  <a:ea typeface="微软雅黑" panose="020B0503020204020204" pitchFamily="34" charset="-122"/>
                </a:rPr>
                <a:t>let</a:t>
              </a:r>
              <a:r>
                <a:rPr lang="zh-CN" altLang="zh-CN" sz="2000" dirty="0" smtClean="0">
                  <a:solidFill>
                    <a:srgbClr val="1369B2"/>
                  </a:solidFill>
                  <a:latin typeface="微软雅黑" panose="020B0503020204020204" pitchFamily="34" charset="-122"/>
                  <a:ea typeface="微软雅黑" panose="020B0503020204020204" pitchFamily="34" charset="-122"/>
                </a:rPr>
                <a:t>关键字</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用于</a:t>
              </a:r>
              <a:r>
                <a:rPr lang="zh-CN" altLang="zh-CN" sz="2000" dirty="0">
                  <a:solidFill>
                    <a:srgbClr val="1369B2"/>
                  </a:solidFill>
                  <a:latin typeface="微软雅黑" panose="020B0503020204020204" pitchFamily="34" charset="-122"/>
                  <a:ea typeface="微软雅黑" panose="020B0503020204020204" pitchFamily="34" charset="-122"/>
                </a:rPr>
                <a:t>声明变量</a:t>
              </a:r>
              <a:r>
                <a:rPr lang="zh-CN" altLang="zh-CN" sz="2000" dirty="0">
                  <a:solidFill>
                    <a:srgbClr val="595959"/>
                  </a:solidFill>
                  <a:latin typeface="微软雅黑" panose="020B0503020204020204" pitchFamily="34" charset="-122"/>
                  <a:ea typeface="微软雅黑" panose="020B0503020204020204" pitchFamily="34" charset="-122"/>
                </a:rPr>
                <a:t>，它的用法类似于</a:t>
              </a:r>
              <a:r>
                <a:rPr lang="en-US" altLang="zh-CN" sz="2000" dirty="0" err="1">
                  <a:solidFill>
                    <a:srgbClr val="595959"/>
                  </a:solidFill>
                  <a:latin typeface="微软雅黑" panose="020B0503020204020204" pitchFamily="34" charset="-122"/>
                  <a:ea typeface="微软雅黑" panose="020B0503020204020204" pitchFamily="34" charset="-122"/>
                </a:rPr>
                <a:t>var</a:t>
              </a:r>
              <a:r>
                <a:rPr lang="zh-CN" altLang="zh-CN" sz="2000" dirty="0">
                  <a:solidFill>
                    <a:srgbClr val="595959"/>
                  </a:solidFill>
                  <a:latin typeface="微软雅黑" panose="020B0503020204020204" pitchFamily="34" charset="-122"/>
                  <a:ea typeface="微软雅黑" panose="020B0503020204020204" pitchFamily="34" charset="-122"/>
                </a:rPr>
                <a:t>，但是</a:t>
              </a:r>
              <a:r>
                <a:rPr lang="en-US" altLang="zh-CN" sz="2000" dirty="0">
                  <a:solidFill>
                    <a:srgbClr val="595959"/>
                  </a:solidFill>
                  <a:latin typeface="微软雅黑" panose="020B0503020204020204" pitchFamily="34" charset="-122"/>
                  <a:ea typeface="微软雅黑" panose="020B0503020204020204" pitchFamily="34" charset="-122"/>
                </a:rPr>
                <a:t>let</a:t>
              </a:r>
              <a:r>
                <a:rPr lang="zh-CN" altLang="zh-CN" sz="2000" dirty="0">
                  <a:solidFill>
                    <a:srgbClr val="595959"/>
                  </a:solidFill>
                  <a:latin typeface="微软雅黑" panose="020B0503020204020204" pitchFamily="34" charset="-122"/>
                  <a:ea typeface="微软雅黑" panose="020B0503020204020204" pitchFamily="34" charset="-122"/>
                </a:rPr>
                <a:t>所声明的变量</a:t>
              </a:r>
              <a:r>
                <a:rPr lang="zh-CN" altLang="zh-CN" sz="2000" dirty="0" smtClean="0">
                  <a:solidFill>
                    <a:srgbClr val="595959"/>
                  </a:solidFill>
                  <a:latin typeface="微软雅黑" panose="020B0503020204020204" pitchFamily="34" charset="-122"/>
                  <a:ea typeface="微软雅黑" panose="020B0503020204020204" pitchFamily="34" charset="-122"/>
                </a:rPr>
                <a:t>只在</a:t>
              </a:r>
              <a:r>
                <a:rPr lang="zh-CN" altLang="zh-CN" sz="2000" dirty="0">
                  <a:solidFill>
                    <a:srgbClr val="595959"/>
                  </a:solidFill>
                  <a:latin typeface="微软雅黑" panose="020B0503020204020204" pitchFamily="34" charset="-122"/>
                  <a:ea typeface="微软雅黑" panose="020B0503020204020204" pitchFamily="34" charset="-122"/>
                </a:rPr>
                <a:t>它所在的</a:t>
              </a:r>
              <a:r>
                <a:rPr lang="zh-CN" altLang="zh-CN" sz="2000" dirty="0">
                  <a:solidFill>
                    <a:srgbClr val="1369B2"/>
                  </a:solidFill>
                  <a:latin typeface="微软雅黑" panose="020B0503020204020204" pitchFamily="34" charset="-122"/>
                  <a:ea typeface="微软雅黑" panose="020B0503020204020204" pitchFamily="34" charset="-122"/>
                </a:rPr>
                <a:t>块级作用域</a:t>
              </a:r>
              <a:r>
                <a:rPr lang="zh-CN" altLang="zh-CN" sz="2000" dirty="0">
                  <a:solidFill>
                    <a:srgbClr val="595959"/>
                  </a:solidFill>
                  <a:latin typeface="微软雅黑" panose="020B0503020204020204" pitchFamily="34" charset="-122"/>
                  <a:ea typeface="微软雅黑" panose="020B0503020204020204" pitchFamily="34" charset="-122"/>
                </a:rPr>
                <a:t>内有效。</a:t>
              </a:r>
            </a:p>
          </p:txBody>
        </p:sp>
      </p:grpSp>
      <p:sp>
        <p:nvSpPr>
          <p:cNvPr id="12"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756977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054646" y="2042179"/>
            <a:ext cx="10153128"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声明变量的同时为变量赋值，这个过程又称为</a:t>
            </a:r>
            <a:r>
              <a:rPr lang="zh-CN" altLang="zh-CN" sz="2000" dirty="0">
                <a:solidFill>
                  <a:srgbClr val="1369B2"/>
                </a:solidFill>
                <a:latin typeface="微软雅黑" panose="020B0503020204020204" pitchFamily="34" charset="-122"/>
                <a:ea typeface="微软雅黑" panose="020B0503020204020204" pitchFamily="34" charset="-122"/>
              </a:rPr>
              <a:t>定义变量</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rPr>
              <a:t>初始化变量</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p>
        </p:txBody>
      </p:sp>
      <p:sp>
        <p:nvSpPr>
          <p:cNvPr id="5" name="矩形 4"/>
          <p:cNvSpPr/>
          <p:nvPr/>
        </p:nvSpPr>
        <p:spPr>
          <a:xfrm>
            <a:off x="1143690" y="1269554"/>
            <a:ext cx="3079308"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mtClean="0">
                <a:solidFill>
                  <a:srgbClr val="FFFFFF"/>
                </a:solidFill>
                <a:latin typeface="微软雅黑" panose="020B0503020204020204" pitchFamily="34" charset="-122"/>
                <a:ea typeface="微软雅黑" panose="020B0503020204020204" pitchFamily="34" charset="-122"/>
              </a:rPr>
              <a:t>2. </a:t>
            </a:r>
            <a:r>
              <a:rPr lang="zh-CN" altLang="en-US" sz="2000" smtClean="0">
                <a:solidFill>
                  <a:srgbClr val="FFFFFF"/>
                </a:solidFill>
                <a:latin typeface="微软雅黑" panose="020B0503020204020204" pitchFamily="34" charset="-122"/>
                <a:ea typeface="微软雅黑" panose="020B0503020204020204" pitchFamily="34" charset="-122"/>
              </a:rPr>
              <a:t>声明变量的同时并赋值</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2130434" y="2985754"/>
            <a:ext cx="8433600" cy="193899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username = '</a:t>
            </a:r>
            <a:r>
              <a:rPr lang="zh-CN" altLang="zh-CN" sz="2000" dirty="0">
                <a:solidFill>
                  <a:srgbClr val="595959"/>
                </a:solidFill>
                <a:latin typeface="微软雅黑" panose="020B0503020204020204" pitchFamily="34" charset="-122"/>
                <a:ea typeface="微软雅黑" panose="020B0503020204020204" pitchFamily="34" charset="-122"/>
                <a:cs typeface="+mn-ea"/>
              </a:rPr>
              <a:t>小智</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声明</a:t>
            </a:r>
            <a:r>
              <a:rPr lang="en-US" altLang="zh-CN" sz="2000" dirty="0">
                <a:solidFill>
                  <a:srgbClr val="595959"/>
                </a:solidFill>
                <a:latin typeface="微软雅黑" panose="020B0503020204020204" pitchFamily="34" charset="-122"/>
                <a:ea typeface="微软雅黑" panose="020B0503020204020204" pitchFamily="34" charset="-122"/>
                <a:cs typeface="+mn-ea"/>
              </a:rPr>
              <a:t>username</a:t>
            </a:r>
            <a:r>
              <a:rPr lang="zh-CN" altLang="zh-CN" sz="2000" dirty="0">
                <a:solidFill>
                  <a:srgbClr val="595959"/>
                </a:solidFill>
                <a:latin typeface="微软雅黑" panose="020B0503020204020204" pitchFamily="34" charset="-122"/>
                <a:ea typeface="微软雅黑" panose="020B0503020204020204" pitchFamily="34" charset="-122"/>
                <a:cs typeface="+mn-ea"/>
              </a:rPr>
              <a:t>变量并赋值为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小智</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age = 20;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声明</a:t>
            </a:r>
            <a:r>
              <a:rPr lang="en-US" altLang="zh-CN" sz="2000" dirty="0">
                <a:solidFill>
                  <a:srgbClr val="595959"/>
                </a:solidFill>
                <a:latin typeface="微软雅黑" panose="020B0503020204020204" pitchFamily="34" charset="-122"/>
                <a:ea typeface="微软雅黑" panose="020B0503020204020204" pitchFamily="34" charset="-122"/>
                <a:cs typeface="+mn-ea"/>
              </a:rPr>
              <a:t>age</a:t>
            </a:r>
            <a:r>
              <a:rPr lang="zh-CN" altLang="zh-CN" sz="2000" dirty="0">
                <a:solidFill>
                  <a:srgbClr val="595959"/>
                </a:solidFill>
                <a:latin typeface="微软雅黑" panose="020B0503020204020204" pitchFamily="34" charset="-122"/>
                <a:ea typeface="微软雅黑" panose="020B0503020204020204" pitchFamily="34" charset="-122"/>
                <a:cs typeface="+mn-ea"/>
              </a:rPr>
              <a:t>变量并赋值为</a:t>
            </a:r>
            <a:r>
              <a:rPr lang="en-US" altLang="zh-CN" sz="2000" dirty="0">
                <a:solidFill>
                  <a:srgbClr val="595959"/>
                </a:solidFill>
                <a:latin typeface="微软雅黑" panose="020B0503020204020204" pitchFamily="34" charset="-122"/>
                <a:ea typeface="微软雅黑" panose="020B0503020204020204" pitchFamily="34" charset="-122"/>
                <a:cs typeface="+mn-ea"/>
              </a:rPr>
              <a:t>20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sex = '</a:t>
            </a:r>
            <a:r>
              <a:rPr lang="zh-CN" altLang="zh-CN" sz="2000" dirty="0">
                <a:solidFill>
                  <a:srgbClr val="595959"/>
                </a:solidFill>
                <a:latin typeface="微软雅黑" panose="020B0503020204020204" pitchFamily="34" charset="-122"/>
                <a:ea typeface="微软雅黑" panose="020B0503020204020204" pitchFamily="34" charset="-122"/>
                <a:cs typeface="+mn-ea"/>
              </a:rPr>
              <a:t>男</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声明</a:t>
            </a:r>
            <a:r>
              <a:rPr lang="en-US" altLang="zh-CN" sz="2000" dirty="0">
                <a:solidFill>
                  <a:srgbClr val="595959"/>
                </a:solidFill>
                <a:latin typeface="微软雅黑" panose="020B0503020204020204" pitchFamily="34" charset="-122"/>
                <a:ea typeface="微软雅黑" panose="020B0503020204020204" pitchFamily="34" charset="-122"/>
                <a:cs typeface="+mn-ea"/>
              </a:rPr>
              <a:t>sex</a:t>
            </a:r>
            <a:r>
              <a:rPr lang="zh-CN" altLang="zh-CN" sz="2000" dirty="0">
                <a:solidFill>
                  <a:srgbClr val="595959"/>
                </a:solidFill>
                <a:latin typeface="微软雅黑" panose="020B0503020204020204" pitchFamily="34" charset="-122"/>
                <a:ea typeface="微软雅黑" panose="020B0503020204020204" pitchFamily="34" charset="-122"/>
                <a:cs typeface="+mn-ea"/>
              </a:rPr>
              <a:t>变量并赋值</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男</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height = 180</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声明</a:t>
            </a:r>
            <a:r>
              <a:rPr lang="en-US" altLang="zh-CN" sz="2000" dirty="0">
                <a:solidFill>
                  <a:srgbClr val="595959"/>
                </a:solidFill>
                <a:latin typeface="微软雅黑" panose="020B0503020204020204" pitchFamily="34" charset="-122"/>
                <a:ea typeface="微软雅黑" panose="020B0503020204020204" pitchFamily="34" charset="-122"/>
                <a:cs typeface="+mn-ea"/>
              </a:rPr>
              <a:t>height</a:t>
            </a:r>
            <a:r>
              <a:rPr lang="zh-CN" altLang="zh-CN" sz="2000" dirty="0">
                <a:solidFill>
                  <a:srgbClr val="595959"/>
                </a:solidFill>
                <a:latin typeface="微软雅黑" panose="020B0503020204020204" pitchFamily="34" charset="-122"/>
                <a:ea typeface="微软雅黑" panose="020B0503020204020204" pitchFamily="34" charset="-122"/>
                <a:cs typeface="+mn-ea"/>
              </a:rPr>
              <a:t>变量并赋值为</a:t>
            </a:r>
            <a:r>
              <a:rPr lang="en-US" altLang="zh-CN" sz="2000" dirty="0">
                <a:solidFill>
                  <a:srgbClr val="595959"/>
                </a:solidFill>
                <a:latin typeface="微软雅黑" panose="020B0503020204020204" pitchFamily="34" charset="-122"/>
                <a:ea typeface="微软雅黑" panose="020B0503020204020204" pitchFamily="34" charset="-122"/>
                <a:cs typeface="+mn-ea"/>
              </a:rPr>
              <a:t>180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87415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71712" y="1352729"/>
            <a:ext cx="1015842" cy="1015842"/>
          </a:xfrm>
          <a:prstGeom prst="rect">
            <a:avLst/>
          </a:prstGeom>
        </p:spPr>
      </p:pic>
      <p:sp>
        <p:nvSpPr>
          <p:cNvPr id="12" name="矩形 11"/>
          <p:cNvSpPr/>
          <p:nvPr/>
        </p:nvSpPr>
        <p:spPr>
          <a:xfrm>
            <a:off x="2157927" y="1607820"/>
            <a:ext cx="2889884"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13810" y="1770582"/>
            <a:ext cx="2955524"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使用变量的语法细节</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155812"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31093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7" name="文本框 16">
            <a:extLst>
              <a:ext uri="{FF2B5EF4-FFF2-40B4-BE49-F238E27FC236}">
                <a16:creationId xmlns:a16="http://schemas.microsoft.com/office/drawing/2014/main" id="{0AC76212-EC23-4F95-A3FA-72E85045A7CA}"/>
              </a:ext>
            </a:extLst>
          </p:cNvPr>
          <p:cNvSpPr txBox="1"/>
          <p:nvPr/>
        </p:nvSpPr>
        <p:spPr>
          <a:xfrm>
            <a:off x="1342678" y="2491833"/>
            <a:ext cx="7445596" cy="553998"/>
          </a:xfrm>
          <a:prstGeom prst="rect">
            <a:avLst/>
          </a:prstGeom>
          <a:noFill/>
        </p:spPr>
        <p:txBody>
          <a:bodyPr wrap="square">
            <a:spAutoFit/>
          </a:bodyPr>
          <a:lstStyle/>
          <a:p>
            <a:pPr>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a:t>
            </a:r>
            <a:r>
              <a:rPr lang="en-US" altLang="zh-CN" sz="2000" dirty="0">
                <a:solidFill>
                  <a:srgbClr val="595959"/>
                </a:solidFill>
                <a:latin typeface="Microsoft YaHei" panose="020B0503020204020204" pitchFamily="34" charset="-122"/>
                <a:ea typeface="Microsoft YaHei" panose="020B0503020204020204" pitchFamily="34" charset="-122"/>
              </a:rPr>
              <a:t>JavaScript</a:t>
            </a:r>
            <a:r>
              <a:rPr lang="zh-CN" altLang="zh-CN" sz="2000" dirty="0">
                <a:solidFill>
                  <a:srgbClr val="595959"/>
                </a:solidFill>
                <a:latin typeface="Microsoft YaHei" panose="020B0503020204020204" pitchFamily="34" charset="-122"/>
                <a:ea typeface="Microsoft YaHei" panose="020B0503020204020204" pitchFamily="34" charset="-122"/>
              </a:rPr>
              <a:t>中使用变量时，还有一些</a:t>
            </a:r>
            <a:r>
              <a:rPr lang="zh-CN" altLang="zh-CN" sz="2000" dirty="0">
                <a:solidFill>
                  <a:srgbClr val="1369B2"/>
                </a:solidFill>
                <a:latin typeface="Microsoft YaHei" panose="020B0503020204020204" pitchFamily="34" charset="-122"/>
                <a:ea typeface="Microsoft YaHei" panose="020B0503020204020204" pitchFamily="34" charset="-122"/>
              </a:rPr>
              <a:t>语法细节</a:t>
            </a:r>
            <a:r>
              <a:rPr lang="zh-CN" altLang="zh-CN" sz="2000" dirty="0">
                <a:solidFill>
                  <a:srgbClr val="595959"/>
                </a:solidFill>
                <a:latin typeface="Microsoft YaHei" panose="020B0503020204020204" pitchFamily="34" charset="-122"/>
                <a:ea typeface="Microsoft YaHei" panose="020B0503020204020204" pitchFamily="34" charset="-122"/>
              </a:rPr>
              <a:t>，具体介绍如下。</a:t>
            </a:r>
          </a:p>
        </p:txBody>
      </p:sp>
      <p:sp>
        <p:nvSpPr>
          <p:cNvPr id="18"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98662" y="3054935"/>
            <a:ext cx="10297144" cy="1015663"/>
          </a:xfrm>
          <a:prstGeom prst="rect">
            <a:avLst/>
          </a:prstGeom>
        </p:spPr>
        <p:txBody>
          <a:bodyPr wrap="square">
            <a:spAutoFit/>
          </a:bodyPr>
          <a:lstStyle/>
          <a:p>
            <a:pPr lvl="0" algn="just">
              <a:lnSpc>
                <a:spcPct val="150000"/>
              </a:lnSpc>
              <a:spcAft>
                <a:spcPts val="0"/>
              </a:spcAft>
              <a:tabLst>
                <a:tab pos="406400" algn="l"/>
              </a:tabLst>
            </a:pPr>
            <a:r>
              <a:rPr lang="zh-CN" altLang="en-US" sz="2000" b="1" dirty="0" smtClean="0">
                <a:solidFill>
                  <a:srgbClr val="595959"/>
                </a:solidFill>
                <a:latin typeface="Microsoft YaHei" panose="020B0503020204020204" pitchFamily="34" charset="-122"/>
                <a:ea typeface="Microsoft YaHei" panose="020B0503020204020204" pitchFamily="34" charset="-122"/>
              </a:rPr>
              <a:t>（</a:t>
            </a:r>
            <a:r>
              <a:rPr lang="en-US" altLang="zh-CN" sz="2000" b="1" dirty="0" smtClean="0">
                <a:solidFill>
                  <a:srgbClr val="595959"/>
                </a:solidFill>
                <a:latin typeface="Microsoft YaHei" panose="020B0503020204020204" pitchFamily="34" charset="-122"/>
                <a:ea typeface="Microsoft YaHei" panose="020B0503020204020204" pitchFamily="34" charset="-122"/>
              </a:rPr>
              <a:t>1</a:t>
            </a:r>
            <a:r>
              <a:rPr lang="zh-CN" altLang="en-US" sz="2000" b="1" dirty="0" smtClean="0">
                <a:solidFill>
                  <a:srgbClr val="595959"/>
                </a:solidFill>
                <a:latin typeface="Microsoft YaHei" panose="020B0503020204020204" pitchFamily="34" charset="-122"/>
                <a:ea typeface="Microsoft YaHei" panose="020B0503020204020204" pitchFamily="34" charset="-122"/>
              </a:rPr>
              <a:t>）</a:t>
            </a:r>
            <a:r>
              <a:rPr lang="zh-CN" altLang="zh-CN" sz="2000" b="1" dirty="0" smtClean="0">
                <a:solidFill>
                  <a:srgbClr val="595959"/>
                </a:solidFill>
                <a:latin typeface="Microsoft YaHei" panose="020B0503020204020204" pitchFamily="34" charset="-122"/>
                <a:ea typeface="Microsoft YaHei" panose="020B0503020204020204" pitchFamily="34" charset="-122"/>
              </a:rPr>
              <a:t>更新</a:t>
            </a:r>
            <a:r>
              <a:rPr lang="zh-CN" altLang="zh-CN" sz="2000" b="1" dirty="0">
                <a:solidFill>
                  <a:srgbClr val="595959"/>
                </a:solidFill>
                <a:latin typeface="Microsoft YaHei" panose="020B0503020204020204" pitchFamily="34" charset="-122"/>
                <a:ea typeface="Microsoft YaHei" panose="020B0503020204020204" pitchFamily="34" charset="-122"/>
              </a:rPr>
              <a:t>变量的值</a:t>
            </a:r>
          </a:p>
          <a:p>
            <a:pPr algn="just">
              <a:lnSpc>
                <a:spcPct val="150000"/>
              </a:lnSpc>
              <a:spcAft>
                <a:spcPts val="0"/>
              </a:spcAft>
            </a:pPr>
            <a:r>
              <a:rPr lang="zh-CN" altLang="zh-CN" sz="2000" dirty="0">
                <a:solidFill>
                  <a:srgbClr val="595959"/>
                </a:solidFill>
                <a:latin typeface="Microsoft YaHei" panose="020B0503020204020204" pitchFamily="34" charset="-122"/>
                <a:ea typeface="Microsoft YaHei" panose="020B0503020204020204" pitchFamily="34" charset="-122"/>
              </a:rPr>
              <a:t>当声明一个变量并赋值后，如果</a:t>
            </a:r>
            <a:r>
              <a:rPr lang="zh-CN" altLang="zh-CN" sz="2000" dirty="0">
                <a:solidFill>
                  <a:srgbClr val="1369B2"/>
                </a:solidFill>
                <a:latin typeface="Microsoft YaHei" panose="020B0503020204020204" pitchFamily="34" charset="-122"/>
                <a:ea typeface="Microsoft YaHei" panose="020B0503020204020204" pitchFamily="34" charset="-122"/>
              </a:rPr>
              <a:t>重新为该变量赋值</a:t>
            </a:r>
            <a:r>
              <a:rPr lang="zh-CN" altLang="zh-CN" sz="2000" dirty="0">
                <a:solidFill>
                  <a:srgbClr val="595959"/>
                </a:solidFill>
                <a:latin typeface="Microsoft YaHei" panose="020B0503020204020204" pitchFamily="34" charset="-122"/>
                <a:ea typeface="Microsoft YaHei" panose="020B0503020204020204" pitchFamily="34" charset="-122"/>
              </a:rPr>
              <a:t>，则</a:t>
            </a:r>
            <a:r>
              <a:rPr lang="zh-CN" altLang="zh-CN" sz="2000" dirty="0">
                <a:solidFill>
                  <a:srgbClr val="1369B2"/>
                </a:solidFill>
                <a:latin typeface="Microsoft YaHei" panose="020B0503020204020204" pitchFamily="34" charset="-122"/>
                <a:ea typeface="Microsoft YaHei" panose="020B0503020204020204" pitchFamily="34" charset="-122"/>
              </a:rPr>
              <a:t>原来的值会被覆盖</a:t>
            </a:r>
            <a:r>
              <a:rPr lang="zh-CN" altLang="zh-CN" sz="2000" dirty="0">
                <a:solidFill>
                  <a:srgbClr val="595959"/>
                </a:solidFill>
                <a:latin typeface="Microsoft YaHei" panose="020B0503020204020204" pitchFamily="34" charset="-122"/>
                <a:ea typeface="Microsoft YaHei" panose="020B0503020204020204" pitchFamily="34" charset="-122"/>
              </a:rPr>
              <a:t>，示例代码如下。</a:t>
            </a:r>
          </a:p>
        </p:txBody>
      </p:sp>
      <p:sp>
        <p:nvSpPr>
          <p:cNvPr id="19" name="文本框 18">
            <a:extLst>
              <a:ext uri="{FF2B5EF4-FFF2-40B4-BE49-F238E27FC236}">
                <a16:creationId xmlns:a16="http://schemas.microsoft.com/office/drawing/2014/main" id="{2BD7E020-D0A4-47DE-BE0C-F3967B274E91}"/>
              </a:ext>
            </a:extLst>
          </p:cNvPr>
          <p:cNvSpPr txBox="1"/>
          <p:nvPr/>
        </p:nvSpPr>
        <p:spPr>
          <a:xfrm>
            <a:off x="1987554" y="4293890"/>
            <a:ext cx="8433600" cy="193899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age = 20;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console.log(age);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为</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20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age = 22;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更新变量的值</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console.log(age</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为</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22</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726221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8" name="Title 1"/>
          <p:cNvSpPr txBox="1"/>
          <p:nvPr/>
        </p:nvSpPr>
        <p:spPr>
          <a:xfrm>
            <a:off x="1143691" y="266995"/>
            <a:ext cx="3896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1.4.3</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变量的声明与赋值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82638" y="1541299"/>
            <a:ext cx="11017224" cy="1015663"/>
          </a:xfrm>
          <a:prstGeom prst="rect">
            <a:avLst/>
          </a:prstGeom>
        </p:spPr>
        <p:txBody>
          <a:bodyPr wrap="square">
            <a:spAutoFit/>
          </a:bodyPr>
          <a:lstStyle/>
          <a:p>
            <a:pPr lvl="0" algn="just">
              <a:lnSpc>
                <a:spcPct val="150000"/>
              </a:lnSpc>
              <a:spcAft>
                <a:spcPts val="0"/>
              </a:spcAft>
              <a:tabLst>
                <a:tab pos="406400" algn="l"/>
              </a:tabLst>
            </a:pPr>
            <a:r>
              <a:rPr lang="zh-CN" altLang="en-US" sz="2000" b="1" dirty="0" smtClean="0">
                <a:solidFill>
                  <a:srgbClr val="595959"/>
                </a:solidFill>
                <a:latin typeface="Microsoft YaHei" panose="020B0503020204020204" pitchFamily="34" charset="-122"/>
                <a:ea typeface="Microsoft YaHei" panose="020B0503020204020204" pitchFamily="34" charset="-122"/>
              </a:rPr>
              <a:t>（</a:t>
            </a:r>
            <a:r>
              <a:rPr lang="en-US" altLang="zh-CN" sz="2000" b="1" dirty="0">
                <a:solidFill>
                  <a:srgbClr val="595959"/>
                </a:solidFill>
                <a:latin typeface="Microsoft YaHei" panose="020B0503020204020204" pitchFamily="34" charset="-122"/>
                <a:ea typeface="Microsoft YaHei" panose="020B0503020204020204" pitchFamily="34" charset="-122"/>
              </a:rPr>
              <a:t>2</a:t>
            </a:r>
            <a:r>
              <a:rPr lang="zh-CN" altLang="en-US" sz="2000" b="1" dirty="0" smtClean="0">
                <a:solidFill>
                  <a:srgbClr val="595959"/>
                </a:solidFill>
                <a:latin typeface="Microsoft YaHei" panose="020B0503020204020204" pitchFamily="34" charset="-122"/>
                <a:ea typeface="Microsoft YaHei" panose="020B0503020204020204" pitchFamily="34" charset="-122"/>
              </a:rPr>
              <a:t>）同时声明多个</a:t>
            </a:r>
            <a:r>
              <a:rPr lang="zh-CN" altLang="zh-CN" sz="2000" b="1" dirty="0" smtClean="0">
                <a:solidFill>
                  <a:srgbClr val="595959"/>
                </a:solidFill>
                <a:latin typeface="Microsoft YaHei" panose="020B0503020204020204" pitchFamily="34" charset="-122"/>
                <a:ea typeface="Microsoft YaHei" panose="020B0503020204020204" pitchFamily="34" charset="-122"/>
              </a:rPr>
              <a:t>变量</a:t>
            </a:r>
            <a:endParaRPr lang="zh-CN" altLang="zh-CN" sz="2000" b="1" dirty="0">
              <a:solidFill>
                <a:srgbClr val="595959"/>
              </a:solidFill>
              <a:latin typeface="Microsoft YaHei" panose="020B0503020204020204" pitchFamily="34" charset="-122"/>
              <a:ea typeface="Microsoft YaHei" panose="020B0503020204020204" pitchFamily="34" charset="-122"/>
            </a:endParaRPr>
          </a:p>
          <a:p>
            <a:pPr algn="just">
              <a:lnSpc>
                <a:spcPct val="150000"/>
              </a:lnSpc>
            </a:pPr>
            <a:r>
              <a:rPr lang="zh-CN" altLang="zh-CN" sz="2000" dirty="0" smtClean="0">
                <a:solidFill>
                  <a:srgbClr val="595959"/>
                </a:solidFill>
                <a:latin typeface="Microsoft YaHei" panose="020B0503020204020204" pitchFamily="34" charset="-122"/>
                <a:ea typeface="Microsoft YaHei" panose="020B0503020204020204" pitchFamily="34" charset="-122"/>
              </a:rPr>
              <a:t>在 </a:t>
            </a:r>
            <a:r>
              <a:rPr lang="en-US" altLang="zh-CN" sz="2000" dirty="0" err="1">
                <a:solidFill>
                  <a:srgbClr val="595959"/>
                </a:solidFill>
                <a:latin typeface="Microsoft YaHei" panose="020B0503020204020204" pitchFamily="34" charset="-122"/>
                <a:ea typeface="Microsoft YaHei" panose="020B0503020204020204" pitchFamily="34" charset="-122"/>
              </a:rPr>
              <a:t>var</a:t>
            </a:r>
            <a:r>
              <a:rPr lang="en-US" altLang="zh-CN" sz="2000" dirty="0">
                <a:solidFill>
                  <a:srgbClr val="595959"/>
                </a:solidFill>
                <a:latin typeface="Microsoft YaHei" panose="020B0503020204020204" pitchFamily="34" charset="-122"/>
                <a:ea typeface="Microsoft YaHei" panose="020B0503020204020204" pitchFamily="34" charset="-122"/>
              </a:rPr>
              <a:t> </a:t>
            </a:r>
            <a:r>
              <a:rPr lang="zh-CN" altLang="zh-CN" sz="2000" dirty="0">
                <a:solidFill>
                  <a:srgbClr val="595959"/>
                </a:solidFill>
                <a:latin typeface="Microsoft YaHei" panose="020B0503020204020204" pitchFamily="34" charset="-122"/>
                <a:ea typeface="Microsoft YaHei" panose="020B0503020204020204" pitchFamily="34" charset="-122"/>
              </a:rPr>
              <a:t>关键字后面可以</a:t>
            </a:r>
            <a:r>
              <a:rPr lang="zh-CN" altLang="zh-CN" sz="2000" dirty="0">
                <a:solidFill>
                  <a:srgbClr val="1369B2"/>
                </a:solidFill>
                <a:latin typeface="Microsoft YaHei" panose="020B0503020204020204" pitchFamily="34" charset="-122"/>
                <a:ea typeface="Microsoft YaHei" panose="020B0503020204020204" pitchFamily="34" charset="-122"/>
              </a:rPr>
              <a:t>同时声明多个变量</a:t>
            </a:r>
            <a:r>
              <a:rPr lang="zh-CN" altLang="zh-CN" sz="2000" dirty="0">
                <a:solidFill>
                  <a:srgbClr val="595959"/>
                </a:solidFill>
                <a:latin typeface="Microsoft YaHei" panose="020B0503020204020204" pitchFamily="34" charset="-122"/>
                <a:ea typeface="Microsoft YaHei" panose="020B0503020204020204" pitchFamily="34" charset="-122"/>
              </a:rPr>
              <a:t>，多个变量名之间使用</a:t>
            </a:r>
            <a:r>
              <a:rPr lang="zh-CN" altLang="zh-CN" sz="2000" dirty="0">
                <a:solidFill>
                  <a:srgbClr val="1369B2"/>
                </a:solidFill>
                <a:latin typeface="Microsoft YaHei" panose="020B0503020204020204" pitchFamily="34" charset="-122"/>
                <a:ea typeface="Microsoft YaHei" panose="020B0503020204020204" pitchFamily="34" charset="-122"/>
              </a:rPr>
              <a:t>英文逗号隔开</a:t>
            </a:r>
            <a:r>
              <a:rPr lang="zh-CN" altLang="zh-CN" sz="2000" dirty="0">
                <a:solidFill>
                  <a:srgbClr val="595959"/>
                </a:solidFill>
                <a:latin typeface="Microsoft YaHei" panose="020B0503020204020204" pitchFamily="34" charset="-122"/>
                <a:ea typeface="Microsoft YaHei" panose="020B0503020204020204" pitchFamily="34" charset="-122"/>
              </a:rPr>
              <a:t>，示例代码如下。</a:t>
            </a:r>
          </a:p>
        </p:txBody>
      </p:sp>
      <p:sp>
        <p:nvSpPr>
          <p:cNvPr id="19" name="文本框 18">
            <a:extLst>
              <a:ext uri="{FF2B5EF4-FFF2-40B4-BE49-F238E27FC236}">
                <a16:creationId xmlns:a16="http://schemas.microsoft.com/office/drawing/2014/main" id="{2BD7E020-D0A4-47DE-BE0C-F3967B274E91}"/>
              </a:ext>
            </a:extLst>
          </p:cNvPr>
          <p:cNvSpPr txBox="1"/>
          <p:nvPr/>
        </p:nvSpPr>
        <p:spPr>
          <a:xfrm>
            <a:off x="1774726" y="2781722"/>
            <a:ext cx="9297696" cy="193899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同时声明多个变量，没有赋值</a:t>
            </a: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username, password, phone;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同时声明多个变量，并赋值</a:t>
            </a: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username = '</a:t>
            </a:r>
            <a:r>
              <a:rPr lang="zh-CN" altLang="zh-CN" sz="2000" dirty="0">
                <a:solidFill>
                  <a:srgbClr val="595959"/>
                </a:solidFill>
                <a:latin typeface="微软雅黑" panose="020B0503020204020204" pitchFamily="34" charset="-122"/>
                <a:ea typeface="微软雅黑" panose="020B0503020204020204" pitchFamily="34" charset="-122"/>
                <a:cs typeface="+mn-ea"/>
              </a:rPr>
              <a:t>小智</a:t>
            </a:r>
            <a:r>
              <a:rPr lang="en-US" altLang="zh-CN" sz="2000" dirty="0">
                <a:solidFill>
                  <a:srgbClr val="595959"/>
                </a:solidFill>
                <a:latin typeface="微软雅黑" panose="020B0503020204020204" pitchFamily="34" charset="-122"/>
                <a:ea typeface="微软雅黑" panose="020B0503020204020204" pitchFamily="34" charset="-122"/>
                <a:cs typeface="+mn-ea"/>
              </a:rPr>
              <a:t>', password = '123456', phone = '13012345678';</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054646" y="4936738"/>
            <a:ext cx="10801200"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Microsoft YaHei" panose="020B0503020204020204" pitchFamily="34" charset="-122"/>
                <a:ea typeface="Microsoft YaHei" panose="020B0503020204020204" pitchFamily="34" charset="-122"/>
              </a:rPr>
              <a:t>如果</a:t>
            </a:r>
            <a:r>
              <a:rPr lang="zh-CN" altLang="zh-CN" sz="2000" dirty="0">
                <a:solidFill>
                  <a:srgbClr val="1369B2"/>
                </a:solidFill>
                <a:latin typeface="Microsoft YaHei" panose="020B0503020204020204" pitchFamily="34" charset="-122"/>
                <a:ea typeface="Microsoft YaHei" panose="020B0503020204020204" pitchFamily="34" charset="-122"/>
              </a:rPr>
              <a:t>只声明变量没有赋值</a:t>
            </a:r>
            <a:r>
              <a:rPr lang="zh-CN" altLang="zh-CN" sz="2000" dirty="0">
                <a:solidFill>
                  <a:srgbClr val="595959"/>
                </a:solidFill>
                <a:latin typeface="Microsoft YaHei" panose="020B0503020204020204" pitchFamily="34" charset="-122"/>
                <a:ea typeface="Microsoft YaHei" panose="020B0503020204020204" pitchFamily="34" charset="-122"/>
              </a:rPr>
              <a:t>，则</a:t>
            </a:r>
            <a:r>
              <a:rPr lang="zh-CN" altLang="zh-CN" sz="2000" dirty="0" smtClean="0">
                <a:solidFill>
                  <a:srgbClr val="595959"/>
                </a:solidFill>
                <a:latin typeface="Microsoft YaHei" panose="020B0503020204020204" pitchFamily="34" charset="-122"/>
                <a:ea typeface="Microsoft YaHei" panose="020B0503020204020204" pitchFamily="34" charset="-122"/>
              </a:rPr>
              <a:t>输出结果</a:t>
            </a:r>
            <a:r>
              <a:rPr lang="zh-CN" altLang="zh-CN" sz="2000" dirty="0">
                <a:solidFill>
                  <a:srgbClr val="595959"/>
                </a:solidFill>
                <a:latin typeface="Microsoft YaHei" panose="020B0503020204020204" pitchFamily="34" charset="-122"/>
                <a:ea typeface="Microsoft YaHei" panose="020B0503020204020204" pitchFamily="34" charset="-122"/>
              </a:rPr>
              <a:t>为</a:t>
            </a:r>
            <a:r>
              <a:rPr lang="en-US" altLang="zh-CN" sz="2000" dirty="0">
                <a:solidFill>
                  <a:srgbClr val="1369B2"/>
                </a:solidFill>
                <a:latin typeface="Microsoft YaHei" panose="020B0503020204020204" pitchFamily="34" charset="-122"/>
                <a:ea typeface="Microsoft YaHei" panose="020B0503020204020204" pitchFamily="34" charset="-122"/>
              </a:rPr>
              <a:t>undefined</a:t>
            </a:r>
            <a:r>
              <a:rPr lang="zh-CN" altLang="zh-CN" sz="2000" dirty="0">
                <a:solidFill>
                  <a:srgbClr val="595959"/>
                </a:solidFill>
                <a:latin typeface="Microsoft YaHei" panose="020B0503020204020204" pitchFamily="34" charset="-122"/>
                <a:ea typeface="Microsoft YaHei" panose="020B0503020204020204" pitchFamily="34" charset="-122"/>
              </a:rPr>
              <a:t>。如果</a:t>
            </a:r>
            <a:r>
              <a:rPr lang="zh-CN" altLang="zh-CN" sz="2000" dirty="0">
                <a:solidFill>
                  <a:srgbClr val="1369B2"/>
                </a:solidFill>
                <a:latin typeface="Microsoft YaHei" panose="020B0503020204020204" pitchFamily="34" charset="-122"/>
                <a:ea typeface="Microsoft YaHei" panose="020B0503020204020204" pitchFamily="34" charset="-122"/>
              </a:rPr>
              <a:t>不声明变量</a:t>
            </a:r>
            <a:r>
              <a:rPr lang="zh-CN" altLang="zh-CN" sz="2000" dirty="0">
                <a:solidFill>
                  <a:srgbClr val="595959"/>
                </a:solidFill>
                <a:latin typeface="Microsoft YaHei" panose="020B0503020204020204" pitchFamily="34" charset="-122"/>
                <a:ea typeface="Microsoft YaHei" panose="020B0503020204020204" pitchFamily="34" charset="-122"/>
              </a:rPr>
              <a:t>，直接输出变量的值，则</a:t>
            </a:r>
            <a:r>
              <a:rPr lang="zh-CN" altLang="zh-CN" sz="2000" dirty="0">
                <a:solidFill>
                  <a:srgbClr val="1369B2"/>
                </a:solidFill>
                <a:latin typeface="Microsoft YaHei" panose="020B0503020204020204" pitchFamily="34" charset="-122"/>
                <a:ea typeface="Microsoft YaHei" panose="020B0503020204020204" pitchFamily="34" charset="-122"/>
              </a:rPr>
              <a:t>程序会报错</a:t>
            </a:r>
            <a:r>
              <a:rPr lang="zh-CN" altLang="zh-CN" sz="2000" dirty="0">
                <a:solidFill>
                  <a:srgbClr val="595959"/>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646330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rPr>
              <a:t>使用变量保存商品信息</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的案例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使用变量保存商品信息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3594682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10630" y="1111358"/>
            <a:ext cx="10585176"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将通过一个案例演示如何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使用变量保存商品信息</a:t>
            </a:r>
            <a:r>
              <a:rPr lang="zh-CN" altLang="zh-CN" sz="2000" dirty="0">
                <a:solidFill>
                  <a:srgbClr val="595959"/>
                </a:solidFill>
                <a:latin typeface="微软雅黑" panose="020B0503020204020204" pitchFamily="34" charset="-122"/>
                <a:ea typeface="微软雅黑" panose="020B0503020204020204" pitchFamily="34" charset="-122"/>
                <a:cs typeface="+mn-ea"/>
              </a:rPr>
              <a:t>。其中，</a:t>
            </a:r>
            <a:r>
              <a:rPr lang="zh-CN" altLang="zh-CN" sz="2000" dirty="0">
                <a:solidFill>
                  <a:srgbClr val="1369B2"/>
                </a:solidFill>
                <a:latin typeface="微软雅黑" panose="020B0503020204020204" pitchFamily="34" charset="-122"/>
                <a:ea typeface="微软雅黑" panose="020B0503020204020204" pitchFamily="34" charset="-122"/>
                <a:cs typeface="+mn-ea"/>
              </a:rPr>
              <a:t>商品名称为衬衫</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商品颜色为白色</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商品价格为</a:t>
            </a:r>
            <a:r>
              <a:rPr lang="en-US" altLang="zh-CN" sz="2000" dirty="0">
                <a:solidFill>
                  <a:srgbClr val="1369B2"/>
                </a:solidFill>
                <a:latin typeface="微软雅黑" panose="020B0503020204020204" pitchFamily="34" charset="-122"/>
                <a:ea typeface="微软雅黑" panose="020B0503020204020204" pitchFamily="34" charset="-122"/>
                <a:cs typeface="+mn-ea"/>
              </a:rPr>
              <a:t>50</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商品尺寸为均</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码</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1.4.4</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使用变量保存商品信息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547" y="2277666"/>
            <a:ext cx="5545342" cy="3495533"/>
          </a:xfrm>
          <a:prstGeom prst="rect">
            <a:avLst/>
          </a:prstGeom>
        </p:spPr>
      </p:pic>
    </p:spTree>
    <p:extLst>
      <p:ext uri="{BB962C8B-B14F-4D97-AF65-F5344CB8AC3E}">
        <p14:creationId xmlns:p14="http://schemas.microsoft.com/office/powerpoint/2010/main" val="1698950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rPr>
              <a:t>使用变量</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保存用户输入的值</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的案例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1.4.5</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使用变量保存用户输入的值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2128332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3690" y="1125538"/>
            <a:ext cx="10199663"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前面的小节中讲解了使用</a:t>
            </a:r>
            <a:r>
              <a:rPr lang="en-US" altLang="zh-CN" sz="2000" dirty="0">
                <a:solidFill>
                  <a:srgbClr val="595959"/>
                </a:solidFill>
                <a:latin typeface="微软雅黑" panose="020B0503020204020204" pitchFamily="34" charset="-122"/>
                <a:ea typeface="微软雅黑" panose="020B0503020204020204" pitchFamily="34" charset="-122"/>
                <a:cs typeface="+mn-ea"/>
              </a:rPr>
              <a:t>prompt()</a:t>
            </a:r>
            <a:r>
              <a:rPr lang="zh-CN" altLang="zh-CN" sz="2000" dirty="0">
                <a:solidFill>
                  <a:srgbClr val="595959"/>
                </a:solidFill>
                <a:latin typeface="微软雅黑" panose="020B0503020204020204" pitchFamily="34" charset="-122"/>
                <a:ea typeface="微软雅黑" panose="020B0503020204020204" pitchFamily="34" charset="-122"/>
                <a:cs typeface="+mn-ea"/>
              </a:rPr>
              <a:t>语句可以在页面中弹出一个输入框，提示用户输入内容。当用户输入内容后，使用变量就可以保存用户输入的内容</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使用变量保存用户输入的值</a:t>
            </a:r>
            <a:r>
              <a:rPr lang="zh-CN" altLang="zh-CN" sz="2000" dirty="0">
                <a:solidFill>
                  <a:srgbClr val="595959"/>
                </a:solidFill>
                <a:latin typeface="微软雅黑" panose="020B0503020204020204" pitchFamily="34" charset="-122"/>
                <a:ea typeface="微软雅黑" panose="020B0503020204020204" pitchFamily="34" charset="-122"/>
                <a:cs typeface="+mn-ea"/>
              </a:rPr>
              <a:t>。声明一个</a:t>
            </a:r>
            <a:r>
              <a:rPr lang="en-US" altLang="zh-CN" sz="2000" dirty="0">
                <a:solidFill>
                  <a:srgbClr val="1369B2"/>
                </a:solidFill>
                <a:latin typeface="微软雅黑" panose="020B0503020204020204" pitchFamily="34" charset="-122"/>
                <a:ea typeface="微软雅黑" panose="020B0503020204020204" pitchFamily="34" charset="-122"/>
                <a:cs typeface="+mn-ea"/>
              </a:rPr>
              <a:t>email</a:t>
            </a:r>
            <a:r>
              <a:rPr lang="zh-CN" altLang="zh-CN" sz="2000" dirty="0">
                <a:solidFill>
                  <a:srgbClr val="595959"/>
                </a:solidFill>
                <a:latin typeface="微软雅黑" panose="020B0503020204020204" pitchFamily="34" charset="-122"/>
                <a:ea typeface="微软雅黑" panose="020B0503020204020204" pitchFamily="34" charset="-122"/>
                <a:cs typeface="+mn-ea"/>
              </a:rPr>
              <a:t>变量，当用户打开页面时</a:t>
            </a:r>
            <a:r>
              <a:rPr lang="zh-CN" altLang="zh-CN" sz="2000" dirty="0">
                <a:solidFill>
                  <a:srgbClr val="1369B2"/>
                </a:solidFill>
                <a:latin typeface="微软雅黑" panose="020B0503020204020204" pitchFamily="34" charset="-122"/>
                <a:ea typeface="微软雅黑" panose="020B0503020204020204" pitchFamily="34" charset="-122"/>
                <a:cs typeface="+mn-ea"/>
              </a:rPr>
              <a:t>提示用户输入邮箱</a:t>
            </a:r>
            <a:r>
              <a:rPr lang="zh-CN" altLang="zh-CN" sz="2000" dirty="0">
                <a:solidFill>
                  <a:srgbClr val="595959"/>
                </a:solidFill>
                <a:latin typeface="微软雅黑" panose="020B0503020204020204" pitchFamily="34" charset="-122"/>
                <a:ea typeface="微软雅黑" panose="020B0503020204020204" pitchFamily="34" charset="-122"/>
                <a:cs typeface="+mn-ea"/>
              </a:rPr>
              <a:t>，用户</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输入邮箱并单击</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确定</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按钮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后</a:t>
            </a:r>
            <a:r>
              <a:rPr lang="zh-CN" altLang="zh-CN" sz="2000" dirty="0">
                <a:solidFill>
                  <a:srgbClr val="595959"/>
                </a:solidFill>
                <a:latin typeface="微软雅黑" panose="020B0503020204020204" pitchFamily="34" charset="-122"/>
                <a:ea typeface="微软雅黑" panose="020B0503020204020204" pitchFamily="34" charset="-122"/>
                <a:cs typeface="+mn-ea"/>
              </a:rPr>
              <a:t>，页面将显示用户的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邮箱</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1.4.5</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使用变量保存用户输入的值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6894" y="3717826"/>
            <a:ext cx="5184576" cy="2541459"/>
          </a:xfrm>
          <a:prstGeom prst="rect">
            <a:avLst/>
          </a:prstGeom>
        </p:spPr>
      </p:pic>
    </p:spTree>
    <p:extLst>
      <p:ext uri="{BB962C8B-B14F-4D97-AF65-F5344CB8AC3E}">
        <p14:creationId xmlns:p14="http://schemas.microsoft.com/office/powerpoint/2010/main" val="3773260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213596"/>
            <a:ext cx="10441160"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如果在页面</a:t>
            </a:r>
            <a:r>
              <a:rPr lang="zh-CN" altLang="zh-CN" sz="2000" dirty="0">
                <a:solidFill>
                  <a:srgbClr val="595959"/>
                </a:solidFill>
                <a:latin typeface="微软雅黑" panose="020B0503020204020204" pitchFamily="34" charset="-122"/>
                <a:ea typeface="微软雅黑" panose="020B0503020204020204" pitchFamily="34" charset="-122"/>
                <a:cs typeface="+mn-ea"/>
              </a:rPr>
              <a:t>中输入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123456@qq.com</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并单击</a:t>
            </a:r>
            <a:r>
              <a:rPr lang="zh-CN" altLang="zh-CN" sz="2000" dirty="0">
                <a:solidFill>
                  <a:srgbClr val="1369B2"/>
                </a:solidFill>
                <a:latin typeface="微软雅黑" panose="020B0503020204020204" pitchFamily="34" charset="-122"/>
                <a:ea typeface="微软雅黑" panose="020B0503020204020204" pitchFamily="34" charset="-122"/>
                <a:cs typeface="+mn-ea"/>
              </a:rPr>
              <a:t>“确定”</a:t>
            </a:r>
            <a:r>
              <a:rPr lang="zh-CN" altLang="zh-CN" sz="2000" dirty="0">
                <a:solidFill>
                  <a:srgbClr val="595959"/>
                </a:solidFill>
                <a:latin typeface="微软雅黑" panose="020B0503020204020204" pitchFamily="34" charset="-122"/>
                <a:ea typeface="微软雅黑" panose="020B0503020204020204" pitchFamily="34" charset="-122"/>
                <a:cs typeface="+mn-ea"/>
              </a:rPr>
              <a:t>按钮后</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页面</a:t>
            </a:r>
            <a:r>
              <a:rPr lang="zh-CN" altLang="zh-CN" sz="2000" dirty="0">
                <a:solidFill>
                  <a:srgbClr val="595959"/>
                </a:solidFill>
                <a:latin typeface="微软雅黑" panose="020B0503020204020204" pitchFamily="34" charset="-122"/>
                <a:ea typeface="微软雅黑" panose="020B0503020204020204" pitchFamily="34" charset="-122"/>
                <a:cs typeface="+mn-ea"/>
              </a:rPr>
              <a:t>的显示信息</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图所</a:t>
            </a:r>
            <a:r>
              <a:rPr lang="zh-CN" altLang="zh-CN" sz="2000" dirty="0">
                <a:solidFill>
                  <a:srgbClr val="595959"/>
                </a:solidFill>
                <a:latin typeface="微软雅黑" panose="020B0503020204020204" pitchFamily="34" charset="-122"/>
                <a:ea typeface="微软雅黑" panose="020B0503020204020204" pitchFamily="34" charset="-122"/>
                <a:cs typeface="+mn-ea"/>
              </a:rPr>
              <a:t>示</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1.4.5</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使用变量保存用户输入的值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6814" y="2637706"/>
            <a:ext cx="6905122" cy="2818668"/>
          </a:xfrm>
          <a:prstGeom prst="rect">
            <a:avLst/>
          </a:prstGeom>
        </p:spPr>
      </p:pic>
    </p:spTree>
    <p:extLst>
      <p:ext uri="{BB962C8B-B14F-4D97-AF65-F5344CB8AC3E}">
        <p14:creationId xmlns:p14="http://schemas.microsoft.com/office/powerpoint/2010/main" val="3145100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交换两个变量的值</a:t>
            </a:r>
            <a:r>
              <a:rPr lang="zh-CN" altLang="en-US" sz="2000" smtClean="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1.4.6</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交换两个变量的值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Tree>
    <p:extLst>
      <p:ext uri="{BB962C8B-B14F-4D97-AF65-F5344CB8AC3E}">
        <p14:creationId xmlns:p14="http://schemas.microsoft.com/office/powerpoint/2010/main" val="18058205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43690" y="1701602"/>
            <a:ext cx="10568140"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学习</a:t>
            </a:r>
            <a:r>
              <a:rPr lang="zh-CN" altLang="zh-CN" sz="2000" dirty="0">
                <a:solidFill>
                  <a:srgbClr val="595959"/>
                </a:solidFill>
                <a:latin typeface="微软雅黑" panose="020B0503020204020204" pitchFamily="34" charset="-122"/>
                <a:ea typeface="微软雅黑" panose="020B0503020204020204" pitchFamily="34" charset="-122"/>
                <a:cs typeface="+mn-ea"/>
              </a:rPr>
              <a:t>了</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的变量后，下面通过一个案例来练习变量的使用。本案例将实现交换两个变量的值</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首先定义两个变量</a:t>
            </a:r>
            <a:r>
              <a:rPr lang="en-US" altLang="zh-CN" sz="2000" dirty="0">
                <a:solidFill>
                  <a:srgbClr val="1369B2"/>
                </a:solidFill>
                <a:latin typeface="微软雅黑" panose="020B0503020204020204" pitchFamily="34" charset="-122"/>
                <a:ea typeface="微软雅黑" panose="020B0503020204020204" pitchFamily="34" charset="-122"/>
                <a:cs typeface="+mn-ea"/>
              </a:rPr>
              <a:t>apple1</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apple2</a:t>
            </a:r>
            <a:r>
              <a:rPr lang="zh-CN" altLang="zh-CN" sz="2000" dirty="0">
                <a:solidFill>
                  <a:srgbClr val="595959"/>
                </a:solidFill>
                <a:latin typeface="微软雅黑" panose="020B0503020204020204" pitchFamily="34" charset="-122"/>
                <a:ea typeface="微软雅黑" panose="020B0503020204020204" pitchFamily="34" charset="-122"/>
                <a:cs typeface="+mn-ea"/>
              </a:rPr>
              <a:t>，其中，</a:t>
            </a:r>
            <a:r>
              <a:rPr lang="zh-CN" altLang="zh-CN" sz="2000" dirty="0">
                <a:solidFill>
                  <a:srgbClr val="1369B2"/>
                </a:solidFill>
                <a:latin typeface="微软雅黑" panose="020B0503020204020204" pitchFamily="34" charset="-122"/>
                <a:ea typeface="微软雅黑" panose="020B0503020204020204" pitchFamily="34" charset="-122"/>
                <a:cs typeface="+mn-ea"/>
              </a:rPr>
              <a:t>变量</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apple1</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值为红苹果</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变量</a:t>
            </a:r>
            <a:r>
              <a:rPr lang="en-US" altLang="zh-CN" sz="2000" dirty="0">
                <a:solidFill>
                  <a:srgbClr val="1369B2"/>
                </a:solidFill>
                <a:latin typeface="微软雅黑" panose="020B0503020204020204" pitchFamily="34" charset="-122"/>
                <a:ea typeface="微软雅黑" panose="020B0503020204020204" pitchFamily="34" charset="-122"/>
                <a:cs typeface="+mn-ea"/>
              </a:rPr>
              <a:t>apple2</a:t>
            </a:r>
            <a:r>
              <a:rPr lang="zh-CN" altLang="zh-CN" sz="2000" dirty="0">
                <a:solidFill>
                  <a:srgbClr val="1369B2"/>
                </a:solidFill>
                <a:latin typeface="微软雅黑" panose="020B0503020204020204" pitchFamily="34" charset="-122"/>
                <a:ea typeface="微软雅黑" panose="020B0503020204020204" pitchFamily="34" charset="-122"/>
                <a:cs typeface="+mn-ea"/>
              </a:rPr>
              <a:t>的值为青苹果</a:t>
            </a:r>
            <a:r>
              <a:rPr lang="zh-CN" altLang="zh-CN" sz="2000" dirty="0">
                <a:solidFill>
                  <a:srgbClr val="595959"/>
                </a:solidFill>
                <a:latin typeface="微软雅黑" panose="020B0503020204020204" pitchFamily="34" charset="-122"/>
                <a:ea typeface="微软雅黑" panose="020B0503020204020204" pitchFamily="34" charset="-122"/>
                <a:cs typeface="+mn-ea"/>
              </a:rPr>
              <a:t>，然后定义第</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个变量</a:t>
            </a:r>
            <a:r>
              <a:rPr lang="en-US" altLang="zh-CN" sz="2000" dirty="0">
                <a:solidFill>
                  <a:srgbClr val="1369B2"/>
                </a:solidFill>
                <a:latin typeface="微软雅黑" panose="020B0503020204020204" pitchFamily="34" charset="-122"/>
                <a:ea typeface="微软雅黑" panose="020B0503020204020204" pitchFamily="34" charset="-122"/>
                <a:cs typeface="+mn-ea"/>
              </a:rPr>
              <a:t>temp</a:t>
            </a:r>
            <a:r>
              <a:rPr lang="zh-CN" altLang="zh-CN" sz="2000" dirty="0">
                <a:solidFill>
                  <a:srgbClr val="595959"/>
                </a:solidFill>
                <a:latin typeface="微软雅黑" panose="020B0503020204020204" pitchFamily="34" charset="-122"/>
                <a:ea typeface="微软雅黑" panose="020B0503020204020204" pitchFamily="34" charset="-122"/>
                <a:cs typeface="+mn-ea"/>
              </a:rPr>
              <a:t>来</a:t>
            </a:r>
            <a:r>
              <a:rPr lang="zh-CN" altLang="zh-CN" sz="2000" dirty="0">
                <a:solidFill>
                  <a:srgbClr val="1369B2"/>
                </a:solidFill>
                <a:latin typeface="微软雅黑" panose="020B0503020204020204" pitchFamily="34" charset="-122"/>
                <a:ea typeface="微软雅黑" panose="020B0503020204020204" pitchFamily="34" charset="-122"/>
                <a:cs typeface="+mn-ea"/>
              </a:rPr>
              <a:t>保存临时数据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用于</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实现</a:t>
            </a:r>
            <a:r>
              <a:rPr lang="zh-CN" altLang="zh-CN" sz="2000" dirty="0">
                <a:solidFill>
                  <a:srgbClr val="595959"/>
                </a:solidFill>
                <a:latin typeface="微软雅黑" panose="020B0503020204020204" pitchFamily="34" charset="-122"/>
                <a:ea typeface="微软雅黑" panose="020B0503020204020204" pitchFamily="34" charset="-122"/>
                <a:cs typeface="+mn-ea"/>
              </a:rPr>
              <a:t>红苹果和青苹果的交换。</a:t>
            </a:r>
          </a:p>
          <a:p>
            <a:pPr algn="just">
              <a:lnSpc>
                <a:spcPct val="150000"/>
              </a:lnSpc>
            </a:pP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1.4.6</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交换两个变量的值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55817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270670" y="1629594"/>
            <a:ext cx="10009112" cy="283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实现红苹果和青苹果交换的过程中，我们可以想象成</a:t>
            </a:r>
            <a:r>
              <a:rPr lang="zh-CN" altLang="zh-CN" sz="2000" dirty="0">
                <a:solidFill>
                  <a:srgbClr val="1369B2"/>
                </a:solidFill>
                <a:latin typeface="微软雅黑" panose="020B0503020204020204" pitchFamily="34" charset="-122"/>
                <a:ea typeface="微软雅黑" panose="020B0503020204020204" pitchFamily="34" charset="-122"/>
                <a:cs typeface="+mn-ea"/>
              </a:rPr>
              <a:t>左手拿着红苹果（</a:t>
            </a:r>
            <a:r>
              <a:rPr lang="en-US" altLang="zh-CN" sz="2000" dirty="0">
                <a:solidFill>
                  <a:srgbClr val="1369B2"/>
                </a:solidFill>
                <a:latin typeface="微软雅黑" panose="020B0503020204020204" pitchFamily="34" charset="-122"/>
                <a:ea typeface="微软雅黑" panose="020B0503020204020204" pitchFamily="34" charset="-122"/>
                <a:cs typeface="+mn-ea"/>
              </a:rPr>
              <a:t>apple1</a:t>
            </a:r>
            <a:r>
              <a:rPr lang="zh-CN" altLang="zh-CN" sz="2000" dirty="0">
                <a:solidFill>
                  <a:srgbClr val="1369B2"/>
                </a:solidFill>
                <a:latin typeface="微软雅黑" panose="020B0503020204020204" pitchFamily="34" charset="-122"/>
                <a:ea typeface="微软雅黑" panose="020B0503020204020204" pitchFamily="34" charset="-122"/>
                <a:cs typeface="+mn-ea"/>
              </a:rPr>
              <a:t>），右手拿着青苹果（</a:t>
            </a:r>
            <a:r>
              <a:rPr lang="en-US" altLang="zh-CN" sz="2000" dirty="0">
                <a:solidFill>
                  <a:srgbClr val="1369B2"/>
                </a:solidFill>
                <a:latin typeface="微软雅黑" panose="020B0503020204020204" pitchFamily="34" charset="-122"/>
                <a:ea typeface="微软雅黑" panose="020B0503020204020204" pitchFamily="34" charset="-122"/>
                <a:cs typeface="+mn-ea"/>
              </a:rPr>
              <a:t>apple2</a:t>
            </a:r>
            <a:r>
              <a:rPr lang="zh-CN" altLang="zh-CN" sz="2000" dirty="0">
                <a:solidFill>
                  <a:srgbClr val="1369B2"/>
                </a:solidFill>
                <a:latin typeface="微软雅黑" panose="020B0503020204020204" pitchFamily="34" charset="-122"/>
                <a:ea typeface="微软雅黑" panose="020B0503020204020204" pitchFamily="34" charset="-122"/>
                <a:cs typeface="+mn-ea"/>
              </a:rPr>
              <a:t>），前面有一张桌子（</a:t>
            </a:r>
            <a:r>
              <a:rPr lang="en-US" altLang="zh-CN" sz="2000" dirty="0">
                <a:solidFill>
                  <a:srgbClr val="1369B2"/>
                </a:solidFill>
                <a:latin typeface="微软雅黑" panose="020B0503020204020204" pitchFamily="34" charset="-122"/>
                <a:ea typeface="微软雅黑" panose="020B0503020204020204" pitchFamily="34" charset="-122"/>
                <a:cs typeface="+mn-ea"/>
              </a:rPr>
              <a:t>temp</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。为了将左手的红苹果和右手的青苹果交换，首先需要</a:t>
            </a:r>
            <a:r>
              <a:rPr lang="zh-CN" altLang="zh-CN" sz="2000" dirty="0">
                <a:solidFill>
                  <a:srgbClr val="1369B2"/>
                </a:solidFill>
                <a:latin typeface="微软雅黑" panose="020B0503020204020204" pitchFamily="34" charset="-122"/>
                <a:ea typeface="微软雅黑" panose="020B0503020204020204" pitchFamily="34" charset="-122"/>
                <a:cs typeface="+mn-ea"/>
              </a:rPr>
              <a:t>将左手的红苹果放到桌子上</a:t>
            </a:r>
            <a:r>
              <a:rPr lang="zh-CN" altLang="zh-CN" sz="2000" dirty="0">
                <a:solidFill>
                  <a:srgbClr val="595959"/>
                </a:solidFill>
                <a:latin typeface="微软雅黑" panose="020B0503020204020204" pitchFamily="34" charset="-122"/>
                <a:ea typeface="微软雅黑" panose="020B0503020204020204" pitchFamily="34" charset="-122"/>
                <a:cs typeface="+mn-ea"/>
              </a:rPr>
              <a:t>，然后</a:t>
            </a:r>
            <a:r>
              <a:rPr lang="zh-CN" altLang="zh-CN" sz="2000" dirty="0">
                <a:solidFill>
                  <a:srgbClr val="1369B2"/>
                </a:solidFill>
                <a:latin typeface="微软雅黑" panose="020B0503020204020204" pitchFamily="34" charset="-122"/>
                <a:ea typeface="微软雅黑" panose="020B0503020204020204" pitchFamily="34" charset="-122"/>
                <a:cs typeface="+mn-ea"/>
              </a:rPr>
              <a:t>将右手的青苹果给左手</a:t>
            </a:r>
            <a:r>
              <a:rPr lang="zh-CN" altLang="zh-CN" sz="2000" dirty="0">
                <a:solidFill>
                  <a:srgbClr val="595959"/>
                </a:solidFill>
                <a:latin typeface="微软雅黑" panose="020B0503020204020204" pitchFamily="34" charset="-122"/>
                <a:ea typeface="微软雅黑" panose="020B0503020204020204" pitchFamily="34" charset="-122"/>
                <a:cs typeface="+mn-ea"/>
              </a:rPr>
              <a:t>，最后</a:t>
            </a:r>
            <a:r>
              <a:rPr lang="zh-CN" altLang="zh-CN" sz="2000" dirty="0">
                <a:solidFill>
                  <a:srgbClr val="1369B2"/>
                </a:solidFill>
                <a:latin typeface="微软雅黑" panose="020B0503020204020204" pitchFamily="34" charset="-122"/>
                <a:ea typeface="微软雅黑" panose="020B0503020204020204" pitchFamily="34" charset="-122"/>
                <a:cs typeface="+mn-ea"/>
              </a:rPr>
              <a:t>右手再从桌子上拿起红苹果</a:t>
            </a:r>
            <a:r>
              <a:rPr lang="zh-CN" altLang="zh-CN" sz="2000" dirty="0">
                <a:solidFill>
                  <a:srgbClr val="595959"/>
                </a:solidFill>
                <a:latin typeface="微软雅黑" panose="020B0503020204020204" pitchFamily="34" charset="-122"/>
                <a:ea typeface="微软雅黑" panose="020B0503020204020204" pitchFamily="34" charset="-122"/>
                <a:cs typeface="+mn-ea"/>
              </a:rPr>
              <a:t>，这样就完成了交换</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编写代码实现红苹果和青苹果的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交换</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1.4.6</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交换两个变量的值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070458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266995"/>
            <a:ext cx="595962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1.4.6</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	</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交换两个变量的值</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6854" y="1701602"/>
            <a:ext cx="6120680" cy="3158126"/>
          </a:xfrm>
          <a:prstGeom prst="rect">
            <a:avLst/>
          </a:prstGeom>
        </p:spPr>
      </p:pic>
    </p:spTree>
    <p:extLst>
      <p:ext uri="{BB962C8B-B14F-4D97-AF65-F5344CB8AC3E}">
        <p14:creationId xmlns:p14="http://schemas.microsoft.com/office/powerpoint/2010/main" val="1258026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3F6908-92E7-4A91-863C-1B36143E8DCD}"/>
              </a:ext>
            </a:extLst>
          </p:cNvPr>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26">
            <a:extLst>
              <a:ext uri="{FF2B5EF4-FFF2-40B4-BE49-F238E27FC236}">
                <a16:creationId xmlns:a16="http://schemas.microsoft.com/office/drawing/2014/main" id="{FB40132D-FEA4-4137-839F-407CBE609B3F}"/>
              </a:ext>
            </a:extLst>
          </p:cNvPr>
          <p:cNvSpPr/>
          <p:nvPr/>
        </p:nvSpPr>
        <p:spPr>
          <a:xfrm>
            <a:off x="1198880" y="1810385"/>
            <a:ext cx="9794240" cy="3635634"/>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a:extLst>
              <a:ext uri="{FF2B5EF4-FFF2-40B4-BE49-F238E27FC236}">
                <a16:creationId xmlns:a16="http://schemas.microsoft.com/office/drawing/2014/main" id="{814CCD3C-575E-4C15-89E6-3D4FA5A051F1}"/>
              </a:ext>
            </a:extLst>
          </p:cNvPr>
          <p:cNvSpPr txBox="1"/>
          <p:nvPr/>
        </p:nvSpPr>
        <p:spPr>
          <a:xfrm>
            <a:off x="1595500" y="2704873"/>
            <a:ext cx="9001000" cy="2308324"/>
          </a:xfrm>
          <a:prstGeom prst="rect">
            <a:avLst/>
          </a:prstGeom>
          <a:noFill/>
        </p:spPr>
        <p:txBody>
          <a:bodyPr wrap="square" lIns="0" tIns="0" rIns="0" bIns="0" rtlCol="0">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本章</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首先介绍了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基本概念</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，包括</a:t>
            </a:r>
            <a:r>
              <a:rPr lang="en-US"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概述</a:t>
            </a:r>
            <a:r>
              <a:rPr lang="zh-CN" altLang="en-US"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en-US"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由来</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组成</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特点</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，其次介绍了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开发工具</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的相关内容，然后讲解了</a:t>
            </a:r>
            <a:r>
              <a:rPr lang="en-US"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基本</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使用</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，包括</a:t>
            </a:r>
            <a:r>
              <a:rPr lang="en-US"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代码</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引入方式</a:t>
            </a:r>
            <a:r>
              <a:rPr lang="zh-CN" alt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常用的</a:t>
            </a:r>
            <a:r>
              <a:rPr lang="zh-CN" alt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输入输出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及</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注释</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，最后讲解了</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变量</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，包括</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变量的概念</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命名规则</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声明与赋值</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，并通过案例演示变量的基本使用。</a:t>
            </a:r>
          </a:p>
        </p:txBody>
      </p:sp>
      <p:sp>
        <p:nvSpPr>
          <p:cNvPr id="6" name="椭圆 5">
            <a:extLst>
              <a:ext uri="{FF2B5EF4-FFF2-40B4-BE49-F238E27FC236}">
                <a16:creationId xmlns:a16="http://schemas.microsoft.com/office/drawing/2014/main" id="{12D02CBD-122C-4126-9C27-9F5A42D82327}"/>
              </a:ext>
            </a:extLst>
          </p:cNvPr>
          <p:cNvSpPr/>
          <p:nvPr/>
        </p:nvSpPr>
        <p:spPr>
          <a:xfrm>
            <a:off x="442023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本</a:t>
            </a:r>
          </a:p>
        </p:txBody>
      </p:sp>
      <p:sp>
        <p:nvSpPr>
          <p:cNvPr id="7" name="椭圆 6">
            <a:extLst>
              <a:ext uri="{FF2B5EF4-FFF2-40B4-BE49-F238E27FC236}">
                <a16:creationId xmlns:a16="http://schemas.microsoft.com/office/drawing/2014/main" id="{248D732B-AEB5-4AF0-80CB-E49986E102F7}"/>
              </a:ext>
            </a:extLst>
          </p:cNvPr>
          <p:cNvSpPr/>
          <p:nvPr/>
        </p:nvSpPr>
        <p:spPr>
          <a:xfrm>
            <a:off x="513905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章</a:t>
            </a:r>
          </a:p>
        </p:txBody>
      </p:sp>
      <p:sp>
        <p:nvSpPr>
          <p:cNvPr id="8" name="椭圆 7">
            <a:extLst>
              <a:ext uri="{FF2B5EF4-FFF2-40B4-BE49-F238E27FC236}">
                <a16:creationId xmlns:a16="http://schemas.microsoft.com/office/drawing/2014/main" id="{B0611DBD-A63B-4039-A64B-C5315892C467}"/>
              </a:ext>
            </a:extLst>
          </p:cNvPr>
          <p:cNvSpPr/>
          <p:nvPr/>
        </p:nvSpPr>
        <p:spPr>
          <a:xfrm>
            <a:off x="585787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小</a:t>
            </a:r>
          </a:p>
        </p:txBody>
      </p:sp>
      <p:sp>
        <p:nvSpPr>
          <p:cNvPr id="9" name="椭圆 8">
            <a:extLst>
              <a:ext uri="{FF2B5EF4-FFF2-40B4-BE49-F238E27FC236}">
                <a16:creationId xmlns:a16="http://schemas.microsoft.com/office/drawing/2014/main" id="{7CAB7274-D61E-48A3-90F6-2DA430D6E3B7}"/>
              </a:ext>
            </a:extLst>
          </p:cNvPr>
          <p:cNvSpPr/>
          <p:nvPr/>
        </p:nvSpPr>
        <p:spPr>
          <a:xfrm>
            <a:off x="657669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结</a:t>
            </a:r>
          </a:p>
        </p:txBody>
      </p:sp>
    </p:spTree>
    <p:extLst>
      <p:ext uri="{BB962C8B-B14F-4D97-AF65-F5344CB8AC3E}">
        <p14:creationId xmlns:p14="http://schemas.microsoft.com/office/powerpoint/2010/main" val="4187513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88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13730</TotalTime>
  <Words>6392</Words>
  <Application>Microsoft Office PowerPoint</Application>
  <PresentationFormat>自定义</PresentationFormat>
  <Paragraphs>529</Paragraphs>
  <Slides>102</Slides>
  <Notes>54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102</vt:i4>
      </vt:variant>
    </vt:vector>
  </HeadingPairs>
  <TitlesOfParts>
    <vt:vector size="115" baseType="lpstr">
      <vt:lpstr>Source Han Sans K Bold</vt:lpstr>
      <vt:lpstr>思源黑体 CN Medium</vt:lpstr>
      <vt:lpstr>思源黑体 CN Regular</vt:lpstr>
      <vt:lpstr>宋体</vt:lpstr>
      <vt:lpstr>微软雅黑</vt:lpstr>
      <vt:lpstr>微软雅黑</vt:lpstr>
      <vt:lpstr>字魂105号-简雅黑</vt:lpstr>
      <vt:lpstr>字魂58号-创中黑</vt:lpstr>
      <vt:lpstr>Arial</vt:lpstr>
      <vt:lpstr>Calibri</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hd</cp:lastModifiedBy>
  <cp:revision>5348</cp:revision>
  <dcterms:created xsi:type="dcterms:W3CDTF">2020-11-09T06:56:00Z</dcterms:created>
  <dcterms:modified xsi:type="dcterms:W3CDTF">2024-07-05T02:33:21Z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