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89"/>
  </p:notesMasterIdLst>
  <p:handoutMasterIdLst>
    <p:handoutMasterId r:id="rId90"/>
  </p:handoutMasterIdLst>
  <p:sldIdLst>
    <p:sldId id="325" r:id="rId3"/>
    <p:sldId id="1129" r:id="rId4"/>
    <p:sldId id="1641" r:id="rId5"/>
    <p:sldId id="1692" r:id="rId6"/>
    <p:sldId id="328" r:id="rId7"/>
    <p:sldId id="1146" r:id="rId8"/>
    <p:sldId id="309" r:id="rId9"/>
    <p:sldId id="1059" r:id="rId10"/>
    <p:sldId id="1125" r:id="rId11"/>
    <p:sldId id="1693" r:id="rId12"/>
    <p:sldId id="1694" r:id="rId13"/>
    <p:sldId id="1643" r:id="rId14"/>
    <p:sldId id="1657" r:id="rId15"/>
    <p:sldId id="1695" r:id="rId16"/>
    <p:sldId id="1623" r:id="rId17"/>
    <p:sldId id="1696" r:id="rId18"/>
    <p:sldId id="1497" r:id="rId19"/>
    <p:sldId id="1697" r:id="rId20"/>
    <p:sldId id="1698" r:id="rId21"/>
    <p:sldId id="1492" r:id="rId22"/>
    <p:sldId id="1424" r:id="rId23"/>
    <p:sldId id="1662" r:id="rId24"/>
    <p:sldId id="1762" r:id="rId25"/>
    <p:sldId id="1699" r:id="rId26"/>
    <p:sldId id="1700" r:id="rId27"/>
    <p:sldId id="1701" r:id="rId28"/>
    <p:sldId id="1702" r:id="rId29"/>
    <p:sldId id="1703" r:id="rId30"/>
    <p:sldId id="1704" r:id="rId31"/>
    <p:sldId id="1705" r:id="rId32"/>
    <p:sldId id="1706" r:id="rId33"/>
    <p:sldId id="1707" r:id="rId34"/>
    <p:sldId id="1708" r:id="rId35"/>
    <p:sldId id="1493" r:id="rId36"/>
    <p:sldId id="1501" r:id="rId37"/>
    <p:sldId id="1711" r:id="rId38"/>
    <p:sldId id="1712" r:id="rId39"/>
    <p:sldId id="1713" r:id="rId40"/>
    <p:sldId id="1714" r:id="rId41"/>
    <p:sldId id="1715" r:id="rId42"/>
    <p:sldId id="1717" r:id="rId43"/>
    <p:sldId id="1719" r:id="rId44"/>
    <p:sldId id="1720" r:id="rId45"/>
    <p:sldId id="1722" r:id="rId46"/>
    <p:sldId id="1724" r:id="rId47"/>
    <p:sldId id="1725" r:id="rId48"/>
    <p:sldId id="1726" r:id="rId49"/>
    <p:sldId id="1727" r:id="rId50"/>
    <p:sldId id="1728" r:id="rId51"/>
    <p:sldId id="1729" r:id="rId52"/>
    <p:sldId id="1730" r:id="rId53"/>
    <p:sldId id="1731" r:id="rId54"/>
    <p:sldId id="1732" r:id="rId55"/>
    <p:sldId id="1733" r:id="rId56"/>
    <p:sldId id="1734" r:id="rId57"/>
    <p:sldId id="1735" r:id="rId58"/>
    <p:sldId id="1736" r:id="rId59"/>
    <p:sldId id="1737" r:id="rId60"/>
    <p:sldId id="1738" r:id="rId61"/>
    <p:sldId id="1739" r:id="rId62"/>
    <p:sldId id="1740" r:id="rId63"/>
    <p:sldId id="1741" r:id="rId64"/>
    <p:sldId id="1742" r:id="rId65"/>
    <p:sldId id="1743" r:id="rId66"/>
    <p:sldId id="1161" r:id="rId67"/>
    <p:sldId id="1590" r:id="rId68"/>
    <p:sldId id="1622" r:id="rId69"/>
    <p:sldId id="1744" r:id="rId70"/>
    <p:sldId id="1745" r:id="rId71"/>
    <p:sldId id="1163" r:id="rId72"/>
    <p:sldId id="1383" r:id="rId73"/>
    <p:sldId id="1689" r:id="rId74"/>
    <p:sldId id="1750" r:id="rId75"/>
    <p:sldId id="1751" r:id="rId76"/>
    <p:sldId id="1752" r:id="rId77"/>
    <p:sldId id="1688" r:id="rId78"/>
    <p:sldId id="1753" r:id="rId79"/>
    <p:sldId id="1755" r:id="rId80"/>
    <p:sldId id="1756" r:id="rId81"/>
    <p:sldId id="1757" r:id="rId82"/>
    <p:sldId id="1758" r:id="rId83"/>
    <p:sldId id="1759" r:id="rId84"/>
    <p:sldId id="1760" r:id="rId85"/>
    <p:sldId id="1761" r:id="rId86"/>
    <p:sldId id="1416" r:id="rId87"/>
    <p:sldId id="1417" r:id="rId88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  <p:cmAuthor id="2" name="zrd" initials="W用" lastIdx="6" clrIdx="1">
    <p:extLst>
      <p:ext uri="{19B8F6BF-5375-455C-9EA6-DF929625EA0E}">
        <p15:presenceInfo xmlns:p15="http://schemas.microsoft.com/office/powerpoint/2012/main" userId="f6599913dc903e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>
      <p:cViewPr>
        <p:scale>
          <a:sx n="75" d="100"/>
          <a:sy n="75" d="100"/>
        </p:scale>
        <p:origin x="156" y="540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99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97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783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61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007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597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422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989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62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126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8439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78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39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9314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146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5555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1846734" y="2637706"/>
            <a:ext cx="9073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11</a:t>
            </a:r>
            <a:r>
              <a:rPr lang="zh-CN" altLang="en-US" sz="5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JavaScript</a:t>
            </a:r>
            <a:r>
              <a:rPr lang="zh-CN" altLang="en-US" sz="5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面向对象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270670" y="2061642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面向过程与面向对象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，能够阐述面向过程与面向对象的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区别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70670" y="303186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面向对象的特征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，能够归纳面向对象的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三大特征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270670" y="399997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类与对象的概念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，能够阐述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类与对象的区别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70670" y="493464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类的定义和继承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定义类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及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类中的属性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实现子类继承父类</a:t>
              </a: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270670" y="2061642"/>
            <a:ext cx="9937105" cy="688076"/>
            <a:chOff x="978872" y="1800500"/>
            <a:chExt cx="5592705" cy="515938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1"/>
              <a:ext cx="5592705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调用父类的方法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super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关键字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调用父类的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构造方法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普通方法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70670" y="3031865"/>
            <a:ext cx="9937105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原型对象的使用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原型对象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访问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与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使用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270670" y="3999975"/>
            <a:ext cx="9937105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成员查找机制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，能够描述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成员查找的顺序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270670" y="4934646"/>
            <a:ext cx="9937105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熟悉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原型链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的相关知识，能够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绘制原型链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37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342678" y="1917626"/>
            <a:ext cx="9937105" cy="688076"/>
            <a:chOff x="978872" y="1800500"/>
            <a:chExt cx="5592705" cy="515938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1"/>
              <a:ext cx="5592705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this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指向的更改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，能够灵活应用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apply()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call()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bind()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更改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this</a:t>
              </a:r>
            </a:p>
            <a:p>
              <a:pPr lvl="0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指向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342678" y="2887849"/>
            <a:ext cx="9937105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错误处理的方式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，能够通过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try…catch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处理错误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42678" y="3855959"/>
            <a:ext cx="9937105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错误类型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，能够列举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常见的错误类型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342678" y="4790630"/>
            <a:ext cx="9937105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错误对象的抛出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在程序出错时抛出错误对象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42678" y="5768169"/>
            <a:ext cx="9937105" cy="685961"/>
            <a:chOff x="978872" y="2570436"/>
            <a:chExt cx="5437064" cy="514351"/>
          </a:xfrm>
        </p:grpSpPr>
        <p:sp>
          <p:nvSpPr>
            <p:cNvPr id="26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了解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错误对象的传递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列举错误对象的传递方式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43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198662" y="2349674"/>
            <a:ext cx="10081120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 Oriented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）是软件开发的一种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编程思想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，被广泛应用于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交互式界面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应用平台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分布式系统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网络管理结构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Aided Design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，计算机辅助设计）技术、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等领域。在实际开发中，使用面向对象编程不仅可以使项目的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结构更加清晰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代码更易维护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。本章将详细讲解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39805"/>
            <a:ext cx="1173141" cy="613062"/>
            <a:chOff x="2215144" y="982844"/>
            <a:chExt cx="1224841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73186" y="1097328"/>
              <a:ext cx="1066799" cy="634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11.1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812465"/>
            <a:ext cx="1163616" cy="613061"/>
            <a:chOff x="2215144" y="2033848"/>
            <a:chExt cx="1214896" cy="842781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63241" y="2157441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707898"/>
            <a:ext cx="1173141" cy="613061"/>
            <a:chOff x="2215144" y="3084852"/>
            <a:chExt cx="1224841" cy="842781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73186" y="3204314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11.3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1762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面向对象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概述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9029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类与对象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概述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8624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原型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617154"/>
            <a:ext cx="1163616" cy="613061"/>
            <a:chOff x="2215144" y="3084852"/>
            <a:chExt cx="1214896" cy="842781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63241" y="3204314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11.4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595502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更改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this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指向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39058" y="5539678"/>
            <a:ext cx="1173141" cy="613061"/>
            <a:chOff x="2215144" y="3084852"/>
            <a:chExt cx="1224841" cy="842781"/>
          </a:xfrm>
        </p:grpSpPr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73186" y="3191220"/>
              <a:ext cx="1066799" cy="634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11.5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44610" y="5518026"/>
            <a:ext cx="5142331" cy="613062"/>
            <a:chOff x="4315150" y="2341731"/>
            <a:chExt cx="3857250" cy="540057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错误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处理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面向过程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，能够阐述面向过程与面向对象的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区别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面向过程与面向对象的区别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面向过程与面向对象的区别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413570"/>
            <a:ext cx="104411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当使用面向过程与面向对象思想解决问题时，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面向过程的重点在于过程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，也就是分析出解决问题需要的步骤，然后按照步骤逐步执行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面向过程的缺点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在于，当步骤过多时，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会变得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代码的可复用性差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，一旦步骤发生修改，就容易出现牵一发而动全身的情况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面向对象则是把问题分解为多个对象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，这些对象可以完成它们各自负责的工作，只需要发出指令，就可以让这些对象去完成实际的操作。</a:t>
            </a:r>
          </a:p>
        </p:txBody>
      </p: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713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5259487" y="1985403"/>
            <a:ext cx="4868167" cy="1804431"/>
            <a:chOff x="4899445" y="1985402"/>
            <a:chExt cx="5386021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883672" y="1001175"/>
              <a:ext cx="3417567" cy="5386021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599" y="2233126"/>
              <a:ext cx="4613197" cy="2798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相比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面向过程，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可以让开发者从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复杂的步骤中解放出来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，让一个团队能更好地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分工协作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面向过程与面向对象的区别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069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9329" y="1309456"/>
            <a:ext cx="79928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对比面向对象和面向过程的区别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下表所示。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553538"/>
              </p:ext>
            </p:extLst>
          </p:nvPr>
        </p:nvGraphicFramePr>
        <p:xfrm>
          <a:off x="1161202" y="2277666"/>
          <a:ext cx="9974563" cy="31807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49295">
                  <a:extLst>
                    <a:ext uri="{9D8B030D-6E8A-4147-A177-3AD203B41FA5}">
                      <a16:colId xmlns:a16="http://schemas.microsoft.com/office/drawing/2014/main" val="3315928302"/>
                    </a:ext>
                  </a:extLst>
                </a:gridCol>
                <a:gridCol w="5285666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239602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2912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分类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优点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缺点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面向过程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代码无浪费，无额外开销，适合对性能要求极其苛刻的情况和项目规模非常小、功能非常少的情况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不易维护、复用和扩展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10542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面向对象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易维护、易复用和易扩展，适合业务逻辑复杂的大型项目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增加了额外的开销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面向过程与面向对象的区别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428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面向对象的特征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归纳面向对象的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三大特征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791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16391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614" y="2133650"/>
            <a:ext cx="1065718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隐藏内部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实现细节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，只对外开放操作接口。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是对象开放的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，无论对象的内部多么复杂，用户只需知道这些接口怎么使用即可，而不需要知道内部的实现细节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3685"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3685" algn="just"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封装有利于对象的修改和升级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，无论一个对象内部的代码经过了多少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只要不改变接口，就不会影响到使用这个对象时编写的代码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106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16391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74627" y="1961983"/>
            <a:ext cx="105851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一个对象继承另一个对象的成员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，从而在不改变另一个对象的前提下进行扩展。例如，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猫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，在程序中可以描述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猫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犬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。同理，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波斯猫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巴厘猫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继承自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猫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科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沙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斑点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犬科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它们之间的继承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415" y="3573810"/>
            <a:ext cx="4729600" cy="239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5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133649"/>
            <a:ext cx="6768752" cy="1944217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3078" y="2358673"/>
            <a:ext cx="6120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不仅可以在保持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接口兼容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的前提下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对功能进行扩展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，而且可以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增强代码的复用性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，为程序的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补充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提供便利。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008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16391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多态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8622" y="2205658"/>
            <a:ext cx="104411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同一个操作作用于不同的对象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产生不同的执行结果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。例如，项目中有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视频对象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音频对象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图片对象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，用户在对这些对象进行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操作时，如果这些接口的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命名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都是相同的，用户的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学习成本就会很低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，如果每种对象都有一套对应的接口，则用户就需要学习每一种对象的使用方法，学习成本高。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502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97546"/>
            <a:ext cx="10009112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实际上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被设计为一种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弱类型语言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（即一个变量可以存储任意类型的数据），就是多态的体现。例如，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都具有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方法，当使用不同的对象调用该方法时，执行结果不同，示例代码如下。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0394" y="2946918"/>
            <a:ext cx="843360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 = 123456;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console.log(obj.toString());  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123456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obj = [1, 2, 3, 4, 5, 6]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console.log(obj.toString());  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1,2,3,4,5,6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obj = function () {};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console.log(obj.toString());  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() {}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50235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8940" y="1917626"/>
            <a:ext cx="69677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多态的实现往往离不开继承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，这是因为多个对象继承同一个对象后，就获取了相同的方法，然后可以根据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每个对象的特点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来改变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同名方法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的执行结果。</a:t>
            </a: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233620" cy="175092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29533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881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845618"/>
            <a:ext cx="103691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封装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特征，但并不代表只要满足这些特征就可以设计出优秀的程序，开发人员还需要考虑如何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合理地运用这些特征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，在封装时，如何给外部调用者提供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完整且最小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的接口，使外部调用者可以顺利得到想要的功能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需要研究其内部的细节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；在进行继承和多态设计时，如何为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同类对象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设计一套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相同的方法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进行操作等。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295331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面向对象的特征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901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342678" y="2809240"/>
            <a:ext cx="2019012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20690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类与对象的概念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，能够阐述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类与对象的区别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722523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599" y="2233125"/>
              <a:ext cx="5887883" cy="3013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假如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开发一个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学生管理系统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，系统中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每个学生都是一个对象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，每个学生都有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姓名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学号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等属性，并且每个学生可能会有一些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相同的方法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唱歌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跳舞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等。为了方便创建这样的对象，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746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133649"/>
            <a:ext cx="6768752" cy="237626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3078" y="2358673"/>
            <a:ext cx="6120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等主流的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面向对象语言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通过类创建对象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的，语法相比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较大差别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。为了符合面向对象的编程习惯，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ECMAScript 6.0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开始，也新增了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类的语法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42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629594"/>
            <a:ext cx="103691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创建对象的模板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，类的作用是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将对象的特征抽取出来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，形成一段代码，通过这段代码可以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创建出同一类的对象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。例如，开发学生管理系统时，可以创建一个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学生类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，将学生的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共同特征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写在类中，然后通过类创建出所需的学生对象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同类对象的意义是这些对象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拥有相同的属性名和方法名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，即拥有相同的特征，在使用对象时，只需要记住同类对象的属性名和方法名，而不需要区分每个对象。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90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133649"/>
            <a:ext cx="6768752" cy="237626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3078" y="2358673"/>
            <a:ext cx="6120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面向对象开发中，首先需要分析项目中有哪些对象，然后分析这些对象的共同特征，即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共有的属性和方法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，将这些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共同特征抽取出来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，创建成类，最后通过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实例化对象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，实现项目的各个功能。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类与对象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856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的定义和继承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及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类中的属性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实现子类继承父类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类的定义和继承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34557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16391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2367672"/>
            <a:ext cx="101360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ECMAScript 6.0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可以定义一个类，在命名习惯上，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首字母大写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驼峰命名法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，在类中可以定义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初始化对象的成员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，该构造方法在使用类创建对象时会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自动调用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，在调用时会传入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实例化的参数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类的定义和继承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029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6694" y="871508"/>
            <a:ext cx="4824536" cy="538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为例演示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1457741"/>
            <a:ext cx="8433600" cy="485017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定义类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class Student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constructor(name) {    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构造方法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this.name = name;    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为新创建的对象添加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使用类创建对象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stu1 = new Student('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stu2 = new Student('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console.log(stu1);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 {name: 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console.log(stu2);	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 {name: 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类的定义和继承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329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163914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类的继承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17626"/>
            <a:ext cx="102081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继承父类的属性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，继承之后，子类还可以拥有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独有的属性和方法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ECMAScript 6.0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中，子类继承父类的属性或方法可以通过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extends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类的定义和继承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840474" y="4133617"/>
            <a:ext cx="4814531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定义父类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 Father {}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子类继承父类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 Son extends Father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788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877280"/>
            <a:ext cx="8568952" cy="48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子类继承父类的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money()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为例演示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类的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类的定义和继承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86894" y="1485578"/>
            <a:ext cx="5969140" cy="485017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父类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class Father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constructor() {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money() {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  console.log('10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万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     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万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class Son extends Father { }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son1 = new Son();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son1.money();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954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父类的方法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super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调用父类的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普通方法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调用父类的方法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45198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05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5187479" y="1985403"/>
            <a:ext cx="5156199" cy="2380496"/>
            <a:chOff x="4899446" y="1985402"/>
            <a:chExt cx="5704692" cy="4175378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664103" y="1220745"/>
              <a:ext cx="4175378" cy="5704692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058" y="2366778"/>
              <a:ext cx="4700405" cy="3400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程序中，子类可以调用父类的方法，包括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父类的构造方法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。若子类需要调用父类的方法，可以使用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super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调用父类的方法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941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54646" y="1115504"/>
            <a:ext cx="315131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调用父类的构造方法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773610"/>
            <a:ext cx="104961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子类继承父类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后，若需要在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子类的构造方法中调用父类的构造方法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super()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11.2.3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调用父类的方法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54646" y="3703698"/>
            <a:ext cx="82809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在子类的方法中调用父类的普通方法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super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54646" y="4581922"/>
            <a:ext cx="105681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说明的是，如果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子类想要继承父类的方法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，同时在自己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内部扩展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自己的方法，使用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super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调用父类的构造方法时，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必须在子类的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之前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54646" y="3011489"/>
            <a:ext cx="315131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父类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064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4789384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20655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380495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1070" y="2338273"/>
              <a:ext cx="5975092" cy="2783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function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声明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并在内部使用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为对象添加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；而类是使用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class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关键字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声明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类中的成员属性和方法使用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constructor()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进行定义。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279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015035"/>
            <a:ext cx="6768752" cy="3150354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89072" y="2179083"/>
            <a:ext cx="61566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都能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，但是两者创建对象的方式有所不同。当使用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类创建多个对象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多个对象的方法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的，而使用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构造函数创建多个对象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每个对象都保存了自己的方法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。为了使构造函数创建的对象能够实现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方法共享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为构造函数提供了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474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8940" y="1917626"/>
            <a:ext cx="69677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的所有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实例对象的原型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，每个构造函数都有一个原型对象，使用构造函数的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prototype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233620" cy="1750921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440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262286" y="1210955"/>
            <a:ext cx="849694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访问构造函数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的原型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290836" y="2293184"/>
            <a:ext cx="955689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Person1() {}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console.log(Person1.prototype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        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{constructor: ƒ}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Person1.prototype);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90836" y="4285030"/>
            <a:ext cx="99509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在上述示例代码中，第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prototype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构造函数的原型对象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行代码使用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检测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构造函数的原型对象的类型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4442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377582"/>
            <a:ext cx="99371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原型对象添加方法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时，原型对象的方法会被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所有实例对象共享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。例如，为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构造函数的原型对象添加一个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introduce()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43691" y="2781722"/>
            <a:ext cx="9848059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Person1() {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Person1.prototype.introduce = function ()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你好！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2332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4943078" y="2421682"/>
            <a:ext cx="6120680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构造函数创建的对象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不能实现方法共享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。如果想要实现方法共享，可以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将方法定义在原型对象中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，当实例对象调用方法时就会访问原型对象的方法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49"/>
            <a:ext cx="6768752" cy="1944217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623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50110" y="1607820"/>
            <a:ext cx="2304375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06774" y="1743045"/>
            <a:ext cx="2247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传统的继承方式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8303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70737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矩形 1"/>
          <p:cNvSpPr/>
          <p:nvPr/>
        </p:nvSpPr>
        <p:spPr>
          <a:xfrm>
            <a:off x="971712" y="2925738"/>
            <a:ext cx="1038007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ECMAScript 6.0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之前，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中并没有类的概念，在没有类的情况下，可以使用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种传统的方式实现继承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。下面分别介绍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种传统的继承方式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166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3" name="矩形 12"/>
          <p:cNvSpPr/>
          <p:nvPr/>
        </p:nvSpPr>
        <p:spPr>
          <a:xfrm>
            <a:off x="982638" y="1557586"/>
            <a:ext cx="315131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使用原型对象实现继承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82638" y="2061642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如果一个对象中本来没有某个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，但是可以从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中获取，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对象的属性和方法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84300" y="3213770"/>
            <a:ext cx="315131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原型对象实现继承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2638" y="3717826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中，可以将构造函数的原型对象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替换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为另一个对象，基于构造函数创建的对象就会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继承新的原型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558702" y="5105756"/>
            <a:ext cx="9361040" cy="12839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0" name="流程图: 资料带 9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359713" y="486995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18744" y="5239273"/>
            <a:ext cx="89289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基于构造函数创建对象时，代码应写在替换原型对象之后，否则创建的对象仍然会继承原来的原型对象</a:t>
            </a:r>
            <a:r>
              <a:rPr lang="zh-CN" altLang="zh-CN" sz="2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365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3" name="矩形 12"/>
          <p:cNvSpPr/>
          <p:nvPr/>
        </p:nvSpPr>
        <p:spPr>
          <a:xfrm>
            <a:off x="982638" y="1557586"/>
            <a:ext cx="378055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Object.create()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实现继承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9272" y="2274933"/>
            <a:ext cx="106085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create()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创建一个新对象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，该方法的参数表示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将新对象的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prototype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指向指定的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82638" y="3645818"/>
            <a:ext cx="187220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混入继承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59272" y="4505096"/>
            <a:ext cx="106085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混入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是将一个对象成员加入另一个对象中，实现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对象功能的扩展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。实现混入继承的方法是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将一个对象的成员赋值给另一个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275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成员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，能够描述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成员查找的顺序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成员查找机制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712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912" y="1718443"/>
            <a:ext cx="10354893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的成员时，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判断实例对象是否拥有这个成员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，如果实例对象拥有这个成员，则直接使用，否则将会在原型对象中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搜索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这个成员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原型对象中有这个成员，就使用该成员，否则继续在原型对象的原型对象中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。如果按照这个顺序没有查找到，则返回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成员查找机制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805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930722"/>
            <a:ext cx="8208912" cy="48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成员查找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机制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成员查找机制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22798" y="1471204"/>
            <a:ext cx="7560840" cy="502939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function Student()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this.age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20;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21;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student = new Student(); 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delete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21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delete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student.age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222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熟悉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原型链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的相关知识，能够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绘制原型链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045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1876439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1070" y="2338272"/>
              <a:ext cx="5880411" cy="2690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实例对象有原型对象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原型对象也有原型对象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，这就形成了一个链式结构，称为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原型链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577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315131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访问对象的原型对象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752526"/>
            <a:ext cx="100640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中，每个对象都有一个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，该对象指向了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，且与构造函数的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prototype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指向的是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属性访问对象的原型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55252" y="3362820"/>
            <a:ext cx="864096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function Student() {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student = new Student();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student.__proto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__);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student.__proto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__ ===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53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3151316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访问对象的构造函数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589048"/>
            <a:ext cx="1035211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原型对象中有一个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，该属性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。由于实例对象可以访问原型对象的属性和方法，所以通过实例对象的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属性可以访问实例对象的构造函数。下面通过代码演示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使用实例对象的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属性访问对象的构造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907744" y="2927876"/>
            <a:ext cx="6824007" cy="3462486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function Student() {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student = new Student();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通过原型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Student.prototype.constructor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通过实例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student.constructor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42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990030"/>
            <a:ext cx="10729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注意的是，如果将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构造函数的原型对象修改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为另一个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，将无法使用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访问原来的构造函数，示例代码如下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83061" y="2069193"/>
            <a:ext cx="7184329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function Student() {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class: '101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student = new Student();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student.constructor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=== Student);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student.constructor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3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909514"/>
            <a:ext cx="105851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的同时，依然能够使用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获取原始的构造函数，可以在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新的原型对象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手动指向原始的构造函数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782838" y="2043056"/>
            <a:ext cx="684076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function Student() {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constructor: Student,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class: '101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班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student = new Student();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student.constructor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=== Student);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student.constructor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553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90750" y="1413570"/>
            <a:ext cx="8581466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90" y="2421682"/>
            <a:ext cx="6959302" cy="242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81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329533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访问原型对象的原型对象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11692" y="1974931"/>
            <a:ext cx="103121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中，原型对象也是一个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，通过原型对象的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访问原型对象的原型对象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47265" y="3345965"/>
            <a:ext cx="864096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Student() {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Student.prototype.__proto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__);</a:t>
            </a:r>
            <a:endParaRPr lang="zh-CN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Student.prototype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.__proto__.constructor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71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125538"/>
            <a:ext cx="106571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，通过原型对象的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访问到的对象是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，这个对象是所有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实例对象的原型对象，可以通过以下代码进行验证。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2439071"/>
            <a:ext cx="864096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Student() {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console.log(Student.prototype.__proto__ === Object.prototype);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object = new Object();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console.log(object.__proto__ === Object.prototype);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1" y="4653930"/>
            <a:ext cx="86409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如果继续访问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Object.prototype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的原型对象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，则结果为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，示例代码如下。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90750" y="5446018"/>
            <a:ext cx="864096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console.log(Object.prototype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.__proto__);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861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690" y="1115504"/>
            <a:ext cx="2143204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绘制原型链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902594"/>
            <a:ext cx="858146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前面的分析，可以将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原型链的结构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总结为以下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2731664"/>
            <a:ext cx="977605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prototype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constructor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指回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可以访问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原型对象可以通过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原型对象的原型对象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，再继续访问，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__proto__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8046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36969" y="1107220"/>
            <a:ext cx="858146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根据原型链的结构总结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原型链的结构图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838" y="1966683"/>
            <a:ext cx="6696744" cy="389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5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50110" y="1607820"/>
            <a:ext cx="2288912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32174" y="1743045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函数的构造函数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3667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98977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矩形 1"/>
          <p:cNvSpPr/>
          <p:nvPr/>
        </p:nvSpPr>
        <p:spPr>
          <a:xfrm>
            <a:off x="982980" y="2404961"/>
            <a:ext cx="102968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中，函数也属于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，也拥有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constructor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可以访问函数的构造函数。实际上函数的构造函数是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函数的构造函数是它本身。下面通过代码演示如何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访问函数的构造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247935" y="4084105"/>
            <a:ext cx="9766890" cy="128990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Student() {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Student.constructor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ƒ Function() { [native code]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Function.constructor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ƒ Function() { [native code]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26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矩形 1"/>
          <p:cNvSpPr/>
          <p:nvPr/>
        </p:nvSpPr>
        <p:spPr>
          <a:xfrm>
            <a:off x="982980" y="1628805"/>
            <a:ext cx="863079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此外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，通过实例化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可以创建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05674" y="2349674"/>
            <a:ext cx="8640960" cy="567399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2', …,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函数体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</a:t>
            </a:r>
            <a:r>
              <a:rPr lang="en-US" altLang="zh-CN"/>
              <a:t>	</a:t>
            </a:r>
            <a:endParaRPr lang="zh-CN" altLang="zh-CN"/>
          </a:p>
        </p:txBody>
      </p:sp>
      <p:sp>
        <p:nvSpPr>
          <p:cNvPr id="3" name="矩形 2"/>
          <p:cNvSpPr/>
          <p:nvPr/>
        </p:nvSpPr>
        <p:spPr>
          <a:xfrm>
            <a:off x="975639" y="3357786"/>
            <a:ext cx="80386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05674" y="4149874"/>
            <a:ext cx="864096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new Function('a', 'b', 'console.log(a + b)');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(30, 60);	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90	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073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矩形 1"/>
          <p:cNvSpPr/>
          <p:nvPr/>
        </p:nvSpPr>
        <p:spPr>
          <a:xfrm>
            <a:off x="982980" y="1853325"/>
            <a:ext cx="103688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也可以通过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prototype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访问它的原型对象，且该原型对象与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__proto__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指向的对象为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，通过以下代码可以验证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380288" y="3441401"/>
            <a:ext cx="9574193" cy="50783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Function.prototype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===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Object.__proto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__)   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269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06" y="1844507"/>
            <a:ext cx="7966690" cy="453570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2" name="矩形 1"/>
          <p:cNvSpPr/>
          <p:nvPr/>
        </p:nvSpPr>
        <p:spPr>
          <a:xfrm>
            <a:off x="982980" y="1557586"/>
            <a:ext cx="979274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分析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函数的构造函数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之后，下面将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构造函数加入原型链结构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原型链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559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利用原型对象扩展数组方法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696774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11.3.4  【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利用原型对象扩展数组方法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044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773610"/>
            <a:ext cx="10297144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案例将实现扩展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Array()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对象操作方法，为数组对象添加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sum()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数组元素的求和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成员查找机制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，当对象不存在某个属性或方法时，将会到该对象的原型对象中进行查找，因此可以将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sum()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方法写在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Array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对象的原型对象中，以便所有的实例对象可以使用该方法进行数组求和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696774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11.3.4  【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利用原型对象扩展数组方法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234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更改</a:t>
            </a:r>
            <a:r>
              <a:rPr lang="en-US" altLang="zh-CN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指向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91020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指向的更改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，能够灵活应用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apply()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271926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更改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770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0" y="266995"/>
            <a:ext cx="271926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更改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4899447" y="1985403"/>
            <a:ext cx="6092303" cy="2919585"/>
            <a:chOff x="4899446" y="1985402"/>
            <a:chExt cx="6740375" cy="3417567"/>
          </a:xfrm>
        </p:grpSpPr>
        <p:sp>
          <p:nvSpPr>
            <p:cNvPr id="10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1070" y="2263942"/>
              <a:ext cx="6039747" cy="2810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中，函数有多种调用的方式，如直接通过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函数名调用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作为对象的方法调用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作为构造函数调用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等。根据函数不同的调用方式，函数中的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指向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也会不同。如果默认的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指向不满足需求，则可以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更改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this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指向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14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4943078" y="2325281"/>
            <a:ext cx="626469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了可以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更改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的指向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分别是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apply()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个方法都通过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来调用，表示将函数中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的指向更改为指定的对象。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apply()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调用函数并更改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方法不会调用函数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49"/>
            <a:ext cx="6768752" cy="273630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271926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更改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404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8940" y="1917626"/>
            <a:ext cx="6967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apply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个参数相同，表示将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this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指向更改为哪个对象。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apply()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个参数表示给函数传递参数，以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形式传递，而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call()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bind()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2~N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给函数传递的参数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逗号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分隔。</a:t>
            </a: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233620" cy="232698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266995"/>
            <a:ext cx="271926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更改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指向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76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50054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</a:t>
            </a: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处理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270670" y="2809240"/>
            <a:ext cx="2019012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处理的方式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处理错误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错误处理的方式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392264"/>
            <a:ext cx="104411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程序时，经常会遇到各种各样的错误，如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调用的方法不存在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变量不存在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等。下面通过代码演示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程序中发生错误的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情况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86694" y="2805014"/>
            <a:ext cx="367240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 = {};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o.func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console.log('test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错误处理的方式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174" y="2781722"/>
            <a:ext cx="4436450" cy="22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6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5636" y="1324351"/>
            <a:ext cx="99481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发生错误时，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引擎会抛出一个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可以对错误对象进行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捕获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，捕获后可以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查看错误信息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语句的语法格式如下。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502463" y="2637706"/>
            <a:ext cx="7174467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中编写可能出现错误的代码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 catch (e)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catch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中处理错误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错误处理的方式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337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46734" y="1032350"/>
            <a:ext cx="84109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1701602"/>
            <a:ext cx="8433600" cy="470898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var o = {};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try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o.func();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console.log('test01');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 catch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console.log('test02');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错误处理的方式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600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133761"/>
            <a:ext cx="8568952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语句后的运行结果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错误处理的方式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364" y="2016315"/>
            <a:ext cx="6077744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7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错误类型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常见的错误类型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537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981522"/>
            <a:ext cx="1036915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中共有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种错误类型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，当发生错误时，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会根据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不同的错误类型抛出不同的错误对象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092614"/>
              </p:ext>
            </p:extLst>
          </p:nvPr>
        </p:nvGraphicFramePr>
        <p:xfrm>
          <a:off x="1054646" y="2027958"/>
          <a:ext cx="10153128" cy="44261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49131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8003997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31247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错误类型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表示普通错误，其他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种类型的错误对象都继承自该对象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EvalError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表示调用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eval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函数错误，已经弃用，为了向后兼容，低版本还可以使用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RangeError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表示超出有效范围，如“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new Array(-1)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512434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ReferenceError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表示引用了一个不存在的变量，如“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var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 a = 1; a + b;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”（变量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未定义）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23433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SyntaxError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表示解析过程语法错误，如“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{;}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”“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if()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”“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var a = new;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”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595455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TypeError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表示变量或参数不是预期类型的，如调用了不存在的函数或方法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372277"/>
                  </a:ext>
                </a:extLst>
              </a:tr>
              <a:tr h="570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URIError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表示解析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编码出错，在调用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encodeURI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、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escape()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等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处理函数时出现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85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46734" y="953526"/>
            <a:ext cx="84109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存在语法错误的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情况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1507524"/>
            <a:ext cx="8433600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try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o = { ; };    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语法错误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 catch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console.log(e.message);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错误类型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270670" y="5170213"/>
            <a:ext cx="9361040" cy="12839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071681" y="4934411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30712" y="5323425"/>
            <a:ext cx="8928990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语句处理错误时，无法处理语法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SyntaxError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如果程序存在语法错误，则整个代码都无法执行。</a:t>
            </a:r>
          </a:p>
        </p:txBody>
      </p:sp>
    </p:spTree>
    <p:extLst>
      <p:ext uri="{BB962C8B-B14F-4D97-AF65-F5344CB8AC3E}">
        <p14:creationId xmlns:p14="http://schemas.microsoft.com/office/powerpoint/2010/main" val="19612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对象的抛出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在程序出错时抛出错误对象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错误对象的抛出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55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4899447" y="1985402"/>
            <a:ext cx="6092303" cy="3259962"/>
            <a:chOff x="4899446" y="1985402"/>
            <a:chExt cx="6740375" cy="3417567"/>
          </a:xfrm>
        </p:grpSpPr>
        <p:sp>
          <p:nvSpPr>
            <p:cNvPr id="10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1070" y="2185285"/>
              <a:ext cx="5960079" cy="3000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程序出现错误时，程序会自动抛出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，错误对象中保存了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错误出现的位置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错误的类型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错误信息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等数据。错误对象会传递给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catch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，通过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catch(e)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的方式来接收，其中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变量名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，表示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，变量名可以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自定义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错误对象的抛出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056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4943078" y="2325281"/>
            <a:ext cx="626469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除了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由程序自动抛出错误对象，用户也可以使用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手动抛出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。错误对象需要先通过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Error()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创建，然后使用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throw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关键字抛出。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Error()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构造函数的参数表示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错误信息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catch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捕获错误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后，通过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“错误对象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.message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可以获取错误信息。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Shape 2015"/>
          <p:cNvSpPr/>
          <p:nvPr/>
        </p:nvSpPr>
        <p:spPr>
          <a:xfrm>
            <a:off x="4583038" y="2133649"/>
            <a:ext cx="6768752" cy="273630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错误对象的抛出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273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74726" y="1125538"/>
            <a:ext cx="84109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错误对象的抛出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1845618"/>
            <a:ext cx="843360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try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e1 = new Error('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错误信息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throw e1;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 catch (e)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console.log(e.message);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console.log(e1 === e);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11.5.3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错误对象的抛出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960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13454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对象的传递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列举错误对象的传递方式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错误对象的传递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935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266995"/>
            <a:ext cx="34393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11.5.4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错误对象的传递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1917626"/>
            <a:ext cx="10441160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错误对象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也可以作为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传递给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中的代码调用了其他函数时，如果在其他函数中出现了错误，并且没有使用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try…catch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语句处理，程序就会停下来，将错误对象传递到调用当前函数的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上一层函数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，如果上一层函数仍然没有处理，则继续向上传递。</a:t>
            </a:r>
          </a:p>
        </p:txBody>
      </p:sp>
    </p:spTree>
    <p:extLst>
      <p:ext uri="{BB962C8B-B14F-4D97-AF65-F5344CB8AC3E}">
        <p14:creationId xmlns:p14="http://schemas.microsoft.com/office/powerpoint/2010/main" val="12793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41960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715016" y="2290135"/>
            <a:ext cx="9004538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的相关知识，首先讲解了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面向过程与面向对象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区别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面向对象的特征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类与对象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类的定义和继承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调用父类的方法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this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，在原型中主要讲解了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成员查找机制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，在错误处理中主要讲解了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错误处理的方式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错误对象的抛出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错误对象的传递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面向对象思想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实现项目的开发。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15154</TotalTime>
  <Words>5491</Words>
  <Application>Microsoft Office PowerPoint</Application>
  <PresentationFormat>自定义</PresentationFormat>
  <Paragraphs>473</Paragraphs>
  <Slides>86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86</vt:i4>
      </vt:variant>
    </vt:vector>
  </HeadingPairs>
  <TitlesOfParts>
    <vt:vector size="97" baseType="lpstr">
      <vt:lpstr>Source Han Sans K Bold</vt:lpstr>
      <vt:lpstr>思源黑体 CN Medium</vt:lpstr>
      <vt:lpstr>思源黑体 CN Regular</vt:lpstr>
      <vt:lpstr>宋体</vt:lpstr>
      <vt:lpstr>微软雅黑</vt:lpstr>
      <vt:lpstr>字魂105号-简雅黑</vt:lpstr>
      <vt:lpstr>字魂58号-创中黑</vt:lpstr>
      <vt:lpstr>Arial</vt:lpstr>
      <vt:lpstr>Calibri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5782</cp:revision>
  <dcterms:created xsi:type="dcterms:W3CDTF">2020-11-09T06:56:00Z</dcterms:created>
  <dcterms:modified xsi:type="dcterms:W3CDTF">2024-04-19T07:14:11Z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