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2"/>
  </p:sldMasterIdLst>
  <p:notesMasterIdLst>
    <p:notesMasterId r:id="rId91"/>
  </p:notesMasterIdLst>
  <p:handoutMasterIdLst>
    <p:handoutMasterId r:id="rId92"/>
  </p:handoutMasterIdLst>
  <p:sldIdLst>
    <p:sldId id="325" r:id="rId3"/>
    <p:sldId id="1129" r:id="rId4"/>
    <p:sldId id="1538" r:id="rId5"/>
    <p:sldId id="1539" r:id="rId6"/>
    <p:sldId id="328" r:id="rId7"/>
    <p:sldId id="1146" r:id="rId8"/>
    <p:sldId id="309" r:id="rId9"/>
    <p:sldId id="1059" r:id="rId10"/>
    <p:sldId id="1125" r:id="rId11"/>
    <p:sldId id="1423" r:id="rId12"/>
    <p:sldId id="1540" r:id="rId13"/>
    <p:sldId id="1541" r:id="rId14"/>
    <p:sldId id="1450" r:id="rId15"/>
    <p:sldId id="1542" r:id="rId16"/>
    <p:sldId id="1543" r:id="rId17"/>
    <p:sldId id="1289" r:id="rId18"/>
    <p:sldId id="1544" r:id="rId19"/>
    <p:sldId id="1545" r:id="rId20"/>
    <p:sldId id="1546" r:id="rId21"/>
    <p:sldId id="1547" r:id="rId22"/>
    <p:sldId id="1548" r:id="rId23"/>
    <p:sldId id="1549" r:id="rId24"/>
    <p:sldId id="1550" r:id="rId25"/>
    <p:sldId id="1551" r:id="rId26"/>
    <p:sldId id="1552" r:id="rId27"/>
    <p:sldId id="1553" r:id="rId28"/>
    <p:sldId id="1554" r:id="rId29"/>
    <p:sldId id="1555" r:id="rId30"/>
    <p:sldId id="1556" r:id="rId31"/>
    <p:sldId id="1557" r:id="rId32"/>
    <p:sldId id="1558" r:id="rId33"/>
    <p:sldId id="1559" r:id="rId34"/>
    <p:sldId id="1561" r:id="rId35"/>
    <p:sldId id="1560" r:id="rId36"/>
    <p:sldId id="1562" r:id="rId37"/>
    <p:sldId id="1419" r:id="rId38"/>
    <p:sldId id="1439" r:id="rId39"/>
    <p:sldId id="1525" r:id="rId40"/>
    <p:sldId id="1563" r:id="rId41"/>
    <p:sldId id="1564" r:id="rId42"/>
    <p:sldId id="1565" r:id="rId43"/>
    <p:sldId id="1492" r:id="rId44"/>
    <p:sldId id="1424" r:id="rId45"/>
    <p:sldId id="1489" r:id="rId46"/>
    <p:sldId id="1497" r:id="rId47"/>
    <p:sldId id="1427" r:id="rId48"/>
    <p:sldId id="1304" r:id="rId49"/>
    <p:sldId id="1567" r:id="rId50"/>
    <p:sldId id="1568" r:id="rId51"/>
    <p:sldId id="1569" r:id="rId52"/>
    <p:sldId id="1570" r:id="rId53"/>
    <p:sldId id="1571" r:id="rId54"/>
    <p:sldId id="1572" r:id="rId55"/>
    <p:sldId id="1573" r:id="rId56"/>
    <p:sldId id="1574" r:id="rId57"/>
    <p:sldId id="1575" r:id="rId58"/>
    <p:sldId id="1576" r:id="rId59"/>
    <p:sldId id="1577" r:id="rId60"/>
    <p:sldId id="1299" r:id="rId61"/>
    <p:sldId id="1578" r:id="rId62"/>
    <p:sldId id="1579" r:id="rId63"/>
    <p:sldId id="1580" r:id="rId64"/>
    <p:sldId id="1581" r:id="rId65"/>
    <p:sldId id="1493" r:id="rId66"/>
    <p:sldId id="1501" r:id="rId67"/>
    <p:sldId id="1582" r:id="rId68"/>
    <p:sldId id="1583" r:id="rId69"/>
    <p:sldId id="1584" r:id="rId70"/>
    <p:sldId id="1279" r:id="rId71"/>
    <p:sldId id="1585" r:id="rId72"/>
    <p:sldId id="1586" r:id="rId73"/>
    <p:sldId id="1587" r:id="rId74"/>
    <p:sldId id="1161" r:id="rId75"/>
    <p:sldId id="1356" r:id="rId76"/>
    <p:sldId id="1588" r:id="rId77"/>
    <p:sldId id="1591" r:id="rId78"/>
    <p:sldId id="1592" r:id="rId79"/>
    <p:sldId id="1599" r:id="rId80"/>
    <p:sldId id="1598" r:id="rId81"/>
    <p:sldId id="1163" r:id="rId82"/>
    <p:sldId id="1383" r:id="rId83"/>
    <p:sldId id="1593" r:id="rId84"/>
    <p:sldId id="1594" r:id="rId85"/>
    <p:sldId id="1595" r:id="rId86"/>
    <p:sldId id="1596" r:id="rId87"/>
    <p:sldId id="1597" r:id="rId88"/>
    <p:sldId id="1416" r:id="rId89"/>
    <p:sldId id="1417" r:id="rId90"/>
  </p:sldIdLst>
  <p:sldSz cx="12190413" cy="6859588"/>
  <p:notesSz cx="6858000" cy="9144000"/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1" userDrawn="1">
          <p15:clr>
            <a:srgbClr val="A4A3A4"/>
          </p15:clr>
        </p15:guide>
        <p15:guide id="2" pos="301" userDrawn="1">
          <p15:clr>
            <a:srgbClr val="A4A3A4"/>
          </p15:clr>
        </p15:guide>
        <p15:guide id="3" pos="642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zq" initials="lzq" lastIdx="3" clrIdx="0">
    <p:extLst>
      <p:ext uri="{19B8F6BF-5375-455C-9EA6-DF929625EA0E}">
        <p15:presenceInfo xmlns:p15="http://schemas.microsoft.com/office/powerpoint/2012/main" userId="f3b653b8ea518c2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69B2"/>
    <a:srgbClr val="595959"/>
    <a:srgbClr val="FFFFFF"/>
    <a:srgbClr val="1369B3"/>
    <a:srgbClr val="71A5D1"/>
    <a:srgbClr val="F2F2F2"/>
    <a:srgbClr val="EBAD13"/>
    <a:srgbClr val="BBBBBB"/>
    <a:srgbClr val="FAFAFA"/>
    <a:srgbClr val="006B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18" autoAdjust="0"/>
    <p:restoredTop sz="95974" autoAdjust="0"/>
  </p:normalViewPr>
  <p:slideViewPr>
    <p:cSldViewPr>
      <p:cViewPr varScale="1">
        <p:scale>
          <a:sx n="109" d="100"/>
          <a:sy n="109" d="100"/>
        </p:scale>
        <p:origin x="750" y="102"/>
      </p:cViewPr>
      <p:guideLst>
        <p:guide orient="horz" pos="4321"/>
        <p:guide pos="301"/>
        <p:guide pos="642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-3810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viewProps" Target="viewProps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notesMaster" Target="notesMasters/notesMaster1.xml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tableStyles" Target="tableStyle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43633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4185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7428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05616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88460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91931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11220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78123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76879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55147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8825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01365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94294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59433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38578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66150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9583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22875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63000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509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17762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98415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99464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84095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42210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583456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62157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352037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829048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518024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685040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991009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50092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049990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38781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59106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37200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486571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001560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849998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759400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5699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777" y="2309308"/>
            <a:ext cx="10850541" cy="899333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820" y="3566185"/>
            <a:ext cx="10850454" cy="80151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9974" y="727845"/>
            <a:ext cx="3931306" cy="1115266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7617" y="727845"/>
            <a:ext cx="6171235" cy="5404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39974" y="2240060"/>
            <a:ext cx="3931306" cy="3892636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765" indent="0">
              <a:buNone/>
              <a:defRPr sz="1000"/>
            </a:lvl8pPr>
            <a:lvl9pPr marL="3656965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820" y="5606183"/>
            <a:ext cx="10850454" cy="558268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820" y="641469"/>
            <a:ext cx="10850454" cy="4556969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4539" cy="686943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22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6787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623706"/>
            <a:ext cx="10850541" cy="899333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0" y="2202951"/>
            <a:ext cx="12190413" cy="2420263"/>
            <a:chOff x="170694" y="177982"/>
            <a:chExt cx="3936004" cy="781165"/>
          </a:xfrm>
        </p:grpSpPr>
        <p:sp>
          <p:nvSpPr>
            <p:cNvPr id="44" name="等腰三角形 43"/>
            <p:cNvSpPr/>
            <p:nvPr/>
          </p:nvSpPr>
          <p:spPr>
            <a:xfrm>
              <a:off x="1233863" y="17798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200258" y="602633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7919172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6191205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7055189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4463238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5327222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304" y="834057"/>
            <a:ext cx="10463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15" y="390618"/>
            <a:ext cx="520428" cy="274702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" name="TextBox 4"/>
          <p:cNvSpPr txBox="1"/>
          <p:nvPr userDrawn="1"/>
        </p:nvSpPr>
        <p:spPr>
          <a:xfrm>
            <a:off x="305731" y="6526138"/>
            <a:ext cx="29091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yx.ityxb.com</a:t>
            </a:r>
            <a:endParaRPr lang="zh-CN" altLang="en-US" sz="12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6794447"/>
            <a:ext cx="10631710" cy="8463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10703717" y="6794446"/>
            <a:ext cx="1486695" cy="846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42F652BD-78F8-4263-B0C9-1157D4F9FB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3518" y="294845"/>
            <a:ext cx="2595061" cy="4050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2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2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693670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98623" y="3693670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F1137BB1-9F5B-4D4F-9A56-B2F02308C4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8890" y="5045086"/>
            <a:ext cx="3952633" cy="6169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34" y="1413103"/>
            <a:ext cx="1019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7120" y="654595"/>
            <a:ext cx="575989" cy="577246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9153" y="655120"/>
            <a:ext cx="575989" cy="576197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3137" y="654595"/>
            <a:ext cx="577036" cy="577246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187" y="654595"/>
            <a:ext cx="577036" cy="577246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5170" y="654595"/>
            <a:ext cx="577036" cy="577246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0" name="等腰三角形 39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H="1" flipV="1">
            <a:off x="-766394" y="-28491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 flipH="1" flipV="1">
            <a:off x="1414174" y="635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>
            <a:off x="6086073" y="4299128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43734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0011958" y="343734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寄语(1)"/>
          <p:cNvPicPr>
            <a:picLocks noChangeAspect="1"/>
          </p:cNvPicPr>
          <p:nvPr userDrawn="1"/>
        </p:nvPicPr>
        <p:blipFill>
          <a:blip r:embed="rId2"/>
          <a:srcRect l="114" t="60287" r="-114" b="572"/>
          <a:stretch>
            <a:fillRect/>
          </a:stretch>
        </p:blipFill>
        <p:spPr>
          <a:xfrm>
            <a:off x="2480310" y="2508250"/>
            <a:ext cx="7532370" cy="165798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DD30E425-C7EA-45F0-85AD-6C51CB843BA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998" y="3789834"/>
            <a:ext cx="3952633" cy="6169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605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5357" y="6351009"/>
            <a:ext cx="3959381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254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0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Relationship Id="rId4" Type="http://schemas.openxmlformats.org/officeDocument/2006/relationships/image" Target="NUL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9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0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9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0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9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0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0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 18"/>
          <p:cNvSpPr txBox="1"/>
          <p:nvPr/>
        </p:nvSpPr>
        <p:spPr>
          <a:xfrm>
            <a:off x="2566815" y="2637706"/>
            <a:ext cx="72728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第</a:t>
            </a:r>
            <a:r>
              <a:rPr lang="en-US" altLang="zh-CN" sz="5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4</a:t>
            </a:r>
            <a:r>
              <a:rPr lang="zh-CN" altLang="en-US" sz="54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章 函数</a:t>
            </a:r>
            <a:endParaRPr lang="en-US" altLang="zh-CN" sz="5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Rectangle 4"/>
          <p:cNvSpPr txBox="1">
            <a:spLocks noChangeArrowheads="1"/>
          </p:cNvSpPr>
          <p:nvPr/>
        </p:nvSpPr>
        <p:spPr>
          <a:xfrm>
            <a:off x="2494807" y="4005858"/>
            <a:ext cx="7416824" cy="430530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《JavaScript+jQuery</a:t>
            </a:r>
            <a:r>
              <a:rPr lang="zh-CN" altLang="en-US" sz="24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交互式</a:t>
            </a:r>
            <a:r>
              <a:rPr lang="en-US" altLang="zh-CN" sz="24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Web</a:t>
            </a:r>
            <a:r>
              <a:rPr lang="zh-CN" altLang="en-US" sz="24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前端开发（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第</a:t>
            </a: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版）</a:t>
            </a: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》</a:t>
            </a:r>
            <a:endParaRPr lang="zh-CN" altLang="en-US" sz="2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481958" y="2133650"/>
            <a:ext cx="9721080" cy="688075"/>
            <a:chOff x="978872" y="1800500"/>
            <a:chExt cx="5471124" cy="515937"/>
          </a:xfrm>
        </p:grpSpPr>
        <p:sp>
          <p:nvSpPr>
            <p:cNvPr id="14" name="Pentagon 3"/>
            <p:cNvSpPr/>
            <p:nvPr/>
          </p:nvSpPr>
          <p:spPr bwMode="auto">
            <a:xfrm>
              <a:off x="978872" y="1800500"/>
              <a:ext cx="5471124" cy="515937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</a:t>
              </a:r>
              <a:r>
                <a:rPr lang="zh-CN" altLang="en-US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了解</a:t>
              </a:r>
              <a:r>
                <a:rPr lang="zh-CN" altLang="zh-CN" sz="200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函数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的概念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，能够阐述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函数的作用</a:t>
              </a:r>
            </a:p>
          </p:txBody>
        </p:sp>
        <p:sp>
          <p:nvSpPr>
            <p:cNvPr id="16" name="MH_Others_1"/>
            <p:cNvSpPr/>
            <p:nvPr/>
          </p:nvSpPr>
          <p:spPr bwMode="auto">
            <a:xfrm>
              <a:off x="985222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481958" y="3103872"/>
            <a:ext cx="9709797" cy="685961"/>
            <a:chOff x="978872" y="2570436"/>
            <a:chExt cx="5437064" cy="514351"/>
          </a:xfrm>
        </p:grpSpPr>
        <p:sp>
          <p:nvSpPr>
            <p:cNvPr id="18" name="Pentagon 5"/>
            <p:cNvSpPr/>
            <p:nvPr/>
          </p:nvSpPr>
          <p:spPr bwMode="auto">
            <a:xfrm>
              <a:off x="978872" y="2570436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</a:t>
              </a:r>
              <a:r>
                <a:rPr lang="zh-CN" altLang="zh-CN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掌握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函数的定义与调用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，能够根据实际需求在程序中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定义并调用函数</a:t>
              </a:r>
            </a:p>
          </p:txBody>
        </p:sp>
        <p:sp>
          <p:nvSpPr>
            <p:cNvPr id="19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1481958" y="4071982"/>
            <a:ext cx="9698457" cy="688077"/>
            <a:chOff x="978872" y="3338787"/>
            <a:chExt cx="5437064" cy="515938"/>
          </a:xfrm>
        </p:grpSpPr>
        <p:sp>
          <p:nvSpPr>
            <p:cNvPr id="21" name="Pentagon 6"/>
            <p:cNvSpPr/>
            <p:nvPr/>
          </p:nvSpPr>
          <p:spPr bwMode="auto">
            <a:xfrm>
              <a:off x="978872" y="3338787"/>
              <a:ext cx="5437064" cy="515938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</a:t>
              </a:r>
              <a:r>
                <a:rPr lang="zh-CN" altLang="en-US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函数参数的设置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，能够根据实际需求在程序中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设置相关参数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22" name="MH_Others_1"/>
            <p:cNvSpPr/>
            <p:nvPr/>
          </p:nvSpPr>
          <p:spPr bwMode="auto">
            <a:xfrm>
              <a:off x="985222" y="3338787"/>
              <a:ext cx="82550" cy="515938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1481958" y="5006653"/>
            <a:ext cx="9709797" cy="685961"/>
            <a:chOff x="978872" y="2570436"/>
            <a:chExt cx="5437064" cy="514351"/>
          </a:xfrm>
        </p:grpSpPr>
        <p:sp>
          <p:nvSpPr>
            <p:cNvPr id="23" name="Pentagon 5"/>
            <p:cNvSpPr/>
            <p:nvPr/>
          </p:nvSpPr>
          <p:spPr bwMode="auto">
            <a:xfrm>
              <a:off x="978872" y="2570436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</a:t>
              </a:r>
              <a:r>
                <a:rPr lang="zh-CN" altLang="en-US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函数的返回值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，能够通过函数的返回值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将函数的处理结果返回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24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69399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481958" y="2133650"/>
            <a:ext cx="9721080" cy="688075"/>
            <a:chOff x="978872" y="1800500"/>
            <a:chExt cx="5471124" cy="515937"/>
          </a:xfrm>
        </p:grpSpPr>
        <p:sp>
          <p:nvSpPr>
            <p:cNvPr id="14" name="Pentagon 3"/>
            <p:cNvSpPr/>
            <p:nvPr/>
          </p:nvSpPr>
          <p:spPr bwMode="auto">
            <a:xfrm>
              <a:off x="978872" y="1800500"/>
              <a:ext cx="5471124" cy="515937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掌握</a:t>
              </a:r>
              <a:r>
                <a:rPr lang="zh-CN" altLang="zh-CN" sz="200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函数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表达式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，能够实现函数表达式的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定义与调用</a:t>
              </a:r>
            </a:p>
          </p:txBody>
        </p:sp>
        <p:sp>
          <p:nvSpPr>
            <p:cNvPr id="16" name="MH_Others_1"/>
            <p:cNvSpPr/>
            <p:nvPr/>
          </p:nvSpPr>
          <p:spPr bwMode="auto">
            <a:xfrm>
              <a:off x="985222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481958" y="3103872"/>
            <a:ext cx="9709797" cy="685961"/>
            <a:chOff x="978872" y="2570436"/>
            <a:chExt cx="5437064" cy="514351"/>
          </a:xfrm>
        </p:grpSpPr>
        <p:sp>
          <p:nvSpPr>
            <p:cNvPr id="18" name="Pentagon 5"/>
            <p:cNvSpPr/>
            <p:nvPr/>
          </p:nvSpPr>
          <p:spPr bwMode="auto">
            <a:xfrm>
              <a:off x="978872" y="2570436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</a:t>
              </a:r>
              <a:r>
                <a:rPr lang="zh-CN" altLang="en-US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匿名函数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，能够实现匿名函数的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定义与调用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19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1481958" y="4071982"/>
            <a:ext cx="9698457" cy="688077"/>
            <a:chOff x="978872" y="3338787"/>
            <a:chExt cx="5437064" cy="515938"/>
          </a:xfrm>
        </p:grpSpPr>
        <p:sp>
          <p:nvSpPr>
            <p:cNvPr id="21" name="Pentagon 6"/>
            <p:cNvSpPr/>
            <p:nvPr/>
          </p:nvSpPr>
          <p:spPr bwMode="auto">
            <a:xfrm>
              <a:off x="978872" y="3338787"/>
              <a:ext cx="5437064" cy="515938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</a:t>
              </a:r>
              <a:r>
                <a:rPr lang="zh-CN" altLang="en-US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回调函数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，能够实现回调函数的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定义与调用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22" name="MH_Others_1"/>
            <p:cNvSpPr/>
            <p:nvPr/>
          </p:nvSpPr>
          <p:spPr bwMode="auto">
            <a:xfrm>
              <a:off x="985222" y="3338787"/>
              <a:ext cx="82550" cy="515938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1481958" y="5006653"/>
            <a:ext cx="9709797" cy="685961"/>
            <a:chOff x="978872" y="2570436"/>
            <a:chExt cx="5437064" cy="514351"/>
          </a:xfrm>
        </p:grpSpPr>
        <p:sp>
          <p:nvSpPr>
            <p:cNvPr id="23" name="Pentagon 5"/>
            <p:cNvSpPr/>
            <p:nvPr/>
          </p:nvSpPr>
          <p:spPr bwMode="auto">
            <a:xfrm>
              <a:off x="978872" y="2570436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</a:t>
              </a:r>
              <a:r>
                <a:rPr lang="zh-CN" altLang="en-US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递归函数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，能够实现递归函数的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定义与调用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24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3826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481958" y="2205658"/>
            <a:ext cx="9721080" cy="688083"/>
            <a:chOff x="978872" y="1800495"/>
            <a:chExt cx="5471124" cy="515942"/>
          </a:xfrm>
        </p:grpSpPr>
        <p:sp>
          <p:nvSpPr>
            <p:cNvPr id="14" name="Pentagon 3"/>
            <p:cNvSpPr/>
            <p:nvPr/>
          </p:nvSpPr>
          <p:spPr bwMode="auto">
            <a:xfrm>
              <a:off x="978872" y="1800495"/>
              <a:ext cx="5471124" cy="515936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熟悉</a:t>
              </a:r>
              <a:r>
                <a:rPr lang="zh-CN" altLang="zh-CN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作用域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，能够区别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全局变量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、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局部变量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和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块级</a:t>
              </a:r>
              <a:r>
                <a:rPr lang="zh-CN" altLang="zh-CN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变量</a:t>
              </a: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并且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能够归纳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什么</a:t>
              </a:r>
              <a:r>
                <a:rPr lang="zh-CN" altLang="zh-CN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是</a:t>
              </a:r>
              <a:endPara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endParaRPr>
            </a:p>
            <a:p>
              <a:pPr>
                <a:lnSpc>
                  <a:spcPct val="120000"/>
                </a:lnSpc>
                <a:defRPr/>
              </a:pP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 </a:t>
              </a:r>
              <a:r>
                <a:rPr lang="en-US" altLang="zh-CN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     </a:t>
              </a:r>
              <a:r>
                <a:rPr lang="zh-CN" altLang="zh-CN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作用域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链</a:t>
              </a:r>
            </a:p>
          </p:txBody>
        </p:sp>
        <p:sp>
          <p:nvSpPr>
            <p:cNvPr id="16" name="MH_Others_1"/>
            <p:cNvSpPr/>
            <p:nvPr/>
          </p:nvSpPr>
          <p:spPr bwMode="auto">
            <a:xfrm>
              <a:off x="985222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1481958" y="3145317"/>
            <a:ext cx="9698457" cy="688077"/>
            <a:chOff x="978872" y="3338787"/>
            <a:chExt cx="5437064" cy="515938"/>
          </a:xfrm>
        </p:grpSpPr>
        <p:sp>
          <p:nvSpPr>
            <p:cNvPr id="21" name="Pentagon 6"/>
            <p:cNvSpPr/>
            <p:nvPr/>
          </p:nvSpPr>
          <p:spPr bwMode="auto">
            <a:xfrm>
              <a:off x="978872" y="3338787"/>
              <a:ext cx="5437064" cy="515938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</a:t>
              </a:r>
              <a:r>
                <a:rPr lang="zh-CN" altLang="en-US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闭包</a:t>
              </a:r>
              <a:r>
                <a:rPr lang="zh-CN" altLang="zh-CN" sz="200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函数</a:t>
              </a:r>
              <a:r>
                <a:rPr lang="zh-CN" altLang="zh-CN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能够实现闭包函数的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定义与调用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22" name="MH_Others_1"/>
            <p:cNvSpPr/>
            <p:nvPr/>
          </p:nvSpPr>
          <p:spPr bwMode="auto">
            <a:xfrm>
              <a:off x="985222" y="3338787"/>
              <a:ext cx="82550" cy="515938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1481958" y="4079988"/>
            <a:ext cx="9709797" cy="685961"/>
            <a:chOff x="978872" y="2570436"/>
            <a:chExt cx="5437064" cy="514351"/>
          </a:xfrm>
        </p:grpSpPr>
        <p:sp>
          <p:nvSpPr>
            <p:cNvPr id="23" name="Pentagon 5"/>
            <p:cNvSpPr/>
            <p:nvPr/>
          </p:nvSpPr>
          <p:spPr bwMode="auto">
            <a:xfrm>
              <a:off x="978872" y="2570436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熟悉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预解析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，能够说明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JavaScript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代码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如何进行预解析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24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67697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671292" y="572758"/>
            <a:ext cx="3911746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章节概述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Summary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/>
        </p:nvSpPr>
        <p:spPr bwMode="auto">
          <a:xfrm>
            <a:off x="1054646" y="2493690"/>
            <a:ext cx="10081120" cy="1969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封装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一些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复杂的代码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或可以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重复使用的代码段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等。例如，编写程序计算班级学生成绩的平均分时，如果每计算一个学生的平均分，都编写一段功能相同的代码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非常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麻烦。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此时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使用函数将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计算平均分的代码进行封装，在使用时直接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本章将详细讲解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中的函数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3119265" y="1939805"/>
            <a:ext cx="1192190" cy="613062"/>
            <a:chOff x="2215144" y="982844"/>
            <a:chExt cx="1244730" cy="842780"/>
          </a:xfrm>
        </p:grpSpPr>
        <p:sp>
          <p:nvSpPr>
            <p:cNvPr id="22" name="平行四边形 21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文本框 9"/>
            <p:cNvSpPr txBox="1"/>
            <p:nvPr/>
          </p:nvSpPr>
          <p:spPr>
            <a:xfrm>
              <a:off x="2393075" y="1005670"/>
              <a:ext cx="1066799" cy="803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4.1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3119265" y="2807120"/>
            <a:ext cx="1192190" cy="618406"/>
            <a:chOff x="2215144" y="2026500"/>
            <a:chExt cx="1244730" cy="850129"/>
          </a:xfrm>
        </p:grpSpPr>
        <p:sp>
          <p:nvSpPr>
            <p:cNvPr id="25" name="平行四边形 24"/>
            <p:cNvSpPr/>
            <p:nvPr/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6" name="文本框 10"/>
            <p:cNvSpPr txBox="1"/>
            <p:nvPr/>
          </p:nvSpPr>
          <p:spPr>
            <a:xfrm>
              <a:off x="2393075" y="2026500"/>
              <a:ext cx="1066799" cy="803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4.2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3119265" y="3707900"/>
            <a:ext cx="1192190" cy="614525"/>
            <a:chOff x="2215144" y="3084852"/>
            <a:chExt cx="1244730" cy="844793"/>
          </a:xfrm>
        </p:grpSpPr>
        <p:sp>
          <p:nvSpPr>
            <p:cNvPr id="28" name="平行四边形 27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9" name="文本框 11"/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4.3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4024817" y="1917626"/>
            <a:ext cx="5142331" cy="613062"/>
            <a:chOff x="4315150" y="953426"/>
            <a:chExt cx="3857250" cy="540057"/>
          </a:xfrm>
        </p:grpSpPr>
        <p:sp>
          <p:nvSpPr>
            <p:cNvPr id="31" name="矩形 30"/>
            <p:cNvSpPr/>
            <p:nvPr/>
          </p:nvSpPr>
          <p:spPr>
            <a:xfrm>
              <a:off x="4830201" y="1057390"/>
              <a:ext cx="2827147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初识</a:t>
              </a:r>
              <a:r>
                <a:rPr lang="zh-CN" altLang="en-US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函数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endParaRPr>
            </a:p>
          </p:txBody>
        </p:sp>
        <p:sp>
          <p:nvSpPr>
            <p:cNvPr id="32" name="平行四边形 31"/>
            <p:cNvSpPr/>
            <p:nvPr/>
          </p:nvSpPr>
          <p:spPr>
            <a:xfrm>
              <a:off x="4315150" y="953426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4024817" y="2790294"/>
            <a:ext cx="5142331" cy="613062"/>
            <a:chOff x="4315150" y="1647579"/>
            <a:chExt cx="3857250" cy="540057"/>
          </a:xfrm>
        </p:grpSpPr>
        <p:sp>
          <p:nvSpPr>
            <p:cNvPr id="34" name="矩形 33"/>
            <p:cNvSpPr/>
            <p:nvPr/>
          </p:nvSpPr>
          <p:spPr>
            <a:xfrm>
              <a:off x="4830201" y="1751543"/>
              <a:ext cx="2827147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函数</a:t>
              </a:r>
              <a:r>
                <a:rPr lang="zh-CN" altLang="en-US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进阶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endParaRPr>
            </a:p>
          </p:txBody>
        </p:sp>
        <p:sp>
          <p:nvSpPr>
            <p:cNvPr id="35" name="平行四边形 34"/>
            <p:cNvSpPr/>
            <p:nvPr/>
          </p:nvSpPr>
          <p:spPr>
            <a:xfrm>
              <a:off x="4315150" y="1647579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4024817" y="3686247"/>
            <a:ext cx="5142331" cy="613062"/>
            <a:chOff x="4315150" y="2341731"/>
            <a:chExt cx="3857250" cy="540057"/>
          </a:xfrm>
        </p:grpSpPr>
        <p:sp>
          <p:nvSpPr>
            <p:cNvPr id="37" name="矩形 36"/>
            <p:cNvSpPr/>
            <p:nvPr/>
          </p:nvSpPr>
          <p:spPr>
            <a:xfrm>
              <a:off x="4830201" y="2445695"/>
              <a:ext cx="2827146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作用域</a:t>
              </a:r>
              <a:endPara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endParaRPr>
            </a:p>
          </p:txBody>
        </p:sp>
        <p:sp>
          <p:nvSpPr>
            <p:cNvPr id="38" name="平行四边形 37"/>
            <p:cNvSpPr/>
            <p:nvPr/>
          </p:nvSpPr>
          <p:spPr>
            <a:xfrm>
              <a:off x="4315150" y="2341731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CB376FFE-0A38-421F-8A6D-2DEDEBD8EEF3}"/>
              </a:ext>
            </a:extLst>
          </p:cNvPr>
          <p:cNvGrpSpPr/>
          <p:nvPr/>
        </p:nvGrpSpPr>
        <p:grpSpPr>
          <a:xfrm>
            <a:off x="3108578" y="4617156"/>
            <a:ext cx="1192190" cy="614525"/>
            <a:chOff x="2215144" y="3084852"/>
            <a:chExt cx="1244730" cy="844793"/>
          </a:xfrm>
        </p:grpSpPr>
        <p:sp>
          <p:nvSpPr>
            <p:cNvPr id="40" name="平行四边形 39">
              <a:extLst>
                <a:ext uri="{FF2B5EF4-FFF2-40B4-BE49-F238E27FC236}">
                  <a16:creationId xmlns:a16="http://schemas.microsoft.com/office/drawing/2014/main" id="{388C74B8-A6C9-434C-9F0F-CD30735A046E}"/>
                </a:ext>
              </a:extLst>
            </p:cNvPr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1" name="文本框 11">
              <a:extLst>
                <a:ext uri="{FF2B5EF4-FFF2-40B4-BE49-F238E27FC236}">
                  <a16:creationId xmlns:a16="http://schemas.microsoft.com/office/drawing/2014/main" id="{C9AEB00F-783C-4F0C-ABD8-86838E547BFB}"/>
                </a:ext>
              </a:extLst>
            </p:cNvPr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4.4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332EB411-C9AC-44C7-A5C7-EDF08E27D459}"/>
              </a:ext>
            </a:extLst>
          </p:cNvPr>
          <p:cNvGrpSpPr/>
          <p:nvPr/>
        </p:nvGrpSpPr>
        <p:grpSpPr>
          <a:xfrm>
            <a:off x="4014130" y="4595502"/>
            <a:ext cx="5142331" cy="613062"/>
            <a:chOff x="4315150" y="2341731"/>
            <a:chExt cx="3857250" cy="540057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EB4C37FC-9E76-4047-8F7E-664EC06978D2}"/>
                </a:ext>
              </a:extLst>
            </p:cNvPr>
            <p:cNvSpPr/>
            <p:nvPr/>
          </p:nvSpPr>
          <p:spPr>
            <a:xfrm>
              <a:off x="4830201" y="2445695"/>
              <a:ext cx="2827146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闭包</a:t>
              </a:r>
              <a:r>
                <a:rPr lang="zh-CN" altLang="en-US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函数</a:t>
              </a:r>
              <a:endPara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endParaRPr>
            </a:p>
          </p:txBody>
        </p:sp>
        <p:sp>
          <p:nvSpPr>
            <p:cNvPr id="44" name="平行四边形 43">
              <a:extLst>
                <a:ext uri="{FF2B5EF4-FFF2-40B4-BE49-F238E27FC236}">
                  <a16:creationId xmlns:a16="http://schemas.microsoft.com/office/drawing/2014/main" id="{C1AC45FF-1323-43E6-81E4-96785288BE31}"/>
                </a:ext>
              </a:extLst>
            </p:cNvPr>
            <p:cNvSpPr/>
            <p:nvPr/>
          </p:nvSpPr>
          <p:spPr>
            <a:xfrm>
              <a:off x="4315150" y="2341731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CB376FFE-0A38-421F-8A6D-2DEDEBD8EEF3}"/>
              </a:ext>
            </a:extLst>
          </p:cNvPr>
          <p:cNvGrpSpPr/>
          <p:nvPr/>
        </p:nvGrpSpPr>
        <p:grpSpPr>
          <a:xfrm>
            <a:off x="3119265" y="5536665"/>
            <a:ext cx="1192190" cy="614525"/>
            <a:chOff x="2215144" y="3084852"/>
            <a:chExt cx="1244730" cy="844793"/>
          </a:xfrm>
        </p:grpSpPr>
        <p:sp>
          <p:nvSpPr>
            <p:cNvPr id="46" name="平行四边形 45">
              <a:extLst>
                <a:ext uri="{FF2B5EF4-FFF2-40B4-BE49-F238E27FC236}">
                  <a16:creationId xmlns:a16="http://schemas.microsoft.com/office/drawing/2014/main" id="{388C74B8-A6C9-434C-9F0F-CD30735A046E}"/>
                </a:ext>
              </a:extLst>
            </p:cNvPr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7" name="文本框 11">
              <a:extLst>
                <a:ext uri="{FF2B5EF4-FFF2-40B4-BE49-F238E27FC236}">
                  <a16:creationId xmlns:a16="http://schemas.microsoft.com/office/drawing/2014/main" id="{C9AEB00F-783C-4F0C-ABD8-86838E547BFB}"/>
                </a:ext>
              </a:extLst>
            </p:cNvPr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4.5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332EB411-C9AC-44C7-A5C7-EDF08E27D459}"/>
              </a:ext>
            </a:extLst>
          </p:cNvPr>
          <p:cNvGrpSpPr/>
          <p:nvPr/>
        </p:nvGrpSpPr>
        <p:grpSpPr>
          <a:xfrm>
            <a:off x="4024817" y="5515011"/>
            <a:ext cx="5142331" cy="613062"/>
            <a:chOff x="4315150" y="2341731"/>
            <a:chExt cx="3857250" cy="540057"/>
          </a:xfrm>
        </p:grpSpPr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EB4C37FC-9E76-4047-8F7E-664EC06978D2}"/>
                </a:ext>
              </a:extLst>
            </p:cNvPr>
            <p:cNvSpPr/>
            <p:nvPr/>
          </p:nvSpPr>
          <p:spPr>
            <a:xfrm>
              <a:off x="4830201" y="2445695"/>
              <a:ext cx="2827146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预解析</a:t>
              </a:r>
              <a:endPara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endParaRPr>
            </a:p>
          </p:txBody>
        </p:sp>
        <p:sp>
          <p:nvSpPr>
            <p:cNvPr id="50" name="平行四边形 49">
              <a:extLst>
                <a:ext uri="{FF2B5EF4-FFF2-40B4-BE49-F238E27FC236}">
                  <a16:creationId xmlns:a16="http://schemas.microsoft.com/office/drawing/2014/main" id="{C1AC45FF-1323-43E6-81E4-96785288BE31}"/>
                </a:ext>
              </a:extLst>
            </p:cNvPr>
            <p:cNvSpPr/>
            <p:nvPr/>
          </p:nvSpPr>
          <p:spPr>
            <a:xfrm>
              <a:off x="4315150" y="2341731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6741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pPr>
              <a:buClrTx/>
              <a:buSzTx/>
              <a:buFontTx/>
            </a:pPr>
            <a:r>
              <a:rPr lang="zh-CN" altLang="en-US" sz="48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初识</a:t>
            </a:r>
            <a:r>
              <a:rPr lang="zh-CN" altLang="en-US" sz="4800" b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函数</a:t>
            </a:r>
            <a:endParaRPr lang="zh-CN" altLang="en-US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</a:t>
            </a:r>
            <a:r>
              <a:rPr lang="en-US" altLang="en-GB" sz="6600" b="1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.1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4850" y="3709119"/>
            <a:ext cx="5429568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了解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</a:t>
            </a: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概念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能够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阐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述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</a:t>
            </a: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作用</a:t>
            </a:r>
            <a:endParaRPr lang="zh-CN" altLang="zh-CN" sz="200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4.1.1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什么是函数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0711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组合 2"/>
          <p:cNvGrpSpPr/>
          <p:nvPr/>
        </p:nvGrpSpPr>
        <p:grpSpPr>
          <a:xfrm>
            <a:off x="4899446" y="1985402"/>
            <a:ext cx="6740375" cy="3417567"/>
            <a:chOff x="4899446" y="1985402"/>
            <a:chExt cx="6740375" cy="3417567"/>
          </a:xfrm>
        </p:grpSpPr>
        <p:sp>
          <p:nvSpPr>
            <p:cNvPr id="9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6560850" y="323998"/>
              <a:ext cx="3417567" cy="6740375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0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3780" y="2078982"/>
              <a:ext cx="6102025" cy="33239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200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函数</a:t>
              </a:r>
              <a:r>
                <a:rPr lang="zh-CN" altLang="zh-CN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</a:t>
              </a:r>
              <a:r>
                <a:rPr lang="zh-CN" altLang="en-US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指</a:t>
              </a:r>
              <a:r>
                <a:rPr lang="zh-CN" altLang="zh-CN" sz="200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实现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某个特定功能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的一段代码，相当于将包含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一条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或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多条语句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代码块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包裹起来，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用户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在使用时只需关心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参数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返回值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，就能实现特定的功能。对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开发人员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来说，使用函数实现某个功能时，可以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把精力放在要实现的具体功能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上，而不用研究函数内的</a:t>
              </a:r>
              <a:r>
                <a:rPr lang="zh-CN" altLang="zh-CN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代码</a:t>
              </a:r>
              <a:r>
                <a:rPr lang="zh-CN" altLang="en-US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</a:t>
              </a:r>
              <a:r>
                <a:rPr lang="zh-CN" altLang="zh-CN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如何</a:t>
              </a:r>
              <a:r>
                <a:rPr lang="zh-CN" altLang="en-US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编写的</a:t>
              </a:r>
              <a:r>
                <a:rPr lang="zh-CN" altLang="zh-CN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函数的优势在于可以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提高代码的复用性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降低程序的维护难度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</p:grpSp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4.1.1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什么是函数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03694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96" y="1607165"/>
            <a:ext cx="3715858" cy="4006159"/>
          </a:xfrm>
          <a:prstGeom prst="rect">
            <a:avLst/>
          </a:prstGeom>
        </p:spPr>
      </p:pic>
      <p:sp>
        <p:nvSpPr>
          <p:cNvPr id="11" name="Shape 2015"/>
          <p:cNvSpPr/>
          <p:nvPr/>
        </p:nvSpPr>
        <p:spPr>
          <a:xfrm>
            <a:off x="4583038" y="2133650"/>
            <a:ext cx="6768752" cy="3312368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799062" y="2358673"/>
            <a:ext cx="633670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中，函数分为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内置函数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自定义函数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。内置函数是指可以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直接使用的函数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，例如，使用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parseInt()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函数能够实现返回解析字符串后的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整数值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。自定义函数是指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实现某个特定功能的函数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。自定义函数在使用之前首先要定义，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定义后才能调用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，在实现功能时可以调用相对应的函数。</a:t>
            </a: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4.1.1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什么是函数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52804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4850" y="3636000"/>
            <a:ext cx="54295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的定义与调用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，能够根据实际需求在程序中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定义并调用函数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4.1.2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函数的定义与调用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09984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组合 2"/>
          <p:cNvGrpSpPr/>
          <p:nvPr/>
        </p:nvGrpSpPr>
        <p:grpSpPr>
          <a:xfrm>
            <a:off x="4899447" y="1985403"/>
            <a:ext cx="6380335" cy="2164471"/>
            <a:chOff x="4899446" y="1985402"/>
            <a:chExt cx="6740375" cy="3417567"/>
          </a:xfrm>
        </p:grpSpPr>
        <p:sp>
          <p:nvSpPr>
            <p:cNvPr id="9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6560850" y="323998"/>
              <a:ext cx="3417567" cy="6740375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0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5896" y="2446867"/>
              <a:ext cx="5917531" cy="24163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开发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一个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功能复杂的模块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时，可能需要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多次用到相同的代码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，这时可以使用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自定义函数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将相同的代码封装，在需要使用时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直接调用</a:t>
              </a:r>
              <a:r>
                <a:rPr lang="zh-CN" altLang="zh-CN" sz="200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函数</a:t>
              </a:r>
              <a:r>
                <a:rPr lang="zh-CN" altLang="zh-CN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4.1.2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函数的定义与调用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24542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0630" y="1222762"/>
            <a:ext cx="8442862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中可以根据实际需求定义函数，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定义函数的语法格式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如下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891104" y="2255010"/>
            <a:ext cx="8433600" cy="147732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function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函数名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([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参数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1,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参数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2, …]) {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函数体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33084" y="4293890"/>
            <a:ext cx="10149639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由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上述语法格式可知，函数的定义是由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function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关键字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函数名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参数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函数体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组成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4.1.2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函数的定义与调用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94895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638" y="1413570"/>
            <a:ext cx="5269700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关于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函数的语法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格式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的具体介绍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4.1.2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函数的定义与调用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54646" y="2349674"/>
            <a:ext cx="1022513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"/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function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：定义函数的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关键字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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函数名：一般由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字母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数字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下画线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$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组成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。需要注意的是，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函数名不能以数字开头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，且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不能是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中的关键字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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参数：是外界传递给函数的值，此时的参数称为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形参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，它是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可选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的，多个参数之间使用逗号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,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分隔，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[]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用于在语法格式中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标识可选参数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，实际编写代码时不用写“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[]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”。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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函数体：由函数内所有代码组成的整体，专门用于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实现特定功能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610166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0630" y="1566023"/>
            <a:ext cx="10225136" cy="1508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完函数后，如果想要在程序中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调用函数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，只需要通过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“函数名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的方式调用即可，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小括号中可以传入参数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，函数调用的语法格式如下。</a:t>
            </a:r>
          </a:p>
          <a:p>
            <a:pPr algn="just">
              <a:lnSpc>
                <a:spcPct val="150000"/>
              </a:lnSpc>
            </a:pP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990750" y="2970971"/>
            <a:ext cx="8433600" cy="499624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名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([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参数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1,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参数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2, …]) 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82638" y="3838537"/>
            <a:ext cx="993710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语法格式中，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参数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传递给函数的值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，也称为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([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参数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1, 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参数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2, …])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实参列表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，实参个数可以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0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或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多个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。通常，函数的实参列表与形参列表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顺序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一致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当函数体内不需要参数时，调用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可以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不传参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4.1.2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函数的定义与调用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25217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文本框 43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1148940" y="2118509"/>
            <a:ext cx="696773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需要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说明的是，在程序中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定义函数和调用函数的编写顺序不分前后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pic>
        <p:nvPicPr>
          <p:cNvPr id="7" name="Picture 2" descr="C:\Users\admin\Desktop\QQ截图20201109163646.png">
            <a:extLst>
              <a:ext uri="{FF2B5EF4-FFF2-40B4-BE49-F238E27FC236}">
                <a16:creationId xmlns:a16="http://schemas.microsoft.com/office/drawing/2014/main" id="{65FF40EC-B1D1-D144-84F0-26C0514AFB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16"/>
          <a:stretch/>
        </p:blipFill>
        <p:spPr bwMode="auto">
          <a:xfrm flipH="1">
            <a:off x="8410575" y="2103928"/>
            <a:ext cx="2946548" cy="3486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hape 2015"/>
          <p:cNvSpPr/>
          <p:nvPr/>
        </p:nvSpPr>
        <p:spPr>
          <a:xfrm>
            <a:off x="1016000" y="1750881"/>
            <a:ext cx="7233620" cy="1750921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4.1.2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函数的定义与调用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99750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0710" y="1288221"/>
            <a:ext cx="8498621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通过代码演示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函数的定义与</a:t>
            </a: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调用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918742" y="2349674"/>
            <a:ext cx="8433600" cy="286232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定义函数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function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sayHello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 {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console.log('hello');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调用函数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sayHello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();		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hello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4.1.2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函数的定义与调用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39968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638" y="1403839"/>
            <a:ext cx="10441160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演示一个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自定义函数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的使用场景。假设程序中有两处代码，分别用于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求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1~100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50~100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累加和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。其中，求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1~100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的累加和的示例代码如下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986418" y="2925738"/>
            <a:ext cx="8433600" cy="240065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sum = 0;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for (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1;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&lt;= 100;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++) {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sum +=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console.log(sum);	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5050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4.1.2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函数的定义与调用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3598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2678" y="1300698"/>
            <a:ext cx="4608512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求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50~100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的累加和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的示例代码如下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414686" y="2205658"/>
            <a:ext cx="8433600" cy="240065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sum = 0;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for (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50;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&lt;= 100; 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++) {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sum +=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console.log(sum);	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3825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4.1.2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函数的定义与调用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06308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691" y="909514"/>
            <a:ext cx="10280107" cy="13696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对比求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1~100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50~100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的累加和的示例代码可以发现</a:t>
            </a: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累加的数字范围可能会根据需求而改变，而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累加的功能代码本质是相同的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。此时使用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自定义函数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可以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将</a:t>
            </a:r>
            <a:r>
              <a:rPr lang="zh-CN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相同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的代码进行封装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，提高代码的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复用性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，示例代码如下</a:t>
            </a: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2062758" y="2349674"/>
            <a:ext cx="8433600" cy="4154984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定义一个</a:t>
            </a:r>
            <a:r>
              <a:rPr lang="en-US" altLang="zh-CN" sz="16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getSum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，将代码写在大括号“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{ }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”中</a:t>
            </a: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function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getSum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(num1, num2) {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sum = 0;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for (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num1;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&lt;= num2; </a:t>
            </a:r>
            <a:r>
              <a:rPr lang="en-US" altLang="zh-CN" sz="16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++) {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sum +=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}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console.log(sum);                       //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函数运行结束后，将结果输出到控制台</a:t>
            </a: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调用</a:t>
            </a:r>
            <a:r>
              <a:rPr lang="en-US" altLang="zh-CN" sz="16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getSum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，在调用时需要写上小括号，并在小括号里传入参数</a:t>
            </a:r>
          </a:p>
          <a:p>
            <a:pPr lvl="1">
              <a:lnSpc>
                <a:spcPct val="150000"/>
              </a:lnSpc>
            </a:pP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getSum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(1, 100);                           //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5050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getSum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(50, 100);                         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3825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4.1.2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函数的定义与调用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38495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4850" y="3636000"/>
            <a:ext cx="54295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参数的设置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，能够根据实际需求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在程序中设置相关参数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4.1.3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函数的参数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82263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组合 2"/>
          <p:cNvGrpSpPr/>
          <p:nvPr/>
        </p:nvGrpSpPr>
        <p:grpSpPr>
          <a:xfrm>
            <a:off x="4899447" y="1985403"/>
            <a:ext cx="6380335" cy="2020455"/>
            <a:chOff x="4899446" y="1985402"/>
            <a:chExt cx="6740375" cy="3417567"/>
          </a:xfrm>
        </p:grpSpPr>
        <p:sp>
          <p:nvSpPr>
            <p:cNvPr id="9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6560850" y="323998"/>
              <a:ext cx="3417567" cy="6740375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0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8004" y="2418124"/>
              <a:ext cx="5841460" cy="24988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在函数</a:t>
              </a:r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体</a:t>
              </a:r>
              <a:r>
                <a:rPr lang="zh-CN" altLang="zh-CN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，当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某些值不能确定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时，可以通过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函数的参数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从外部</a:t>
              </a:r>
              <a:r>
                <a:rPr lang="zh-CN" altLang="zh-CN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接收</a:t>
              </a:r>
              <a:r>
                <a:rPr lang="zh-CN" altLang="en-US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相应的值</a:t>
              </a:r>
              <a:r>
                <a:rPr lang="zh-CN" altLang="zh-CN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函数可以通过</a:t>
              </a:r>
              <a:r>
                <a:rPr lang="zh-CN" altLang="zh-CN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传入</a:t>
              </a:r>
              <a:r>
                <a:rPr lang="zh-CN" altLang="en-US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</a:t>
              </a:r>
              <a:r>
                <a:rPr lang="zh-CN" altLang="zh-CN" sz="200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不同参数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实现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不同的操作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</p:grpSp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4.1.3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函数的参数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35973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96" y="1607165"/>
            <a:ext cx="3715858" cy="4006159"/>
          </a:xfrm>
          <a:prstGeom prst="rect">
            <a:avLst/>
          </a:prstGeom>
        </p:spPr>
      </p:pic>
      <p:sp>
        <p:nvSpPr>
          <p:cNvPr id="11" name="Shape 2015"/>
          <p:cNvSpPr/>
          <p:nvPr/>
        </p:nvSpPr>
        <p:spPr>
          <a:xfrm>
            <a:off x="4583038" y="2133650"/>
            <a:ext cx="6768752" cy="2376264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799062" y="2358673"/>
            <a:ext cx="633670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的参数分为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形参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实参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，在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定义函数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时，可以在函数名后面的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小括号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添加参数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，这些参数被称为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形参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。在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调用函数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时，也需要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传递相应的参数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，这些参数被称为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实参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4.1.3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函数的参数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51556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文本框 43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1148940" y="1989634"/>
            <a:ext cx="696773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形参是形式上的参数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，由于在定义函数时，函数还没有被调用，所以无法确定具体会传递什么样的值。而函数的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实参是实际上的参数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，当函数被调用时，实参的值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就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确定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7" name="Picture 2" descr="C:\Users\admin\Desktop\QQ截图20201109163646.png">
            <a:extLst>
              <a:ext uri="{FF2B5EF4-FFF2-40B4-BE49-F238E27FC236}">
                <a16:creationId xmlns:a16="http://schemas.microsoft.com/office/drawing/2014/main" id="{65FF40EC-B1D1-D144-84F0-26C0514AFB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16"/>
          <a:stretch/>
        </p:blipFill>
        <p:spPr bwMode="auto">
          <a:xfrm flipH="1">
            <a:off x="8410575" y="2103928"/>
            <a:ext cx="2946548" cy="3486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hape 2015"/>
          <p:cNvSpPr/>
          <p:nvPr/>
        </p:nvSpPr>
        <p:spPr>
          <a:xfrm>
            <a:off x="1016000" y="1750881"/>
            <a:ext cx="7233620" cy="2398993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4.1.3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函数的参数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97673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638" y="1197546"/>
            <a:ext cx="8433601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形参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和实参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的语法格式如下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839747" y="2061642"/>
            <a:ext cx="8433600" cy="193899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function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函数名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(parameter1, parameter2, …) {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函数体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函数名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(argument1, argument2, …)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4.1.3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函数的参数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43691" y="4279959"/>
            <a:ext cx="948801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上述语法格式中，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parameter1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parameter2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形参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argument1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argument2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实参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。形参和实参可以有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多个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，各参数之间使用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逗号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分隔。需要说明的是，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在定义函数时可以不传递参数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60882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638" y="1155333"/>
            <a:ext cx="8426613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通过代码演示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函数的参数的</a:t>
            </a: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839747" y="2139959"/>
            <a:ext cx="8433600" cy="193899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function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fruit(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arg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 {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console.log(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arg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fruit ('apple'); 		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apple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4.1.3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函数的参数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43691" y="4365898"/>
            <a:ext cx="992006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在上述示例代码中，定义了一个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fruit()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arg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是该函数的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形参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，类似于一个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变量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，当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fruit()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函数被调用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时，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arg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形参的值就是调用函数时传入的值，即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apple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172107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0630" y="1269554"/>
            <a:ext cx="8498621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通过代码演示如何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使用函数求任意两个数的</a:t>
            </a: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乘积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846734" y="2133650"/>
            <a:ext cx="8433600" cy="240065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function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getProduct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(num01, num02) {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console.log(num01 * num02);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getProduct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(3, 4);	 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12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getProduct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(6, 7);	 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42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4.1.3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函数的参数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42112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96" y="1607165"/>
            <a:ext cx="3715858" cy="4006159"/>
          </a:xfrm>
          <a:prstGeom prst="rect">
            <a:avLst/>
          </a:prstGeom>
        </p:spPr>
      </p:pic>
      <p:sp>
        <p:nvSpPr>
          <p:cNvPr id="11" name="Shape 2015"/>
          <p:cNvSpPr/>
          <p:nvPr/>
        </p:nvSpPr>
        <p:spPr>
          <a:xfrm>
            <a:off x="4583038" y="2133650"/>
            <a:ext cx="6768752" cy="2880320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799062" y="2358673"/>
            <a:ext cx="633670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形参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实参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数量</a:t>
            </a: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可以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不相同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。当实参的数量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多于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形参的数量时，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函数可以正常运行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，多余的实参没有形参接收，会被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忽略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；当实参的数量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少于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形参的数量时，多余的形参类似于一个已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声明未赋值的变量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，其值为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undefined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4.1.3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函数的参数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19564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6306" y="1164134"/>
            <a:ext cx="8498621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通过代码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演示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函数参数的数量问题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839747" y="2037093"/>
            <a:ext cx="8433600" cy="240065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function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getProduct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(num01, num02) {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console.log(num01, num02);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getProduct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(7, 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8, 9);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	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7 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8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getProduct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(5);		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5 undefined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4.1.3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函数的参数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270670" y="4725938"/>
            <a:ext cx="9002677" cy="9612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从上述示例代码可以看出，当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实参数量多于形参数量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时，函数能够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正常运行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；当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实参数量少于形参数量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时，多余的形参的值为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undefined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335034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638" y="1296120"/>
            <a:ext cx="907300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当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不确定函数中接收到多少个实参时，可以使用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arguments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获取所有实参，示例代码如下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016113" y="2565698"/>
            <a:ext cx="9937104" cy="286232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function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fn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 {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console.log(arguments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       	 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Arguments(3) [1, 2, 3, …]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console.log(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arguments.length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	 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console.log(arguments[1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]);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      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fn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(1, 2, 3);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4.1.3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函数的参数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18812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924755"/>
            <a:ext cx="10060292" cy="954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编写一个</a:t>
            </a:r>
            <a:r>
              <a:rPr lang="en-US" altLang="zh-CN" sz="18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getMax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，该函数可以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接收任意数量的参数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，使用该函数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求所有参数中的最大值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，并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将最大</a:t>
            </a:r>
            <a:r>
              <a:rPr lang="zh-CN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值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</a:t>
            </a: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示例代码如下</a:t>
            </a: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2113938" y="1878858"/>
            <a:ext cx="7941708" cy="461664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function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getMax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 {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max = arguments[0];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for (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1;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&lt;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arguments.length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;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++) {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if (arguments[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] &gt; max) {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  max = arguments[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];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}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}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console.log(max);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getMax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(11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, 22, 33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	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	//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33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getMax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(10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, 20, 30, 40, 50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	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	//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50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getMax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(43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, 19, 67, 89, 30, 29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	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	//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89 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4.1.3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函数的参数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3305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4850" y="3636000"/>
            <a:ext cx="5429568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的返回值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，能够通过函数的返回值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将函数的处理结果返回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4.1.4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函数的返回值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26822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918742" y="2925738"/>
            <a:ext cx="8433600" cy="147732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function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函数名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 {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return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需要返回的值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4.1.4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函数的返回值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矩形 5">
            <a:extLst>
              <a:ext uri="{FF2B5EF4-FFF2-40B4-BE49-F238E27FC236}">
                <a16:creationId xmlns:a16="http://schemas.microsoft.com/office/drawing/2014/main" id="{8C22BF7A-4BC1-4144-9B36-68D1715B11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9388" y="1449590"/>
            <a:ext cx="9780354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调用函数后需要返回函数的结果，在函数体中可以使用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return</a:t>
            </a: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关键字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，返回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结果称为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返回值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函数返回值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的语法格式如下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03099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4.1.4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函数的返回值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403855" y="1068354"/>
            <a:ext cx="7270744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下面通过代码演示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函数的返回值的</a:t>
            </a: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486694" y="1896508"/>
            <a:ext cx="8433600" cy="378565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function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getResult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 {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return 123456;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通过变量接收返回值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result =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getResult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console.log(result);      		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123456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直接将函数的返回值输出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getResult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()); 		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123456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58643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4.1.4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函数的返回值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270670" y="1341562"/>
            <a:ext cx="957706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getResult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函数没有使用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return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返回一个值，则调用函数后获取到的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undefined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，示例代码如下。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630710" y="2781722"/>
            <a:ext cx="8433600" cy="193899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function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getResult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 {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直接将函数的返回值输出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getResult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()); 		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undefined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04666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4850" y="3636000"/>
            <a:ext cx="5429568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函数的综合应用的案例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编写代码实现案例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3" name="Title 1"/>
          <p:cNvSpPr txBox="1"/>
          <p:nvPr/>
        </p:nvSpPr>
        <p:spPr>
          <a:xfrm>
            <a:off x="1143690" y="266995"/>
            <a:ext cx="444745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4.1.5	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函数的综合应用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015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143690" y="1115504"/>
            <a:ext cx="4231436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使用函数求任意两个数的最大值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9803" y="2097380"/>
            <a:ext cx="9704044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编写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一个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getMax()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函数，该函数接收两个参数，分别是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num01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num02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，表示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两个数字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。收到参数后，函数会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比较这两个数的大小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，并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返回较大的</a:t>
            </a: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值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1143690" y="266995"/>
            <a:ext cx="444745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4.1.5	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函数的综合应用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75507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 txBox="1"/>
          <p:nvPr/>
        </p:nvSpPr>
        <p:spPr>
          <a:xfrm>
            <a:off x="1143690" y="266995"/>
            <a:ext cx="444745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4.1.5	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函数的综合应用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2422798" y="3104479"/>
            <a:ext cx="8007139" cy="147732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function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getMax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(num01, num02) {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return num01 &gt; num02 ? num01 : num02;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73684" y="2205658"/>
            <a:ext cx="945802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三元表达式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进行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简化</a:t>
            </a:r>
            <a:r>
              <a:rPr lang="zh-CN" altLang="en-US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使用函数求任意两个数的最大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值中的代码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具体代码如下。</a:t>
            </a:r>
            <a:endParaRPr lang="zh-CN" altLang="en-US" sz="20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143690" y="1115504"/>
            <a:ext cx="4231436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使用函数求任意两个数的最大值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85463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143690" y="1115504"/>
            <a:ext cx="4591476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使用函数求任意一个数组中的最大值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4752" y="2196951"/>
            <a:ext cx="9001000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编写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一个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getArrMax()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函数，利用该函数求数组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[13, 68, 79, 92, 83]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中的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最大</a:t>
            </a: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值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1143690" y="266995"/>
            <a:ext cx="444745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4.1.5	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函数的综合应用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143690" y="3357786"/>
            <a:ext cx="3295332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return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提前终止函数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04752" y="4119808"/>
            <a:ext cx="905597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在函数中，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return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语句后的代码不会被运行。例如，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前面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getMax()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函数中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判断两个参数是否都是数字型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，只要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其中一个参数不是数字型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，就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提前返回</a:t>
            </a:r>
            <a:r>
              <a:rPr lang="en-US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NaN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en-US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72336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143690" y="1115504"/>
            <a:ext cx="3514332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return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返回数组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636" y="2112943"/>
            <a:ext cx="9217024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实际开发中，当函数需要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返回多个值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时，可以通过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数组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实现，即将需要返回的多个值写到数组中，作为一个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整体</a:t>
            </a: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返回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1143690" y="266995"/>
            <a:ext cx="444745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4.1.5	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函数的综合应用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126654" y="3573810"/>
            <a:ext cx="3575596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使用函数反转数组元素顺序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78364" y="4274607"/>
            <a:ext cx="902556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编写一个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reverse()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函数，该函数的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参数是一个数组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，在函数中会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对数组中的元素顺序进行反转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，并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返回反转后的</a:t>
            </a: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数组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en-US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56128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143690" y="1115504"/>
            <a:ext cx="2503244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使用函数判断闰年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8364" y="1849685"/>
            <a:ext cx="9217024" cy="1508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编写一个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isLeapYear()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函数，该函数的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参数是一个年份数字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，利用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isLeapYear()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判断年份是否为闰年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，如果年份是闰年，则返回值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</a:t>
            </a:r>
            <a:r>
              <a:rPr lang="en-US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rue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，否则返回值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</a:t>
            </a:r>
            <a:r>
              <a:rPr lang="en-US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false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1143690" y="266995"/>
            <a:ext cx="444745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4.1.5	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函数的综合应用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126653" y="3717826"/>
            <a:ext cx="4464495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使用函数获取指定年份的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月份天数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78364" y="4418623"/>
            <a:ext cx="933732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编写一个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fn()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函数，该函数调用后会弹出一个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输入框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，要求用户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输入一个年份数字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，当用户输入年份数字后，程序会提示用户该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年份的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月份</a:t>
            </a: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天数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en-US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80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48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函数</a:t>
            </a:r>
            <a:r>
              <a:rPr lang="zh-CN" altLang="en-US" sz="4800" b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进阶</a:t>
            </a:r>
            <a:endParaRPr lang="zh-CN" altLang="en-US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</a:t>
            </a:r>
            <a:r>
              <a:rPr lang="en-US" altLang="en-GB" sz="6600" b="1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.2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38986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4850" y="3636000"/>
            <a:ext cx="54295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表达式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，能够实现函数表达式的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定义与调用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4.2.1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函数表达式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</p:spTree>
    <p:extLst>
      <p:ext uri="{BB962C8B-B14F-4D97-AF65-F5344CB8AC3E}">
        <p14:creationId xmlns:p14="http://schemas.microsoft.com/office/powerpoint/2010/main" val="1829874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组合 2"/>
          <p:cNvGrpSpPr/>
          <p:nvPr/>
        </p:nvGrpSpPr>
        <p:grpSpPr>
          <a:xfrm>
            <a:off x="4899447" y="1985403"/>
            <a:ext cx="6380335" cy="2596520"/>
            <a:chOff x="4899446" y="1985402"/>
            <a:chExt cx="6740375" cy="3417567"/>
          </a:xfrm>
        </p:grpSpPr>
        <p:sp>
          <p:nvSpPr>
            <p:cNvPr id="9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6560850" y="323998"/>
              <a:ext cx="3417567" cy="6740375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0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8004" y="2180526"/>
              <a:ext cx="5765389" cy="31597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200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函数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表达式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是指以表达式的形式将定义的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函数赋值给一个</a:t>
              </a:r>
              <a:r>
                <a:rPr lang="zh-CN" altLang="zh-CN" sz="200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变量</a:t>
              </a:r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zh-CN" altLang="zh-CN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赋值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后，通过“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变量名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()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”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的方式完成函数的调用，在小括号“</a:t>
              </a:r>
              <a:r>
                <a:rPr lang="en-US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()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”中可以传递参数。函数表达式也是</a:t>
              </a:r>
              <a:r>
                <a:rPr lang="en-US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JavaScript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中另一种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实现自定义函数的方式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</p:grpSp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4.2.1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函数表达式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63837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691" y="1227165"/>
            <a:ext cx="5472608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通过代码演示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</a:t>
            </a: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表达式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161292" y="2133650"/>
            <a:ext cx="8433600" cy="286232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定义求两个数乘积的函数表达式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fn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function product(num01, num02) {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return num01 * num02;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调用函数并将结果输出到控制台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fn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(3, 5));		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15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4.2.1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函数表达式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21295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4850" y="3636000"/>
            <a:ext cx="54295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匿名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，能够实现匿名函数的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定义与调用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匿名函数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31727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3" name="组合 22"/>
          <p:cNvGrpSpPr/>
          <p:nvPr/>
        </p:nvGrpSpPr>
        <p:grpSpPr>
          <a:xfrm>
            <a:off x="4899447" y="1985403"/>
            <a:ext cx="6092303" cy="3108775"/>
            <a:chOff x="4899446" y="1985402"/>
            <a:chExt cx="6740375" cy="3417567"/>
          </a:xfrm>
        </p:grpSpPr>
        <p:sp>
          <p:nvSpPr>
            <p:cNvPr id="24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6560850" y="323998"/>
              <a:ext cx="3417567" cy="6740375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25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0191" y="2429892"/>
              <a:ext cx="6150739" cy="25285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JavaScript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中，使用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匿名函数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可以有效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避免函数名冲突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的问题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endParaRPr lang="en-US" altLang="zh-CN" sz="12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匿名函数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是指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没有名字的函数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，即在定义函数时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省略函数名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。</a:t>
              </a:r>
              <a:endPara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匿名函数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74827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08238" y="2019457"/>
            <a:ext cx="103155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函数表达式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中，如果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不需要函数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名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，则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可以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省略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，调用时使用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“变量名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的方式即可，示例代码如下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匿名函数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143690" y="1115504"/>
            <a:ext cx="3511356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在函数表达式中省略函数名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2157230" y="3397783"/>
            <a:ext cx="8217576" cy="193899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fn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function (num01, num02) {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return num01 - num02;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fn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(6, 3);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49661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43690" y="2109159"/>
            <a:ext cx="103521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匿名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函数自调用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是指将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匿名函数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写在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小括号“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”内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，然后对其进行调用。在实际开发中，如果希望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某个功能只能实现一次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则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可以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使用匿名函数自调用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匿名函数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143690" y="1115504"/>
            <a:ext cx="2215212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匿名函数自调</a:t>
            </a:r>
            <a:r>
              <a:rPr lang="zh-CN" altLang="en-US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2265016" y="3573810"/>
            <a:ext cx="8433600" cy="147732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function (num01, num02) {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console.log(num01 * num02);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})(7, 8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59604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文本框 43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1054646" y="1575022"/>
            <a:ext cx="957706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实际开发中，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经常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会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匿名函数处理事件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。例如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，使用匿名函数处理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单击事件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，示例代码如下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匿名函数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990750" y="3069754"/>
            <a:ext cx="8433600" cy="147732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document.body.onclick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 function () {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alert('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会当凌绝顶，一览众山小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03203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429568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回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调函数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，能够实现回调函数的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定义与调用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4.2.3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回调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函数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31087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3" name="组合 22"/>
          <p:cNvGrpSpPr/>
          <p:nvPr/>
        </p:nvGrpSpPr>
        <p:grpSpPr>
          <a:xfrm>
            <a:off x="4899447" y="1985403"/>
            <a:ext cx="6092303" cy="2380495"/>
            <a:chOff x="4899446" y="1985402"/>
            <a:chExt cx="6740375" cy="3417567"/>
          </a:xfrm>
        </p:grpSpPr>
        <p:sp>
          <p:nvSpPr>
            <p:cNvPr id="24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6560850" y="323998"/>
              <a:ext cx="3417567" cy="6740375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25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4263" y="2306695"/>
              <a:ext cx="6150739" cy="2131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假设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有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函数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函数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，当把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函数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作为参数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传给函数</a:t>
              </a:r>
              <a:r>
                <a:rPr lang="en-US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，然后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在函数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中调用函数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时，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函数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就被称为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回调函数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。在开发中，如果想要函数体中某部分功能由调用者决定，则可以使用回调函数。</a:t>
              </a:r>
            </a:p>
          </p:txBody>
        </p:sp>
      </p:grp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4.2.3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回调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函数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60172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96" y="1607165"/>
            <a:ext cx="3715858" cy="4006159"/>
          </a:xfrm>
          <a:prstGeom prst="rect">
            <a:avLst/>
          </a:prstGeom>
        </p:spPr>
      </p:pic>
      <p:sp>
        <p:nvSpPr>
          <p:cNvPr id="11" name="Shape 2015"/>
          <p:cNvSpPr/>
          <p:nvPr/>
        </p:nvSpPr>
        <p:spPr>
          <a:xfrm>
            <a:off x="4583038" y="2133650"/>
            <a:ext cx="6768752" cy="2448272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799062" y="2358673"/>
            <a:ext cx="633670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假设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有一个饭店，为了满足顾客的需求，该饭店允许顾客自行选择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调味料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，然后将调味料交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给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厨师进行加工。当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顾客“调用”厨师做菜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后，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厨师又“调用”顾客选择调味料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，厨师“调用”顾客的过程可以称为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“回调”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4.2.3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回调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函数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4053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4.2.3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回调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函数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910630" y="895911"/>
            <a:ext cx="10657183" cy="961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通过代码演示如何使用回调函数。首先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定义一个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cooking()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用于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实现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厨师做菜，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然后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将菜作为参数传递给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flavour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flavour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函数用于为菜添加调味料，示例代码如下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2022421" y="2034404"/>
            <a:ext cx="8433600" cy="424731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function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cooking(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flavour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 {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food = '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香辣土豆丝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food =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flavour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(food);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return food;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food = cooking(function (food) {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return food += '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微辣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console.log(food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28879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429568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递归函数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，能够实现递归函数的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定义与调用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4.2.4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递归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函数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10471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3" name="组合 22"/>
          <p:cNvGrpSpPr/>
          <p:nvPr/>
        </p:nvGrpSpPr>
        <p:grpSpPr>
          <a:xfrm>
            <a:off x="4899446" y="1985404"/>
            <a:ext cx="6092303" cy="2956561"/>
            <a:chOff x="4899445" y="1985404"/>
            <a:chExt cx="6740375" cy="3261198"/>
          </a:xfrm>
        </p:grpSpPr>
        <p:sp>
          <p:nvSpPr>
            <p:cNvPr id="24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6639034" y="245815"/>
              <a:ext cx="3261198" cy="6740375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25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4697" y="2299400"/>
              <a:ext cx="5967551" cy="26480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JavaScript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有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一种特殊的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调用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函数的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方式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，即一个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函数在其函数体内调用自身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，这种调用方式称为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递归</a:t>
              </a:r>
              <a:r>
                <a:rPr lang="zh-CN" altLang="zh-CN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调用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，被递归调用的函数称为</a:t>
              </a: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递归函数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递归函数只能在特定的情况下使用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例如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计算</a:t>
              </a:r>
              <a:r>
                <a:rPr lang="zh-CN" altLang="zh-CN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阶乘</a:t>
              </a: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zh-CN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遍历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维数不固定的多维</a:t>
              </a:r>
              <a:r>
                <a:rPr lang="zh-CN" altLang="zh-CN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数组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4.2.4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递归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函数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62053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982638" y="927643"/>
            <a:ext cx="864096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通过代码演示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递归函数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的使用，要求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根据用户输入的指定数据计算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阶乘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2206774" y="1485578"/>
            <a:ext cx="8568952" cy="5262979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function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factorial(n) {	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                     // </a:t>
            </a:r>
            <a:r>
              <a:rPr lang="zh-CN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递归</a:t>
            </a:r>
            <a:r>
              <a:rPr lang="zh-CN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if (n == 1) {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  return 1;		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                     //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递归出口</a:t>
            </a: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}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return n * factorial(n - 1);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n = prompt('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请输入大于等于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的正整数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');         </a:t>
            </a:r>
          </a:p>
          <a:p>
            <a:pPr lvl="1">
              <a:lnSpc>
                <a:spcPct val="150000"/>
              </a:lnSpc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处理用户传递的数据，符合要求则调用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factorial()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函数，否则在控制台给出提示信息</a:t>
            </a: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 =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parseInt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(n);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if (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isNaN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(n)) {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 console.log('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输入的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值不合法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 else {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 console.log(`${n}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的阶乘为：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`+ factorial(n));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4.2.4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递归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函数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13675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949978" y="1095065"/>
            <a:ext cx="878143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假设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用户输入的数字是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4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递归调用的运行过程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如下图所示。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4.2.4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递归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函数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782" y="2205658"/>
            <a:ext cx="10035437" cy="1713368"/>
          </a:xfrm>
          <a:prstGeom prst="rect">
            <a:avLst/>
          </a:prstGeom>
        </p:spPr>
      </p:pic>
      <p:sp>
        <p:nvSpPr>
          <p:cNvPr id="7" name="矩形: 圆角 38">
            <a:extLst>
              <a:ext uri="{FF2B5EF4-FFF2-40B4-BE49-F238E27FC236}">
                <a16:creationId xmlns:a16="http://schemas.microsoft.com/office/drawing/2014/main" id="{67C83A7C-7D6F-4BDB-B121-E0F3184AF92D}"/>
              </a:ext>
            </a:extLst>
          </p:cNvPr>
          <p:cNvSpPr/>
          <p:nvPr/>
        </p:nvSpPr>
        <p:spPr>
          <a:xfrm>
            <a:off x="1143691" y="4618332"/>
            <a:ext cx="10009112" cy="122413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95959"/>
              </a:solidFill>
            </a:endParaRPr>
          </a:p>
        </p:txBody>
      </p:sp>
      <p:sp>
        <p:nvSpPr>
          <p:cNvPr id="9" name="流程图: 资料带 8">
            <a:extLst>
              <a:ext uri="{FF2B5EF4-FFF2-40B4-BE49-F238E27FC236}">
                <a16:creationId xmlns:a16="http://schemas.microsoft.com/office/drawing/2014/main" id="{4D24D15E-ACFA-45A5-A041-FD3CA10573ED}"/>
              </a:ext>
            </a:extLst>
          </p:cNvPr>
          <p:cNvSpPr/>
          <p:nvPr/>
        </p:nvSpPr>
        <p:spPr>
          <a:xfrm>
            <a:off x="944703" y="4469469"/>
            <a:ext cx="775053" cy="504056"/>
          </a:xfrm>
          <a:prstGeom prst="flowChartPunchedTape">
            <a:avLst/>
          </a:prstGeom>
          <a:solidFill>
            <a:srgbClr val="1369B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720704" y="4765678"/>
            <a:ext cx="943304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递归</a:t>
            </a:r>
            <a:r>
              <a:rPr lang="zh-CN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调用占用的内存和资源较多，一旦使用不当可能会造成程序死循环，因此在实际开发中要慎重使用函数的递归调用。</a:t>
            </a:r>
          </a:p>
        </p:txBody>
      </p:sp>
    </p:spTree>
    <p:extLst>
      <p:ext uri="{BB962C8B-B14F-4D97-AF65-F5344CB8AC3E}">
        <p14:creationId xmlns:p14="http://schemas.microsoft.com/office/powerpoint/2010/main" val="1213571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形 22" descr="讲故事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1712" y="1352729"/>
            <a:ext cx="1015842" cy="1015842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2150110" y="1607820"/>
            <a:ext cx="1712848" cy="6705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407335" y="1743045"/>
            <a:ext cx="1239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箭头函数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960018" y="1608089"/>
            <a:ext cx="83114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135191" y="1608089"/>
            <a:ext cx="83114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1143690" y="2729738"/>
            <a:ext cx="1006408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箭头函数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ECMAScript </a:t>
            </a:r>
            <a:r>
              <a:rPr lang="en-US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6.0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新增的函数，该函数是一个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匿名函数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，用于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简化</a:t>
            </a:r>
            <a:r>
              <a:rPr lang="zh-CN" altLang="en-US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自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定义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函数的语法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。箭头函数以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小括号开头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，在小括号中可以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放置参数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，小括号后面跟着箭头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“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=&gt;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”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，箭头后面跟着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函数体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。箭头函数的语法格式如下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4076303" y="4568233"/>
            <a:ext cx="4198855" cy="55399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 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=&gt; {};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4.2.4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递归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函数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34418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1075014" y="1663189"/>
            <a:ext cx="9844728" cy="961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将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箭头函数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赋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值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给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一个变量后，可以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通过变量名实现箭头函数的调用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。箭头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函数的示例代码如下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980442" y="2925738"/>
            <a:ext cx="7931188" cy="147732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 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fn = (num01, num02) =&gt; {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return num01 * num02;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4.2.4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递归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函数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43692" y="4731642"/>
            <a:ext cx="999207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在上述示例代码中，定义了箭头函数并将箭头函数值赋给变量</a:t>
            </a:r>
            <a:r>
              <a:rPr lang="en-US" altLang="zh-CN" sz="2000" dirty="0" err="1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fn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，其中小括号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“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()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”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中的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num01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num02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是箭头函数的参数，大括号“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{}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”中的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“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return num01 * num02;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”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函数体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，使用</a:t>
            </a:r>
            <a:r>
              <a:rPr lang="en-US" altLang="zh-CN" sz="2000" dirty="0" err="1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fn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()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可以实现箭头函数的调用。</a:t>
            </a:r>
          </a:p>
        </p:txBody>
      </p:sp>
    </p:spTree>
    <p:extLst>
      <p:ext uri="{BB962C8B-B14F-4D97-AF65-F5344CB8AC3E}">
        <p14:creationId xmlns:p14="http://schemas.microsoft.com/office/powerpoint/2010/main" val="1437609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5039227" y="2421682"/>
            <a:ext cx="595252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箭头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函数有两种特殊写法，第</a:t>
            </a:r>
            <a:r>
              <a:rPr lang="en-US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种特殊写法是</a:t>
            </a:r>
            <a:r>
              <a:rPr lang="zh-CN" altLang="zh-CN" sz="20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省略大括号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en-US" altLang="zh-CN" sz="20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return</a:t>
            </a:r>
            <a:r>
              <a:rPr lang="zh-CN" altLang="zh-CN" sz="20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关键字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，第</a:t>
            </a:r>
            <a:r>
              <a:rPr lang="en-US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种特殊写法是</a:t>
            </a:r>
            <a:r>
              <a:rPr lang="zh-CN" altLang="zh-CN" sz="20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省略参数外部的小括号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2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4.2.4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递归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函数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96" y="1607165"/>
            <a:ext cx="3715858" cy="4006159"/>
          </a:xfrm>
          <a:prstGeom prst="rect">
            <a:avLst/>
          </a:prstGeom>
        </p:spPr>
      </p:pic>
      <p:sp>
        <p:nvSpPr>
          <p:cNvPr id="8" name="Shape 2015"/>
          <p:cNvSpPr/>
          <p:nvPr/>
        </p:nvSpPr>
        <p:spPr>
          <a:xfrm>
            <a:off x="4583038" y="2133650"/>
            <a:ext cx="6768752" cy="2016224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1298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982980" y="2630155"/>
            <a:ext cx="993676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箭头函数中，当函数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体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只有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一条语句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，且该语句的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运行结果就是函数的返回值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时，可以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省略函数体的大括号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return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关键字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，示例代码如下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4.2.4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递归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函数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82980" y="1629594"/>
            <a:ext cx="3456042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省略大括号和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return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872932" y="4070315"/>
            <a:ext cx="8140599" cy="499624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 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fn = (num01, num02) =&gt; num01 * num02;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43692" y="4934411"/>
            <a:ext cx="977605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上述示例代码中，定义了一个箭头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函数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，用于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接收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两个参数，计算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两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个参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值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相乘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的结果并返回。</a:t>
            </a:r>
          </a:p>
        </p:txBody>
      </p:sp>
    </p:spTree>
    <p:extLst>
      <p:ext uri="{BB962C8B-B14F-4D97-AF65-F5344CB8AC3E}">
        <p14:creationId xmlns:p14="http://schemas.microsoft.com/office/powerpoint/2010/main" val="2165241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982980" y="2349674"/>
            <a:ext cx="936069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在箭头函数中，当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只有一个参数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时，可以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省略参数外部的小括号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，示例代码如下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4.2.4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递归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函数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82980" y="1629594"/>
            <a:ext cx="3023994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省略参数外部的小括号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2203079" y="3349445"/>
            <a:ext cx="8140599" cy="147732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 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fn = age =&gt; {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console.log(age);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43691" y="5157986"/>
            <a:ext cx="977605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上述示例代码中，定义了一个箭头函数并且只接收一个参数，因此省略了参数外部的小括号。</a:t>
            </a:r>
          </a:p>
        </p:txBody>
      </p:sp>
    </p:spTree>
    <p:extLst>
      <p:ext uri="{BB962C8B-B14F-4D97-AF65-F5344CB8AC3E}">
        <p14:creationId xmlns:p14="http://schemas.microsoft.com/office/powerpoint/2010/main" val="651926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9" y="3014256"/>
            <a:ext cx="2125088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4800" b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作用域</a:t>
            </a:r>
            <a:endParaRPr lang="zh-CN" altLang="en-US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</a:t>
            </a:r>
            <a:r>
              <a:rPr lang="en-US" altLang="en-GB" sz="6600" b="1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.3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1619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429568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熟悉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作用域的分类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区别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全局变量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局部变量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块级变量</a:t>
            </a:r>
            <a:endParaRPr lang="zh-CN" altLang="zh-CN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4.3.1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作用域的分类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13333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910630" y="2997746"/>
            <a:ext cx="10657184" cy="240065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marL="180000"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function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info() {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180000"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student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 '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小智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180000"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180000"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info();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180000"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console.log(student);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	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报错，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提示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student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is not 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defined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student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变量未定义）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4.3.1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作用域的分类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10630" y="1274778"/>
            <a:ext cx="1015312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通过前面的学习可知，变量需要声明后才能使用，但并不意味着声明变量后就可以在任意位置使用该变量。例如，定义一个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info()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函数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，并在该函数中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声明一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</a:t>
            </a:r>
            <a:r>
              <a:rPr lang="en-US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student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变量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，在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info()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函数外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访问</a:t>
            </a:r>
            <a:r>
              <a:rPr lang="en-US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student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变量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就会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出现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student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未定义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的错误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，示例代码如下。</a:t>
            </a:r>
          </a:p>
        </p:txBody>
      </p:sp>
    </p:spTree>
    <p:extLst>
      <p:ext uri="{BB962C8B-B14F-4D97-AF65-F5344CB8AC3E}">
        <p14:creationId xmlns:p14="http://schemas.microsoft.com/office/powerpoint/2010/main" val="1965384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4.3.1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作用域的分类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38622" y="1485578"/>
            <a:ext cx="10729192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JavaScript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中，根据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作用域的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不同，可以将变量划分为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全局变量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局部变量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，具体说明如下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zh-CN" sz="20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全局变量：不在任何函数内声明的变量（显式定义）或在函数内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省略</a:t>
            </a:r>
            <a:r>
              <a:rPr lang="en-US" altLang="zh-CN" sz="2000" dirty="0" err="1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var</a:t>
            </a:r>
            <a:r>
              <a:rPr lang="zh-CN" altLang="en-US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关键字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声明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的变量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（隐式定义）都称为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全局变量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，它的作用域称为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全局作用域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，在同一个页面文件中的所有脚本内都可以使用。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局部变量：在函数体内使用</a:t>
            </a:r>
            <a:r>
              <a:rPr lang="en-US" altLang="zh-CN" sz="2000" dirty="0" err="1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var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关键字声明的变量称为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局部变量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，它的作用域称为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函数作用域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，仅在该函数体内有效。</a:t>
            </a:r>
          </a:p>
        </p:txBody>
      </p:sp>
    </p:spTree>
    <p:extLst>
      <p:ext uri="{BB962C8B-B14F-4D97-AF65-F5344CB8AC3E}">
        <p14:creationId xmlns:p14="http://schemas.microsoft.com/office/powerpoint/2010/main" val="1383397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2062758" y="2781722"/>
            <a:ext cx="8579990" cy="332398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student =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小强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';          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全局变量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function test() {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student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 '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小明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';        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局部变量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console.log(student);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test();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console.log(student);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4.3.1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作用域的分类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43691" y="1125538"/>
            <a:ext cx="980412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定义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两个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变量名都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</a:t>
            </a:r>
            <a:r>
              <a:rPr lang="en-US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student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变量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，其中一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student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变量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定义为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全局变量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并赋值为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小强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，另一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student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变量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定义为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局部变量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并赋值为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小明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，在控制台中输出这两个变量，示例代码如下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91168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429568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熟悉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作用域链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归纳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什么是作用域链</a:t>
            </a:r>
            <a:endParaRPr lang="zh-CN" altLang="zh-CN" sz="200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3" name="Title 1"/>
          <p:cNvSpPr txBox="1"/>
          <p:nvPr/>
        </p:nvSpPr>
        <p:spPr>
          <a:xfrm>
            <a:off x="1143691" y="266995"/>
            <a:ext cx="24312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4.3.2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作用域链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67190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3" name="组合 22"/>
          <p:cNvGrpSpPr/>
          <p:nvPr/>
        </p:nvGrpSpPr>
        <p:grpSpPr>
          <a:xfrm>
            <a:off x="4899447" y="1985403"/>
            <a:ext cx="6668367" cy="3189228"/>
            <a:chOff x="4899446" y="1985402"/>
            <a:chExt cx="6740375" cy="3417567"/>
          </a:xfrm>
        </p:grpSpPr>
        <p:sp>
          <p:nvSpPr>
            <p:cNvPr id="24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6560850" y="323998"/>
              <a:ext cx="3417567" cy="6740375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25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7476" y="2171447"/>
              <a:ext cx="6046766" cy="30593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在实际开发中，</a:t>
              </a:r>
              <a:r>
                <a:rPr lang="zh-CN" altLang="zh-CN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通常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需要定义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多个函数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来完成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复杂的功能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，对于其中一个函数而言，它可能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依赖另外一些函数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才能运行。如果希望这些依赖的函数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只能在本函数内部访问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，其他函数不能访问，这时候可以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把这些依赖的函数定义在本函数内部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，这样在一个函数内部定义其他函数就形成了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嵌套函数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</p:grpSp>
      <p:sp>
        <p:nvSpPr>
          <p:cNvPr id="7" name="Title 1"/>
          <p:cNvSpPr txBox="1"/>
          <p:nvPr/>
        </p:nvSpPr>
        <p:spPr>
          <a:xfrm>
            <a:off x="1143691" y="266995"/>
            <a:ext cx="24312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4.3.2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作用域链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48939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5039227" y="2277666"/>
            <a:ext cx="5952523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对于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嵌套函数而言，</a:t>
            </a:r>
            <a:r>
              <a:rPr lang="zh-CN" altLang="zh-CN" sz="20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内层函数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只能在</a:t>
            </a:r>
            <a:r>
              <a:rPr lang="zh-CN" altLang="zh-CN" sz="20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外层</a:t>
            </a:r>
            <a:r>
              <a:rPr lang="zh-CN" altLang="zh-CN" sz="200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函数</a:t>
            </a:r>
            <a:r>
              <a:rPr lang="zh-CN" altLang="en-US" sz="200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</a:t>
            </a:r>
            <a:r>
              <a:rPr lang="zh-CN" altLang="zh-CN" sz="200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作用域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内运行，在内层函数运行的过程中，若需要引入某个变量，首先会在当前作用域中寻找，若未找到，则继续向上一级的作用域寻找，</a:t>
            </a:r>
            <a:r>
              <a:rPr lang="zh-CN" altLang="zh-CN" sz="200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直到</a:t>
            </a:r>
            <a:r>
              <a:rPr lang="zh-CN" altLang="en-US" sz="200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找到</a:t>
            </a:r>
            <a:r>
              <a:rPr lang="zh-CN" altLang="zh-CN" sz="200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全局作用域</a:t>
            </a:r>
            <a:r>
              <a:rPr lang="zh-CN" altLang="en-US" sz="200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r>
              <a:rPr lang="zh-CN" altLang="zh-CN" sz="200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这种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链式的查询关系称为</a:t>
            </a:r>
            <a:r>
              <a:rPr lang="zh-CN" altLang="zh-CN" sz="20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作用域链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96" y="1607165"/>
            <a:ext cx="3715858" cy="4006159"/>
          </a:xfrm>
          <a:prstGeom prst="rect">
            <a:avLst/>
          </a:prstGeom>
        </p:spPr>
      </p:pic>
      <p:sp>
        <p:nvSpPr>
          <p:cNvPr id="8" name="Shape 2015"/>
          <p:cNvSpPr/>
          <p:nvPr/>
        </p:nvSpPr>
        <p:spPr>
          <a:xfrm>
            <a:off x="4583038" y="2133650"/>
            <a:ext cx="6768752" cy="2664296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1143691" y="266995"/>
            <a:ext cx="24312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4.3.2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作用域链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86420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2134766" y="1629594"/>
            <a:ext cx="8352928" cy="5029390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num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13;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function fn01() {              //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定义第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个函数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fn01()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num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26;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function fn02() {            //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定义第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个函数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fn02()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function fn03() {          //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定义第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个函数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fn03()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  console.log(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num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}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fn03();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}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fn02();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fn01();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61492" y="981522"/>
            <a:ext cx="8352928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定义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fn01()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fn02()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fn03()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函数，在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fn03()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函数中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输出变量</a:t>
            </a:r>
            <a:r>
              <a:rPr lang="en-US" altLang="zh-CN" sz="2000" dirty="0" err="1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num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值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24312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4.3.2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作用域链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50805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闭包</a:t>
            </a:r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函数</a:t>
            </a: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</a:t>
            </a:r>
            <a:r>
              <a:rPr lang="en-US" altLang="en-GB" sz="6600" b="1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.4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97561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711156"/>
            <a:ext cx="5638598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闭包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实现闭包函数的定义与调用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3" name="Title 1"/>
          <p:cNvSpPr txBox="1"/>
          <p:nvPr/>
        </p:nvSpPr>
        <p:spPr>
          <a:xfrm>
            <a:off x="1143690" y="266995"/>
            <a:ext cx="315131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4.4  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闭包函数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83229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3" name="组合 22"/>
          <p:cNvGrpSpPr/>
          <p:nvPr/>
        </p:nvGrpSpPr>
        <p:grpSpPr>
          <a:xfrm>
            <a:off x="4899447" y="1985403"/>
            <a:ext cx="6668367" cy="2308487"/>
            <a:chOff x="4899446" y="1985402"/>
            <a:chExt cx="6740375" cy="3417567"/>
          </a:xfrm>
        </p:grpSpPr>
        <p:sp>
          <p:nvSpPr>
            <p:cNvPr id="24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6560850" y="323998"/>
              <a:ext cx="3417567" cy="6740375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25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8806" y="2200227"/>
              <a:ext cx="5997087" cy="28829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JavaScript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闭包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Closure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）是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函数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和其周围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语法环境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Lexical Environment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）的组合，通过闭包可以让开发者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由内层函数访问外层函数作用域中的变量和函数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，其中，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内层函数被称为闭包函数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Title 1"/>
          <p:cNvSpPr txBox="1"/>
          <p:nvPr/>
        </p:nvSpPr>
        <p:spPr>
          <a:xfrm>
            <a:off x="1143690" y="266995"/>
            <a:ext cx="315131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4.4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闭包函数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7676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846734" y="2061642"/>
            <a:ext cx="8352928" cy="332398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function greeting() {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</a:t>
            </a:r>
            <a:r>
              <a:rPr lang="en-US" altLang="zh-CN" sz="20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name =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小智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';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function </a:t>
            </a:r>
            <a:r>
              <a:rPr lang="en-US" altLang="zh-CN" sz="20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sayHello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 {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 console.log('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你好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 + name);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</a:t>
            </a:r>
            <a:r>
              <a:rPr lang="en-US" altLang="zh-CN" sz="20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sayHello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();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774726" y="1188366"/>
            <a:ext cx="8341854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实现闭包函数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的示例代码如下</a:t>
            </a:r>
            <a:r>
              <a:rPr lang="zh-CN" altLang="zh-CN" sz="200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zh-CN" sz="200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0" y="266995"/>
            <a:ext cx="315131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4.4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闭包函数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20000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2076142" y="1621510"/>
            <a:ext cx="8352928" cy="5029390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function greeting() {</a:t>
            </a: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name = 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小智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';</a:t>
            </a: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return [function () {</a:t>
            </a:r>
          </a:p>
          <a:p>
            <a:pPr lvl="1">
              <a:lnSpc>
                <a:spcPct val="150000"/>
              </a:lnSpc>
            </a:pP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 return name;</a:t>
            </a: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}, function (</a:t>
            </a:r>
            <a:r>
              <a:rPr lang="en-US" altLang="zh-CN" sz="18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newName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 {</a:t>
            </a: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name = </a:t>
            </a:r>
            <a:r>
              <a:rPr lang="en-US" altLang="zh-CN" sz="18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newName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}];</a:t>
            </a:r>
          </a:p>
          <a:p>
            <a:pPr lvl="1">
              <a:lnSpc>
                <a:spcPct val="150000"/>
              </a:lnSpc>
            </a:pP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</a:p>
          <a:p>
            <a:pPr lvl="1">
              <a:lnSpc>
                <a:spcPct val="150000"/>
              </a:lnSpc>
            </a:pPr>
            <a:r>
              <a:rPr lang="en-US" altLang="zh-CN" sz="18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[</a:t>
            </a:r>
            <a:r>
              <a:rPr lang="en-US" altLang="zh-CN" sz="18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getName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, </a:t>
            </a:r>
            <a:r>
              <a:rPr lang="en-US" altLang="zh-CN" sz="18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setName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] = greeting();</a:t>
            </a:r>
          </a:p>
          <a:p>
            <a:pPr lvl="1">
              <a:lnSpc>
                <a:spcPct val="150000"/>
              </a:lnSpc>
            </a:pP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console.log('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你好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 + </a:t>
            </a:r>
            <a:r>
              <a:rPr lang="en-US" altLang="zh-CN" sz="18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getName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());</a:t>
            </a:r>
          </a:p>
          <a:p>
            <a:pPr lvl="1">
              <a:lnSpc>
                <a:spcPct val="150000"/>
              </a:lnSpc>
            </a:pPr>
            <a:r>
              <a:rPr lang="en-US" altLang="zh-CN" sz="18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setName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('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小明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');</a:t>
            </a: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console.log('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你好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 +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getName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());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557356" y="920296"/>
            <a:ext cx="8895744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利用闭包函数可以实现</a:t>
            </a:r>
            <a:r>
              <a:rPr lang="zh-CN" altLang="en-US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在函数外读取或修改函数内的局部变量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示例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代码如下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0" y="266995"/>
            <a:ext cx="315131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4.4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闭包函数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5510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5039227" y="2277666"/>
            <a:ext cx="595252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当</a:t>
            </a:r>
            <a:r>
              <a:rPr lang="zh-CN" altLang="en-US" sz="20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把闭包函数作为返回值</a:t>
            </a:r>
            <a:r>
              <a:rPr lang="zh-CN" altLang="en-US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返回后，只要闭包函数一直被引用，闭包函数所访问的变量和函数就始终在内存中。基于此现象，可以</a:t>
            </a:r>
            <a:r>
              <a:rPr lang="zh-CN" altLang="en-US" sz="20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统计闭包函数被调用的次数</a:t>
            </a:r>
            <a:r>
              <a:rPr lang="zh-CN" altLang="en-US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zh-CN" sz="200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96" y="1607165"/>
            <a:ext cx="3715858" cy="4006159"/>
          </a:xfrm>
          <a:prstGeom prst="rect">
            <a:avLst/>
          </a:prstGeom>
        </p:spPr>
      </p:pic>
      <p:sp>
        <p:nvSpPr>
          <p:cNvPr id="8" name="Shape 2015"/>
          <p:cNvSpPr/>
          <p:nvPr/>
        </p:nvSpPr>
        <p:spPr>
          <a:xfrm>
            <a:off x="4583038" y="2133650"/>
            <a:ext cx="6768752" cy="2232248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0" y="266995"/>
            <a:ext cx="315131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4.4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闭包函数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79645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3151396" y="1989633"/>
            <a:ext cx="6048672" cy="448084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function 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fn01() {</a:t>
            </a: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</a:t>
            </a:r>
            <a:r>
              <a:rPr lang="en-US" altLang="zh-CN" sz="16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6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num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0;</a:t>
            </a: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function fn02() {</a:t>
            </a: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 ++</a:t>
            </a:r>
            <a:r>
              <a:rPr lang="en-US" altLang="zh-CN" sz="16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num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;</a:t>
            </a: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  console.log(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第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${</a:t>
            </a:r>
            <a:r>
              <a:rPr lang="en-US" altLang="zh-CN" sz="16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num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次被调用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');</a:t>
            </a: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}</a:t>
            </a:r>
          </a:p>
          <a:p>
            <a:pPr lvl="1">
              <a:lnSpc>
                <a:spcPct val="150000"/>
              </a:lnSpc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return fn02;</a:t>
            </a:r>
          </a:p>
          <a:p>
            <a:pPr lvl="1">
              <a:lnSpc>
                <a:spcPct val="150000"/>
              </a:lnSpc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</a:p>
          <a:p>
            <a:pPr lvl="1">
              <a:lnSpc>
                <a:spcPct val="150000"/>
              </a:lnSpc>
            </a:pPr>
            <a:r>
              <a:rPr lang="en-US" altLang="zh-CN" sz="16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fn02 = fn01;</a:t>
            </a:r>
          </a:p>
          <a:p>
            <a:pPr lvl="1">
              <a:lnSpc>
                <a:spcPct val="150000"/>
              </a:lnSpc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fn02();</a:t>
            </a: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fn02();</a:t>
            </a: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fn02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43690" y="919692"/>
            <a:ext cx="1006408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80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首先定义</a:t>
            </a:r>
            <a:r>
              <a:rPr lang="en-US" altLang="zh-CN" sz="18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fn01()</a:t>
            </a:r>
            <a:r>
              <a:rPr lang="zh-CN" altLang="en-US" sz="18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函数</a:t>
            </a:r>
            <a:r>
              <a:rPr lang="zh-CN" altLang="en-US" sz="180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en-US" altLang="zh-CN" sz="18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fn02()</a:t>
            </a:r>
            <a:r>
              <a:rPr lang="zh-CN" altLang="en-US" sz="18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函数</a:t>
            </a:r>
            <a:r>
              <a:rPr lang="zh-CN" altLang="en-US" sz="180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，然后使用闭包函数实现在</a:t>
            </a:r>
            <a:r>
              <a:rPr lang="en-US" altLang="zh-CN" sz="180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fn02()</a:t>
            </a:r>
            <a:r>
              <a:rPr lang="zh-CN" altLang="en-US" sz="180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函数中访问</a:t>
            </a:r>
            <a:r>
              <a:rPr lang="en-US" altLang="zh-CN" sz="18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fn01()</a:t>
            </a:r>
            <a:r>
              <a:rPr lang="zh-CN" altLang="en-US" sz="180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函数内定义的</a:t>
            </a:r>
            <a:r>
              <a:rPr lang="zh-CN" altLang="en-US" sz="18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局部变量</a:t>
            </a:r>
            <a:r>
              <a:rPr lang="en-US" altLang="zh-CN" sz="18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num</a:t>
            </a:r>
            <a:r>
              <a:rPr lang="zh-CN" altLang="en-US" sz="180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，并</a:t>
            </a:r>
            <a:r>
              <a:rPr lang="zh-CN" altLang="en-US" sz="18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统计</a:t>
            </a:r>
            <a:r>
              <a:rPr lang="en-US" altLang="zh-CN" sz="18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fn02()</a:t>
            </a:r>
            <a:r>
              <a:rPr lang="zh-CN" altLang="en-US" sz="18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函数被调用的次数</a:t>
            </a:r>
            <a:r>
              <a:rPr lang="zh-CN" altLang="en-US" sz="180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，示例代码如下。</a:t>
            </a:r>
            <a:endParaRPr lang="en-US" altLang="zh-CN" sz="1800" smtClean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0" y="266995"/>
            <a:ext cx="315131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4.4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闭包函数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47201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3205208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预解析</a:t>
            </a:r>
            <a:endParaRPr lang="zh-CN" altLang="en-US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</a:t>
            </a:r>
            <a:r>
              <a:rPr lang="en-US" altLang="en-GB" sz="6600" b="1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.5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58905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4295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熟悉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预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解析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能够说明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如何进行预解析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1" y="266995"/>
            <a:ext cx="1855172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4.5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预解析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4846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3" name="组合 22"/>
          <p:cNvGrpSpPr/>
          <p:nvPr/>
        </p:nvGrpSpPr>
        <p:grpSpPr>
          <a:xfrm>
            <a:off x="4899447" y="1985403"/>
            <a:ext cx="6668367" cy="2668527"/>
            <a:chOff x="4899446" y="1985402"/>
            <a:chExt cx="6740375" cy="3417567"/>
          </a:xfrm>
        </p:grpSpPr>
        <p:sp>
          <p:nvSpPr>
            <p:cNvPr id="24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6560850" y="323998"/>
              <a:ext cx="3417567" cy="6740375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25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7476" y="2175261"/>
              <a:ext cx="5981656" cy="3046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JavaScript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代码是由浏览器中的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JavaScript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引擎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运行的，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JavaScript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引擎在运行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JavaScript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代码时会进行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预解析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，即提前对代码中</a:t>
              </a:r>
              <a:r>
                <a:rPr lang="en-US" altLang="zh-CN" sz="2000" dirty="0" err="1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var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关键字声明的变量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function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关键字定义的函数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进行解析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，再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运行其他代码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Title 1"/>
          <p:cNvSpPr txBox="1"/>
          <p:nvPr/>
        </p:nvSpPr>
        <p:spPr>
          <a:xfrm>
            <a:off x="1143691" y="266995"/>
            <a:ext cx="1855172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4.5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预解析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17926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982638" y="2205658"/>
            <a:ext cx="10640147" cy="240065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以下代码中的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name01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变量声明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会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被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解析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console.log(name01);	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undefined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name01 = '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小智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以下代码由于没有声明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name02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所以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会报错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console.log(name02);	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报错，提示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name02 is not 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defined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name02 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未定义）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50202" y="1212370"/>
            <a:ext cx="864096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通过代码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演示</a:t>
            </a:r>
            <a:r>
              <a:rPr lang="en-US" altLang="zh-CN" sz="2000" dirty="0" err="1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var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关键字的预解析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效果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1855172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4.5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预解析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86354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774726" y="2517332"/>
            <a:ext cx="9186154" cy="147732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name01;	 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        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变量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name01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的声明由于预解析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而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被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提到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前面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console.log(name01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undefined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name01 = '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小智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82638" y="1227360"/>
            <a:ext cx="1029714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</a:t>
            </a:r>
            <a:r>
              <a:rPr lang="zh-CN" altLang="en-US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前面的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示例代码中，第</a:t>
            </a:r>
            <a:r>
              <a:rPr lang="en-US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行代码</a:t>
            </a:r>
            <a:r>
              <a:rPr lang="zh-CN" altLang="zh-CN" sz="20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在变量</a:t>
            </a:r>
            <a:r>
              <a:rPr lang="en-US" altLang="zh-CN" sz="20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name01</a:t>
            </a:r>
            <a:r>
              <a:rPr lang="zh-CN" altLang="zh-CN" sz="20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声明前就进行了访问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，但是没有出现类似第</a:t>
            </a:r>
            <a:r>
              <a:rPr lang="en-US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行代码的报错，这是因为第</a:t>
            </a:r>
            <a:r>
              <a:rPr lang="en-US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行代码中的</a:t>
            </a:r>
            <a:r>
              <a:rPr lang="en-US" altLang="zh-CN" sz="20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var name01</a:t>
            </a:r>
            <a:r>
              <a:rPr lang="zh-CN" altLang="zh-CN" sz="20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会被预解析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，相当于如下代码</a:t>
            </a:r>
            <a:r>
              <a:rPr lang="zh-CN" altLang="zh-CN" sz="200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zh-CN" sz="200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1855172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4.5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预解析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09017" y="4268969"/>
            <a:ext cx="1036566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由此可见，由于</a:t>
            </a:r>
            <a:r>
              <a:rPr lang="zh-CN" altLang="zh-CN" sz="20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变量</a:t>
            </a:r>
            <a:r>
              <a:rPr lang="en-US" altLang="zh-CN" sz="20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name01</a:t>
            </a:r>
            <a:r>
              <a:rPr lang="zh-CN" altLang="zh-CN" sz="20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被预解析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，所以程序运行</a:t>
            </a:r>
            <a:r>
              <a:rPr lang="zh-CN" altLang="zh-CN" sz="20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“</a:t>
            </a:r>
            <a:r>
              <a:rPr lang="en-US" altLang="zh-CN" sz="20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console.log(name01)</a:t>
            </a:r>
            <a:r>
              <a:rPr lang="zh-CN" altLang="zh-CN" sz="20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”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时</a:t>
            </a:r>
            <a:r>
              <a:rPr lang="zh-CN" altLang="zh-CN" sz="20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不会报错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。在为变量</a:t>
            </a:r>
            <a:r>
              <a:rPr lang="en-US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name01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赋值</a:t>
            </a:r>
            <a:r>
              <a:rPr lang="zh-CN" altLang="zh-CN" sz="20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“小智”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时</a:t>
            </a:r>
            <a:r>
              <a:rPr lang="zh-CN" altLang="zh-CN" sz="20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不会</a:t>
            </a:r>
            <a:r>
              <a:rPr lang="zh-CN" altLang="zh-CN" sz="200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被</a:t>
            </a:r>
            <a:r>
              <a:rPr lang="zh-CN" altLang="en-US" sz="200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预</a:t>
            </a:r>
            <a:r>
              <a:rPr lang="zh-CN" altLang="zh-CN" sz="200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解析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，因此</a:t>
            </a:r>
            <a:r>
              <a:rPr lang="en-US" altLang="zh-CN" sz="20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name01</a:t>
            </a:r>
            <a:r>
              <a:rPr lang="zh-CN" altLang="zh-CN" sz="20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的值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</a:t>
            </a:r>
            <a:r>
              <a:rPr lang="en-US" altLang="zh-CN" sz="20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undefined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958804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774726" y="2118227"/>
            <a:ext cx="8352928" cy="193899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fn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function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fn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 {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console.log('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fn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54646" y="1272525"/>
            <a:ext cx="864096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</a:t>
            </a:r>
            <a:r>
              <a:rPr lang="en-US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JavaScript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中，</a:t>
            </a:r>
            <a:r>
              <a:rPr lang="zh-CN" altLang="zh-CN" sz="20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函数的定义也具有预解析效果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，示例代码如下。</a:t>
            </a: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1855172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4.5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预解析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97765" y="4348923"/>
            <a:ext cx="970684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在上述示例代码中，虽然调用</a:t>
            </a:r>
            <a:r>
              <a:rPr lang="en-US" altLang="zh-CN" sz="2000" dirty="0" err="1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fn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()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函数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的代码写在了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定义函数之前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，但是</a:t>
            </a:r>
            <a:r>
              <a:rPr lang="en-US" altLang="zh-CN" sz="2000" dirty="0" err="1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fn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()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函数仍然可以正确调用，这是因为使用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function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关键字定义函数时被预解析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279573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702718" y="2176932"/>
            <a:ext cx="8352928" cy="193899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fruit();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报错，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提示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fruit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is not a function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fruit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不是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一个函数）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fruit = function () {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console.log('fruit');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43691" y="1241120"/>
            <a:ext cx="698477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需要注意的是，</a:t>
            </a:r>
            <a:r>
              <a:rPr lang="zh-CN" altLang="zh-CN" sz="20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函数表达式不会被预解析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，示例代码如下</a:t>
            </a:r>
            <a:r>
              <a:rPr lang="zh-CN" altLang="zh-CN" sz="200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zh-CN" sz="200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1855172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4.5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预解析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43691" y="4472837"/>
            <a:ext cx="943304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上述示例代码中，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fruit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不是一个函数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，这是因为</a:t>
            </a:r>
            <a:r>
              <a:rPr lang="en-US" altLang="zh-CN" sz="2000" dirty="0" err="1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var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fruit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变量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声明会被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预解析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，预解析后，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fruit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的值为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undefined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，此时的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fruit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还不是一个函数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，因此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无法调用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。只有第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2~4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行代码运行后，才可以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通过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fruit</a:t>
            </a:r>
            <a:r>
              <a:rPr lang="en-US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()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调用函数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68132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73F6908-92E7-4A91-863C-1B36143E8DCD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本章小结</a:t>
            </a:r>
          </a:p>
        </p:txBody>
      </p:sp>
      <p:sp>
        <p:nvSpPr>
          <p:cNvPr id="4" name="圆角矩形 26">
            <a:extLst>
              <a:ext uri="{FF2B5EF4-FFF2-40B4-BE49-F238E27FC236}">
                <a16:creationId xmlns:a16="http://schemas.microsoft.com/office/drawing/2014/main" id="{FB40132D-FEA4-4137-839F-407CBE609B3F}"/>
              </a:ext>
            </a:extLst>
          </p:cNvPr>
          <p:cNvSpPr/>
          <p:nvPr/>
        </p:nvSpPr>
        <p:spPr>
          <a:xfrm>
            <a:off x="1198880" y="1810385"/>
            <a:ext cx="9794240" cy="3059569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cs typeface="+mn-ea"/>
              <a:sym typeface="+mn-lt"/>
            </a:endParaRPr>
          </a:p>
        </p:txBody>
      </p:sp>
      <p:sp>
        <p:nvSpPr>
          <p:cNvPr id="5" name="TextBox 38">
            <a:extLst>
              <a:ext uri="{FF2B5EF4-FFF2-40B4-BE49-F238E27FC236}">
                <a16:creationId xmlns:a16="http://schemas.microsoft.com/office/drawing/2014/main" id="{814CCD3C-575E-4C15-89E6-3D4FA5A051F1}"/>
              </a:ext>
            </a:extLst>
          </p:cNvPr>
          <p:cNvSpPr txBox="1"/>
          <p:nvPr/>
        </p:nvSpPr>
        <p:spPr>
          <a:xfrm>
            <a:off x="1627172" y="2517644"/>
            <a:ext cx="9004538" cy="18466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本章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主要讲解了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函数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的相关知识，首先讲解了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什么是函数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函数的定义与调用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函数的参数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函数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的返回值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，并通过案例帮助读者更好地掌握函数的使用；然后讲解了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函数表达式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匿名函数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回调函数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递归函数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；最后讲解了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作用域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闭包函数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预解析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。通过本章的学习，读者能够熟练掌握函数的使用。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2D02CBD-122C-4126-9C27-9F5A42D82327}"/>
              </a:ext>
            </a:extLst>
          </p:cNvPr>
          <p:cNvSpPr/>
          <p:nvPr/>
        </p:nvSpPr>
        <p:spPr>
          <a:xfrm>
            <a:off x="4420235" y="1401445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248D732B-AEB5-4AF0-80CB-E49986E102F7}"/>
              </a:ext>
            </a:extLst>
          </p:cNvPr>
          <p:cNvSpPr/>
          <p:nvPr/>
        </p:nvSpPr>
        <p:spPr>
          <a:xfrm>
            <a:off x="5139055" y="1401445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章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B0611DBD-A63B-4039-A64B-C5315892C467}"/>
              </a:ext>
            </a:extLst>
          </p:cNvPr>
          <p:cNvSpPr/>
          <p:nvPr/>
        </p:nvSpPr>
        <p:spPr>
          <a:xfrm>
            <a:off x="5857875" y="1401445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小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7CAB7274-D61E-48A3-90F6-2DA430D6E3B7}"/>
              </a:ext>
            </a:extLst>
          </p:cNvPr>
          <p:cNvSpPr/>
          <p:nvPr/>
        </p:nvSpPr>
        <p:spPr>
          <a:xfrm>
            <a:off x="6576695" y="1401445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</a:t>
            </a:r>
          </a:p>
        </p:txBody>
      </p:sp>
    </p:spTree>
    <p:extLst>
      <p:ext uri="{BB962C8B-B14F-4D97-AF65-F5344CB8AC3E}">
        <p14:creationId xmlns:p14="http://schemas.microsoft.com/office/powerpoint/2010/main" val="4187513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488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ud0ofpxa">
      <a:majorFont>
        <a:latin typeface="字魂105号-简雅黑"/>
        <a:ea typeface="字魂105号-简雅黑"/>
        <a:cs typeface=""/>
      </a:majorFont>
      <a:minorFont>
        <a:latin typeface="字魂105号-简雅黑"/>
        <a:ea typeface="字魂105号-简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14042</TotalTime>
  <Words>5747</Words>
  <Application>Microsoft Office PowerPoint</Application>
  <PresentationFormat>自定义</PresentationFormat>
  <Paragraphs>509</Paragraphs>
  <Slides>88</Slides>
  <Notes>40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88</vt:i4>
      </vt:variant>
    </vt:vector>
  </HeadingPairs>
  <TitlesOfParts>
    <vt:vector size="101" baseType="lpstr">
      <vt:lpstr>Source Han Sans K Bold</vt:lpstr>
      <vt:lpstr>思源黑体 CN Medium</vt:lpstr>
      <vt:lpstr>思源黑体 CN Regular</vt:lpstr>
      <vt:lpstr>宋体</vt:lpstr>
      <vt:lpstr>微软雅黑</vt:lpstr>
      <vt:lpstr>微软雅黑</vt:lpstr>
      <vt:lpstr>字魂105号-简雅黑</vt:lpstr>
      <vt:lpstr>字魂58号-创中黑</vt:lpstr>
      <vt:lpstr>Arial</vt:lpstr>
      <vt:lpstr>Calibri</vt:lpstr>
      <vt:lpstr>Wingdings</vt:lpstr>
      <vt:lpstr>webwppDefTheme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蓝白商务述职报告工作总结ppt模板</dc:title>
  <dc:creator>常董</dc:creator>
  <cp:lastModifiedBy>hd</cp:lastModifiedBy>
  <cp:revision>5473</cp:revision>
  <dcterms:created xsi:type="dcterms:W3CDTF">2020-11-09T06:56:00Z</dcterms:created>
  <dcterms:modified xsi:type="dcterms:W3CDTF">2024-07-16T07:03:13Z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2052-11.1.0.10072</vt:lpwstr>
  </property>
</Properties>
</file>