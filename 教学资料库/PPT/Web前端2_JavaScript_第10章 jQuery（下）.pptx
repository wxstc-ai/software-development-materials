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03"/>
  </p:notesMasterIdLst>
  <p:handoutMasterIdLst>
    <p:handoutMasterId r:id="rId104"/>
  </p:handoutMasterIdLst>
  <p:sldIdLst>
    <p:sldId id="325" r:id="rId3"/>
    <p:sldId id="1129" r:id="rId4"/>
    <p:sldId id="328" r:id="rId5"/>
    <p:sldId id="1146" r:id="rId6"/>
    <p:sldId id="1692" r:id="rId7"/>
    <p:sldId id="309" r:id="rId8"/>
    <p:sldId id="1059" r:id="rId9"/>
    <p:sldId id="1497" r:id="rId10"/>
    <p:sldId id="1823" r:id="rId11"/>
    <p:sldId id="1699" r:id="rId12"/>
    <p:sldId id="1700" r:id="rId13"/>
    <p:sldId id="1622" r:id="rId14"/>
    <p:sldId id="1701" r:id="rId15"/>
    <p:sldId id="1704" r:id="rId16"/>
    <p:sldId id="1705" r:id="rId17"/>
    <p:sldId id="1707" r:id="rId18"/>
    <p:sldId id="1618" r:id="rId19"/>
    <p:sldId id="1708" r:id="rId20"/>
    <p:sldId id="1709" r:id="rId21"/>
    <p:sldId id="1710" r:id="rId22"/>
    <p:sldId id="1713" r:id="rId23"/>
    <p:sldId id="1714" r:id="rId24"/>
    <p:sldId id="1715" r:id="rId25"/>
    <p:sldId id="1718" r:id="rId26"/>
    <p:sldId id="1719" r:id="rId27"/>
    <p:sldId id="1720" r:id="rId28"/>
    <p:sldId id="1492" r:id="rId29"/>
    <p:sldId id="1424" r:id="rId30"/>
    <p:sldId id="1723" r:id="rId31"/>
    <p:sldId id="1726" r:id="rId32"/>
    <p:sldId id="1727" r:id="rId33"/>
    <p:sldId id="1493" r:id="rId34"/>
    <p:sldId id="1501" r:id="rId35"/>
    <p:sldId id="1676" r:id="rId36"/>
    <p:sldId id="1730" r:id="rId37"/>
    <p:sldId id="1732" r:id="rId38"/>
    <p:sldId id="1733" r:id="rId39"/>
    <p:sldId id="1734" r:id="rId40"/>
    <p:sldId id="1735" r:id="rId41"/>
    <p:sldId id="1736" r:id="rId42"/>
    <p:sldId id="1737" r:id="rId43"/>
    <p:sldId id="1739" r:id="rId44"/>
    <p:sldId id="1741" r:id="rId45"/>
    <p:sldId id="1742" r:id="rId46"/>
    <p:sldId id="1743" r:id="rId47"/>
    <p:sldId id="1744" r:id="rId48"/>
    <p:sldId id="1745" r:id="rId49"/>
    <p:sldId id="1746" r:id="rId50"/>
    <p:sldId id="1747" r:id="rId51"/>
    <p:sldId id="1749" r:id="rId52"/>
    <p:sldId id="1750" r:id="rId53"/>
    <p:sldId id="1751" r:id="rId54"/>
    <p:sldId id="1753" r:id="rId55"/>
    <p:sldId id="1754" r:id="rId56"/>
    <p:sldId id="1756" r:id="rId57"/>
    <p:sldId id="1757" r:id="rId58"/>
    <p:sldId id="1758" r:id="rId59"/>
    <p:sldId id="1759" r:id="rId60"/>
    <p:sldId id="1760" r:id="rId61"/>
    <p:sldId id="1824" r:id="rId62"/>
    <p:sldId id="1761" r:id="rId63"/>
    <p:sldId id="1762" r:id="rId64"/>
    <p:sldId id="1763" r:id="rId65"/>
    <p:sldId id="1764" r:id="rId66"/>
    <p:sldId id="1161" r:id="rId67"/>
    <p:sldId id="1590" r:id="rId68"/>
    <p:sldId id="1765" r:id="rId69"/>
    <p:sldId id="1768" r:id="rId70"/>
    <p:sldId id="1769" r:id="rId71"/>
    <p:sldId id="1770" r:id="rId72"/>
    <p:sldId id="1773" r:id="rId73"/>
    <p:sldId id="1774" r:id="rId74"/>
    <p:sldId id="1775" r:id="rId75"/>
    <p:sldId id="1776" r:id="rId76"/>
    <p:sldId id="1777" r:id="rId77"/>
    <p:sldId id="1778" r:id="rId78"/>
    <p:sldId id="1779" r:id="rId79"/>
    <p:sldId id="1781" r:id="rId80"/>
    <p:sldId id="1782" r:id="rId81"/>
    <p:sldId id="1784" r:id="rId82"/>
    <p:sldId id="1785" r:id="rId83"/>
    <p:sldId id="1786" r:id="rId84"/>
    <p:sldId id="1163" r:id="rId85"/>
    <p:sldId id="1383" r:id="rId86"/>
    <p:sldId id="1788" r:id="rId87"/>
    <p:sldId id="1791" r:id="rId88"/>
    <p:sldId id="1792" r:id="rId89"/>
    <p:sldId id="1793" r:id="rId90"/>
    <p:sldId id="1794" r:id="rId91"/>
    <p:sldId id="1795" r:id="rId92"/>
    <p:sldId id="1693" r:id="rId93"/>
    <p:sldId id="1797" r:id="rId94"/>
    <p:sldId id="1798" r:id="rId95"/>
    <p:sldId id="1805" r:id="rId96"/>
    <p:sldId id="1808" r:id="rId97"/>
    <p:sldId id="1811" r:id="rId98"/>
    <p:sldId id="1814" r:id="rId99"/>
    <p:sldId id="1818" r:id="rId100"/>
    <p:sldId id="1416" r:id="rId101"/>
    <p:sldId id="1417" r:id="rId102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  <p:cmAuthor id="2" name="zrd" initials="W用" lastIdx="15" clrIdx="1">
    <p:extLst>
      <p:ext uri="{19B8F6BF-5375-455C-9EA6-DF929625EA0E}">
        <p15:presenceInfo xmlns:p15="http://schemas.microsoft.com/office/powerpoint/2012/main" userId="f6599913dc903e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5974" autoAdjust="0"/>
  </p:normalViewPr>
  <p:slideViewPr>
    <p:cSldViewPr>
      <p:cViewPr varScale="1">
        <p:scale>
          <a:sx n="75" d="100"/>
          <a:sy n="75" d="100"/>
        </p:scale>
        <p:origin x="72" y="540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viewProps" Target="viewProp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108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ableStyles" Target="tableStyle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3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20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689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29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024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02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627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661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12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55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062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735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856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070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547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1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2375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384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070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74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541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82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7301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5924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5899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9213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3513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29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787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3863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371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8953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7933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997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7993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552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356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2480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4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0623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8534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8669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1868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58837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535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0886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3225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30143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0782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578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11090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0031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83687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1712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10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jQuery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（</a:t>
            </a:r>
            <a:r>
              <a:rPr lang="zh-CN" altLang="en-US" sz="5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下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）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198662" y="1773610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，能够实现元素的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遍历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查找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过滤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追加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复制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替换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删除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98662" y="2743832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尺寸和位置操作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，能够灵活应用尺寸和位置操作方法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获取或设置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lvl="0"/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素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的尺寸、位置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711942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，能够根据实际场景完成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事件注册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触发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委托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等操作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646613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动画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不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场景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实现元素的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显示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隐藏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滑动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endPara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停止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淡入淡出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自定义动画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的效果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98662" y="5590034"/>
            <a:ext cx="9709797" cy="685961"/>
            <a:chOff x="978872" y="2570436"/>
            <a:chExt cx="5437064" cy="514351"/>
          </a:xfrm>
        </p:grpSpPr>
        <p:sp>
          <p:nvSpPr>
            <p:cNvPr id="26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其他方法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，能够描述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$.extend()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$.ajax()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的作用</a:t>
              </a: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646" y="2709714"/>
            <a:ext cx="1008112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，相信读者已经掌握了使用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开发常见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中还提供了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尺寸和位置操作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等方法，使用这些方法可以高效地开发更丰富的网页交互功能。本章将对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（下）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3" y="2659877"/>
            <a:ext cx="1175742" cy="613061"/>
            <a:chOff x="2215144" y="2033848"/>
            <a:chExt cx="1227558" cy="842781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75903" y="2156046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10.1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555310"/>
            <a:ext cx="1163616" cy="613061"/>
            <a:chOff x="2215144" y="3084852"/>
            <a:chExt cx="1214896" cy="842781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63241" y="3204314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637706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元素操作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533659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尺寸和位置操作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464566"/>
            <a:ext cx="1182666" cy="613061"/>
            <a:chOff x="2215144" y="3084852"/>
            <a:chExt cx="1234786" cy="842781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83131" y="3191220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10.3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442914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事件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5" y="2659877"/>
            <a:ext cx="1154091" cy="613061"/>
            <a:chOff x="2215144" y="2033848"/>
            <a:chExt cx="1204951" cy="842781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53296" y="2144347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10.4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555310"/>
            <a:ext cx="1173141" cy="613061"/>
            <a:chOff x="2215144" y="3084852"/>
            <a:chExt cx="1224841" cy="842781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73186" y="3217408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10.5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637706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动画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533659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其他方法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464566"/>
            <a:ext cx="1163616" cy="613061"/>
            <a:chOff x="2215144" y="3084852"/>
            <a:chExt cx="1214896" cy="842781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63241" y="3204314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10.6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442914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687873" y="2445695"/>
              <a:ext cx="335021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【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案例</a:t>
              </a:r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】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使用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实现购物车功能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479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元素遍历操作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each()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实现元素遍历操作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元素遍历操作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47332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中，当需要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对多个元素进行相同的操作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时，可以使用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元素遍历操作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，从而减少代码量。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each()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用于快速实现元素遍历操作，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each()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876343" y="2649181"/>
            <a:ext cx="679776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selector).each(function (index,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domEle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具体操作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4581922"/>
            <a:ext cx="103521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each()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方法的参数是一个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，该函数用于遍历匹配的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元素集合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，函数的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元素的索引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domEle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元素遍历操作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642" y="2565698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$.each()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可以遍历任何对象，包括数组。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$.each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86553" y="3386932"/>
            <a:ext cx="679776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$.each(collection, 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(index,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element))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具体操作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5642" y="5075946"/>
            <a:ext cx="103521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collection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表示被遍历的对象，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表示数组元素索引或对象成员名，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表示数组元素值或对象成员值。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元素遍历操作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50109" y="1607820"/>
            <a:ext cx="2072889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50109" y="1743045"/>
            <a:ext cx="2072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$.each()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24925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9924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  <p:extLst>
      <p:ext uri="{BB962C8B-B14F-4D97-AF65-F5344CB8AC3E}">
        <p14:creationId xmlns:p14="http://schemas.microsoft.com/office/powerpoint/2010/main" val="405624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元素查找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和过滤操作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元素查找方法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过滤方法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元素查找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和过滤操作</a:t>
            </a: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39659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4899444" y="1985403"/>
            <a:ext cx="5228209" cy="2380495"/>
            <a:chOff x="4899443" y="1985402"/>
            <a:chExt cx="5523235" cy="6029223"/>
          </a:xfrm>
        </p:grpSpPr>
        <p:sp>
          <p:nvSpPr>
            <p:cNvPr id="10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4646449" y="2238396"/>
              <a:ext cx="6029223" cy="552323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825" y="2545616"/>
              <a:ext cx="4868569" cy="491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前面的学习中，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的选择器获取满足某个条件的元素，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还提供了一些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查找和过滤元素的方法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快速获取元素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元素查找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和过滤操作</a:t>
            </a:r>
          </a:p>
        </p:txBody>
      </p:sp>
    </p:spTree>
    <p:extLst>
      <p:ext uri="{BB962C8B-B14F-4D97-AF65-F5344CB8AC3E}">
        <p14:creationId xmlns:p14="http://schemas.microsoft.com/office/powerpoint/2010/main" val="276770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670" y="934654"/>
            <a:ext cx="800298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下面列举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中常用的元素查找方法和过滤方法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表所示。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50671"/>
              </p:ext>
            </p:extLst>
          </p:nvPr>
        </p:nvGraphicFramePr>
        <p:xfrm>
          <a:off x="1342676" y="1535520"/>
          <a:ext cx="9577066" cy="448821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4138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935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060">
                <a:tc row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查找元素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find(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selector|ele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获取当前匹配元素集中每个元素的后代元素，通过选择器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或元素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ele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过滤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83212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parents([selector])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获取当前匹配元素集中每个元素的祖先元素（不包含根元素）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83212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parent([selector])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获取当前匹配元素集中每个元素的父元素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83212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siblings([selector])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获取当前匹配元素集中每个元素的兄弟元素（不分前后）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583212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next([selector])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获取当前匹配元素集中每个元素紧邻的后一个兄弟元素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85725"/>
                  </a:ext>
                </a:extLst>
              </a:tr>
              <a:tr h="583212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prev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([selector])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获取当前匹配元素集中每个元素紧邻的前一个兄弟元素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484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元素查找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和过滤操作</a:t>
            </a:r>
          </a:p>
        </p:txBody>
      </p:sp>
    </p:spTree>
    <p:extLst>
      <p:ext uri="{BB962C8B-B14F-4D97-AF65-F5344CB8AC3E}">
        <p14:creationId xmlns:p14="http://schemas.microsoft.com/office/powerpoint/2010/main" val="27014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0664" y="981522"/>
            <a:ext cx="21819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888891"/>
              </p:ext>
            </p:extLst>
          </p:nvPr>
        </p:nvGraphicFramePr>
        <p:xfrm>
          <a:off x="955398" y="1535520"/>
          <a:ext cx="10324383" cy="419853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69894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2937866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616623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7237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88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过滤元素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eq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(index)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index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对应的元素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27050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filter(selector|obj|ele|fn)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使用选择器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、对象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obj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、元素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ele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或函数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完成指定元素的筛选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627050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hasClass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(class)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检查当前的元素是否含有某个特定的类，如果有，则返回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true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，否则返回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false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884818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is(selector|obj|ele|fn)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根据选择器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、对象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obj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、元素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ele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或函数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检查当前匹配的一组元素，如果这些元素中至少有一个与给定的参数匹配，则返回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true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627050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has(selector|ele)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保留包含特定后代元素的元素，去掉不含有特定后代元素的元素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85725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元素查找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和过滤操作</a:t>
            </a:r>
          </a:p>
        </p:txBody>
      </p:sp>
    </p:spTree>
    <p:extLst>
      <p:ext uri="{BB962C8B-B14F-4D97-AF65-F5344CB8AC3E}">
        <p14:creationId xmlns:p14="http://schemas.microsoft.com/office/powerpoint/2010/main" val="428438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12200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精品展示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10.1.3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精品展示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517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981522"/>
            <a:ext cx="1029714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电商网站的首页设计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中，通常会有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精品展示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的功能，该功能用于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推送热卖的商品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，并支持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快速切换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案例将通过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实现精品展示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的功能，要求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鼠标指针经过左侧菜单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右侧的图片区域显示对应的商品图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10.1.3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精品展示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502" y="2637706"/>
            <a:ext cx="4355415" cy="37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8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元素追加操作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元素追加操作方法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元素追加操作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459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元素追加操作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4899446" y="1985403"/>
            <a:ext cx="6380335" cy="2330313"/>
            <a:chOff x="4899445" y="1985402"/>
            <a:chExt cx="6740375" cy="4570191"/>
          </a:xfrm>
        </p:grpSpPr>
        <p:sp>
          <p:nvSpPr>
            <p:cNvPr id="1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825" y="2449116"/>
              <a:ext cx="6237854" cy="3781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网页开发中，当需要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根据用户行为动态地添加页面内容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元素追加操作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。例如，用户单击某个按钮时，页面会展示新的图片或打开新的菜单列表。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元素追加操作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8" name="Shape 2015"/>
          <p:cNvSpPr/>
          <p:nvPr/>
        </p:nvSpPr>
        <p:spPr>
          <a:xfrm>
            <a:off x="4583038" y="2162174"/>
            <a:ext cx="6768752" cy="198770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99062" y="2453364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追加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是指在现有的元素中进行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提供了元素追加方法，可以帮助开发者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快速更新页面内容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改善用户体验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增强页面交互性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781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125538"/>
            <a:ext cx="800298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元素追加方法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表所示。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56819"/>
              </p:ext>
            </p:extLst>
          </p:nvPr>
        </p:nvGraphicFramePr>
        <p:xfrm>
          <a:off x="1143691" y="1917626"/>
          <a:ext cx="10352116" cy="388843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91075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6696745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9600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106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追加子元素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append(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content|fn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将参数指定的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内容插入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匹配元素集中每个元素内部的末尾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848106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prepend(content|fn)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将参数指定的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内容插入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匹配元素集中每个元素内部的开头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848106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appendTo(target)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将匹配元素集中的每个元素插入目标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元素内部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的末尾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848106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prependTo(target)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将匹配元素集中的每个元素插入目标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元素内部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的开头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元素追加操作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094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996346"/>
            <a:ext cx="19442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44954"/>
              </p:ext>
            </p:extLst>
          </p:nvPr>
        </p:nvGraphicFramePr>
        <p:xfrm>
          <a:off x="982638" y="1773610"/>
          <a:ext cx="10513168" cy="417646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683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40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追加兄弟元素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after(content|fn)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在匹配元素集中的每个元素之后插入由参数指定的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内容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902407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before(content|fn)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在匹配元素集中的每个元素之前插入由参数指定的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内容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902407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insertAfter(target)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在目标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元素之后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插入匹配元素集中的每个元素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902407">
                <a:tc v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insertBefore(target)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在目标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元素之前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插入匹配元素集中的每个元素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元素追加操作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1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元素复制操作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实现元素复制操作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元素复制操作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538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元素复制操作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4899447" y="1985401"/>
            <a:ext cx="5516239" cy="2740537"/>
            <a:chOff x="4899446" y="1985401"/>
            <a:chExt cx="5827518" cy="4793979"/>
          </a:xfrm>
        </p:grpSpPr>
        <p:sp>
          <p:nvSpPr>
            <p:cNvPr id="1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416215" y="1468632"/>
              <a:ext cx="4793979" cy="5827518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44732"/>
              <a:ext cx="5111072" cy="4199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实际开发中，当使用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元素追加操作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将匹配元素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插入目标元素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末尾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开头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时，通常会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移动匹配元素的位置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。若要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不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移动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元素位置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的情况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将匹配元素插入目标元素中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元素复制操作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637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65640"/>
            <a:ext cx="943738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元素复制操作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42878" y="2593884"/>
            <a:ext cx="619702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element.clone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([Events][,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deepEvents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0072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元素复制操作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3804" y="3641136"/>
            <a:ext cx="97311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是否复制元素的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驱动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deepEvents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是否深层复制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611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元素替换和删除操作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元素替换和删除方法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元素替换和删除操作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059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4899446" y="1985402"/>
            <a:ext cx="6380335" cy="2612606"/>
            <a:chOff x="4899445" y="1985402"/>
            <a:chExt cx="6740375" cy="4570191"/>
          </a:xfrm>
        </p:grpSpPr>
        <p:sp>
          <p:nvSpPr>
            <p:cNvPr id="1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505793"/>
              <a:ext cx="6252143" cy="3391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元素替换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选中的元素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替换为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指定的元素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元素删除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选中的元素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某个元素的子元素删除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。在实际开发中，当需要替换或删除某个元素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提供的元素替换方法或元素删除方法。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元素替换和删除操作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012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0630" y="981522"/>
            <a:ext cx="800298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元素替换和删除方法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表所示。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84029"/>
              </p:ext>
            </p:extLst>
          </p:nvPr>
        </p:nvGraphicFramePr>
        <p:xfrm>
          <a:off x="1124021" y="1743961"/>
          <a:ext cx="10227768" cy="425208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88863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768125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497078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0378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67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元素替换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replaceWith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newContent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将所有匹配的元素替换成新内容，参数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newContent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表示新内容，可以是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HTML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字符串、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DOM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元素、元素数组或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jQuery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5633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replaceAll(selector)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用匹配的元素替换掉所有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匹配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到的元素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756336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元素删除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empty()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删除元素下的子元素，但不删除元素本身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5633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remove([selector])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删除元素下的子元素和元素本身，可选参数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selector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用于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筛选元素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</a:tbl>
          </a:graphicData>
        </a:graphic>
      </p:graphicFrame>
      <p:sp>
        <p:nvSpPr>
          <p:cNvPr id="9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元素替换和删除操作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025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尺寸和位置操作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尺寸操作方法的使用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尺寸操作方法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尺寸操作方法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1" y="1131532"/>
            <a:ext cx="101097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提供的尺寸操作方法用于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获取或设置元素的高度和宽度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中常用的尺寸操作方法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230208"/>
              </p:ext>
            </p:extLst>
          </p:nvPr>
        </p:nvGraphicFramePr>
        <p:xfrm>
          <a:off x="1081011" y="2205658"/>
          <a:ext cx="10270779" cy="407284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428654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842125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1250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10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width()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获取第一个匹配元素的当前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宽度，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返回数字型结果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5391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width(value)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为所有匹配的元素设置宽度，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value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可以是字符串或数字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5391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height()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获取第一个匹配元素的当前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高度，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返回数字型结果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5391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height(value)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为所有匹配的元素设置高度，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value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可以是字符串或数字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78256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outerWidth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([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includeMargin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匹配获取元素集中第一个元素的当前计算的外部宽度，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includeMargin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表示是否包括边距，默认为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，表示不包括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167487"/>
                  </a:ext>
                </a:extLst>
              </a:tr>
              <a:tr h="55391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outerHeight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(value[, 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includeMargin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为所有匹配的元素设置高度为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value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1177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尺寸操作方法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413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位置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操作方法的使用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位置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420375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1" y="1092878"/>
            <a:ext cx="101531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390216"/>
              </p:ext>
            </p:extLst>
          </p:nvPr>
        </p:nvGraphicFramePr>
        <p:xfrm>
          <a:off x="1198662" y="2277666"/>
          <a:ext cx="9937104" cy="386467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389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8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offset()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获取元素的位置，返回的是一个对象，包含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left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属性和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top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offset(coordinates)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使用对象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coordinates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设置元素的位置，必须包含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left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属性和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top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scrollTop()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scrollLeft()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获取匹配元素相对滚动条顶部和左部的位置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scrollTop(value)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scrollLeft(value)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设置匹配元素相对滚动条顶部和左部的位置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位置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18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4789384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页面加载事件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能够灵活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页面加载事件实现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元素前面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页面加载事件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页面加载事件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899446" y="1985402"/>
            <a:ext cx="6380335" cy="2612606"/>
            <a:chOff x="4899445" y="1985402"/>
            <a:chExt cx="6740375" cy="4570191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02060"/>
              <a:ext cx="6252143" cy="4199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页面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加载事件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实现页面的初始化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。在使用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元素时，为了确保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代码能够生效，需要将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代码写在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元素后面，否则代码不会生效。如果想要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将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代码写在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元素前面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，就需要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使用页面加载事件来实现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73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页面加载事件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302132"/>
            <a:ext cx="698477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页面加载事件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的语法格式有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种，具体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83312" y="2295594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document).ready(function () {})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$().ready(function () {})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$(function () {})	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7928" y="4181613"/>
            <a:ext cx="102658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ready()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监听页面加载事件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。在页面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元素加载完成后，将需要运行的代码写到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中，并传递给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，由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在合适的时机运行。</a:t>
            </a:r>
          </a:p>
        </p:txBody>
      </p:sp>
    </p:spTree>
    <p:extLst>
      <p:ext uri="{BB962C8B-B14F-4D97-AF65-F5344CB8AC3E}">
        <p14:creationId xmlns:p14="http://schemas.microsoft.com/office/powerpoint/2010/main" val="53114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能够灵活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实现事件注册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147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683422" y="1985402"/>
            <a:ext cx="6380335" cy="3216691"/>
            <a:chOff x="4899445" y="1985402"/>
            <a:chExt cx="6740375" cy="4570191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02060"/>
              <a:ext cx="6176071" cy="4086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前面学习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的相关知识时，讲解了如何通过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标签的属性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进行事件注册，以及如何在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代码中获取元素后使用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“元素对象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.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事件属性”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完成事件的注册。在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中，实现事件注册的方式有两种，第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事件方法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，第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on()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实现事件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978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358336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通过事件方法实现事件注册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61983"/>
            <a:ext cx="1022513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调用某个事件方法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，并传入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就可以实现事件注册。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的事件处理方法和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中的事件属性相比，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省略了开头的“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click()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方法对应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onclick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中的事件方法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允许多次调用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一个事件注册多个事件处理函数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1867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47322" y="988726"/>
            <a:ext cx="81838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具体如下表所示。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424772"/>
              </p:ext>
            </p:extLst>
          </p:nvPr>
        </p:nvGraphicFramePr>
        <p:xfrm>
          <a:off x="1143691" y="1573895"/>
          <a:ext cx="10136091" cy="430417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75518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734349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492622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7824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241">
                <a:tc rowSpan="7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表单事件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blur([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当元素失去焦点时触发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7824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focus([eventData][,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当元素获得焦点时触发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7824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change([eventData][,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当元素的值发生改变时触发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7824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focusin([eventData][,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在父元素上检测子元素获取焦点的情况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47824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focusout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在父元素上检测子元素失去焦点的情况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  <a:tr h="956483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select([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当文本框（包括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&lt;input&gt;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和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textarea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&gt;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）中的文本被选中时触发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43074"/>
                  </a:ext>
                </a:extLst>
              </a:tr>
              <a:tr h="47824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submit([eventData][,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当表单提交时触发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69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20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82638" y="920842"/>
            <a:ext cx="19442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762243"/>
              </p:ext>
            </p:extLst>
          </p:nvPr>
        </p:nvGraphicFramePr>
        <p:xfrm>
          <a:off x="1005632" y="1622602"/>
          <a:ext cx="10418166" cy="43274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7315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8083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830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键盘事件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keydown([eventData][,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按键盘按键时触发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961661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keypress([eventData][,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按键盘按键（“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Shift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”“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”“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Caps Lock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”等非字符键除外）时触发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8083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keyup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键盘按键弹起时触发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80830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鼠标事件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mouseover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当鼠标指针移入元素或其子元素时触发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48083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mouseout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当鼠标指针移出元素或其子元素时触发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  <a:tr h="48083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mouseenter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当鼠标指针移入元素时触发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43074"/>
                  </a:ext>
                </a:extLst>
              </a:tr>
              <a:tr h="48083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mouseleave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当鼠标指针移出元素时触发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69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799270"/>
              </p:ext>
            </p:extLst>
          </p:nvPr>
        </p:nvGraphicFramePr>
        <p:xfrm>
          <a:off x="1143690" y="1773609"/>
          <a:ext cx="10208099" cy="403244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8600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041580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4680519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鼠标事件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click([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当单击元素时触发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dblclick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当双击元素时触发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1008112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mousedown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当鼠标指针移动到元素上方，并按鼠标按键时触发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mouseup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当在元素上放松鼠标按键时会被触发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504056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浏览器事件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scroll([eventData][, handler])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当滚动条发生变化时触发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resize([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eventData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handler])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当调整浏览器窗口的大小时会被触发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4307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82638" y="1060417"/>
            <a:ext cx="19442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180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351135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on()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845618"/>
            <a:ext cx="100640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方法用于为元素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注册一个或多个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也可以为不同事件注册相同的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方法注册一个事件的语法格式如下。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86894" y="2939991"/>
            <a:ext cx="611649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element.on(event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fn)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3645818"/>
            <a:ext cx="6092825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方法注册多个事件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86894" y="4293890"/>
            <a:ext cx="611649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({ event: fn }, { event: fn }, …)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3690" y="4941962"/>
            <a:ext cx="862334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注册相同的事件处理函数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86894" y="5647789"/>
            <a:ext cx="611649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element.on(events, fn)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157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50109" y="1607820"/>
            <a:ext cx="443212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14538" y="1761975"/>
            <a:ext cx="4340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jQuery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的排他操作清除元素样式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8429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71996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3" name="矩形 2"/>
          <p:cNvSpPr/>
          <p:nvPr/>
        </p:nvSpPr>
        <p:spPr>
          <a:xfrm>
            <a:off x="971712" y="2709714"/>
            <a:ext cx="1030806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前面的章节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讲解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了如何使用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排他操作实现高亮显示被单击的按钮，在实际开发中，还可以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的排他操作清除元素样式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，页面中有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单击任意一个按钮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时，该按钮的背景颜色将显示为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粉色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，其他两个按钮的背景颜色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7605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3" name="矩形 2"/>
          <p:cNvSpPr/>
          <p:nvPr/>
        </p:nvSpPr>
        <p:spPr>
          <a:xfrm>
            <a:off x="972438" y="1409414"/>
            <a:ext cx="105233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实现这样的效果，则可以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的排他操作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37778" y="2126596"/>
            <a:ext cx="6192688" cy="41115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$('button').click(function()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$(this).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('background', 'pink');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$(this).siblings('button').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('background', '');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671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事件触发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能够灵活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triggerHandler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实现事件触发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事件触发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973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22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755430" y="1985402"/>
            <a:ext cx="6380335" cy="3216691"/>
            <a:chOff x="4899445" y="1985402"/>
            <a:chExt cx="6740375" cy="4570191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02060"/>
              <a:ext cx="6176071" cy="40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在为元素注册事件后，由用户或浏览器触发事件，若希望某个事件在程序中被触发，就需要手动触发这个事件。在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中，实现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事件触发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种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，第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实现事件触发；第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种方式是通过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trigger()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实现事件触发；第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种方式是通过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triggerHandler()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实现事件触发。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事件触发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831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37273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方法实现事件触发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619560"/>
            <a:ext cx="99920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中，调用事件方法还可以实现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事件触发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，两者的区别在于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是否传入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不传入参数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则表示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475432" y="2542890"/>
            <a:ext cx="5544616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通过事件方法实现事件触发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$('div').click(function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alert('Hello');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事件触发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$('div').click();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事件触发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29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408742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trigger()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方法实现事件触发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91828" y="1660238"/>
            <a:ext cx="6299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方法可以触发指定事件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39900" y="2101027"/>
            <a:ext cx="8433600" cy="46138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trigger()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方法实现事件触发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$('div').click(function ()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alert('Hello');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事件触发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$('div').trigger('click');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事件触发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185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50955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triggerHandler()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方法实现事件触发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966473"/>
            <a:ext cx="1072919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触发事件时，都会运行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triggerHandler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触发事件时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不会运行元素的默认行为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的默认行为是指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用户执行某个动作后元素自动产生的行为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，例如，文本框获取焦点时有光标闪烁的现象。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事件触发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852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实现事件委托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委托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360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683422" y="1985403"/>
            <a:ext cx="6380335" cy="2668528"/>
            <a:chOff x="4899445" y="1985402"/>
            <a:chExt cx="6740375" cy="4570191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02058"/>
              <a:ext cx="6100000" cy="410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委托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是指把原本要给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子元素注册的事件委托给父元素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，也就是将子元素的事件注册到父元素上。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事件委托的优势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在于，可以为未来动态创建的元素注册事件，其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原理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是将事件委托给父元素后，在父元素中动态创建的子元素也会拥有事件。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委托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744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410681"/>
            <a:ext cx="8856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方法的语法格式如下。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86894" y="2620302"/>
            <a:ext cx="548127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element.on(event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selector, fn)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委托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638" y="3811900"/>
            <a:ext cx="104411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子元素选择器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861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13454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事件解除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解除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事件解除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596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346017"/>
            <a:ext cx="105131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事件解除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移除元素所注册的事件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中，事件解除通过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方法的语法格式如下。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642602" y="2855636"/>
            <a:ext cx="504922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element.off(event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selector)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3957964"/>
            <a:ext cx="10064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解除元素上的所有事件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只传入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解除元素上注册的指定事件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解除元素上的事件委托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事件解除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03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50109" y="1607820"/>
            <a:ext cx="1928873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48837" y="1743045"/>
            <a:ext cx="163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one()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81281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56280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3" name="矩形 2"/>
          <p:cNvSpPr/>
          <p:nvPr/>
        </p:nvSpPr>
        <p:spPr>
          <a:xfrm>
            <a:off x="982980" y="2328294"/>
            <a:ext cx="10296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one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注册一次性事件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。在网页开发中，若希望元素的某个事件只触发一次，可以使用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one()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方法实现。例如，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元素注册一次性单击事件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事件解除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19552" y="3285778"/>
            <a:ext cx="8433600" cy="3367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&lt;div&gt;div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$('div').one('click', function ()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元素注册一次性单击事件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063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224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053530"/>
            <a:ext cx="103691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事件被触发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时，就会产生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，在事件处理函数中可以使用参数接收事件对象。除此之外，还可以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使用事件对象阻止默认行为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查看事件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610930" y="2671724"/>
            <a:ext cx="5256584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单击事件对象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$('div').click(function (event)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console.log(event);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684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188744"/>
            <a:ext cx="94330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单击页面中的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“单击事件对象”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810" y="1917626"/>
            <a:ext cx="6480720" cy="41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4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973971"/>
            <a:ext cx="1044116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使用事件对象阻止默认行为和事件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冒泡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70870" y="1773610"/>
            <a:ext cx="6264696" cy="45731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="1.html"&gt;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&lt;/a&gt;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$(document).on('click',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$('a').on('click', function (event)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event.preventDefault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阻止事件默认行为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953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10.3.6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7749" y="1629594"/>
            <a:ext cx="835292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，可以添加如下代码。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43690" y="2735919"/>
            <a:ext cx="9488019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event.stopPropagation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		//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579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20655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Tab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10.3.7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】Tab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栏切换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052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899446" y="1985404"/>
            <a:ext cx="5732264" cy="2308488"/>
            <a:chOff x="4899445" y="1985405"/>
            <a:chExt cx="6055734" cy="4717340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568642" y="1316208"/>
              <a:ext cx="4717340" cy="6055734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342355"/>
              <a:ext cx="5415358" cy="396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Tab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页面中的标签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Tab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栏切换是一种常见的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网页特效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，在网页开发中，使用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Tab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栏切换可以提高用户的体验，当用户单击页面中的标签时，会显示当前标签下的内容。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10.3.7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】Tab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栏切换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8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10.3.7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】Tab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栏切换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485578"/>
            <a:ext cx="1015312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下面将通过一个案例演示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栏切换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的实现，本案例的具体实现思路如下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页面结构。使用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栏列表结构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展示当前标签下的页面结构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页面样式。当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单击当前标签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时，当前标签的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背景颜色为绿色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实现业务逻辑。当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单击顶部标签栏中的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时，当前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current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其他兄弟元素移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current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并且同时得到当前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的索引，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让内容区域中相应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166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987529"/>
            <a:ext cx="648072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浏览器中进行测试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10.3.7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】Tab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栏切换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385" y="1635108"/>
            <a:ext cx="6647619" cy="21238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73200" y="3789834"/>
            <a:ext cx="719264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当单击列表标签中的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“规格与包装”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384" y="4491788"/>
            <a:ext cx="6647619" cy="21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8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动画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显示和隐藏效果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控制元素显示和隐藏的方法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显示和隐藏效果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7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显示和隐藏效果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125538"/>
            <a:ext cx="102801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在某个电商平台的页面开发中，假设需要给用户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的功能，由于页面空间有限，需要当用户单击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“展开筛选条件”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展开筛选条件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，用户完成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筛选条件收起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。若要实现这个开发需求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中的显示和隐藏效果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中控制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元素显示和隐藏效果的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55815"/>
              </p:ext>
            </p:extLst>
          </p:nvPr>
        </p:nvGraphicFramePr>
        <p:xfrm>
          <a:off x="1359715" y="3416987"/>
          <a:ext cx="9560027" cy="222487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749292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3810735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389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8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show([duration][, easing][, complete])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显示被隐藏的匹配元素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hide([duration][, easing][, complete])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隐藏已显示的匹配元素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toggle([duration][, easing][, complete])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元素显示和隐藏切换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32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滑动效果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控制元素上滑和下滑的方法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滑动效果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619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629594"/>
            <a:ext cx="10225136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网页开发中，使用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滑动效果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提升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体验，例如，在开发垂直导航菜单时，可以通过滑动效果设置当用户单击导航菜单后，子菜单下拉显示，再次单击则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收起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子菜单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slideDown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slideUp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实现滑动效果，其中，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slideDown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文本自上而下逐渐显示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slideUp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方法则是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文本自下而上逐渐隐藏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滑动效果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054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1040" y="1269554"/>
            <a:ext cx="80963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中控制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元素上滑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的方法和说明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，具体如下表所示。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829"/>
              </p:ext>
            </p:extLst>
          </p:nvPr>
        </p:nvGraphicFramePr>
        <p:xfrm>
          <a:off x="997886" y="2290731"/>
          <a:ext cx="10497920" cy="24653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313344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389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8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slideDown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([duration][, easing][, complete])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垂直滑动显示匹配元素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自上而下逐渐显示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slideUp([duration][, easing][, complete])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垂直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滑动</a:t>
                      </a: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匹配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自下而上逐渐隐藏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825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slideToggle([duration][, easing][, complete])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slideDown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slideUp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两种</a:t>
                      </a: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方法实现的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效果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之间切换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滑动效果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722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停止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停止动画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10.4.3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停止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55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517" y="1269554"/>
            <a:ext cx="10064083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在同一个元素上调用了一个以上的动画方法，则该元素除了当前正在运行的动画，其他的动画将被放到一个队列中，这样就形成了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动画队列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。动画队列中的动画都是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按照顺序运行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的，默认只有当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个动画运行完毕，才会运行下一个动画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想运行动画队列中的第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个动画或其他动画，则需要停止元素当前正在运行的动画。当需要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停止动画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，其语法格式如下。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10.4.3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停止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87226" y="4581922"/>
            <a:ext cx="5976664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element.stop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([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clearQueue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][,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jumpToEnd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046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341562"/>
            <a:ext cx="1022513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程序中调用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设置的参数不同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实现不同的效果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元素为例，演示使用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种常用方式，示例代码如下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10.4.3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停止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042978" y="2924233"/>
            <a:ext cx="3960440" cy="13388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'div').stop();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$('div').stop(true);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$('div').stop(true, true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947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淡入淡出效果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控制元素淡入和淡出的方法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淡入淡出效果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47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899446" y="1985403"/>
            <a:ext cx="6380335" cy="2668528"/>
            <a:chOff x="4899445" y="1985402"/>
            <a:chExt cx="6740375" cy="4570191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35" y="2202058"/>
              <a:ext cx="6100000" cy="411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某个电商网站的开发中，为了提高用户体验，需要在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首页展示热门商品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，并提供一个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“查看更多”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用户单击该按钮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让新加载的商品平滑渐显，就可以使用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中控制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元素淡入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淡出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的方法。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淡入淡出效果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80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1040" y="1243860"/>
            <a:ext cx="80963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中控制元素淡入和淡出的方法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09185"/>
              </p:ext>
            </p:extLst>
          </p:nvPr>
        </p:nvGraphicFramePr>
        <p:xfrm>
          <a:off x="982638" y="2061642"/>
          <a:ext cx="10585176" cy="324036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256584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4723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889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fadeIn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([duration][, easing][, complete])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淡入显示匹配元素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91447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fadeOut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([duration][, easing][, complete])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淡出隐藏匹配元素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78639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fadeTo(duration,opacity[, easing][, complete])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以淡入淡出方式将匹配元素调整到指定的透明度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8639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fadeToggle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([duration][, easing][, complete])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fadeIn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fadeOut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两种</a:t>
                      </a: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方法实现的</a:t>
                      </a: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效果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间切换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2159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淡入淡出效果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737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147604"/>
            <a:ext cx="104411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通过代码进行演示，实现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鼠标指针移入盒子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突出显示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其他盒子以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透明度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淡入淡出效果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4646" y="1917626"/>
            <a:ext cx="7848872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鼠标指针移入第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个盒子时效果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54" y="2722914"/>
            <a:ext cx="4847619" cy="22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289" y="2722914"/>
            <a:ext cx="4847619" cy="2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9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自定义动画的实现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animate()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自定义动画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自定义动画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97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250277"/>
            <a:ext cx="1022513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网页开发中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停止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淡入淡出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动画效果无法满足用户的实际需求时，可以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animate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方法自定义动画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自定义动画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94430" y="2997746"/>
            <a:ext cx="8433600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element.animate(properties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[, duration][, easing][, complete])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6654" y="4146277"/>
            <a:ext cx="10081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properties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表示一组包含动画最终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属性值的集合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，如果属性名由两个单词组成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需要使用驼峰命名法，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background-color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写为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219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12200"/>
            <a:ext cx="563859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手风琴效果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手风琴效果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405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557586"/>
            <a:ext cx="1028010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动画实现手风琴效果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的案例进行讲解，本案例的具体实现思路如下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编写页面结构。在页面中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个不同颜色的小方块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，将每个小方块的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69px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，当鼠标指针经过不同颜色的小方块时，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小方块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将变为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224px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69px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的大方块。</a:t>
            </a: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编写页面样式。为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个小方块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设置不同的背景颜色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十六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来区分。为了使页面样式更加美观，大方块的背景颜色采用接近于当前小方块的背景颜色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手风琴效果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151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088370"/>
            <a:ext cx="105131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实现交互效果。当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鼠标指针移动到小方块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触发鼠标指针移入事件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。在使用选择器获取页面中的小方块时，通过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fadeIn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fadeOut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控制方块的显示与隐藏。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10.4.6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手风琴效果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42783" y="2709714"/>
            <a:ext cx="79928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鼠标指针移入第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小方块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57" y="3637832"/>
            <a:ext cx="4808020" cy="150049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22" y="3645818"/>
            <a:ext cx="4782432" cy="149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6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50054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其他方法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13454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$.extend()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$.extend()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方法的作用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10.5.1  $.extend()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413570"/>
            <a:ext cx="953672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$.extend()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一个对象的成员赋值给另一个对象使用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，其语法格式如下。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14322" y="2638830"/>
            <a:ext cx="6417376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extend([deep], target, object1[, objectN])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3795058"/>
            <a:ext cx="105851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deep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深复制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浅复制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需要复制的目标对象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，后面可以跟多个对象（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object1~objectN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）；参数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待复制的第一个对象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待复制的第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。当不同对象中存在相同的成员名时，后面的对象的成员会覆盖前面的对象的成员。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10.5.1  $.extend()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073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$.ajax()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$.ajax()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方法的作用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10.5.2  $.ajax()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944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899444" y="1845618"/>
            <a:ext cx="6380335" cy="3312369"/>
            <a:chOff x="4899443" y="1769416"/>
            <a:chExt cx="6740375" cy="5118076"/>
          </a:xfrm>
        </p:grpSpPr>
        <p:sp>
          <p:nvSpPr>
            <p:cNvPr id="17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710593" y="958266"/>
              <a:ext cx="5118076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8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885" y="2132905"/>
              <a:ext cx="5857497" cy="4422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$.ajax()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方法用于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Ajax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Asynchronous JavaScript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XML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，异步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XML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技术请求服务器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获取服务器的响应结果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Ajax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技术用于在浏览器中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JavaScript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向服务器发送请求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，接收服务器返回的结果。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10.5.2  $.ajax()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772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82638" y="981522"/>
            <a:ext cx="100091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$.ajax()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方法外，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Ajax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请求。下面列举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Ajax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23661"/>
              </p:ext>
            </p:extLst>
          </p:nvPr>
        </p:nvGraphicFramePr>
        <p:xfrm>
          <a:off x="1054646" y="2176817"/>
          <a:ext cx="10369153" cy="433216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09445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073945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4785763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579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44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高级应用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$.get(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[, data][, 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type])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b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通过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GET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请求载入信息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$.post(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[, data][, 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][, type])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通过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POST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请求载入信息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4135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getJSON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[, data][, 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b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通过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GET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请求载入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JSON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数据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3148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getScript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[, 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])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通过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GET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请求载入并执行一个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JavaScript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文件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610366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底层应用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对象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.load(url[, data][, fn])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载入远程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HTML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文件代码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并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将其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插入 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DOM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  <a:tr h="61036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$.ajax(url[, options])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请求加载远程数据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43074"/>
                  </a:ext>
                </a:extLst>
              </a:tr>
              <a:tr h="548068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$.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ajaxSetup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(options)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设置全局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Ajax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默认选项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6902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10.5.2  $.ajax()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675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55669" y="1044985"/>
            <a:ext cx="37444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Ajax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09641"/>
              </p:ext>
            </p:extLst>
          </p:nvPr>
        </p:nvGraphicFramePr>
        <p:xfrm>
          <a:off x="1279779" y="1870883"/>
          <a:ext cx="9937104" cy="386316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777686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64386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选项名称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处理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Ajax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请求的服务器地址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data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Ajax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请求时传递的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参数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字符串型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success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Ajax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请求成功时所触发的回调函数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发送的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HTTP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请求方式，如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POST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datatype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期待的返回值类型，如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XML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JSON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SCRIPT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HTML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数据类型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10.5.2  $.ajax()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252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1" y="931580"/>
            <a:ext cx="20162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639276"/>
              </p:ext>
            </p:extLst>
          </p:nvPr>
        </p:nvGraphicFramePr>
        <p:xfrm>
          <a:off x="1143691" y="1485578"/>
          <a:ext cx="10280107" cy="446449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41689">
                  <a:extLst>
                    <a:ext uri="{9D8B030D-6E8A-4147-A177-3AD203B41FA5}">
                      <a16:colId xmlns:a16="http://schemas.microsoft.com/office/drawing/2014/main" val="2983273511"/>
                    </a:ext>
                  </a:extLst>
                </a:gridCol>
                <a:gridCol w="813841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8970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选项名称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4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async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是否异步，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表示异步，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表示同步，默认值为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4804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cache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是否缓存，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表示缓存，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表示不缓存，默认值为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138260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contentType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内容类型请求头，默认值为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application/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x-www-form-urlencoded;charset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=UTF-8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4804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complete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当服务器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接收完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Ajax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请求传送的数据后触发的回调函数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9501"/>
                  </a:ext>
                </a:extLst>
              </a:tr>
              <a:tr h="64804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jsonp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在一个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JSONP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请求中重写回调函数的名称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4296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10.5.2  $.ajax()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404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361690" y="3014256"/>
            <a:ext cx="8710180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776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实现购物车功能的案例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33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购物车商品全选功能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43078" y="2384514"/>
            <a:ext cx="61206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在购物车页面中，一般会给用户提供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“全选”复选框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为每一件商品提供一个复选框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，当用户单击“全选”复选框时，就会把所有商品的复选框选中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99899"/>
            <a:ext cx="3715858" cy="4006159"/>
          </a:xfrm>
          <a:prstGeom prst="rect">
            <a:avLst/>
          </a:prstGeom>
        </p:spPr>
      </p:pic>
      <p:sp>
        <p:nvSpPr>
          <p:cNvPr id="19" name="Shape 2015"/>
          <p:cNvSpPr/>
          <p:nvPr/>
        </p:nvSpPr>
        <p:spPr>
          <a:xfrm>
            <a:off x="4583038" y="2162174"/>
            <a:ext cx="6768752" cy="198770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46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增减商品数量功能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43078" y="2349674"/>
            <a:ext cx="61206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件商品的购买数量是一个带有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的文本框，用户可以通过单击“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”按钮或“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增减商品数量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。当用户单击“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”按钮时，可以让文本框中的数字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；当用户单击“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”按钮时，可以让文本框中的数字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99899"/>
            <a:ext cx="3715858" cy="4006159"/>
          </a:xfrm>
          <a:prstGeom prst="rect">
            <a:avLst/>
          </a:prstGeom>
        </p:spPr>
      </p:pic>
      <p:sp>
        <p:nvSpPr>
          <p:cNvPr id="19" name="Shape 2015"/>
          <p:cNvSpPr/>
          <p:nvPr/>
        </p:nvSpPr>
        <p:spPr>
          <a:xfrm>
            <a:off x="4583038" y="2162174"/>
            <a:ext cx="6768752" cy="270778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719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商品小计功能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43078" y="2349674"/>
            <a:ext cx="61206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是当前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选中商品的数量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价格相乘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得到的结果，实现商品小计功能的核心思路是，用户每次单击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”按钮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时，根据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文本框的值乘以当前商品的价格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，就可以得到商品的小计，通过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修改当前商品的小计中显示的内容。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99899"/>
            <a:ext cx="3715858" cy="4006159"/>
          </a:xfrm>
          <a:prstGeom prst="rect">
            <a:avLst/>
          </a:prstGeom>
        </p:spPr>
      </p:pic>
      <p:sp>
        <p:nvSpPr>
          <p:cNvPr id="19" name="Shape 2015"/>
          <p:cNvSpPr/>
          <p:nvPr/>
        </p:nvSpPr>
        <p:spPr>
          <a:xfrm>
            <a:off x="4583038" y="2162174"/>
            <a:ext cx="6768752" cy="270778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632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32953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商品总件数和总额功能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89634"/>
            <a:ext cx="10208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购物车页面的右下方，会显示用户购买的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商品总件数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总额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实现商品总件数和总额的功能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，实现思路如下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8548" y="3141762"/>
            <a:ext cx="77768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所有选中的商品的购买数量文本框中的值相加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，得到总件数。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所有选中的商品的小计值相加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，得到总额。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更改了复选框的状态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更新总额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更改了商品数量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更新总额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0706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32953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删除商品功能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43078" y="2277666"/>
            <a:ext cx="61926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商品功能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，主要分为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删除选中商品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删除当前商品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删除购物车中的所有商品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种情况。每一件商品都提供了一个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“删除”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链接，单击“删除”链接表示删除当前商品。在购物车的底部，提供了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“删除选中商品”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“清理购物车”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链接，分别用于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删除选中商品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删除所有商品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99899"/>
            <a:ext cx="3715858" cy="4006159"/>
          </a:xfrm>
          <a:prstGeom prst="rect">
            <a:avLst/>
          </a:prstGeom>
        </p:spPr>
      </p:pic>
      <p:sp>
        <p:nvSpPr>
          <p:cNvPr id="7" name="Shape 2015"/>
          <p:cNvSpPr/>
          <p:nvPr/>
        </p:nvSpPr>
        <p:spPr>
          <a:xfrm>
            <a:off x="4583038" y="2162174"/>
            <a:ext cx="6768752" cy="304982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75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10.6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实现购物车功能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43690" y="1115504"/>
            <a:ext cx="365537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为选中的商品添加背景颜色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133650"/>
            <a:ext cx="1028010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用户在购物车中通过复选框选中某一件商品后，为了突出显示，可以为该商品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添加背景色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，这样能够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提高用户体验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购物车中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为选中的商品添加背景颜色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的实现思路是：在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商品复选框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“全选”复选框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change()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增加判断当前选中状态的代码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复选框是选中状态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复选框不是选中状态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。获取当前元素的选中状态可以用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$(this).prop()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344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41960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627172" y="2517644"/>
            <a:ext cx="9004538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（下）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元素的遍历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追加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操作；然后讲解了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尺寸和位置操作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的使用，包括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$.extend()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$.ajax()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开发交互性更强的网页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15432</TotalTime>
  <Words>6734</Words>
  <Application>Microsoft Office PowerPoint</Application>
  <PresentationFormat>自定义</PresentationFormat>
  <Paragraphs>687</Paragraphs>
  <Slides>100</Slides>
  <Notes>69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12" baseType="lpstr">
      <vt:lpstr>Source Han Sans K Bold</vt:lpstr>
      <vt:lpstr>思源黑体 CN Medium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5890</cp:revision>
  <dcterms:created xsi:type="dcterms:W3CDTF">2020-11-09T06:56:00Z</dcterms:created>
  <dcterms:modified xsi:type="dcterms:W3CDTF">2024-04-19T06:26:32Z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