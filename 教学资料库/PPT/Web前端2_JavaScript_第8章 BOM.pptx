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72"/>
  </p:notesMasterIdLst>
  <p:handoutMasterIdLst>
    <p:handoutMasterId r:id="rId73"/>
  </p:handoutMasterIdLst>
  <p:sldIdLst>
    <p:sldId id="325" r:id="rId3"/>
    <p:sldId id="1129" r:id="rId4"/>
    <p:sldId id="328" r:id="rId5"/>
    <p:sldId id="1146" r:id="rId6"/>
    <p:sldId id="309" r:id="rId7"/>
    <p:sldId id="1059" r:id="rId8"/>
    <p:sldId id="1125" r:id="rId9"/>
    <p:sldId id="1423" r:id="rId10"/>
    <p:sldId id="1492" r:id="rId11"/>
    <p:sldId id="1424" r:id="rId12"/>
    <p:sldId id="1489" r:id="rId13"/>
    <p:sldId id="1497" r:id="rId14"/>
    <p:sldId id="1598" r:id="rId15"/>
    <p:sldId id="1599" r:id="rId16"/>
    <p:sldId id="1600" r:id="rId17"/>
    <p:sldId id="1427" r:id="rId18"/>
    <p:sldId id="1304" r:id="rId19"/>
    <p:sldId id="1601" r:id="rId20"/>
    <p:sldId id="1602" r:id="rId21"/>
    <p:sldId id="1603" r:id="rId22"/>
    <p:sldId id="1604" r:id="rId23"/>
    <p:sldId id="1574" r:id="rId24"/>
    <p:sldId id="1605" r:id="rId25"/>
    <p:sldId id="1606" r:id="rId26"/>
    <p:sldId id="1607" r:id="rId27"/>
    <p:sldId id="1608" r:id="rId28"/>
    <p:sldId id="1588" r:id="rId29"/>
    <p:sldId id="1609" r:id="rId30"/>
    <p:sldId id="1610" r:id="rId31"/>
    <p:sldId id="1611" r:id="rId32"/>
    <p:sldId id="1612" r:id="rId33"/>
    <p:sldId id="1613" r:id="rId34"/>
    <p:sldId id="1493" r:id="rId35"/>
    <p:sldId id="1501" r:id="rId36"/>
    <p:sldId id="1577" r:id="rId37"/>
    <p:sldId id="1614" r:id="rId38"/>
    <p:sldId id="1615" r:id="rId39"/>
    <p:sldId id="1616" r:id="rId40"/>
    <p:sldId id="1617" r:id="rId41"/>
    <p:sldId id="1618" r:id="rId42"/>
    <p:sldId id="1299" r:id="rId43"/>
    <p:sldId id="1356" r:id="rId44"/>
    <p:sldId id="1619" r:id="rId45"/>
    <p:sldId id="1620" r:id="rId46"/>
    <p:sldId id="1161" r:id="rId47"/>
    <p:sldId id="1590" r:id="rId48"/>
    <p:sldId id="1621" r:id="rId49"/>
    <p:sldId id="1622" r:id="rId50"/>
    <p:sldId id="1623" r:id="rId51"/>
    <p:sldId id="1624" r:id="rId52"/>
    <p:sldId id="1625" r:id="rId53"/>
    <p:sldId id="1626" r:id="rId54"/>
    <p:sldId id="1627" r:id="rId55"/>
    <p:sldId id="1628" r:id="rId56"/>
    <p:sldId id="1629" r:id="rId57"/>
    <p:sldId id="1631" r:id="rId58"/>
    <p:sldId id="1632" r:id="rId59"/>
    <p:sldId id="1163" r:id="rId60"/>
    <p:sldId id="1383" r:id="rId61"/>
    <p:sldId id="1593" r:id="rId62"/>
    <p:sldId id="1634" r:id="rId63"/>
    <p:sldId id="1635" r:id="rId64"/>
    <p:sldId id="1636" r:id="rId65"/>
    <p:sldId id="1637" r:id="rId66"/>
    <p:sldId id="1638" r:id="rId67"/>
    <p:sldId id="1639" r:id="rId68"/>
    <p:sldId id="1640" r:id="rId69"/>
    <p:sldId id="1416" r:id="rId70"/>
    <p:sldId id="1417" r:id="rId71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>
      <p:cViewPr varScale="1">
        <p:scale>
          <a:sx n="77" d="100"/>
          <a:sy n="77" d="100"/>
        </p:scale>
        <p:origin x="114" y="462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50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00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311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850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5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787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318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919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009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BOM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1917626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BOM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概念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阐述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BOM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概念</a:t>
              </a:r>
              <a:endPara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2887848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BOM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对象的使用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，能够灵活应用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BOM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对象实现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浏览器操作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3855958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窗口事件的使用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窗口加载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窗口卸载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窗口大小改变时运行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特定</a:t>
              </a:r>
              <a:endPara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代码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4790629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定时器方法的使用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，能够应用定时器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延迟一段时间运行代码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或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间歇运行代码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486694" y="5768169"/>
            <a:ext cx="9709797" cy="685961"/>
            <a:chOff x="978872" y="2570436"/>
            <a:chExt cx="5437064" cy="514351"/>
          </a:xfrm>
        </p:grpSpPr>
        <p:sp>
          <p:nvSpPr>
            <p:cNvPr id="31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同步和异步的概念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区分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同步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异步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2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646" y="2035133"/>
            <a:ext cx="1008112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开发网页交互效果时，经常需要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获取浏览器的一些信息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，控制浏览器的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为了使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。本章将详细讲解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Picture 2" descr="C:\Users\Administrator\Desktop\ppt展示模板-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59912" y="3571675"/>
            <a:ext cx="4551518" cy="273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252906" y="3947816"/>
            <a:ext cx="3210452" cy="1800200"/>
          </a:xfrm>
          <a:prstGeom prst="rect">
            <a:avLst/>
          </a:prstGeom>
          <a:blipFill>
            <a:blip r:embed="rId4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800"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3980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80712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70790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1762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BOM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简介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9029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BOM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对象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8624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窗口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617156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595502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定时器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42878" y="5539680"/>
            <a:ext cx="1192190" cy="614525"/>
            <a:chOff x="2215144" y="3084852"/>
            <a:chExt cx="1244730" cy="844793"/>
          </a:xfrm>
        </p:grpSpPr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48430" y="5518026"/>
            <a:ext cx="5142331" cy="613062"/>
            <a:chOff x="4315150" y="2341731"/>
            <a:chExt cx="3857250" cy="540057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同步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和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异步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BOM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17826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阐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述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概念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BOM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BOM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1269554"/>
            <a:ext cx="101989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Browser Object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Model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对象模型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由浏览器提供的一系列对象构成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管理窗口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窗口之间的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顶级对象是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浏览器窗口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，其他对象都是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，当调用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对象下的属性和方法时，可以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省略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。常见的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854" y="3429794"/>
            <a:ext cx="6624736" cy="189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0210" y="1341562"/>
            <a:ext cx="101360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又属于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操作浏览器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获取浏览器的基本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history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操作浏览器的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历史记录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screen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获取屏幕信息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没有统一标准，每个浏览器都有对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的实现方式，因此，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浏览器兼容性较差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BOM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2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BOM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window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window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22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755428" y="1629594"/>
            <a:ext cx="5588249" cy="4036679"/>
            <a:chOff x="4899443" y="1890624"/>
            <a:chExt cx="5903592" cy="531311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194680" y="1595387"/>
              <a:ext cx="5313117" cy="5903592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825" y="2085749"/>
              <a:ext cx="5401068" cy="4982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对象既是浏览器窗口对象，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又是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全局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，全局变量在书写时可以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省略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，例如，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window.document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window.console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window.alert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window.prompt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可以写成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document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console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alert()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prompt()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，其中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document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console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alert()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prompt()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window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383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25538"/>
            <a:ext cx="1008112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中，定义在全局作用域中的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；定义在全局作用域中的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566814" y="2421682"/>
            <a:ext cx="7056784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全局作用域中的变量是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对象的属性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10;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全局作用域中的函数是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对象的方法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return 11;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());   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11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window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107" y="980960"/>
            <a:ext cx="644471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对象常用的方法和属性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window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876"/>
              </p:ext>
            </p:extLst>
          </p:nvPr>
        </p:nvGraphicFramePr>
        <p:xfrm>
          <a:off x="1308121" y="1773610"/>
          <a:ext cx="9899653" cy="43674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26834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1390162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7382657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691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357">
                <a:tc rowSpan="8"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alert()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弹出带有一段消息和一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个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“确定”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按钮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的警告框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85812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confirm()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弹出带有一段消息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以及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“确定</a:t>
                      </a:r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按钮和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“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取消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按钮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的警告框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393357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prompt()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弹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出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带有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提示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信息的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输入框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69260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open()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打开一个新的浏览器窗口或查找一个已命名的窗口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393357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close()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关闭浏览器窗口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180688"/>
                  </a:ext>
                </a:extLst>
              </a:tr>
              <a:tr h="393357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focus()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窗口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获得焦点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694329"/>
                  </a:ext>
                </a:extLst>
              </a:tr>
              <a:tr h="393357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scrollBy()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按照指定的像素值来滚动内容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003720"/>
                  </a:ext>
                </a:extLst>
              </a:tr>
              <a:tr h="393357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scrollTo()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把内容滚动到指定的坐标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28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8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6693" y="1197545"/>
            <a:ext cx="208823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window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53961"/>
              </p:ext>
            </p:extLst>
          </p:nvPr>
        </p:nvGraphicFramePr>
        <p:xfrm>
          <a:off x="1630710" y="1845618"/>
          <a:ext cx="8856983" cy="338437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6666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1394865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6395458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2920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21">
                <a:tc rowSpan="6"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name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设置或获取窗口的名称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24821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opener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获取打开当前窗口的</a:t>
                      </a:r>
                      <a:r>
                        <a:rPr 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24821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parent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获取当前窗口的父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窗口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75455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self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获取当前窗口的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对象，等价于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424821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获取当前窗口的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180688"/>
                  </a:ext>
                </a:extLst>
              </a:tr>
              <a:tr h="550912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top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获取顶层窗口的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window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对象（页面中有多个框架时）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694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48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155170"/>
            <a:ext cx="984805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alert()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confirm()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的使用，示例代码如下。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07380" y="2122030"/>
            <a:ext cx="612068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(confirm('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您确定要运行此操作？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alert('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用户确认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alert('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用户取消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window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87200" y="4902105"/>
            <a:ext cx="9361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confirm()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方法用于弹出一个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具有提示信息的对话框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，返回值为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，表示用户单击了对话框中的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确定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“取消”按钮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4754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location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.2.2	location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72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308487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599" y="2233126"/>
              <a:ext cx="5832067" cy="2922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location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操作浏览器的地址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，通过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location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对象可以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获取当前窗口的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URL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location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对象既是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的属性又是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document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.2.2	location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03" y="1053530"/>
            <a:ext cx="655272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对象常用的方法和属性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994455"/>
              </p:ext>
            </p:extLst>
          </p:nvPr>
        </p:nvGraphicFramePr>
        <p:xfrm>
          <a:off x="1154729" y="1918750"/>
          <a:ext cx="9793088" cy="374329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30957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3068475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5693656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67382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87">
                <a:tc rowSpan="3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assign(url)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触发窗口加载并显示指定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的内容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96896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replace(url)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使用给定的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替换当前的资源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96896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reload([forcedReload])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刷新当前页面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1040268">
                <a:tc rowSpan="2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search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获取或设置当前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的查询字符串（又称为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参数），即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“</a:t>
                      </a:r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?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之后的内容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86041"/>
                  </a:ext>
                </a:extLst>
              </a:tr>
              <a:tr h="547819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hash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的锚点部分（从“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#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”开始的部分）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12925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.2.2	location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026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742" y="1471115"/>
            <a:ext cx="201622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819850"/>
              </p:ext>
            </p:extLst>
          </p:nvPr>
        </p:nvGraphicFramePr>
        <p:xfrm>
          <a:off x="2062759" y="2133651"/>
          <a:ext cx="8064895" cy="317524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 rowSpan="6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host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的主机名和端口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hostname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的主机名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href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pathname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中的路径名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86041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port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中的端口号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12925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protocol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中的协议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35186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.2.2	location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124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269554"/>
            <a:ext cx="10064083" cy="427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reload()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forcedReload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时，表示强制浏览器从服务器加载页面资源，当值为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未传参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时，浏览器则可能从缓存中读取页面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通常用于在向服务器查询信息时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传入查询条件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搜索的关键字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排序方式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assign()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方法在打开指定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时，会生成一条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新的历史记录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replace()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方法不会在浏览器历史记录中生成新的记录，并且在调用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replace()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方法后，用户不能返回到前一个页面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.2.2	location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00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818" y="1014600"/>
            <a:ext cx="856895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对象常用的属性的使用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.2.2	location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566814" y="1629594"/>
            <a:ext cx="684076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://127.0.0.1:5500/test.html?name=a#data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10682" y="2205658"/>
            <a:ext cx="84040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在浏览器打开上述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对象常用的属性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26654" y="2781722"/>
            <a:ext cx="10081120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location.search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    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?name=a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location.hash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#data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location.host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127.0.0.1:5500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location.hostname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127.0.0.1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http://127.0.0.1:5500/test.html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location.pathname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/test.html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location.port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  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5500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location.protocol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http: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396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navigator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	navigator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047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037929"/>
            <a:ext cx="10064083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获取浏览器的相关信息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，下面列举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对象常用的方法和属性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388371"/>
              </p:ext>
            </p:extLst>
          </p:nvPr>
        </p:nvGraphicFramePr>
        <p:xfrm>
          <a:off x="1459207" y="2277666"/>
          <a:ext cx="9433049" cy="363244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3050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2378081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6024468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204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javaEnable()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是否在浏览器中启动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Java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32048">
                <a:tc rowSpan="6"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altLang="zh-CN" sz="200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appCodeName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获取浏览器的内部名称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appName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获取浏览器的完整名称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appVersion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获取浏览器的平台和版本信息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86041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cookieEnable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中是否启用</a:t>
                      </a:r>
                      <a:r>
                        <a:rPr 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Cookie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12925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platform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获取运行浏览器的操作系统平台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35186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sz="200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userAgent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获取由浏览器发送到服务器的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User-Agent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15893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	navigator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907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42672"/>
            <a:ext cx="1015312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userAgent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获取由浏览器发送到服务器的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User-Agent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	navigator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2214803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msg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navigator.userAgent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msg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3717826"/>
            <a:ext cx="99920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在上述示例代码中，使用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userAgent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属性获取由浏览器发送到服务器的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User-Agent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的值，其内容主要包含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浏览器版本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操作系统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等信息，每种浏览器获取的信息都不相同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945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232" y="1070929"/>
            <a:ext cx="918323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Firefox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例演示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浏览器获取的信息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	navigator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2444" y="2167445"/>
            <a:ext cx="8433600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Mozilla/5.0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(Windows NT 10.0; Win64; x64) AppleWebKit/537.36 (KHTML, like Gecko) Chrome/110.0.0.0 Safari/537.36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1701602"/>
            <a:ext cx="4493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浏览器的输出结果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示例如下。</a:t>
            </a:r>
          </a:p>
        </p:txBody>
      </p:sp>
      <p:sp>
        <p:nvSpPr>
          <p:cNvPr id="4" name="矩形 3"/>
          <p:cNvSpPr/>
          <p:nvPr/>
        </p:nvSpPr>
        <p:spPr>
          <a:xfrm>
            <a:off x="1143691" y="3185876"/>
            <a:ext cx="43422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Firefox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浏览器的输出结果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示例如下。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93322" y="3684590"/>
            <a:ext cx="8433600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Mozilla/5.0 (Windows NT 10.0; Win64; x64; rv:109.0) Gecko/20100101 Firefox/111.0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23800" y="4731577"/>
            <a:ext cx="3735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浏览器的输出结果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59822" y="5304267"/>
            <a:ext cx="8433600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Mozilla/5.0 (Windows NT 10.0;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WOW64; Trident/7.0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.NET4.0C; .NET4.0E; rv:11.0) like Gecko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29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history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	history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747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668367" cy="2236479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023" y="2189694"/>
              <a:ext cx="5908870" cy="2993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history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可以对用户在浏览器中访问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历史记录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进行操作。出于安全方面考虑，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history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对象不能直接获取用户浏览过的历史记录，但可以控制浏览器的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“前进”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“后退”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	history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67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	history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217306"/>
            <a:ext cx="64197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对象常用的方法和属性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，如下表所示。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46068"/>
              </p:ext>
            </p:extLst>
          </p:nvPr>
        </p:nvGraphicFramePr>
        <p:xfrm>
          <a:off x="1164440" y="2061641"/>
          <a:ext cx="9899318" cy="317524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99923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2369068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6430327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204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 rowSpan="3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back()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加载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history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列表中的上一个</a:t>
                      </a:r>
                      <a:r>
                        <a:rPr 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，即后退一页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forward()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加载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history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列表中的下一个</a:t>
                      </a:r>
                      <a:r>
                        <a:rPr 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，即前进一页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go([delta])</a:t>
                      </a:r>
                      <a:endParaRPr lang="zh-CN" sz="20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加载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history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列表中的某个具体页面，可选参数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delta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的值是负整数时，表示后退指定的页数；是正整数时，表示前进指定的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</a:t>
                      </a:r>
                      <a:r>
                        <a:rPr lang="zh-CN" sz="200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；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或省略时，表示刷新页面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altLang="zh-CN" sz="200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length</a:t>
                      </a:r>
                      <a:endParaRPr lang="zh-CN" sz="20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history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列表中的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15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91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	history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971883"/>
            <a:ext cx="835292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通过代码演示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history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back()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方法和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forward()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78782" y="1629594"/>
            <a:ext cx="6768752" cy="457356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&lt;button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id="btn1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后退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id=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btn2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前进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btn1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document.getElementById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('btn1');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btn2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'btn2');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btn1.onclick = function () {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history.back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		//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控制浏览器后退一页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};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btn2.onclick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function () {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history.forward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	//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控制浏览器前进一页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406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screen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screen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screen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689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9704" y="1152245"/>
            <a:ext cx="103920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screen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获取屏幕相关的信息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，例如，屏幕的宽度、屏幕的高度等。下面列举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screen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对象常用的属性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451220"/>
              </p:ext>
            </p:extLst>
          </p:nvPr>
        </p:nvGraphicFramePr>
        <p:xfrm>
          <a:off x="2267315" y="2547072"/>
          <a:ext cx="7776864" cy="21602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204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获取整个屏幕的宽度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获取整个屏幕的高度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availWidth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获取浏览器窗口在屏幕上可占用的水平空间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availHeight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获取浏览器窗口在屏幕上可占用的垂直空间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15893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screen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23581" y="5086475"/>
            <a:ext cx="557075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的属性的获取结果都是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数字型像素值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972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0710" y="1269554"/>
            <a:ext cx="1065718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screen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1989634"/>
            <a:ext cx="8433600" cy="188461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console.log(screen.width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    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1920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console.log(screen.height);         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1080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console.log(screen.availWidth);      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1920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console.log(screen.availHeight);     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1040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959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2989183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窗口加载与卸载事件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在窗口加载、窗口卸载时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运行特定的代码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218758"/>
            <a:ext cx="103691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需要在窗口加载完成后运行某些代码，或在窗口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某些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对象提供的窗口加载与卸载事件，如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73945"/>
              </p:ext>
            </p:extLst>
          </p:nvPr>
        </p:nvGraphicFramePr>
        <p:xfrm>
          <a:off x="2494805" y="2912110"/>
          <a:ext cx="7488833" cy="159780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752529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8952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30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load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窗口加载事件，当页面加载完毕后触发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2977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unload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窗口卸载事件，当页面关闭时触发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143691" y="4757883"/>
            <a:ext cx="102801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在网页文档以及外链的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（包括图像文件、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文件等）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全部加载完成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后才会触发；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窗口卸载事件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用户关闭网页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时触发。</a:t>
            </a:r>
          </a:p>
        </p:txBody>
      </p:sp>
    </p:spTree>
    <p:extLst>
      <p:ext uri="{BB962C8B-B14F-4D97-AF65-F5344CB8AC3E}">
        <p14:creationId xmlns:p14="http://schemas.microsoft.com/office/powerpoint/2010/main" val="121357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36306" y="1315666"/>
            <a:ext cx="79928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加载与卸载事件有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两种注册方式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种注册方式的示例代码如下。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2590782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window.onload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function () {};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窗口加载事件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window.onunload = function () {};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窗口卸载事件</a:t>
            </a:r>
          </a:p>
        </p:txBody>
      </p:sp>
      <p:sp>
        <p:nvSpPr>
          <p:cNvPr id="3" name="矩形 2"/>
          <p:cNvSpPr/>
          <p:nvPr/>
        </p:nvSpPr>
        <p:spPr>
          <a:xfrm>
            <a:off x="1170870" y="4365898"/>
            <a:ext cx="60928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只能注册一个事件处理函数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4708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1" y="1592665"/>
            <a:ext cx="79928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窗口加载与卸载事件的第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种注册方式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558702" y="2696978"/>
            <a:ext cx="8712968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window.addEventListener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('load', function ()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{});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窗口加载事件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window.addEventListener('unload', function ()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{});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窗口卸载事件</a:t>
            </a:r>
          </a:p>
        </p:txBody>
      </p:sp>
      <p:sp>
        <p:nvSpPr>
          <p:cNvPr id="2" name="矩形 1"/>
          <p:cNvSpPr/>
          <p:nvPr/>
        </p:nvSpPr>
        <p:spPr>
          <a:xfrm>
            <a:off x="1143691" y="4262956"/>
            <a:ext cx="92170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多次调用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window.addEventListener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注册多个事件处理函数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3035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016362"/>
            <a:ext cx="10513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通过代码进行演示。首先演示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不使用窗口加载事件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代码运行出错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情况。由于程序中的代码是从上往下运行的，当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代码写在需要操作的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标签前面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时，获取元素的操作会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失败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2086" y="2637706"/>
            <a:ext cx="8433600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document.getElementById('demo').onclick = 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被单击了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id="demo"&gt;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持之以恒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442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176366"/>
            <a:ext cx="84278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，在浏览器中进行测试，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30" y="1989634"/>
            <a:ext cx="6096528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109649"/>
            <a:ext cx="10297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窗口加载事件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解决示例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出现的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问题。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4410" y="1917626"/>
            <a:ext cx="843360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window.onload = 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document.getElementById('demo').onclick = 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被单击了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41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473718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50109" y="1743045"/>
            <a:ext cx="4737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document.DOMContentLoaded</a:t>
            </a:r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事件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93732" y="1607211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181431" y="1607211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71712" y="2469297"/>
            <a:ext cx="103800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网页中的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图片较多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时，如果图片加载速度慢，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窗口加载事件的触发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可能需要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较长的时间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，这样会影响到用户的体验，此时，可以使用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document.DOMContentLoaded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，该事件会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在文档加载完成时触发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图片文件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等外部文件是否加载完成无关，适用于页面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有很多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外部文件的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情况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窗口加载与卸载事件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987554" y="4964148"/>
            <a:ext cx="8767938" cy="806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25" name="流程图: 资料带 24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771527" y="4728346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417906" y="5072908"/>
            <a:ext cx="90026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document.DOMContentLoaded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事件不兼容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之前的浏览器。</a:t>
            </a:r>
          </a:p>
        </p:txBody>
      </p:sp>
    </p:spTree>
    <p:extLst>
      <p:ext uri="{BB962C8B-B14F-4D97-AF65-F5344CB8AC3E}">
        <p14:creationId xmlns:p14="http://schemas.microsoft.com/office/powerpoint/2010/main" val="1834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窗口大小改变事件</a:t>
            </a: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窗口大小改变事件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灵活应用两种方式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注册窗口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大小改变事件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322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42782" y="1274397"/>
            <a:ext cx="101649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在实际开发中，为了能够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响应用户调整浏览器窗口大小的操作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窗口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大小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改变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resize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，该事件有两种注册方式，第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种注册方式的示例代码如下。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8.3.2	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窗口大小改变事件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2680668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window.onresize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function () {};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3645622"/>
            <a:ext cx="3926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种注册方式的示例代码如下。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4618" y="4535854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window.addEventListener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('resize', function () {});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175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269554"/>
            <a:ext cx="1029714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通过代码进行演示。要求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当用户调整窗口大小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时，在控制台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输出当前页面的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窗口大小改变事件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6418" y="2205658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window.addEventListener ('resize', 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console.log(document.body.clientWidth);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909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定时器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定时器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，能够应用定时器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延迟一段时间运行代码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间歇运行代码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770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833375" y="981522"/>
            <a:ext cx="107291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提供了两种用于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设置定时器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的方法，分别是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setInterval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方法，此外，还提供了两种用于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清除定时器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的方法，分别是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clearTimeout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clearInterval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。关于设置和清除定时器的方法说明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904667"/>
              </p:ext>
            </p:extLst>
          </p:nvPr>
        </p:nvGraphicFramePr>
        <p:xfrm>
          <a:off x="1270670" y="2637706"/>
          <a:ext cx="9762331" cy="30243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25411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6508221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6489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setTimeout(fn, delay)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在达到指定时间（以毫秒计）后调用函数或运行一段代码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14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setInterval(fn, delay)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按照指定的周期（以毫秒计）来调用函数或运行一段代码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614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clearTimeout(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定时器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ID)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清除由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setTimeout()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方法设置的定时器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430066"/>
                  </a:ext>
                </a:extLst>
              </a:tr>
              <a:tr h="614861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clearInterval(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定时器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ID)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清除由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setInterval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方法设置的定时器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595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44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6" y="1985402"/>
            <a:ext cx="5948287" cy="2884553"/>
            <a:chOff x="4899445" y="1985401"/>
            <a:chExt cx="6012519" cy="3694229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058590" y="826256"/>
              <a:ext cx="3694229" cy="6012519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690" y="2328460"/>
              <a:ext cx="5386133" cy="3074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err="1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setTimeout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方法和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setInterval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方法都可以在固定时间段内运行代码，二者的区别是，使用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setTimeout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方法时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只运行一次代码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，使用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setInterval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方法时会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在指定的时间后自动重复运行代码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14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133650"/>
            <a:ext cx="6768752" cy="237626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3078" y="2358673"/>
            <a:ext cx="6120680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setInterval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方法都有两个参数，第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到达延迟时间后运行的代码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，可以传入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普通函数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匿名函数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delay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延迟时间的毫秒值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9008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547609" y="2052889"/>
            <a:ext cx="60597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setInterval()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方法的返回值为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定时器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（定时器的唯一标识），将定时器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作为参数传给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clearTimeout()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方法或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clearInterval()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清除定时器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11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hape 2015"/>
          <p:cNvSpPr/>
          <p:nvPr/>
        </p:nvSpPr>
        <p:spPr>
          <a:xfrm>
            <a:off x="1016000" y="1750881"/>
            <a:ext cx="7233620" cy="2543009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135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22974" y="1274778"/>
            <a:ext cx="10081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方法为例，演示使用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种传参方式实现定时器的设置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1022974" y="2205658"/>
            <a:ext cx="31566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传入普通函数的方式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3044786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2000);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alert('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争分夺秒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112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49680" y="1318756"/>
            <a:ext cx="3164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传入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匿名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60996" y="2096888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setTimeout(function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alert('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争分夺秒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2000);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49680" y="3952238"/>
            <a:ext cx="34211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传入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字符串代码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96514" y="4730370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('alert("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争分夺秒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");', 2000);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468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设置定时器方法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83952" y="2277666"/>
            <a:ext cx="843360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设置定时器时保存定时器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timer = setTimeout(function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alert('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争分夺秒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2000);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清除定时器时传入需要清除的定时器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clearTimeout(timer);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3319" y="1379982"/>
            <a:ext cx="84042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下面以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clearTimeout()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方法为例，演示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定时器的清除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</p:spTree>
    <p:extLst>
      <p:ext uri="{BB962C8B-B14F-4D97-AF65-F5344CB8AC3E}">
        <p14:creationId xmlns:p14="http://schemas.microsoft.com/office/powerpoint/2010/main" val="31279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秒后自动关闭广告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52758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8.4.2	【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】3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秒后自动关闭广告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974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54795" y="1989634"/>
            <a:ext cx="9836955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浏览网站的过程中，经常会在页面中看到广告，并显示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自动关闭广告的倒计时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。自动关闭广告的倒计时效果可以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使用定时器实现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将通过一个案例演示如何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秒后自动关闭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广告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552758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8.4.2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】3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秒后自动关闭广告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32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60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秒内只能发送一次验证码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60316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8.4.3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】60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秒内只能发送一次验证码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83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2277666"/>
            <a:ext cx="9865089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案例要求在页面中设置一个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“发送验证码”按钮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，在单击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“发送验证码”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按钮后，该按钮中的文字会变为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秒后重新发送”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，并且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”会每秒减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秒后，才能再次单击“发送验证码”按钮，并且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按钮恢复为初始状态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60316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8.4.3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】60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秒内只能发送一次验证码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78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493240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异步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91484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和异步的概念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区分同步和异步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97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5043463" y="1985403"/>
            <a:ext cx="4940175" cy="2452503"/>
            <a:chOff x="4899444" y="1985402"/>
            <a:chExt cx="4993521" cy="4005611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393399" y="1491447"/>
              <a:ext cx="4005611" cy="4993521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805" y="2402042"/>
              <a:ext cx="4323020" cy="3166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前一个任务结束后再运行后一个任务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，程序的运行顺序与任务的排列顺序一致。例如，做饭时，先煮饭，等饭煮好后再去炒菜。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792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133650"/>
            <a:ext cx="6768752" cy="237626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3078" y="2358673"/>
            <a:ext cx="6120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是指在处理一个任务的同时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可以去处理其他的任务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。例如，在煮饭的同时去炒菜。异步代码通常写在回调函数中，例如，注册事件时传入的事件处理函数，以及设置定时器时传入的函数，都是回调函数。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920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270671" y="2052889"/>
            <a:ext cx="65527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的运行机制是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单线程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同一个时间只能做一件事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。假设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被设计为多线程，一个线程在某个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节点上添加内容，另一个线程要删除这个节点，此种情况下浏览器将无法确定以哪个线程为准。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多线程会让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变得复杂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，而采用单线程可以避免出现这样的问题。</a:t>
            </a:r>
          </a:p>
        </p:txBody>
      </p:sp>
      <p:pic>
        <p:nvPicPr>
          <p:cNvPr id="11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hape 2015"/>
          <p:cNvSpPr/>
          <p:nvPr/>
        </p:nvSpPr>
        <p:spPr>
          <a:xfrm>
            <a:off x="1016000" y="1750881"/>
            <a:ext cx="7233620" cy="340710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552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270670" y="1629594"/>
            <a:ext cx="100091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意味着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所有任务需要排队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，前一个任务结束，才会运行后一个任务，如果其中一个任务运行的时间过长，就会阻塞后面的任务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个任务正在排队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个任务是在控制台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秒后在控制台输出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个任务是在控制台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。当程序运行到第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个任务时，程序就会被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阻塞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秒后才能运行第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8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0" y="1413570"/>
            <a:ext cx="105681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想要解决程序中的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阻塞问题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使用定时器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方法设置一个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的定时器，将第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个任务放到定时器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中即可，示例代码如下。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781722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 	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setTimeout(function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console.log(2);     	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3000);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console.log(3);       	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个任务</a:t>
            </a:r>
          </a:p>
        </p:txBody>
      </p:sp>
    </p:spTree>
    <p:extLst>
      <p:ext uri="{BB962C8B-B14F-4D97-AF65-F5344CB8AC3E}">
        <p14:creationId xmlns:p14="http://schemas.microsoft.com/office/powerpoint/2010/main" val="147924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3225017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94125" y="1730602"/>
            <a:ext cx="286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JavaScript</a:t>
            </a:r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运行机制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59660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41254" y="1607925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2280889"/>
            <a:ext cx="102968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思考一个问题：当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定时器的时间设为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运行定时器传入的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回调函数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还是优先运行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setTimeout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方法后面的代码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呢？示例代码如下。</a:t>
            </a:r>
          </a:p>
        </p:txBody>
      </p:sp>
      <p:sp>
        <p:nvSpPr>
          <p:cNvPr id="19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65174" y="3334130"/>
            <a:ext cx="8433600" cy="336739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(function ()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console.log(2);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0);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'';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900000;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      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使用字符串拼接运算延迟运行时间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console.log(3);	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1 3 2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696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0" y="1570826"/>
            <a:ext cx="10208100" cy="150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同步任务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都是放在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主线程的运行栈中优先运行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的，而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异步任务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（回调函数中代码）则被放在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任务队列中等待运行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，所以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前面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示例代码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运行后的结果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运行栈和任务队列的区别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，如下图所示</a:t>
            </a:r>
            <a:r>
              <a:rPr lang="zh-CN" altLang="en-US" dirty="0" smtClean="0"/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635636"/>
              </p:ext>
            </p:extLst>
          </p:nvPr>
        </p:nvGraphicFramePr>
        <p:xfrm>
          <a:off x="2926854" y="3297768"/>
          <a:ext cx="6264697" cy="276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Visio" r:id="rId3" imgW="4162533" imgH="1838225" progId="Visio.Drawing.15">
                  <p:embed/>
                </p:oleObj>
              </mc:Choice>
              <mc:Fallback>
                <p:oleObj name="Visio" r:id="rId3" imgW="4162533" imgH="183822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854" y="3297768"/>
                        <a:ext cx="6264697" cy="27684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466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10630" y="2205658"/>
            <a:ext cx="106571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一旦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运行栈中的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所有同步任务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运行完毕，系统就会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按次序读取任务队列中的异步任务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，被读取的异步任务就会进入运行栈开始运行。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会不断地从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任务队列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里重复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获取任务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运行任务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，这种机制被称为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事件循环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9" name="Title 1"/>
          <p:cNvSpPr txBox="1"/>
          <p:nvPr/>
        </p:nvSpPr>
        <p:spPr>
          <a:xfrm>
            <a:off x="1143690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同步和异步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674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41960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627172" y="2517644"/>
            <a:ext cx="9004538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的相关知识，首先讲解了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的基本概念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，其次讲解了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window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navigator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history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screen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窗口事件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窗口加载与卸载事件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窗口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改变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同步和异步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。通过本章的学习，读者能够使用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完成一些常见的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页面交互效果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14278</TotalTime>
  <Words>4285</Words>
  <Application>Microsoft Office PowerPoint</Application>
  <PresentationFormat>自定义</PresentationFormat>
  <Paragraphs>463</Paragraphs>
  <Slides>69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2" baseType="lpstr">
      <vt:lpstr>Source Han Sans K Bold</vt:lpstr>
      <vt:lpstr>思源黑体 CN Medium</vt:lpstr>
      <vt:lpstr>思源黑体 CN Regular</vt:lpstr>
      <vt:lpstr>宋体</vt:lpstr>
      <vt:lpstr>Microsoft YaHei</vt:lpstr>
      <vt:lpstr>Microsoft YaHei</vt:lpstr>
      <vt:lpstr>字魂105号-简雅黑</vt:lpstr>
      <vt:lpstr>字魂58号-创中黑</vt:lpstr>
      <vt:lpstr>Arial</vt:lpstr>
      <vt:lpstr>Calibri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5521</cp:revision>
  <dcterms:created xsi:type="dcterms:W3CDTF">2020-11-09T06:56:00Z</dcterms:created>
  <dcterms:modified xsi:type="dcterms:W3CDTF">2024-04-19T09:50:26Z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