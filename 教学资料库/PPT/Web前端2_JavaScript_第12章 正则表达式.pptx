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78"/>
  </p:notesMasterIdLst>
  <p:handoutMasterIdLst>
    <p:handoutMasterId r:id="rId79"/>
  </p:handoutMasterIdLst>
  <p:sldIdLst>
    <p:sldId id="325" r:id="rId3"/>
    <p:sldId id="1129" r:id="rId4"/>
    <p:sldId id="328" r:id="rId5"/>
    <p:sldId id="1146" r:id="rId6"/>
    <p:sldId id="309" r:id="rId7"/>
    <p:sldId id="1059" r:id="rId8"/>
    <p:sldId id="1693" r:id="rId9"/>
    <p:sldId id="1700" r:id="rId10"/>
    <p:sldId id="1713" r:id="rId11"/>
    <p:sldId id="1694" r:id="rId12"/>
    <p:sldId id="1757" r:id="rId13"/>
    <p:sldId id="1758" r:id="rId14"/>
    <p:sldId id="1492" r:id="rId15"/>
    <p:sldId id="1643" r:id="rId16"/>
    <p:sldId id="1657" r:id="rId17"/>
    <p:sldId id="1497" r:id="rId18"/>
    <p:sldId id="1759" r:id="rId19"/>
    <p:sldId id="1760" r:id="rId20"/>
    <p:sldId id="1761" r:id="rId21"/>
    <p:sldId id="1762" r:id="rId22"/>
    <p:sldId id="1763" r:id="rId23"/>
    <p:sldId id="1493" r:id="rId24"/>
    <p:sldId id="1501" r:id="rId25"/>
    <p:sldId id="1711" r:id="rId26"/>
    <p:sldId id="1712" r:id="rId27"/>
    <p:sldId id="1729" r:id="rId28"/>
    <p:sldId id="1764" r:id="rId29"/>
    <p:sldId id="1765" r:id="rId30"/>
    <p:sldId id="1766" r:id="rId31"/>
    <p:sldId id="1767" r:id="rId32"/>
    <p:sldId id="1768" r:id="rId33"/>
    <p:sldId id="1769" r:id="rId34"/>
    <p:sldId id="1770" r:id="rId35"/>
    <p:sldId id="1771" r:id="rId36"/>
    <p:sldId id="1772" r:id="rId37"/>
    <p:sldId id="1773" r:id="rId38"/>
    <p:sldId id="1774" r:id="rId39"/>
    <p:sldId id="1775" r:id="rId40"/>
    <p:sldId id="1776" r:id="rId41"/>
    <p:sldId id="1777" r:id="rId42"/>
    <p:sldId id="1622" r:id="rId43"/>
    <p:sldId id="1778" r:id="rId44"/>
    <p:sldId id="1779" r:id="rId45"/>
    <p:sldId id="1780" r:id="rId46"/>
    <p:sldId id="1781" r:id="rId47"/>
    <p:sldId id="1782" r:id="rId48"/>
    <p:sldId id="1783" r:id="rId49"/>
    <p:sldId id="1784" r:id="rId50"/>
    <p:sldId id="1785" r:id="rId51"/>
    <p:sldId id="1786" r:id="rId52"/>
    <p:sldId id="1787" r:id="rId53"/>
    <p:sldId id="1788" r:id="rId54"/>
    <p:sldId id="1789" r:id="rId55"/>
    <p:sldId id="1790" r:id="rId56"/>
    <p:sldId id="1791" r:id="rId57"/>
    <p:sldId id="1792" r:id="rId58"/>
    <p:sldId id="1793" r:id="rId59"/>
    <p:sldId id="1747" r:id="rId60"/>
    <p:sldId id="1794" r:id="rId61"/>
    <p:sldId id="1161" r:id="rId62"/>
    <p:sldId id="1590" r:id="rId63"/>
    <p:sldId id="1746" r:id="rId64"/>
    <p:sldId id="1795" r:id="rId65"/>
    <p:sldId id="1796" r:id="rId66"/>
    <p:sldId id="1797" r:id="rId67"/>
    <p:sldId id="1798" r:id="rId68"/>
    <p:sldId id="1799" r:id="rId69"/>
    <p:sldId id="1800" r:id="rId70"/>
    <p:sldId id="1801" r:id="rId71"/>
    <p:sldId id="1802" r:id="rId72"/>
    <p:sldId id="1803" r:id="rId73"/>
    <p:sldId id="1804" r:id="rId74"/>
    <p:sldId id="1805" r:id="rId75"/>
    <p:sldId id="1806" r:id="rId76"/>
    <p:sldId id="1417" r:id="rId77"/>
  </p:sldIdLst>
  <p:sldSz cx="12190413" cy="6859588"/>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92" userDrawn="1">
          <p15:clr>
            <a:srgbClr val="A4A3A4"/>
          </p15:clr>
        </p15:guide>
        <p15:guide id="2" pos="301" userDrawn="1">
          <p15:clr>
            <a:srgbClr val="A4A3A4"/>
          </p15:clr>
        </p15:guide>
        <p15:guide id="3" pos="642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zq" initials="lzq" lastIdx="3" clrIdx="0">
    <p:extLst>
      <p:ext uri="{19B8F6BF-5375-455C-9EA6-DF929625EA0E}">
        <p15:presenceInfo xmlns:p15="http://schemas.microsoft.com/office/powerpoint/2012/main" userId="f3b653b8ea518c22" providerId="Windows Live"/>
      </p:ext>
    </p:extLst>
  </p:cmAuthor>
  <p:cmAuthor id="2" name="zrd" initials="W用" lastIdx="4" clrIdx="1">
    <p:extLst>
      <p:ext uri="{19B8F6BF-5375-455C-9EA6-DF929625EA0E}">
        <p15:presenceInfo xmlns:p15="http://schemas.microsoft.com/office/powerpoint/2012/main" userId="f6599913dc903ec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FFFFF"/>
    <a:srgbClr val="1369B3"/>
    <a:srgbClr val="71A5D1"/>
    <a:srgbClr val="F2F2F2"/>
    <a:srgbClr val="EBAD13"/>
    <a:srgbClr val="BBBBBB"/>
    <a:srgbClr val="FAFAFA"/>
    <a:srgbClr val="006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18" autoAdjust="0"/>
    <p:restoredTop sz="95974" autoAdjust="0"/>
  </p:normalViewPr>
  <p:slideViewPr>
    <p:cSldViewPr>
      <p:cViewPr varScale="1">
        <p:scale>
          <a:sx n="77" d="100"/>
          <a:sy n="77" d="100"/>
        </p:scale>
        <p:origin x="114" y="516"/>
      </p:cViewPr>
      <p:guideLst>
        <p:guide orient="horz" pos="4292"/>
        <p:guide pos="301"/>
        <p:guide pos="6425"/>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2024/4/19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32043633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2024/4/19</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3934185211"/>
      </p:ext>
    </p:extLst>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1307428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extLst>
      <p:ext uri="{BB962C8B-B14F-4D97-AF65-F5344CB8AC3E}">
        <p14:creationId xmlns:p14="http://schemas.microsoft.com/office/powerpoint/2010/main" val="4270561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1251122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4237812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1997687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extLst>
      <p:ext uri="{BB962C8B-B14F-4D97-AF65-F5344CB8AC3E}">
        <p14:creationId xmlns:p14="http://schemas.microsoft.com/office/powerpoint/2010/main" val="4245514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extLst>
      <p:ext uri="{BB962C8B-B14F-4D97-AF65-F5344CB8AC3E}">
        <p14:creationId xmlns:p14="http://schemas.microsoft.com/office/powerpoint/2010/main" val="558290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extLst>
      <p:ext uri="{BB962C8B-B14F-4D97-AF65-F5344CB8AC3E}">
        <p14:creationId xmlns:p14="http://schemas.microsoft.com/office/powerpoint/2010/main" val="3640783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extLst>
      <p:ext uri="{BB962C8B-B14F-4D97-AF65-F5344CB8AC3E}">
        <p14:creationId xmlns:p14="http://schemas.microsoft.com/office/powerpoint/2010/main" val="2630499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extLst>
      <p:ext uri="{BB962C8B-B14F-4D97-AF65-F5344CB8AC3E}">
        <p14:creationId xmlns:p14="http://schemas.microsoft.com/office/powerpoint/2010/main" val="67387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extLst>
      <p:ext uri="{BB962C8B-B14F-4D97-AF65-F5344CB8AC3E}">
        <p14:creationId xmlns:p14="http://schemas.microsoft.com/office/powerpoint/2010/main" val="2892952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extLst>
      <p:ext uri="{BB962C8B-B14F-4D97-AF65-F5344CB8AC3E}">
        <p14:creationId xmlns:p14="http://schemas.microsoft.com/office/powerpoint/2010/main" val="3978814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extLst>
      <p:ext uri="{BB962C8B-B14F-4D97-AF65-F5344CB8AC3E}">
        <p14:creationId xmlns:p14="http://schemas.microsoft.com/office/powerpoint/2010/main" val="2263682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extLst>
      <p:ext uri="{BB962C8B-B14F-4D97-AF65-F5344CB8AC3E}">
        <p14:creationId xmlns:p14="http://schemas.microsoft.com/office/powerpoint/2010/main" val="572674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extLst>
      <p:ext uri="{BB962C8B-B14F-4D97-AF65-F5344CB8AC3E}">
        <p14:creationId xmlns:p14="http://schemas.microsoft.com/office/powerpoint/2010/main" val="1546745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extLst>
      <p:ext uri="{BB962C8B-B14F-4D97-AF65-F5344CB8AC3E}">
        <p14:creationId xmlns:p14="http://schemas.microsoft.com/office/powerpoint/2010/main" val="1943189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extLst>
      <p:ext uri="{BB962C8B-B14F-4D97-AF65-F5344CB8AC3E}">
        <p14:creationId xmlns:p14="http://schemas.microsoft.com/office/powerpoint/2010/main" val="11275843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extLst>
      <p:ext uri="{BB962C8B-B14F-4D97-AF65-F5344CB8AC3E}">
        <p14:creationId xmlns:p14="http://schemas.microsoft.com/office/powerpoint/2010/main" val="13442712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extLst>
      <p:ext uri="{BB962C8B-B14F-4D97-AF65-F5344CB8AC3E}">
        <p14:creationId xmlns:p14="http://schemas.microsoft.com/office/powerpoint/2010/main" val="11183920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extLst>
      <p:ext uri="{BB962C8B-B14F-4D97-AF65-F5344CB8AC3E}">
        <p14:creationId xmlns:p14="http://schemas.microsoft.com/office/powerpoint/2010/main" val="3788436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extLst>
      <p:ext uri="{BB962C8B-B14F-4D97-AF65-F5344CB8AC3E}">
        <p14:creationId xmlns:p14="http://schemas.microsoft.com/office/powerpoint/2010/main" val="1603720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extLst>
      <p:ext uri="{BB962C8B-B14F-4D97-AF65-F5344CB8AC3E}">
        <p14:creationId xmlns:p14="http://schemas.microsoft.com/office/powerpoint/2010/main" val="967278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extLst>
      <p:ext uri="{BB962C8B-B14F-4D97-AF65-F5344CB8AC3E}">
        <p14:creationId xmlns:p14="http://schemas.microsoft.com/office/powerpoint/2010/main" val="5246717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extLst>
      <p:ext uri="{BB962C8B-B14F-4D97-AF65-F5344CB8AC3E}">
        <p14:creationId xmlns:p14="http://schemas.microsoft.com/office/powerpoint/2010/main" val="562605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extLst>
      <p:ext uri="{BB962C8B-B14F-4D97-AF65-F5344CB8AC3E}">
        <p14:creationId xmlns:p14="http://schemas.microsoft.com/office/powerpoint/2010/main" val="1318711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69</a:t>
            </a:fld>
            <a:endParaRPr lang="zh-CN" altLang="en-US"/>
          </a:p>
        </p:txBody>
      </p:sp>
    </p:spTree>
    <p:extLst>
      <p:ext uri="{BB962C8B-B14F-4D97-AF65-F5344CB8AC3E}">
        <p14:creationId xmlns:p14="http://schemas.microsoft.com/office/powerpoint/2010/main" val="3247748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70</a:t>
            </a:fld>
            <a:endParaRPr lang="zh-CN" altLang="en-US"/>
          </a:p>
        </p:txBody>
      </p:sp>
    </p:spTree>
    <p:extLst>
      <p:ext uri="{BB962C8B-B14F-4D97-AF65-F5344CB8AC3E}">
        <p14:creationId xmlns:p14="http://schemas.microsoft.com/office/powerpoint/2010/main" val="14834722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71</a:t>
            </a:fld>
            <a:endParaRPr lang="zh-CN" altLang="en-US"/>
          </a:p>
        </p:txBody>
      </p:sp>
    </p:spTree>
    <p:extLst>
      <p:ext uri="{BB962C8B-B14F-4D97-AF65-F5344CB8AC3E}">
        <p14:creationId xmlns:p14="http://schemas.microsoft.com/office/powerpoint/2010/main" val="5190071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72</a:t>
            </a:fld>
            <a:endParaRPr lang="zh-CN" altLang="en-US"/>
          </a:p>
        </p:txBody>
      </p:sp>
    </p:spTree>
    <p:extLst>
      <p:ext uri="{BB962C8B-B14F-4D97-AF65-F5344CB8AC3E}">
        <p14:creationId xmlns:p14="http://schemas.microsoft.com/office/powerpoint/2010/main" val="11267821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extLst>
      <p:ext uri="{BB962C8B-B14F-4D97-AF65-F5344CB8AC3E}">
        <p14:creationId xmlns:p14="http://schemas.microsoft.com/office/powerpoint/2010/main" val="24411299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extLst>
      <p:ext uri="{BB962C8B-B14F-4D97-AF65-F5344CB8AC3E}">
        <p14:creationId xmlns:p14="http://schemas.microsoft.com/office/powerpoint/2010/main" val="28178195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extLst>
      <p:ext uri="{BB962C8B-B14F-4D97-AF65-F5344CB8AC3E}">
        <p14:creationId xmlns:p14="http://schemas.microsoft.com/office/powerpoint/2010/main" val="2535699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42F652BD-78F8-4263-B0C9-1157D4F9FB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2024/4/19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2024/4/19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2024/4/19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F1137BB1-9F5B-4D4F-9A56-B2F02308C48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2024/4/19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16" name="图片 15">
            <a:extLst>
              <a:ext uri="{FF2B5EF4-FFF2-40B4-BE49-F238E27FC236}">
                <a16:creationId xmlns:a16="http://schemas.microsoft.com/office/drawing/2014/main" id="{DD30E425-C7EA-45F0-85AD-6C51CB843BA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2024/4/19</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2024/4/19</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NULL"/></Relationships>
</file>

<file path=ppt/slides/_rels/slide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1846734" y="2637706"/>
            <a:ext cx="9073007" cy="923330"/>
          </a:xfrm>
          <a:prstGeom prst="rect">
            <a:avLst/>
          </a:prstGeom>
          <a:noFill/>
        </p:spPr>
        <p:txBody>
          <a:bodyPr wrap="square" rtlCol="0">
            <a:spAutoFit/>
          </a:bodyPr>
          <a:lstStyle/>
          <a:p>
            <a:pPr algn="ctr"/>
            <a:r>
              <a:rPr lang="zh-CN" altLang="en-US" sz="540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第</a:t>
            </a:r>
            <a:r>
              <a:rPr lang="en-US" altLang="zh-CN" sz="540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12</a:t>
            </a:r>
            <a:r>
              <a:rPr lang="zh-CN" altLang="en-US" sz="540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章 正则表达式</a:t>
            </a:r>
            <a:endPar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endParaRPr>
          </a:p>
        </p:txBody>
      </p:sp>
      <p:sp>
        <p:nvSpPr>
          <p:cNvPr id="6" name="Rectangle 4"/>
          <p:cNvSpPr txBox="1">
            <a:spLocks noChangeArrowheads="1"/>
          </p:cNvSpPr>
          <p:nvPr/>
        </p:nvSpPr>
        <p:spPr>
          <a:xfrm>
            <a:off x="2494807" y="4005858"/>
            <a:ext cx="7416824"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smtClean="0">
                <a:solidFill>
                  <a:srgbClr val="595959"/>
                </a:solidFill>
                <a:latin typeface="微软雅黑" panose="020B0503020204020204" pitchFamily="34" charset="-122"/>
                <a:ea typeface="微软雅黑" panose="020B0503020204020204" pitchFamily="34" charset="-122"/>
                <a:cs typeface="+mn-ea"/>
                <a:sym typeface="+mn-lt"/>
              </a:rPr>
              <a:t>《JavaScript+jQuery</a:t>
            </a:r>
            <a:r>
              <a:rPr lang="zh-CN" altLang="en-US" sz="2400" smtClean="0">
                <a:solidFill>
                  <a:srgbClr val="595959"/>
                </a:solidFill>
                <a:latin typeface="微软雅黑" panose="020B0503020204020204" pitchFamily="34" charset="-122"/>
                <a:ea typeface="微软雅黑" panose="020B0503020204020204" pitchFamily="34" charset="-122"/>
                <a:cs typeface="+mn-ea"/>
                <a:sym typeface="+mn-lt"/>
              </a:rPr>
              <a:t>交互式</a:t>
            </a:r>
            <a:r>
              <a:rPr lang="en-US" altLang="zh-CN" sz="2400" smtClean="0">
                <a:solidFill>
                  <a:srgbClr val="595959"/>
                </a:solidFill>
                <a:latin typeface="微软雅黑" panose="020B0503020204020204" pitchFamily="34" charset="-122"/>
                <a:ea typeface="微软雅黑" panose="020B0503020204020204" pitchFamily="34" charset="-122"/>
                <a:cs typeface="+mn-ea"/>
                <a:sym typeface="+mn-lt"/>
              </a:rPr>
              <a:t>Web</a:t>
            </a:r>
            <a:r>
              <a:rPr lang="zh-CN" altLang="en-US" sz="2400" smtClean="0">
                <a:solidFill>
                  <a:srgbClr val="595959"/>
                </a:solidFill>
                <a:latin typeface="微软雅黑" panose="020B0503020204020204" pitchFamily="34" charset="-122"/>
                <a:ea typeface="微软雅黑" panose="020B0503020204020204" pitchFamily="34" charset="-122"/>
                <a:cs typeface="+mn-ea"/>
                <a:sym typeface="+mn-lt"/>
              </a:rPr>
              <a:t>前端开发（</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3" name="组合 12"/>
          <p:cNvGrpSpPr/>
          <p:nvPr/>
        </p:nvGrpSpPr>
        <p:grpSpPr>
          <a:xfrm>
            <a:off x="1270670" y="2061642"/>
            <a:ext cx="9721080" cy="688077"/>
            <a:chOff x="978872" y="1800499"/>
            <a:chExt cx="5471124" cy="515938"/>
          </a:xfrm>
        </p:grpSpPr>
        <p:sp>
          <p:nvSpPr>
            <p:cNvPr id="14" name="Pentagon 3"/>
            <p:cNvSpPr/>
            <p:nvPr/>
          </p:nvSpPr>
          <p:spPr bwMode="auto">
            <a:xfrm>
              <a:off x="978872" y="1800499"/>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，能够描述正则表达式的</a:t>
              </a:r>
              <a:r>
                <a:rPr lang="zh-CN" altLang="zh-CN" sz="2000" dirty="0">
                  <a:solidFill>
                    <a:srgbClr val="1369B2"/>
                  </a:solidFill>
                  <a:latin typeface="微软雅黑" panose="020B0503020204020204" pitchFamily="34" charset="-122"/>
                  <a:ea typeface="微软雅黑" panose="020B0503020204020204" pitchFamily="34" charset="-122"/>
                  <a:cs typeface="+mn-ea"/>
                </a:rPr>
                <a:t>概念</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作用</a:t>
              </a:r>
            </a:p>
          </p:txBody>
        </p:sp>
        <p:sp>
          <p:nvSpPr>
            <p:cNvPr id="16"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7" name="组合 16"/>
          <p:cNvGrpSpPr/>
          <p:nvPr/>
        </p:nvGrpSpPr>
        <p:grpSpPr>
          <a:xfrm>
            <a:off x="1270670" y="3031863"/>
            <a:ext cx="9709797" cy="685961"/>
            <a:chOff x="978872" y="2570436"/>
            <a:chExt cx="5437064" cy="514351"/>
          </a:xfrm>
        </p:grpSpPr>
        <p:sp>
          <p:nvSpPr>
            <p:cNvPr id="18" name="Pentagon 5"/>
            <p:cNvSpPr/>
            <p:nvPr/>
          </p:nvSpPr>
          <p:spPr bwMode="auto">
            <a:xfrm>
              <a:off x="978872" y="2570436"/>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，能够使用</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正则表达式匹配字符串</a:t>
              </a:r>
            </a:p>
          </p:txBody>
        </p:sp>
        <p:sp>
          <p:nvSpPr>
            <p:cNvPr id="19"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0" name="组合 19"/>
          <p:cNvGrpSpPr/>
          <p:nvPr/>
        </p:nvGrpSpPr>
        <p:grpSpPr>
          <a:xfrm>
            <a:off x="1270670" y="3999973"/>
            <a:ext cx="9698457" cy="688077"/>
            <a:chOff x="978872" y="3338787"/>
            <a:chExt cx="5437064" cy="515938"/>
          </a:xfrm>
        </p:grpSpPr>
        <p:sp>
          <p:nvSpPr>
            <p:cNvPr id="21"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正则表达式中元字符的使用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，能够根据实际需求选择合适的</a:t>
              </a:r>
              <a:r>
                <a:rPr lang="zh-CN" altLang="zh-CN" sz="2000" dirty="0">
                  <a:solidFill>
                    <a:srgbClr val="1369B2"/>
                  </a:solidFill>
                  <a:latin typeface="微软雅黑" panose="020B0503020204020204" pitchFamily="34" charset="-122"/>
                  <a:ea typeface="微软雅黑" panose="020B0503020204020204" pitchFamily="34" charset="-122"/>
                  <a:cs typeface="+mn-ea"/>
                </a:rPr>
                <a:t>元字符</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2"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5" name="组合 14"/>
          <p:cNvGrpSpPr/>
          <p:nvPr/>
        </p:nvGrpSpPr>
        <p:grpSpPr>
          <a:xfrm>
            <a:off x="1270670" y="4934644"/>
            <a:ext cx="9709797" cy="685961"/>
            <a:chOff x="978872" y="2570436"/>
            <a:chExt cx="5437064" cy="514351"/>
          </a:xfrm>
        </p:grpSpPr>
        <p:sp>
          <p:nvSpPr>
            <p:cNvPr id="23" name="Pentagon 5"/>
            <p:cNvSpPr/>
            <p:nvPr/>
          </p:nvSpPr>
          <p:spPr bwMode="auto">
            <a:xfrm>
              <a:off x="978872" y="2570436"/>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正则表达式常用方法</a:t>
              </a:r>
              <a:r>
                <a:rPr lang="zh-CN" altLang="zh-CN" sz="2000" dirty="0">
                  <a:solidFill>
                    <a:srgbClr val="595959"/>
                  </a:solidFill>
                  <a:latin typeface="微软雅黑" panose="020B0503020204020204" pitchFamily="34" charset="-122"/>
                  <a:ea typeface="微软雅黑" panose="020B0503020204020204" pitchFamily="34" charset="-122"/>
                  <a:cs typeface="+mn-ea"/>
                </a:rPr>
                <a:t>，能够实现</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字符串的匹配</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分割</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替换</a:t>
              </a:r>
            </a:p>
          </p:txBody>
        </p:sp>
        <p:sp>
          <p:nvSpPr>
            <p:cNvPr id="2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extLst>
      <p:ext uri="{BB962C8B-B14F-4D97-AF65-F5344CB8AC3E}">
        <p14:creationId xmlns:p14="http://schemas.microsoft.com/office/powerpoint/2010/main" val="21693997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54646" y="2277666"/>
            <a:ext cx="10081120"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实际开发中，经常需要对</a:t>
            </a:r>
            <a:r>
              <a:rPr lang="zh-CN" altLang="zh-CN" sz="2000" dirty="0">
                <a:solidFill>
                  <a:srgbClr val="1369B2"/>
                </a:solidFill>
                <a:latin typeface="微软雅黑" panose="020B0503020204020204" pitchFamily="34" charset="-122"/>
                <a:ea typeface="微软雅黑" panose="020B0503020204020204" pitchFamily="34" charset="-122"/>
              </a:rPr>
              <a:t>文本内容</a:t>
            </a:r>
            <a:r>
              <a:rPr lang="zh-CN" altLang="zh-CN" sz="2000" dirty="0">
                <a:solidFill>
                  <a:srgbClr val="595959"/>
                </a:solidFill>
                <a:latin typeface="微软雅黑" panose="020B0503020204020204" pitchFamily="34" charset="-122"/>
                <a:ea typeface="微软雅黑" panose="020B0503020204020204" pitchFamily="34" charset="-122"/>
              </a:rPr>
              <a:t>进行</a:t>
            </a:r>
            <a:r>
              <a:rPr lang="zh-CN" altLang="zh-CN" sz="2000" dirty="0">
                <a:solidFill>
                  <a:srgbClr val="1369B2"/>
                </a:solidFill>
                <a:latin typeface="微软雅黑" panose="020B0503020204020204" pitchFamily="34" charset="-122"/>
                <a:ea typeface="微软雅黑" panose="020B0503020204020204" pitchFamily="34" charset="-122"/>
              </a:rPr>
              <a:t>搜索</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查找</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匹配</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1369B2"/>
                </a:solidFill>
                <a:latin typeface="微软雅黑" panose="020B0503020204020204" pitchFamily="34" charset="-122"/>
                <a:ea typeface="微软雅黑" panose="020B0503020204020204" pitchFamily="34" charset="-122"/>
              </a:rPr>
              <a:t>分割</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zh-CN" sz="2000" dirty="0" smtClean="0">
                <a:solidFill>
                  <a:srgbClr val="1369B2"/>
                </a:solidFill>
                <a:latin typeface="微软雅黑" panose="020B0503020204020204" pitchFamily="34" charset="-122"/>
                <a:ea typeface="微软雅黑" panose="020B0503020204020204" pitchFamily="34" charset="-122"/>
              </a:rPr>
              <a:t>替换</a:t>
            </a:r>
            <a:r>
              <a:rPr lang="zh-CN" altLang="zh-CN" sz="2000" dirty="0" smtClean="0">
                <a:solidFill>
                  <a:srgbClr val="595959"/>
                </a:solidFill>
                <a:latin typeface="微软雅黑" panose="020B0503020204020204" pitchFamily="34" charset="-122"/>
                <a:ea typeface="微软雅黑" panose="020B0503020204020204" pitchFamily="34" charset="-122"/>
              </a:rPr>
              <a:t>等</a:t>
            </a:r>
            <a:r>
              <a:rPr lang="zh-CN" altLang="zh-CN" sz="2000" dirty="0">
                <a:solidFill>
                  <a:srgbClr val="595959"/>
                </a:solidFill>
                <a:latin typeface="微软雅黑" panose="020B0503020204020204" pitchFamily="34" charset="-122"/>
                <a:ea typeface="微软雅黑" panose="020B0503020204020204" pitchFamily="34" charset="-122"/>
              </a:rPr>
              <a:t>操作，</a:t>
            </a:r>
            <a:r>
              <a:rPr lang="zh-CN" altLang="zh-CN" sz="2000" dirty="0">
                <a:solidFill>
                  <a:srgbClr val="1369B2"/>
                </a:solidFill>
                <a:latin typeface="微软雅黑" panose="020B0503020204020204" pitchFamily="34" charset="-122"/>
                <a:ea typeface="微软雅黑" panose="020B0503020204020204" pitchFamily="34" charset="-122"/>
              </a:rPr>
              <a:t>正则表达式</a:t>
            </a:r>
            <a:r>
              <a:rPr lang="zh-CN" altLang="zh-CN" sz="2000" dirty="0">
                <a:solidFill>
                  <a:srgbClr val="595959"/>
                </a:solidFill>
                <a:latin typeface="微软雅黑" panose="020B0503020204020204" pitchFamily="34" charset="-122"/>
                <a:ea typeface="微软雅黑" panose="020B0503020204020204" pitchFamily="34" charset="-122"/>
              </a:rPr>
              <a:t>提供了</a:t>
            </a:r>
            <a:r>
              <a:rPr lang="zh-CN" altLang="zh-CN" sz="2000" dirty="0">
                <a:solidFill>
                  <a:srgbClr val="1369B2"/>
                </a:solidFill>
                <a:latin typeface="微软雅黑" panose="020B0503020204020204" pitchFamily="34" charset="-122"/>
                <a:ea typeface="微软雅黑" panose="020B0503020204020204" pitchFamily="34" charset="-122"/>
              </a:rPr>
              <a:t>简单的语法</a:t>
            </a:r>
            <a:r>
              <a:rPr lang="zh-CN" altLang="zh-CN" sz="2000" dirty="0">
                <a:solidFill>
                  <a:srgbClr val="595959"/>
                </a:solidFill>
                <a:latin typeface="微软雅黑" panose="020B0503020204020204" pitchFamily="34" charset="-122"/>
                <a:ea typeface="微软雅黑" panose="020B0503020204020204" pitchFamily="34" charset="-122"/>
              </a:rPr>
              <a:t>，可以高效完成这些操作。例如，可以使用正则表达式验证用户在</a:t>
            </a:r>
            <a:r>
              <a:rPr lang="zh-CN" altLang="zh-CN" sz="2000" dirty="0">
                <a:solidFill>
                  <a:srgbClr val="1369B2"/>
                </a:solidFill>
                <a:latin typeface="微软雅黑" panose="020B0503020204020204" pitchFamily="34" charset="-122"/>
                <a:ea typeface="微软雅黑" panose="020B0503020204020204" pitchFamily="34" charset="-122"/>
              </a:rPr>
              <a:t>表单中输入的数据格式</a:t>
            </a:r>
            <a:r>
              <a:rPr lang="zh-CN" altLang="zh-CN" sz="2000" dirty="0">
                <a:solidFill>
                  <a:srgbClr val="595959"/>
                </a:solidFill>
                <a:latin typeface="微软雅黑" panose="020B0503020204020204" pitchFamily="34" charset="-122"/>
                <a:ea typeface="微软雅黑" panose="020B0503020204020204" pitchFamily="34" charset="-122"/>
              </a:rPr>
              <a:t>，如用户名、密码、手机号、身份证号</a:t>
            </a:r>
            <a:r>
              <a:rPr lang="zh-CN" altLang="zh-CN" sz="2000" dirty="0" smtClean="0">
                <a:solidFill>
                  <a:srgbClr val="595959"/>
                </a:solidFill>
                <a:latin typeface="微软雅黑" panose="020B0503020204020204" pitchFamily="34" charset="-122"/>
                <a:ea typeface="微软雅黑" panose="020B0503020204020204" pitchFamily="34" charset="-122"/>
              </a:rPr>
              <a:t>等</a:t>
            </a:r>
            <a:r>
              <a:rPr lang="zh-CN" altLang="en-US" sz="2000" dirty="0" smtClean="0">
                <a:solidFill>
                  <a:srgbClr val="595959"/>
                </a:solidFill>
                <a:latin typeface="微软雅黑" panose="020B0503020204020204" pitchFamily="34" charset="-122"/>
                <a:ea typeface="微软雅黑" panose="020B0503020204020204" pitchFamily="34" charset="-122"/>
              </a:rPr>
              <a:t>的格式</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此外，在处理</a:t>
            </a:r>
            <a:r>
              <a:rPr lang="zh-CN" altLang="zh-CN" sz="2000" dirty="0">
                <a:solidFill>
                  <a:srgbClr val="1369B2"/>
                </a:solidFill>
                <a:latin typeface="微软雅黑" panose="020B0503020204020204" pitchFamily="34" charset="-122"/>
                <a:ea typeface="微软雅黑" panose="020B0503020204020204" pitchFamily="34" charset="-122"/>
              </a:rPr>
              <a:t>字符串</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数组</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对象</a:t>
            </a:r>
            <a:r>
              <a:rPr lang="zh-CN" altLang="zh-CN" sz="2000" dirty="0">
                <a:solidFill>
                  <a:srgbClr val="595959"/>
                </a:solidFill>
                <a:latin typeface="微软雅黑" panose="020B0503020204020204" pitchFamily="34" charset="-122"/>
                <a:ea typeface="微软雅黑" panose="020B0503020204020204" pitchFamily="34" charset="-122"/>
              </a:rPr>
              <a:t>等数据类型时，正则表达式也可以提供</a:t>
            </a:r>
            <a:r>
              <a:rPr lang="zh-CN" altLang="zh-CN" sz="2000" dirty="0" smtClean="0">
                <a:solidFill>
                  <a:srgbClr val="1369B2"/>
                </a:solidFill>
                <a:latin typeface="微软雅黑" panose="020B0503020204020204" pitchFamily="34" charset="-122"/>
                <a:ea typeface="微软雅黑" panose="020B0503020204020204" pitchFamily="34" charset="-122"/>
              </a:rPr>
              <a:t>数据</a:t>
            </a:r>
            <a:r>
              <a:rPr lang="zh-CN" altLang="en-US" sz="2000" dirty="0" smtClean="0">
                <a:solidFill>
                  <a:srgbClr val="1369B2"/>
                </a:solidFill>
                <a:latin typeface="微软雅黑" panose="020B0503020204020204" pitchFamily="34" charset="-122"/>
                <a:ea typeface="微软雅黑" panose="020B0503020204020204" pitchFamily="34" charset="-122"/>
              </a:rPr>
              <a:t>匹配</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分割</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替换</a:t>
            </a:r>
            <a:r>
              <a:rPr lang="zh-CN" altLang="zh-CN" sz="2000" dirty="0">
                <a:solidFill>
                  <a:srgbClr val="595959"/>
                </a:solidFill>
                <a:latin typeface="微软雅黑" panose="020B0503020204020204" pitchFamily="34" charset="-122"/>
                <a:ea typeface="微软雅黑" panose="020B0503020204020204" pitchFamily="34" charset="-122"/>
              </a:rPr>
              <a:t>等操作</a:t>
            </a:r>
            <a:r>
              <a:rPr lang="zh-CN" altLang="zh-CN" sz="2000" dirty="0" smtClean="0">
                <a:solidFill>
                  <a:srgbClr val="595959"/>
                </a:solidFill>
                <a:latin typeface="微软雅黑" panose="020B0503020204020204" pitchFamily="34" charset="-122"/>
                <a:ea typeface="微软雅黑" panose="020B0503020204020204" pitchFamily="34" charset="-122"/>
              </a:rPr>
              <a:t>。本章</a:t>
            </a:r>
            <a:r>
              <a:rPr lang="zh-CN" altLang="zh-CN" sz="2000" dirty="0">
                <a:solidFill>
                  <a:srgbClr val="595959"/>
                </a:solidFill>
                <a:latin typeface="微软雅黑" panose="020B0503020204020204" pitchFamily="34" charset="-122"/>
                <a:ea typeface="微软雅黑" panose="020B0503020204020204" pitchFamily="34" charset="-122"/>
              </a:rPr>
              <a:t>将对</a:t>
            </a:r>
            <a:r>
              <a:rPr lang="zh-CN" altLang="zh-CN" sz="2000" dirty="0">
                <a:solidFill>
                  <a:srgbClr val="1369B2"/>
                </a:solidFill>
                <a:latin typeface="微软雅黑" panose="020B0503020204020204" pitchFamily="34" charset="-122"/>
                <a:ea typeface="微软雅黑" panose="020B0503020204020204" pitchFamily="34" charset="-122"/>
              </a:rPr>
              <a:t>正则表达式</a:t>
            </a:r>
            <a:r>
              <a:rPr lang="zh-CN" altLang="zh-CN" sz="2000" dirty="0">
                <a:solidFill>
                  <a:srgbClr val="595959"/>
                </a:solidFill>
                <a:latin typeface="微软雅黑" panose="020B0503020204020204" pitchFamily="34" charset="-122"/>
                <a:ea typeface="微软雅黑" panose="020B0503020204020204" pitchFamily="34" charset="-122"/>
              </a:rPr>
              <a:t>进行详细讲解。</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1" name="组合 20"/>
          <p:cNvGrpSpPr/>
          <p:nvPr/>
        </p:nvGrpSpPr>
        <p:grpSpPr>
          <a:xfrm>
            <a:off x="3119265" y="2370166"/>
            <a:ext cx="1192190" cy="613062"/>
            <a:chOff x="2215144" y="982844"/>
            <a:chExt cx="1244730" cy="842780"/>
          </a:xfrm>
        </p:grpSpPr>
        <p:sp>
          <p:nvSpPr>
            <p:cNvPr id="22" name="平行四边形 21"/>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3" name="文本框 9"/>
            <p:cNvSpPr txBox="1"/>
            <p:nvPr/>
          </p:nvSpPr>
          <p:spPr>
            <a:xfrm>
              <a:off x="2393075" y="1068521"/>
              <a:ext cx="1066799" cy="634654"/>
            </a:xfrm>
            <a:prstGeom prst="rect">
              <a:avLst/>
            </a:prstGeom>
            <a:noFill/>
          </p:spPr>
          <p:txBody>
            <a:bodyPr wrap="squar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cs typeface="+mn-ea"/>
                  <a:sym typeface="+mn-lt"/>
                </a:rPr>
                <a:t>12.1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4" name="组合 23"/>
          <p:cNvGrpSpPr/>
          <p:nvPr/>
        </p:nvGrpSpPr>
        <p:grpSpPr>
          <a:xfrm>
            <a:off x="3119265" y="3242826"/>
            <a:ext cx="1192190" cy="613061"/>
            <a:chOff x="2215144" y="2033848"/>
            <a:chExt cx="1244730" cy="842781"/>
          </a:xfrm>
        </p:grpSpPr>
        <p:sp>
          <p:nvSpPr>
            <p:cNvPr id="25" name="平行四边形 24"/>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6" name="文本框 10"/>
            <p:cNvSpPr txBox="1"/>
            <p:nvPr/>
          </p:nvSpPr>
          <p:spPr>
            <a:xfrm>
              <a:off x="2393075" y="2131253"/>
              <a:ext cx="1066799" cy="634655"/>
            </a:xfrm>
            <a:prstGeom prst="rect">
              <a:avLst/>
            </a:prstGeom>
            <a:noFill/>
          </p:spPr>
          <p:txBody>
            <a:bodyPr wrap="squar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cs typeface="+mn-ea"/>
                  <a:sym typeface="+mn-lt"/>
                </a:rPr>
                <a:t>12.2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119265" y="4138259"/>
            <a:ext cx="1192190" cy="613061"/>
            <a:chOff x="2215144" y="3084852"/>
            <a:chExt cx="1244730" cy="842781"/>
          </a:xfrm>
        </p:grpSpPr>
        <p:sp>
          <p:nvSpPr>
            <p:cNvPr id="28" name="平行四边形 27"/>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11"/>
            <p:cNvSpPr txBox="1"/>
            <p:nvPr/>
          </p:nvSpPr>
          <p:spPr>
            <a:xfrm>
              <a:off x="2393075" y="3209552"/>
              <a:ext cx="1066799" cy="634655"/>
            </a:xfrm>
            <a:prstGeom prst="rect">
              <a:avLst/>
            </a:prstGeom>
            <a:noFill/>
          </p:spPr>
          <p:txBody>
            <a:bodyPr wrap="squar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cs typeface="+mn-ea"/>
                  <a:sym typeface="+mn-lt"/>
                </a:rPr>
                <a:t>12.3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4024817" y="2347987"/>
            <a:ext cx="5142331" cy="613062"/>
            <a:chOff x="4315150" y="953426"/>
            <a:chExt cx="3857250" cy="540057"/>
          </a:xfrm>
        </p:grpSpPr>
        <p:sp>
          <p:nvSpPr>
            <p:cNvPr id="31" name="矩形 30"/>
            <p:cNvSpPr/>
            <p:nvPr/>
          </p:nvSpPr>
          <p:spPr>
            <a:xfrm>
              <a:off x="4830201" y="1057390"/>
              <a:ext cx="2827147" cy="332129"/>
            </a:xfrm>
            <a:prstGeom prst="rect">
              <a:avLst/>
            </a:prstGeom>
            <a:ln w="15875">
              <a:noFill/>
            </a:ln>
          </p:spPr>
          <p:txBody>
            <a:bodyPr wrap="square" lIns="68580" tIns="34290" rIns="68580" bIns="34290">
              <a:spAutoFit/>
            </a:bodyPr>
            <a:lstStyle/>
            <a:p>
              <a:r>
                <a:rPr lang="zh-CN" altLang="en-US" sz="2000" smtClean="0">
                  <a:solidFill>
                    <a:srgbClr val="1369B2"/>
                  </a:solidFill>
                  <a:latin typeface="微软雅黑" panose="020B0503020204020204" pitchFamily="34" charset="-122"/>
                  <a:ea typeface="微软雅黑" panose="020B0503020204020204" pitchFamily="34" charset="-122"/>
                  <a:sym typeface="+mn-lt"/>
                </a:rPr>
                <a:t>认识</a:t>
              </a:r>
              <a:r>
                <a:rPr lang="zh-CN" altLang="en-US" sz="2000">
                  <a:solidFill>
                    <a:srgbClr val="595959"/>
                  </a:solidFill>
                  <a:latin typeface="微软雅黑" panose="020B0503020204020204" pitchFamily="34" charset="-122"/>
                  <a:ea typeface="微软雅黑" panose="020B0503020204020204" pitchFamily="34" charset="-122"/>
                  <a:cs typeface="+mn-ea"/>
                  <a:sym typeface="+mn-lt"/>
                </a:rPr>
                <a:t>正则表达式</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2" name="平行四边形 3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3" name="组合 32"/>
          <p:cNvGrpSpPr/>
          <p:nvPr/>
        </p:nvGrpSpPr>
        <p:grpSpPr>
          <a:xfrm>
            <a:off x="4024817" y="3220655"/>
            <a:ext cx="5142331" cy="613062"/>
            <a:chOff x="4315150" y="1647579"/>
            <a:chExt cx="3857250" cy="540057"/>
          </a:xfrm>
        </p:grpSpPr>
        <p:sp>
          <p:nvSpPr>
            <p:cNvPr id="34" name="矩形 33"/>
            <p:cNvSpPr/>
            <p:nvPr/>
          </p:nvSpPr>
          <p:spPr>
            <a:xfrm>
              <a:off x="4830201" y="1751543"/>
              <a:ext cx="2827147" cy="332129"/>
            </a:xfrm>
            <a:prstGeom prst="rect">
              <a:avLst/>
            </a:prstGeom>
            <a:ln w="15875">
              <a:noFill/>
            </a:ln>
          </p:spPr>
          <p:txBody>
            <a:bodyPr wrap="square" lIns="68580" tIns="34290" rIns="68580" bIns="34290">
              <a:spAutoFit/>
            </a:bodyPr>
            <a:lstStyle/>
            <a:p>
              <a:r>
                <a:rPr lang="zh-CN" altLang="en-US" sz="2000" smtClean="0">
                  <a:solidFill>
                    <a:srgbClr val="1369B2"/>
                  </a:solidFill>
                  <a:latin typeface="微软雅黑" panose="020B0503020204020204" pitchFamily="34" charset="-122"/>
                  <a:ea typeface="微软雅黑" panose="020B0503020204020204" pitchFamily="34" charset="-122"/>
                  <a:sym typeface="+mn-lt"/>
                </a:rPr>
                <a:t>使用</a:t>
              </a:r>
              <a:r>
                <a:rPr lang="zh-CN" altLang="en-US" sz="2000">
                  <a:solidFill>
                    <a:srgbClr val="595959"/>
                  </a:solidFill>
                  <a:latin typeface="微软雅黑" panose="020B0503020204020204" pitchFamily="34" charset="-122"/>
                  <a:ea typeface="微软雅黑" panose="020B0503020204020204" pitchFamily="34" charset="-122"/>
                  <a:cs typeface="+mn-ea"/>
                  <a:sym typeface="+mn-lt"/>
                </a:rPr>
                <a:t>正则表达式</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5" name="平行四边形 3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6" name="组合 35"/>
          <p:cNvGrpSpPr/>
          <p:nvPr/>
        </p:nvGrpSpPr>
        <p:grpSpPr>
          <a:xfrm>
            <a:off x="4024817" y="4116608"/>
            <a:ext cx="5142331" cy="613062"/>
            <a:chOff x="4315150" y="2341731"/>
            <a:chExt cx="3857250" cy="540057"/>
          </a:xfrm>
        </p:grpSpPr>
        <p:sp>
          <p:nvSpPr>
            <p:cNvPr id="37" name="矩形 36"/>
            <p:cNvSpPr/>
            <p:nvPr/>
          </p:nvSpPr>
          <p:spPr>
            <a:xfrm>
              <a:off x="4830201" y="2445695"/>
              <a:ext cx="2827146" cy="332129"/>
            </a:xfrm>
            <a:prstGeom prst="rect">
              <a:avLst/>
            </a:prstGeom>
            <a:ln w="15875">
              <a:noFill/>
            </a:ln>
          </p:spPr>
          <p:txBody>
            <a:bodyPr wrap="square" lIns="68580" tIns="34290" rIns="68580" bIns="34290">
              <a:spAutoFit/>
            </a:bodyPr>
            <a:lstStyle/>
            <a:p>
              <a:r>
                <a:rPr lang="zh-CN" altLang="en-US" sz="2000">
                  <a:solidFill>
                    <a:srgbClr val="595959"/>
                  </a:solidFill>
                  <a:latin typeface="微软雅黑" panose="020B0503020204020204" pitchFamily="34" charset="-122"/>
                  <a:ea typeface="微软雅黑" panose="020B0503020204020204" pitchFamily="34" charset="-122"/>
                  <a:cs typeface="+mn-ea"/>
                  <a:sym typeface="+mn-lt"/>
                </a:rPr>
                <a:t>正则表达式中的</a:t>
              </a:r>
              <a:r>
                <a:rPr lang="zh-CN" altLang="en-US" sz="2000" smtClean="0">
                  <a:solidFill>
                    <a:srgbClr val="1369B2"/>
                  </a:solidFill>
                  <a:latin typeface="微软雅黑" panose="020B0503020204020204" pitchFamily="34" charset="-122"/>
                  <a:ea typeface="微软雅黑" panose="020B0503020204020204" pitchFamily="34" charset="-122"/>
                  <a:sym typeface="+mn-lt"/>
                </a:rPr>
                <a:t>元字符</a:t>
              </a:r>
              <a:endParaRPr lang="en-US" altLang="zh-CN" sz="2000" dirty="0">
                <a:solidFill>
                  <a:srgbClr val="1369B2"/>
                </a:solidFill>
                <a:latin typeface="微软雅黑" panose="020B0503020204020204" pitchFamily="34" charset="-122"/>
                <a:ea typeface="微软雅黑" panose="020B0503020204020204" pitchFamily="34" charset="-122"/>
                <a:sym typeface="+mn-lt"/>
              </a:endParaRPr>
            </a:p>
          </p:txBody>
        </p:sp>
        <p:sp>
          <p:nvSpPr>
            <p:cNvPr id="38" name="平行四边形 3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9" name="组合 38">
            <a:extLst>
              <a:ext uri="{FF2B5EF4-FFF2-40B4-BE49-F238E27FC236}">
                <a16:creationId xmlns:a16="http://schemas.microsoft.com/office/drawing/2014/main" id="{CB376FFE-0A38-421F-8A6D-2DEDEBD8EEF3}"/>
              </a:ext>
            </a:extLst>
          </p:cNvPr>
          <p:cNvGrpSpPr/>
          <p:nvPr/>
        </p:nvGrpSpPr>
        <p:grpSpPr>
          <a:xfrm>
            <a:off x="3108579" y="5047515"/>
            <a:ext cx="1176951" cy="613061"/>
            <a:chOff x="2215144" y="3084852"/>
            <a:chExt cx="1228819" cy="842781"/>
          </a:xfrm>
        </p:grpSpPr>
        <p:sp>
          <p:nvSpPr>
            <p:cNvPr id="40" name="平行四边形 39">
              <a:extLst>
                <a:ext uri="{FF2B5EF4-FFF2-40B4-BE49-F238E27FC236}">
                  <a16:creationId xmlns:a16="http://schemas.microsoft.com/office/drawing/2014/main" id="{388C74B8-A6C9-434C-9F0F-CD30735A046E}"/>
                </a:ext>
              </a:extLst>
            </p:cNvPr>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1" name="文本框 11">
              <a:extLst>
                <a:ext uri="{FF2B5EF4-FFF2-40B4-BE49-F238E27FC236}">
                  <a16:creationId xmlns:a16="http://schemas.microsoft.com/office/drawing/2014/main" id="{C9AEB00F-783C-4F0C-ABD8-86838E547BFB}"/>
                </a:ext>
              </a:extLst>
            </p:cNvPr>
            <p:cNvSpPr txBox="1"/>
            <p:nvPr/>
          </p:nvSpPr>
          <p:spPr>
            <a:xfrm>
              <a:off x="2377164" y="3209552"/>
              <a:ext cx="1066799" cy="634655"/>
            </a:xfrm>
            <a:prstGeom prst="rect">
              <a:avLst/>
            </a:prstGeom>
            <a:noFill/>
          </p:spPr>
          <p:txBody>
            <a:bodyPr wrap="squar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cs typeface="+mn-ea"/>
                  <a:sym typeface="+mn-lt"/>
                </a:rPr>
                <a:t>12.4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a:extLst>
              <a:ext uri="{FF2B5EF4-FFF2-40B4-BE49-F238E27FC236}">
                <a16:creationId xmlns:a16="http://schemas.microsoft.com/office/drawing/2014/main" id="{332EB411-C9AC-44C7-A5C7-EDF08E27D459}"/>
              </a:ext>
            </a:extLst>
          </p:cNvPr>
          <p:cNvGrpSpPr/>
          <p:nvPr/>
        </p:nvGrpSpPr>
        <p:grpSpPr>
          <a:xfrm>
            <a:off x="4014130" y="5025863"/>
            <a:ext cx="5142331" cy="613062"/>
            <a:chOff x="4315150" y="2341731"/>
            <a:chExt cx="3857250" cy="540057"/>
          </a:xfrm>
        </p:grpSpPr>
        <p:sp>
          <p:nvSpPr>
            <p:cNvPr id="43" name="矩形 42">
              <a:extLst>
                <a:ext uri="{FF2B5EF4-FFF2-40B4-BE49-F238E27FC236}">
                  <a16:creationId xmlns:a16="http://schemas.microsoft.com/office/drawing/2014/main" id="{EB4C37FC-9E76-4047-8F7E-664EC06978D2}"/>
                </a:ext>
              </a:extLst>
            </p:cNvPr>
            <p:cNvSpPr/>
            <p:nvPr/>
          </p:nvSpPr>
          <p:spPr>
            <a:xfrm>
              <a:off x="4830201" y="2445695"/>
              <a:ext cx="2827146" cy="332129"/>
            </a:xfrm>
            <a:prstGeom prst="rect">
              <a:avLst/>
            </a:prstGeom>
            <a:ln w="15875">
              <a:noFill/>
            </a:ln>
          </p:spPr>
          <p:txBody>
            <a:bodyPr wrap="square" lIns="68580" tIns="34290" rIns="68580" bIns="34290">
              <a:spAutoFit/>
            </a:bodyPr>
            <a:lstStyle/>
            <a:p>
              <a:r>
                <a:rPr lang="zh-CN" altLang="en-US" sz="2000">
                  <a:solidFill>
                    <a:srgbClr val="595959"/>
                  </a:solidFill>
                  <a:latin typeface="微软雅黑" panose="020B0503020204020204" pitchFamily="34" charset="-122"/>
                  <a:ea typeface="微软雅黑" panose="020B0503020204020204" pitchFamily="34" charset="-122"/>
                  <a:cs typeface="+mn-ea"/>
                  <a:sym typeface="+mn-lt"/>
                </a:rPr>
                <a:t>正则表达式</a:t>
              </a:r>
              <a:r>
                <a:rPr lang="zh-CN" altLang="en-US" sz="2000" smtClean="0">
                  <a:solidFill>
                    <a:srgbClr val="1369B2"/>
                  </a:solidFill>
                  <a:latin typeface="微软雅黑" panose="020B0503020204020204" pitchFamily="34" charset="-122"/>
                  <a:ea typeface="微软雅黑" panose="020B0503020204020204" pitchFamily="34" charset="-122"/>
                  <a:sym typeface="+mn-lt"/>
                </a:rPr>
                <a:t>常用方法</a:t>
              </a:r>
              <a:endParaRPr lang="en-US" altLang="zh-CN" sz="2000" dirty="0">
                <a:solidFill>
                  <a:srgbClr val="1369B2"/>
                </a:solidFill>
                <a:latin typeface="微软雅黑" panose="020B0503020204020204" pitchFamily="34" charset="-122"/>
                <a:ea typeface="微软雅黑" panose="020B0503020204020204" pitchFamily="34" charset="-122"/>
                <a:sym typeface="+mn-lt"/>
              </a:endParaRPr>
            </a:p>
          </p:txBody>
        </p:sp>
        <p:sp>
          <p:nvSpPr>
            <p:cNvPr id="44" name="平行四边形 43">
              <a:extLst>
                <a:ext uri="{FF2B5EF4-FFF2-40B4-BE49-F238E27FC236}">
                  <a16:creationId xmlns:a16="http://schemas.microsoft.com/office/drawing/2014/main" id="{C1AC45FF-1323-43E6-81E4-96785288BE31}"/>
                </a:ext>
              </a:extLst>
            </p:cNvPr>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extLst>
      <p:ext uri="{BB962C8B-B14F-4D97-AF65-F5344CB8AC3E}">
        <p14:creationId xmlns:p14="http://schemas.microsoft.com/office/powerpoint/2010/main" val="126741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pPr>
              <a:buClrTx/>
              <a:buSzTx/>
              <a:buFontTx/>
            </a:pPr>
            <a:r>
              <a:rPr lang="zh-CN" altLang="en-US" sz="4800" b="1" smtClean="0">
                <a:solidFill>
                  <a:srgbClr val="1369B2"/>
                </a:solidFill>
                <a:latin typeface="微软雅黑" panose="020B0503020204020204" pitchFamily="34" charset="-122"/>
                <a:ea typeface="微软雅黑" panose="020B0503020204020204" pitchFamily="34" charset="-122"/>
                <a:cs typeface="+mn-ea"/>
                <a:sym typeface="+mn-lt"/>
              </a:rPr>
              <a:t>认识</a:t>
            </a:r>
            <a:r>
              <a:rPr lang="zh-CN" altLang="en-US" sz="4800" b="1" smtClean="0">
                <a:solidFill>
                  <a:srgbClr val="595959"/>
                </a:solidFill>
                <a:latin typeface="微软雅黑" panose="020B0503020204020204" pitchFamily="34" charset="-122"/>
                <a:ea typeface="微软雅黑" panose="020B0503020204020204" pitchFamily="34" charset="-122"/>
                <a:cs typeface="+mn-ea"/>
                <a:sym typeface="+mn-lt"/>
              </a:rPr>
              <a:t>正则表达式</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270670" y="2809240"/>
            <a:ext cx="2091020" cy="1107996"/>
          </a:xfrm>
          <a:prstGeom prst="rect">
            <a:avLst/>
          </a:prstGeom>
          <a:noFill/>
        </p:spPr>
        <p:txBody>
          <a:bodyPr wrap="square" lIns="91443" tIns="45720" rIns="91443" bIns="45720" rtlCol="0">
            <a:spAutoFit/>
          </a:bodyPr>
          <a:lstStyle/>
          <a:p>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12.1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485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了解</a:t>
            </a:r>
            <a:r>
              <a:rPr lang="zh-CN" altLang="zh-CN" sz="2000" smtClean="0">
                <a:solidFill>
                  <a:srgbClr val="1369B2"/>
                </a:solidFill>
                <a:latin typeface="微软雅黑" panose="020B0503020204020204" pitchFamily="34" charset="-122"/>
                <a:ea typeface="微软雅黑" panose="020B0503020204020204" pitchFamily="34" charset="-122"/>
                <a:cs typeface="+mn-ea"/>
              </a:rPr>
              <a:t>正则表达式</a:t>
            </a:r>
            <a:r>
              <a:rPr lang="zh-CN" altLang="zh-CN" sz="2000">
                <a:solidFill>
                  <a:srgbClr val="595959"/>
                </a:solidFill>
                <a:latin typeface="微软雅黑" panose="020B0503020204020204" pitchFamily="34" charset="-122"/>
                <a:ea typeface="微软雅黑" panose="020B0503020204020204" pitchFamily="34" charset="-122"/>
                <a:cs typeface="+mn-ea"/>
              </a:rPr>
              <a:t>，能够描述正则表达式的</a:t>
            </a:r>
            <a:r>
              <a:rPr lang="zh-CN" altLang="zh-CN" sz="2000">
                <a:solidFill>
                  <a:srgbClr val="1369B2"/>
                </a:solidFill>
                <a:latin typeface="微软雅黑" panose="020B0503020204020204" pitchFamily="34" charset="-122"/>
                <a:ea typeface="微软雅黑" panose="020B0503020204020204" pitchFamily="34" charset="-122"/>
                <a:cs typeface="+mn-ea"/>
              </a:rPr>
              <a:t>概念</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cs typeface="+mn-ea"/>
              </a:rPr>
              <a:t>作用</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认识正则表达式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550711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a:xfrm>
            <a:off x="4899447" y="1985402"/>
            <a:ext cx="6092303" cy="2672053"/>
            <a:chOff x="4899446" y="1985402"/>
            <a:chExt cx="6740375" cy="3417567"/>
          </a:xfrm>
        </p:grpSpPr>
        <p:sp>
          <p:nvSpPr>
            <p:cNvPr id="24"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5" name="矩形 5">
              <a:extLst>
                <a:ext uri="{FF2B5EF4-FFF2-40B4-BE49-F238E27FC236}">
                  <a16:creationId xmlns:a16="http://schemas.microsoft.com/office/drawing/2014/main" id="{8C22BF7A-4BC1-4144-9B36-68D1715B1173}"/>
                </a:ext>
              </a:extLst>
            </p:cNvPr>
            <p:cNvSpPr>
              <a:spLocks noChangeArrowheads="1"/>
            </p:cNvSpPr>
            <p:nvPr/>
          </p:nvSpPr>
          <p:spPr bwMode="auto">
            <a:xfrm>
              <a:off x="5353599" y="2233126"/>
              <a:ext cx="6047219" cy="307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smtClean="0">
                  <a:solidFill>
                    <a:srgbClr val="1369B2"/>
                  </a:solidFill>
                  <a:latin typeface="微软雅黑" panose="020B0503020204020204" pitchFamily="34" charset="-122"/>
                  <a:ea typeface="微软雅黑" panose="020B0503020204020204" pitchFamily="34" charset="-122"/>
                </a:rPr>
                <a:t>正则表达式</a:t>
              </a:r>
              <a:r>
                <a:rPr lang="zh-CN" altLang="zh-CN" sz="2000">
                  <a:solidFill>
                    <a:srgbClr val="595959"/>
                  </a:solidFill>
                  <a:latin typeface="微软雅黑" panose="020B0503020204020204" pitchFamily="34" charset="-122"/>
                  <a:ea typeface="微软雅黑" panose="020B0503020204020204" pitchFamily="34" charset="-122"/>
                </a:rPr>
                <a:t>（</a:t>
              </a:r>
              <a:r>
                <a:rPr lang="en-US" altLang="zh-CN" sz="2000">
                  <a:solidFill>
                    <a:srgbClr val="595959"/>
                  </a:solidFill>
                  <a:latin typeface="微软雅黑" panose="020B0503020204020204" pitchFamily="34" charset="-122"/>
                  <a:ea typeface="微软雅黑" panose="020B0503020204020204" pitchFamily="34" charset="-122"/>
                </a:rPr>
                <a:t>Regular Expression</a:t>
              </a:r>
              <a:r>
                <a:rPr lang="zh-CN" altLang="zh-CN" sz="2000">
                  <a:solidFill>
                    <a:srgbClr val="595959"/>
                  </a:solidFill>
                  <a:latin typeface="微软雅黑" panose="020B0503020204020204" pitchFamily="34" charset="-122"/>
                  <a:ea typeface="微软雅黑" panose="020B0503020204020204" pitchFamily="34" charset="-122"/>
                </a:rPr>
                <a:t>）是一种描述</a:t>
              </a:r>
              <a:r>
                <a:rPr lang="zh-CN" altLang="zh-CN" sz="2000">
                  <a:solidFill>
                    <a:srgbClr val="1369B2"/>
                  </a:solidFill>
                  <a:latin typeface="微软雅黑" panose="020B0503020204020204" pitchFamily="34" charset="-122"/>
                  <a:ea typeface="微软雅黑" panose="020B0503020204020204" pitchFamily="34" charset="-122"/>
                </a:rPr>
                <a:t>字符串规律</a:t>
              </a:r>
              <a:r>
                <a:rPr lang="zh-CN" altLang="zh-CN" sz="2000">
                  <a:solidFill>
                    <a:srgbClr val="595959"/>
                  </a:solidFill>
                  <a:latin typeface="微软雅黑" panose="020B0503020204020204" pitchFamily="34" charset="-122"/>
                  <a:ea typeface="微软雅黑" panose="020B0503020204020204" pitchFamily="34" charset="-122"/>
                </a:rPr>
                <a:t>的表达式，用于匹配</a:t>
              </a:r>
              <a:r>
                <a:rPr lang="zh-CN" altLang="zh-CN" sz="2000">
                  <a:solidFill>
                    <a:srgbClr val="1369B2"/>
                  </a:solidFill>
                  <a:latin typeface="微软雅黑" panose="020B0503020204020204" pitchFamily="34" charset="-122"/>
                  <a:ea typeface="微软雅黑" panose="020B0503020204020204" pitchFamily="34" charset="-122"/>
                </a:rPr>
                <a:t>字符串</a:t>
              </a:r>
              <a:r>
                <a:rPr lang="zh-CN" altLang="zh-CN" sz="2000">
                  <a:solidFill>
                    <a:srgbClr val="595959"/>
                  </a:solidFill>
                  <a:latin typeface="微软雅黑" panose="020B0503020204020204" pitchFamily="34" charset="-122"/>
                  <a:ea typeface="微软雅黑" panose="020B0503020204020204" pitchFamily="34" charset="-122"/>
                </a:rPr>
                <a:t>中的</a:t>
              </a:r>
              <a:r>
                <a:rPr lang="zh-CN" altLang="zh-CN" sz="2000">
                  <a:solidFill>
                    <a:srgbClr val="1369B2"/>
                  </a:solidFill>
                  <a:latin typeface="微软雅黑" panose="020B0503020204020204" pitchFamily="34" charset="-122"/>
                  <a:ea typeface="微软雅黑" panose="020B0503020204020204" pitchFamily="34" charset="-122"/>
                </a:rPr>
                <a:t>特定内容</a:t>
              </a:r>
              <a:r>
                <a:rPr lang="zh-CN" altLang="zh-CN" sz="2000">
                  <a:solidFill>
                    <a:srgbClr val="595959"/>
                  </a:solidFill>
                  <a:latin typeface="微软雅黑" panose="020B0503020204020204" pitchFamily="34" charset="-122"/>
                  <a:ea typeface="微软雅黑" panose="020B0503020204020204" pitchFamily="34" charset="-122"/>
                </a:rPr>
                <a:t>。正则表达式的</a:t>
              </a:r>
              <a:r>
                <a:rPr lang="zh-CN" altLang="zh-CN" sz="2000">
                  <a:solidFill>
                    <a:srgbClr val="1369B2"/>
                  </a:solidFill>
                  <a:latin typeface="微软雅黑" panose="020B0503020204020204" pitchFamily="34" charset="-122"/>
                  <a:ea typeface="微软雅黑" panose="020B0503020204020204" pitchFamily="34" charset="-122"/>
                </a:rPr>
                <a:t>语法灵活</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匹配能力强大</a:t>
              </a:r>
              <a:r>
                <a:rPr lang="zh-CN" altLang="zh-CN" sz="2000">
                  <a:solidFill>
                    <a:srgbClr val="595959"/>
                  </a:solidFill>
                  <a:latin typeface="微软雅黑" panose="020B0503020204020204" pitchFamily="34" charset="-122"/>
                  <a:ea typeface="微软雅黑" panose="020B0503020204020204" pitchFamily="34" charset="-122"/>
                </a:rPr>
                <a:t>，可以使用各种</a:t>
              </a:r>
              <a:r>
                <a:rPr lang="zh-CN" altLang="zh-CN" sz="2000">
                  <a:solidFill>
                    <a:srgbClr val="1369B2"/>
                  </a:solidFill>
                  <a:latin typeface="微软雅黑" panose="020B0503020204020204" pitchFamily="34" charset="-122"/>
                  <a:ea typeface="微软雅黑" panose="020B0503020204020204" pitchFamily="34" charset="-122"/>
                </a:rPr>
                <a:t>符号</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特殊字符</a:t>
              </a:r>
              <a:r>
                <a:rPr lang="zh-CN" altLang="zh-CN" sz="2000">
                  <a:solidFill>
                    <a:srgbClr val="595959"/>
                  </a:solidFill>
                  <a:latin typeface="微软雅黑" panose="020B0503020204020204" pitchFamily="34" charset="-122"/>
                  <a:ea typeface="微软雅黑" panose="020B0503020204020204" pitchFamily="34" charset="-122"/>
                </a:rPr>
                <a:t>匹配复杂的字符串。</a:t>
              </a:r>
            </a:p>
          </p:txBody>
        </p:sp>
      </p:grpSp>
      <p:sp>
        <p:nvSpPr>
          <p:cNvPr id="8"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认识正则表达式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5406950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592096" y="1607165"/>
            <a:ext cx="3715858" cy="4006159"/>
          </a:xfrm>
          <a:prstGeom prst="rect">
            <a:avLst/>
          </a:prstGeom>
        </p:spPr>
      </p:pic>
      <p:sp>
        <p:nvSpPr>
          <p:cNvPr id="9" name="Shape 2015"/>
          <p:cNvSpPr/>
          <p:nvPr/>
        </p:nvSpPr>
        <p:spPr>
          <a:xfrm>
            <a:off x="4583038" y="2133649"/>
            <a:ext cx="6768752" cy="2736305"/>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nvSpPr>
        <p:spPr>
          <a:xfrm>
            <a:off x="4943078" y="2358673"/>
            <a:ext cx="6120680" cy="2400657"/>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实际开发中，</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通常被用于</a:t>
            </a:r>
            <a:r>
              <a:rPr lang="zh-CN" altLang="zh-CN" sz="2000" dirty="0">
                <a:solidFill>
                  <a:srgbClr val="1369B2"/>
                </a:solidFill>
                <a:latin typeface="微软雅黑" panose="020B0503020204020204" pitchFamily="34" charset="-122"/>
                <a:ea typeface="微软雅黑" panose="020B0503020204020204" pitchFamily="34" charset="-122"/>
                <a:cs typeface="+mn-ea"/>
              </a:rPr>
              <a:t>匹配</a:t>
            </a:r>
            <a:r>
              <a:rPr lang="zh-CN" altLang="zh-CN" sz="2000" dirty="0">
                <a:solidFill>
                  <a:srgbClr val="595959"/>
                </a:solidFill>
                <a:latin typeface="微软雅黑" panose="020B0503020204020204" pitchFamily="34" charset="-122"/>
                <a:ea typeface="微软雅黑" panose="020B0503020204020204" pitchFamily="34" charset="-122"/>
                <a:cs typeface="+mn-ea"/>
              </a:rPr>
              <a:t>或</a:t>
            </a:r>
            <a:r>
              <a:rPr lang="zh-CN" altLang="zh-CN" sz="2000" dirty="0">
                <a:solidFill>
                  <a:srgbClr val="1369B2"/>
                </a:solidFill>
                <a:latin typeface="微软雅黑" panose="020B0503020204020204" pitchFamily="34" charset="-122"/>
                <a:ea typeface="微软雅黑" panose="020B0503020204020204" pitchFamily="34" charset="-122"/>
                <a:cs typeface="+mn-ea"/>
              </a:rPr>
              <a:t>替换</a:t>
            </a:r>
            <a:r>
              <a:rPr lang="zh-CN" altLang="zh-CN" sz="2000" dirty="0">
                <a:solidFill>
                  <a:srgbClr val="595959"/>
                </a:solidFill>
                <a:latin typeface="微软雅黑" panose="020B0503020204020204" pitchFamily="34" charset="-122"/>
                <a:ea typeface="微软雅黑" panose="020B0503020204020204" pitchFamily="34" charset="-122"/>
                <a:cs typeface="+mn-ea"/>
              </a:rPr>
              <a:t>符合某个规律的</a:t>
            </a:r>
            <a:r>
              <a:rPr lang="zh-CN" altLang="zh-CN" sz="2000" dirty="0">
                <a:solidFill>
                  <a:srgbClr val="1369B2"/>
                </a:solidFill>
                <a:latin typeface="微软雅黑" panose="020B0503020204020204" pitchFamily="34" charset="-122"/>
                <a:ea typeface="微软雅黑" panose="020B0503020204020204" pitchFamily="34" charset="-122"/>
                <a:cs typeface="+mn-ea"/>
              </a:rPr>
              <a:t>文本</a:t>
            </a:r>
            <a:r>
              <a:rPr lang="zh-CN" altLang="zh-CN" sz="2000" dirty="0">
                <a:solidFill>
                  <a:srgbClr val="595959"/>
                </a:solidFill>
                <a:latin typeface="微软雅黑" panose="020B0503020204020204" pitchFamily="34" charset="-122"/>
                <a:ea typeface="微软雅黑" panose="020B0503020204020204" pitchFamily="34" charset="-122"/>
                <a:cs typeface="+mn-ea"/>
              </a:rPr>
              <a:t>，例如，用户在某个网站中注册账号时，网站要求用户的账号由</a:t>
            </a:r>
            <a:r>
              <a:rPr lang="en-US" altLang="zh-CN" sz="2000" dirty="0">
                <a:solidFill>
                  <a:srgbClr val="1369B2"/>
                </a:solidFill>
                <a:latin typeface="微软雅黑" panose="020B0503020204020204" pitchFamily="34" charset="-122"/>
                <a:ea typeface="微软雅黑" panose="020B0503020204020204" pitchFamily="34" charset="-122"/>
                <a:cs typeface="+mn-ea"/>
              </a:rPr>
              <a:t>11</a:t>
            </a:r>
            <a:r>
              <a:rPr lang="zh-CN" altLang="zh-CN" sz="2000" dirty="0">
                <a:solidFill>
                  <a:srgbClr val="1369B2"/>
                </a:solidFill>
                <a:latin typeface="微软雅黑" panose="020B0503020204020204" pitchFamily="34" charset="-122"/>
                <a:ea typeface="微软雅黑" panose="020B0503020204020204" pitchFamily="34" charset="-122"/>
                <a:cs typeface="+mn-ea"/>
              </a:rPr>
              <a:t>位有效手机号</a:t>
            </a:r>
            <a:r>
              <a:rPr lang="zh-CN" altLang="zh-CN" sz="2000" dirty="0">
                <a:solidFill>
                  <a:srgbClr val="595959"/>
                </a:solidFill>
                <a:latin typeface="微软雅黑" panose="020B0503020204020204" pitchFamily="34" charset="-122"/>
                <a:ea typeface="微软雅黑" panose="020B0503020204020204" pitchFamily="34" charset="-122"/>
                <a:cs typeface="+mn-ea"/>
              </a:rPr>
              <a:t>组成，网站的开发人员在对用户的账号进行</a:t>
            </a:r>
            <a:r>
              <a:rPr lang="zh-CN" altLang="zh-CN" sz="2000" dirty="0">
                <a:solidFill>
                  <a:srgbClr val="1369B2"/>
                </a:solidFill>
                <a:latin typeface="微软雅黑" panose="020B0503020204020204" pitchFamily="34" charset="-122"/>
                <a:ea typeface="微软雅黑" panose="020B0503020204020204" pitchFamily="34" charset="-122"/>
                <a:cs typeface="+mn-ea"/>
              </a:rPr>
              <a:t>格式验证</a:t>
            </a:r>
            <a:r>
              <a:rPr lang="zh-CN" altLang="zh-CN" sz="2000" dirty="0">
                <a:solidFill>
                  <a:srgbClr val="595959"/>
                </a:solidFill>
                <a:latin typeface="微软雅黑" panose="020B0503020204020204" pitchFamily="34" charset="-122"/>
                <a:ea typeface="微软雅黑" panose="020B0503020204020204" pitchFamily="34" charset="-122"/>
                <a:cs typeface="+mn-ea"/>
              </a:rPr>
              <a:t>时，就会使用</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7"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认识正则表达式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5085659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0AC76212-EC23-4F95-A3FA-72E85045A7CA}"/>
              </a:ext>
            </a:extLst>
          </p:cNvPr>
          <p:cNvSpPr txBox="1"/>
          <p:nvPr/>
        </p:nvSpPr>
        <p:spPr>
          <a:xfrm>
            <a:off x="1148940" y="1917626"/>
            <a:ext cx="6967739" cy="1477328"/>
          </a:xfrm>
          <a:prstGeom prst="rect">
            <a:avLst/>
          </a:prstGeom>
          <a:noFill/>
        </p:spPr>
        <p:txBody>
          <a:bodyPr wrap="square">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在</a:t>
            </a:r>
            <a:r>
              <a:rPr lang="en-US" altLang="zh-CN" sz="2000">
                <a:solidFill>
                  <a:srgbClr val="595959"/>
                </a:solidFill>
                <a:latin typeface="微软雅黑" panose="020B0503020204020204" pitchFamily="34" charset="-122"/>
                <a:ea typeface="微软雅黑" panose="020B0503020204020204" pitchFamily="34" charset="-122"/>
                <a:cs typeface="+mn-ea"/>
              </a:rPr>
              <a:t>JavaScript</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a:solidFill>
                  <a:srgbClr val="1369B2"/>
                </a:solidFill>
                <a:latin typeface="微软雅黑" panose="020B0503020204020204" pitchFamily="34" charset="-122"/>
                <a:ea typeface="微软雅黑" panose="020B0503020204020204" pitchFamily="34" charset="-122"/>
                <a:cs typeface="+mn-ea"/>
              </a:rPr>
              <a:t>正则表达式</a:t>
            </a:r>
            <a:r>
              <a:rPr lang="zh-CN" altLang="zh-CN" sz="2000">
                <a:solidFill>
                  <a:srgbClr val="595959"/>
                </a:solidFill>
                <a:latin typeface="微软雅黑" panose="020B0503020204020204" pitchFamily="34" charset="-122"/>
                <a:ea typeface="微软雅黑" panose="020B0503020204020204" pitchFamily="34" charset="-122"/>
                <a:cs typeface="+mn-ea"/>
              </a:rPr>
              <a:t>是一种</a:t>
            </a:r>
            <a:r>
              <a:rPr lang="zh-CN" altLang="zh-CN" sz="2000">
                <a:solidFill>
                  <a:srgbClr val="1369B2"/>
                </a:solidFill>
                <a:latin typeface="微软雅黑" panose="020B0503020204020204" pitchFamily="34" charset="-122"/>
                <a:ea typeface="微软雅黑" panose="020B0503020204020204" pitchFamily="34" charset="-122"/>
                <a:cs typeface="+mn-ea"/>
              </a:rPr>
              <a:t>对象</a:t>
            </a:r>
            <a:r>
              <a:rPr lang="zh-CN" altLang="zh-CN" sz="2000">
                <a:solidFill>
                  <a:srgbClr val="595959"/>
                </a:solidFill>
                <a:latin typeface="微软雅黑" panose="020B0503020204020204" pitchFamily="34" charset="-122"/>
                <a:ea typeface="微软雅黑" panose="020B0503020204020204" pitchFamily="34" charset="-122"/>
                <a:cs typeface="+mn-ea"/>
              </a:rPr>
              <a:t>。创建正则表达式的方式有两种，一种是使用</a:t>
            </a:r>
            <a:r>
              <a:rPr lang="zh-CN" altLang="zh-CN" sz="2000">
                <a:solidFill>
                  <a:srgbClr val="1369B2"/>
                </a:solidFill>
                <a:latin typeface="微软雅黑" panose="020B0503020204020204" pitchFamily="34" charset="-122"/>
                <a:ea typeface="微软雅黑" panose="020B0503020204020204" pitchFamily="34" charset="-122"/>
                <a:cs typeface="+mn-ea"/>
              </a:rPr>
              <a:t>字面量</a:t>
            </a:r>
            <a:r>
              <a:rPr lang="zh-CN" altLang="zh-CN" sz="2000">
                <a:solidFill>
                  <a:srgbClr val="595959"/>
                </a:solidFill>
                <a:latin typeface="微软雅黑" panose="020B0503020204020204" pitchFamily="34" charset="-122"/>
                <a:ea typeface="微软雅黑" panose="020B0503020204020204" pitchFamily="34" charset="-122"/>
                <a:cs typeface="+mn-ea"/>
              </a:rPr>
              <a:t>创建，另一种是使用</a:t>
            </a:r>
            <a:r>
              <a:rPr lang="en-US" altLang="zh-CN" sz="2000">
                <a:solidFill>
                  <a:srgbClr val="1369B2"/>
                </a:solidFill>
                <a:latin typeface="微软雅黑" panose="020B0503020204020204" pitchFamily="34" charset="-122"/>
                <a:ea typeface="微软雅黑" panose="020B0503020204020204" pitchFamily="34" charset="-122"/>
                <a:cs typeface="+mn-ea"/>
              </a:rPr>
              <a:t>RegExp()</a:t>
            </a:r>
            <a:r>
              <a:rPr lang="zh-CN" altLang="zh-CN" sz="2000">
                <a:solidFill>
                  <a:srgbClr val="1369B2"/>
                </a:solidFill>
                <a:latin typeface="微软雅黑" panose="020B0503020204020204" pitchFamily="34" charset="-122"/>
                <a:ea typeface="微软雅黑" panose="020B0503020204020204" pitchFamily="34" charset="-122"/>
                <a:cs typeface="+mn-ea"/>
              </a:rPr>
              <a:t>构造函数</a:t>
            </a:r>
            <a:r>
              <a:rPr lang="zh-CN" altLang="zh-CN" sz="2000">
                <a:solidFill>
                  <a:srgbClr val="595959"/>
                </a:solidFill>
                <a:latin typeface="微软雅黑" panose="020B0503020204020204" pitchFamily="34" charset="-122"/>
                <a:ea typeface="微软雅黑" panose="020B0503020204020204" pitchFamily="34" charset="-122"/>
                <a:cs typeface="+mn-ea"/>
              </a:rPr>
              <a:t>创建。</a:t>
            </a:r>
          </a:p>
        </p:txBody>
      </p:sp>
      <p:pic>
        <p:nvPicPr>
          <p:cNvPr id="7" name="Picture 2" descr="C:\Users\admin\Desktop\QQ截图20201109163646.png">
            <a:extLst>
              <a:ext uri="{FF2B5EF4-FFF2-40B4-BE49-F238E27FC236}">
                <a16:creationId xmlns:a16="http://schemas.microsoft.com/office/drawing/2014/main" id="{65FF40EC-B1D1-D144-84F0-26C0514AFB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16"/>
          <a:stretch/>
        </p:blipFill>
        <p:spPr bwMode="auto">
          <a:xfrm flipH="1">
            <a:off x="8410575"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
        <p:nvSpPr>
          <p:cNvPr id="8" name="Shape 2015"/>
          <p:cNvSpPr/>
          <p:nvPr/>
        </p:nvSpPr>
        <p:spPr>
          <a:xfrm>
            <a:off x="1016000" y="1750881"/>
            <a:ext cx="7233620" cy="1750921"/>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9"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认识正则表达式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6844086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59882" y="1444010"/>
            <a:ext cx="7992888" cy="553998"/>
          </a:xfrm>
          <a:prstGeom prst="rect">
            <a:avLst/>
          </a:prstGeom>
        </p:spPr>
        <p:txBody>
          <a:bodyPr wrap="square">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使用</a:t>
            </a:r>
            <a:r>
              <a:rPr lang="zh-CN" altLang="zh-CN" sz="2000">
                <a:solidFill>
                  <a:srgbClr val="1369B2"/>
                </a:solidFill>
                <a:latin typeface="微软雅黑" panose="020B0503020204020204" pitchFamily="34" charset="-122"/>
                <a:ea typeface="微软雅黑" panose="020B0503020204020204" pitchFamily="34" charset="-122"/>
              </a:rPr>
              <a:t>字面量</a:t>
            </a:r>
            <a:r>
              <a:rPr lang="zh-CN" altLang="zh-CN" sz="2000">
                <a:solidFill>
                  <a:srgbClr val="595959"/>
                </a:solidFill>
                <a:latin typeface="微软雅黑" panose="020B0503020204020204" pitchFamily="34" charset="-122"/>
                <a:ea typeface="微软雅黑" panose="020B0503020204020204" pitchFamily="34" charset="-122"/>
              </a:rPr>
              <a:t>创建正则表达式的语法格式如下。</a:t>
            </a:r>
          </a:p>
        </p:txBody>
      </p:sp>
      <p:sp>
        <p:nvSpPr>
          <p:cNvPr id="6"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认识正则表达式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 name="文本框 6">
            <a:extLst>
              <a:ext uri="{FF2B5EF4-FFF2-40B4-BE49-F238E27FC236}">
                <a16:creationId xmlns:a16="http://schemas.microsoft.com/office/drawing/2014/main" id="{2BD7E020-D0A4-47DE-BE0C-F3967B274E91}"/>
              </a:ext>
            </a:extLst>
          </p:cNvPr>
          <p:cNvSpPr txBox="1"/>
          <p:nvPr/>
        </p:nvSpPr>
        <p:spPr>
          <a:xfrm>
            <a:off x="1702718" y="2133650"/>
            <a:ext cx="8651590" cy="499624"/>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/pattern/flags</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676644" y="3454814"/>
            <a:ext cx="6833243" cy="553998"/>
          </a:xfrm>
          <a:prstGeom prst="rect">
            <a:avLst/>
          </a:prstGeom>
        </p:spPr>
        <p:txBody>
          <a:bodyPr wrap="square">
            <a:spAutoFit/>
          </a:bodyPr>
          <a:lstStyle/>
          <a:p>
            <a:pPr algn="just">
              <a:lnSpc>
                <a:spcPct val="150000"/>
              </a:lnSpc>
              <a:spcAft>
                <a:spcPts val="0"/>
              </a:spcAft>
            </a:pPr>
            <a:r>
              <a:rPr lang="zh-CN" altLang="zh-CN" sz="2000">
                <a:solidFill>
                  <a:srgbClr val="595959"/>
                </a:solidFill>
                <a:latin typeface="微软雅黑" panose="020B0503020204020204" pitchFamily="34" charset="-122"/>
                <a:ea typeface="微软雅黑" panose="020B0503020204020204" pitchFamily="34" charset="-122"/>
              </a:rPr>
              <a:t>使用</a:t>
            </a:r>
            <a:r>
              <a:rPr lang="en-US" altLang="zh-CN" sz="2000">
                <a:solidFill>
                  <a:srgbClr val="1369B2"/>
                </a:solidFill>
                <a:latin typeface="微软雅黑" panose="020B0503020204020204" pitchFamily="34" charset="-122"/>
                <a:ea typeface="微软雅黑" panose="020B0503020204020204" pitchFamily="34" charset="-122"/>
              </a:rPr>
              <a:t>RegExp()</a:t>
            </a:r>
            <a:r>
              <a:rPr lang="zh-CN" altLang="zh-CN" sz="2000">
                <a:solidFill>
                  <a:srgbClr val="1369B2"/>
                </a:solidFill>
                <a:latin typeface="微软雅黑" panose="020B0503020204020204" pitchFamily="34" charset="-122"/>
                <a:ea typeface="微软雅黑" panose="020B0503020204020204" pitchFamily="34" charset="-122"/>
              </a:rPr>
              <a:t>构造函数</a:t>
            </a:r>
            <a:r>
              <a:rPr lang="zh-CN" altLang="zh-CN" sz="2000">
                <a:solidFill>
                  <a:srgbClr val="595959"/>
                </a:solidFill>
                <a:latin typeface="微软雅黑" panose="020B0503020204020204" pitchFamily="34" charset="-122"/>
                <a:ea typeface="微软雅黑" panose="020B0503020204020204" pitchFamily="34" charset="-122"/>
              </a:rPr>
              <a:t>创建正则表达式的语法格式如下。</a:t>
            </a:r>
          </a:p>
        </p:txBody>
      </p:sp>
      <p:sp>
        <p:nvSpPr>
          <p:cNvPr id="8" name="文本框 7">
            <a:extLst>
              <a:ext uri="{FF2B5EF4-FFF2-40B4-BE49-F238E27FC236}">
                <a16:creationId xmlns:a16="http://schemas.microsoft.com/office/drawing/2014/main" id="{2BD7E020-D0A4-47DE-BE0C-F3967B274E91}"/>
              </a:ext>
            </a:extLst>
          </p:cNvPr>
          <p:cNvSpPr txBox="1"/>
          <p:nvPr/>
        </p:nvSpPr>
        <p:spPr>
          <a:xfrm>
            <a:off x="1702718" y="4139542"/>
            <a:ext cx="8651590" cy="499624"/>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new </a:t>
            </a:r>
            <a:r>
              <a:rPr lang="en-US" altLang="zh-CN" sz="2000">
                <a:solidFill>
                  <a:srgbClr val="595959"/>
                </a:solidFill>
                <a:latin typeface="微软雅黑" panose="020B0503020204020204" pitchFamily="34" charset="-122"/>
                <a:ea typeface="微软雅黑" panose="020B0503020204020204" pitchFamily="34" charset="-122"/>
                <a:cs typeface="+mn-ea"/>
              </a:rPr>
              <a:t>RegExp(pattern[, flags])</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984284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82638" y="1093930"/>
            <a:ext cx="7992888" cy="553998"/>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分别对</a:t>
            </a:r>
            <a:r>
              <a:rPr lang="zh-CN" altLang="zh-CN" sz="2000" dirty="0">
                <a:solidFill>
                  <a:srgbClr val="1369B2"/>
                </a:solidFill>
                <a:latin typeface="微软雅黑" panose="020B0503020204020204" pitchFamily="34" charset="-122"/>
                <a:ea typeface="微软雅黑" panose="020B0503020204020204" pitchFamily="34" charset="-122"/>
              </a:rPr>
              <a:t>元字符</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文本字符</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模式修饰符</a:t>
            </a:r>
            <a:r>
              <a:rPr lang="zh-CN" altLang="zh-CN" sz="2000" dirty="0">
                <a:solidFill>
                  <a:srgbClr val="595959"/>
                </a:solidFill>
                <a:latin typeface="微软雅黑" panose="020B0503020204020204" pitchFamily="34" charset="-122"/>
                <a:ea typeface="微软雅黑" panose="020B0503020204020204" pitchFamily="34" charset="-122"/>
              </a:rPr>
              <a:t>进行</a:t>
            </a:r>
            <a:r>
              <a:rPr lang="zh-CN" altLang="zh-CN" sz="2000" dirty="0" smtClean="0">
                <a:solidFill>
                  <a:srgbClr val="595959"/>
                </a:solidFill>
                <a:latin typeface="微软雅黑" panose="020B0503020204020204" pitchFamily="34" charset="-122"/>
                <a:ea typeface="微软雅黑" panose="020B0503020204020204" pitchFamily="34" charset="-122"/>
              </a:rPr>
              <a:t>简单</a:t>
            </a:r>
            <a:r>
              <a:rPr lang="zh-CN" altLang="en-US" sz="2000" dirty="0" smtClean="0">
                <a:solidFill>
                  <a:srgbClr val="595959"/>
                </a:solidFill>
                <a:latin typeface="微软雅黑" panose="020B0503020204020204" pitchFamily="34" charset="-122"/>
                <a:ea typeface="微软雅黑" panose="020B0503020204020204" pitchFamily="34" charset="-122"/>
              </a:rPr>
              <a:t>的</a:t>
            </a:r>
            <a:r>
              <a:rPr lang="zh-CN" altLang="zh-CN" sz="2000" dirty="0" smtClean="0">
                <a:solidFill>
                  <a:srgbClr val="595959"/>
                </a:solidFill>
                <a:latin typeface="微软雅黑" panose="020B0503020204020204" pitchFamily="34" charset="-122"/>
                <a:ea typeface="微软雅黑" panose="020B0503020204020204" pitchFamily="34" charset="-122"/>
              </a:rPr>
              <a:t>介绍</a:t>
            </a:r>
            <a:r>
              <a:rPr lang="zh-CN" altLang="zh-CN" sz="2000" dirty="0">
                <a:solidFill>
                  <a:srgbClr val="595959"/>
                </a:solidFill>
                <a:latin typeface="微软雅黑" panose="020B0503020204020204" pitchFamily="34" charset="-122"/>
                <a:ea typeface="微软雅黑" panose="020B0503020204020204" pitchFamily="34" charset="-122"/>
              </a:rPr>
              <a:t>。</a:t>
            </a:r>
          </a:p>
        </p:txBody>
      </p:sp>
      <p:sp>
        <p:nvSpPr>
          <p:cNvPr id="6"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认识正则表达式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982638" y="1773610"/>
            <a:ext cx="10441160" cy="3785652"/>
          </a:xfrm>
          <a:prstGeom prst="rect">
            <a:avLst/>
          </a:prstGeom>
        </p:spPr>
        <p:txBody>
          <a:bodyPr wrap="square">
            <a:spAutoFit/>
          </a:bodyPr>
          <a:lstStyle/>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rPr>
              <a:t>元字符：具有</a:t>
            </a:r>
            <a:r>
              <a:rPr lang="zh-CN" altLang="zh-CN" sz="2000" dirty="0">
                <a:solidFill>
                  <a:srgbClr val="1369B2"/>
                </a:solidFill>
                <a:latin typeface="微软雅黑" panose="020B0503020204020204" pitchFamily="34" charset="-122"/>
                <a:ea typeface="微软雅黑" panose="020B0503020204020204" pitchFamily="34" charset="-122"/>
              </a:rPr>
              <a:t>特殊含义</a:t>
            </a:r>
            <a:r>
              <a:rPr lang="zh-CN" altLang="zh-CN" sz="2000" dirty="0">
                <a:solidFill>
                  <a:srgbClr val="595959"/>
                </a:solidFill>
                <a:latin typeface="微软雅黑" panose="020B0503020204020204" pitchFamily="34" charset="-122"/>
                <a:ea typeface="微软雅黑" panose="020B0503020204020204" pitchFamily="34" charset="-122"/>
              </a:rPr>
              <a:t>的字符，例如，元字符</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表示匹配除</a:t>
            </a:r>
            <a:r>
              <a:rPr lang="zh-CN" altLang="zh-CN" sz="2000" dirty="0">
                <a:solidFill>
                  <a:srgbClr val="1369B2"/>
                </a:solidFill>
                <a:latin typeface="微软雅黑" panose="020B0503020204020204" pitchFamily="34" charset="-122"/>
                <a:ea typeface="微软雅黑" panose="020B0503020204020204" pitchFamily="34" charset="-122"/>
              </a:rPr>
              <a:t>换行符</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回车符</a:t>
            </a:r>
            <a:r>
              <a:rPr lang="zh-CN" altLang="zh-CN" sz="2000" dirty="0">
                <a:solidFill>
                  <a:srgbClr val="595959"/>
                </a:solidFill>
                <a:latin typeface="微软雅黑" panose="020B0503020204020204" pitchFamily="34" charset="-122"/>
                <a:ea typeface="微软雅黑" panose="020B0503020204020204" pitchFamily="34" charset="-122"/>
              </a:rPr>
              <a:t>之外的</a:t>
            </a:r>
            <a:r>
              <a:rPr lang="zh-CN" altLang="zh-CN" sz="2000" dirty="0">
                <a:solidFill>
                  <a:srgbClr val="1369B2"/>
                </a:solidFill>
                <a:latin typeface="微软雅黑" panose="020B0503020204020204" pitchFamily="34" charset="-122"/>
                <a:ea typeface="微软雅黑" panose="020B0503020204020204" pitchFamily="34" charset="-122"/>
              </a:rPr>
              <a:t>任意单个字符</a:t>
            </a:r>
            <a:r>
              <a:rPr lang="zh-CN" altLang="zh-CN" sz="2000" dirty="0">
                <a:solidFill>
                  <a:srgbClr val="595959"/>
                </a:solidFill>
                <a:latin typeface="微软雅黑" panose="020B0503020204020204" pitchFamily="34" charset="-122"/>
                <a:ea typeface="微软雅黑" panose="020B0503020204020204" pitchFamily="34" charset="-122"/>
              </a:rPr>
              <a:t>，元字符</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表示匹配</a:t>
            </a:r>
            <a:r>
              <a:rPr lang="zh-CN" altLang="zh-CN" sz="2000" dirty="0">
                <a:solidFill>
                  <a:srgbClr val="1369B2"/>
                </a:solidFill>
                <a:latin typeface="微软雅黑" panose="020B0503020204020204" pitchFamily="34" charset="-122"/>
                <a:ea typeface="微软雅黑" panose="020B0503020204020204" pitchFamily="34" charset="-122"/>
              </a:rPr>
              <a:t>前面</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zh-CN" sz="2000" dirty="0" smtClean="0">
                <a:solidFill>
                  <a:srgbClr val="595959"/>
                </a:solidFill>
                <a:latin typeface="微软雅黑" panose="020B0503020204020204" pitchFamily="34" charset="-122"/>
                <a:ea typeface="微软雅黑" panose="020B0503020204020204" pitchFamily="34" charset="-122"/>
              </a:rPr>
              <a:t>字符</a:t>
            </a:r>
            <a:r>
              <a:rPr lang="en-US" altLang="zh-CN" sz="2000" dirty="0" smtClean="0">
                <a:solidFill>
                  <a:srgbClr val="1369B2"/>
                </a:solidFill>
                <a:latin typeface="微软雅黑" panose="020B0503020204020204" pitchFamily="34" charset="-122"/>
                <a:ea typeface="微软雅黑" panose="020B0503020204020204" pitchFamily="34" charset="-122"/>
              </a:rPr>
              <a:t>0</a:t>
            </a:r>
            <a:r>
              <a:rPr lang="zh-CN" altLang="zh-CN" sz="2000" dirty="0" smtClean="0">
                <a:solidFill>
                  <a:srgbClr val="1369B2"/>
                </a:solidFill>
                <a:latin typeface="微软雅黑" panose="020B0503020204020204" pitchFamily="34" charset="-122"/>
                <a:ea typeface="微软雅黑" panose="020B0503020204020204" pitchFamily="34" charset="-122"/>
              </a:rPr>
              <a:t>次</a:t>
            </a:r>
            <a:r>
              <a:rPr lang="zh-CN" altLang="zh-CN" sz="2000" dirty="0">
                <a:solidFill>
                  <a:srgbClr val="595959"/>
                </a:solidFill>
                <a:latin typeface="微软雅黑" panose="020B0503020204020204" pitchFamily="34" charset="-122"/>
                <a:ea typeface="微软雅黑" panose="020B0503020204020204" pitchFamily="34" charset="-122"/>
              </a:rPr>
              <a:t>或</a:t>
            </a:r>
            <a:r>
              <a:rPr lang="zh-CN" altLang="zh-CN" sz="2000" dirty="0">
                <a:solidFill>
                  <a:srgbClr val="1369B2"/>
                </a:solidFill>
                <a:latin typeface="微软雅黑" panose="020B0503020204020204" pitchFamily="34" charset="-122"/>
                <a:ea typeface="微软雅黑" panose="020B0503020204020204" pitchFamily="34" charset="-122"/>
              </a:rPr>
              <a:t>多次</a:t>
            </a:r>
            <a:r>
              <a:rPr lang="zh-CN" altLang="zh-CN" sz="2000" dirty="0">
                <a:solidFill>
                  <a:srgbClr val="595959"/>
                </a:solidFill>
                <a:latin typeface="微软雅黑" panose="020B0503020204020204" pitchFamily="34" charset="-122"/>
                <a:ea typeface="微软雅黑" panose="020B0503020204020204" pitchFamily="34" charset="-122"/>
              </a:rPr>
              <a:t>。</a:t>
            </a:r>
          </a:p>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rPr>
              <a:t>文本字符：又称为</a:t>
            </a:r>
            <a:r>
              <a:rPr lang="zh-CN" altLang="zh-CN" sz="2000" dirty="0">
                <a:solidFill>
                  <a:srgbClr val="1369B2"/>
                </a:solidFill>
                <a:latin typeface="微软雅黑" panose="020B0503020204020204" pitchFamily="34" charset="-122"/>
                <a:ea typeface="微软雅黑" panose="020B0503020204020204" pitchFamily="34" charset="-122"/>
              </a:rPr>
              <a:t>原义字符</a:t>
            </a:r>
            <a:r>
              <a:rPr lang="zh-CN" altLang="zh-CN" sz="2000" dirty="0">
                <a:solidFill>
                  <a:srgbClr val="595959"/>
                </a:solidFill>
                <a:latin typeface="微软雅黑" panose="020B0503020204020204" pitchFamily="34" charset="-122"/>
                <a:ea typeface="微软雅黑" panose="020B0503020204020204" pitchFamily="34" charset="-122"/>
              </a:rPr>
              <a:t>，它没有特殊含义，用于表示</a:t>
            </a:r>
            <a:r>
              <a:rPr lang="zh-CN" altLang="zh-CN" sz="2000" dirty="0">
                <a:solidFill>
                  <a:srgbClr val="1369B2"/>
                </a:solidFill>
                <a:latin typeface="微软雅黑" panose="020B0503020204020204" pitchFamily="34" charset="-122"/>
                <a:ea typeface="微软雅黑" panose="020B0503020204020204" pitchFamily="34" charset="-122"/>
              </a:rPr>
              <a:t>原本的字符</a:t>
            </a:r>
            <a:r>
              <a:rPr lang="zh-CN" altLang="zh-CN" sz="2000" dirty="0">
                <a:solidFill>
                  <a:srgbClr val="595959"/>
                </a:solidFill>
                <a:latin typeface="微软雅黑" panose="020B0503020204020204" pitchFamily="34" charset="-122"/>
                <a:ea typeface="微软雅黑" panose="020B0503020204020204" pitchFamily="34" charset="-122"/>
              </a:rPr>
              <a:t>。例如，</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rPr>
              <a:t>字符</a:t>
            </a:r>
            <a:r>
              <a:rPr lang="en-US" altLang="zh-CN" sz="2000" dirty="0">
                <a:solidFill>
                  <a:srgbClr val="1369B2"/>
                </a:solidFill>
                <a:latin typeface="微软雅黑" panose="020B0503020204020204" pitchFamily="34" charset="-122"/>
                <a:ea typeface="微软雅黑" panose="020B0503020204020204" pitchFamily="34" charset="-122"/>
              </a:rPr>
              <a:t>a</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1</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rPr>
              <a:t>字符</a:t>
            </a:r>
            <a:r>
              <a:rPr lang="en-US" altLang="zh-CN" sz="2000" dirty="0">
                <a:solidFill>
                  <a:srgbClr val="1369B2"/>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a:t>
            </a:r>
          </a:p>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rPr>
              <a:t>模式修饰符：用于指定额外的</a:t>
            </a:r>
            <a:r>
              <a:rPr lang="zh-CN" altLang="zh-CN" sz="2000" dirty="0">
                <a:solidFill>
                  <a:srgbClr val="1369B2"/>
                </a:solidFill>
                <a:latin typeface="微软雅黑" panose="020B0503020204020204" pitchFamily="34" charset="-122"/>
                <a:ea typeface="微软雅黑" panose="020B0503020204020204" pitchFamily="34" charset="-122"/>
              </a:rPr>
              <a:t>匹配策略</a:t>
            </a:r>
            <a:r>
              <a:rPr lang="zh-CN" altLang="zh-CN" sz="2000" dirty="0">
                <a:solidFill>
                  <a:srgbClr val="595959"/>
                </a:solidFill>
                <a:latin typeface="微软雅黑" panose="020B0503020204020204" pitchFamily="34" charset="-122"/>
                <a:ea typeface="微软雅黑" panose="020B0503020204020204" pitchFamily="34" charset="-122"/>
              </a:rPr>
              <a:t>，如果不需要指定额外的匹配策略，则模式修饰符可以</a:t>
            </a:r>
            <a:r>
              <a:rPr lang="zh-CN" altLang="zh-CN" sz="2000" dirty="0" smtClean="0">
                <a:solidFill>
                  <a:srgbClr val="1369B2"/>
                </a:solidFill>
                <a:latin typeface="微软雅黑" panose="020B0503020204020204" pitchFamily="34" charset="-122"/>
                <a:ea typeface="微软雅黑" panose="020B0503020204020204" pitchFamily="34" charset="-122"/>
              </a:rPr>
              <a:t>省略</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rPr>
              <a:t>例如</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i</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rPr>
              <a:t>忽略大</a:t>
            </a:r>
            <a:r>
              <a:rPr lang="zh-CN" altLang="zh-CN" sz="2000" dirty="0" smtClean="0">
                <a:solidFill>
                  <a:srgbClr val="1369B2"/>
                </a:solidFill>
                <a:latin typeface="微软雅黑" panose="020B0503020204020204" pitchFamily="34" charset="-122"/>
                <a:ea typeface="微软雅黑" panose="020B0503020204020204" pitchFamily="34" charset="-122"/>
              </a:rPr>
              <a:t>小写</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g</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rPr>
              <a:t>全局匹配</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m</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rPr>
              <a:t>多行匹配</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s</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表示允许点字符“</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”匹配</a:t>
            </a:r>
            <a:r>
              <a:rPr lang="zh-CN" altLang="zh-CN" sz="2000" dirty="0">
                <a:solidFill>
                  <a:srgbClr val="1369B2"/>
                </a:solidFill>
                <a:latin typeface="微软雅黑" panose="020B0503020204020204" pitchFamily="34" charset="-122"/>
                <a:ea typeface="微软雅黑" panose="020B0503020204020204" pitchFamily="34" charset="-122"/>
              </a:rPr>
              <a:t>换行符</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回车符</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u</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表示使用</a:t>
            </a:r>
            <a:r>
              <a:rPr lang="en-US" altLang="zh-CN" sz="2000" dirty="0" smtClean="0">
                <a:solidFill>
                  <a:srgbClr val="1369B2"/>
                </a:solidFill>
                <a:latin typeface="微软雅黑" panose="020B0503020204020204" pitchFamily="34" charset="-122"/>
                <a:ea typeface="微软雅黑" panose="020B0503020204020204" pitchFamily="34" charset="-122"/>
              </a:rPr>
              <a:t>Unicode</a:t>
            </a:r>
            <a:r>
              <a:rPr lang="zh-CN" altLang="zh-CN" sz="2000" dirty="0" smtClean="0">
                <a:solidFill>
                  <a:srgbClr val="595959"/>
                </a:solidFill>
                <a:latin typeface="微软雅黑" panose="020B0503020204020204" pitchFamily="34" charset="-122"/>
                <a:ea typeface="微软雅黑" panose="020B0503020204020204" pitchFamily="34" charset="-122"/>
              </a:rPr>
              <a:t>模式</a:t>
            </a:r>
            <a:r>
              <a:rPr lang="zh-CN" altLang="zh-CN" sz="2000" dirty="0">
                <a:solidFill>
                  <a:srgbClr val="595959"/>
                </a:solidFill>
                <a:latin typeface="微软雅黑" panose="020B0503020204020204" pitchFamily="34" charset="-122"/>
                <a:ea typeface="微软雅黑" panose="020B0503020204020204" pitchFamily="34" charset="-122"/>
              </a:rPr>
              <a:t>进行匹配；</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y</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a:t>
            </a:r>
            <a:r>
              <a:rPr lang="zh-CN" altLang="zh-CN" sz="2000" dirty="0" smtClean="0">
                <a:solidFill>
                  <a:srgbClr val="1369B2"/>
                </a:solidFill>
                <a:latin typeface="微软雅黑" panose="020B0503020204020204" pitchFamily="34" charset="-122"/>
                <a:ea typeface="微软雅黑" panose="020B0503020204020204" pitchFamily="34" charset="-122"/>
              </a:rPr>
              <a:t>执行</a:t>
            </a:r>
            <a:r>
              <a:rPr lang="zh-CN" altLang="en-US" sz="2000" dirty="0" smtClean="0">
                <a:solidFill>
                  <a:srgbClr val="1369B2"/>
                </a:solidFill>
                <a:latin typeface="微软雅黑" panose="020B0503020204020204" pitchFamily="34" charset="-122"/>
                <a:ea typeface="微软雅黑" panose="020B0503020204020204" pitchFamily="34" charset="-122"/>
              </a:rPr>
              <a:t>黏</a:t>
            </a:r>
            <a:r>
              <a:rPr lang="zh-CN" altLang="zh-CN" sz="2000" dirty="0" smtClean="0">
                <a:solidFill>
                  <a:srgbClr val="1369B2"/>
                </a:solidFill>
                <a:latin typeface="微软雅黑" panose="020B0503020204020204" pitchFamily="34" charset="-122"/>
                <a:ea typeface="微软雅黑" panose="020B0503020204020204" pitchFamily="34" charset="-122"/>
              </a:rPr>
              <a:t>性</a:t>
            </a:r>
            <a:r>
              <a:rPr lang="zh-CN" altLang="zh-CN" sz="2000" dirty="0">
                <a:solidFill>
                  <a:srgbClr val="1369B2"/>
                </a:solidFill>
                <a:latin typeface="微软雅黑" panose="020B0503020204020204" pitchFamily="34" charset="-122"/>
                <a:ea typeface="微软雅黑" panose="020B0503020204020204" pitchFamily="34" charset="-122"/>
              </a:rPr>
              <a:t>搜索</a:t>
            </a:r>
            <a:r>
              <a:rPr lang="zh-CN" altLang="zh-CN" sz="2000" dirty="0">
                <a:solidFill>
                  <a:srgbClr val="595959"/>
                </a:solidFill>
                <a:latin typeface="微软雅黑" panose="020B0503020204020204" pitchFamily="34" charset="-122"/>
                <a:ea typeface="微软雅黑" panose="020B0503020204020204" pitchFamily="34" charset="-122"/>
              </a:rPr>
              <a:t>，匹配从目标字符串的</a:t>
            </a:r>
            <a:r>
              <a:rPr lang="zh-CN" altLang="zh-CN" sz="2000" dirty="0">
                <a:solidFill>
                  <a:srgbClr val="1369B2"/>
                </a:solidFill>
                <a:latin typeface="微软雅黑" panose="020B0503020204020204" pitchFamily="34" charset="-122"/>
                <a:ea typeface="微软雅黑" panose="020B0503020204020204" pitchFamily="34" charset="-122"/>
              </a:rPr>
              <a:t>当前位置</a:t>
            </a:r>
            <a:r>
              <a:rPr lang="zh-CN" altLang="zh-CN" sz="2000" dirty="0">
                <a:solidFill>
                  <a:srgbClr val="595959"/>
                </a:solidFill>
                <a:latin typeface="微软雅黑" panose="020B0503020204020204" pitchFamily="34" charset="-122"/>
                <a:ea typeface="微软雅黑" panose="020B0503020204020204" pitchFamily="34" charset="-122"/>
              </a:rPr>
              <a:t>开始。</a:t>
            </a:r>
          </a:p>
        </p:txBody>
      </p:sp>
    </p:spTree>
    <p:extLst>
      <p:ext uri="{BB962C8B-B14F-4D97-AF65-F5344CB8AC3E}">
        <p14:creationId xmlns:p14="http://schemas.microsoft.com/office/powerpoint/2010/main" val="27226801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74726" y="1773610"/>
            <a:ext cx="7992888" cy="499624"/>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通过代码演示</a:t>
            </a:r>
            <a:r>
              <a:rPr lang="zh-CN" altLang="zh-CN" sz="2000" dirty="0">
                <a:solidFill>
                  <a:srgbClr val="1369B2"/>
                </a:solidFill>
                <a:latin typeface="微软雅黑" panose="020B0503020204020204" pitchFamily="34" charset="-122"/>
                <a:ea typeface="微软雅黑" panose="020B0503020204020204" pitchFamily="34" charset="-122"/>
              </a:rPr>
              <a:t>正则表达式的</a:t>
            </a:r>
            <a:r>
              <a:rPr lang="zh-CN" altLang="zh-CN" sz="2000" dirty="0" smtClean="0">
                <a:solidFill>
                  <a:srgbClr val="1369B2"/>
                </a:solidFill>
                <a:latin typeface="微软雅黑" panose="020B0503020204020204" pitchFamily="34" charset="-122"/>
                <a:ea typeface="微软雅黑" panose="020B0503020204020204" pitchFamily="34" charset="-122"/>
              </a:rPr>
              <a:t>创建</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6"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认识正则表达式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 name="文本框 6">
            <a:extLst>
              <a:ext uri="{FF2B5EF4-FFF2-40B4-BE49-F238E27FC236}">
                <a16:creationId xmlns:a16="http://schemas.microsoft.com/office/drawing/2014/main" id="{2BD7E020-D0A4-47DE-BE0C-F3967B274E91}"/>
              </a:ext>
            </a:extLst>
          </p:cNvPr>
          <p:cNvSpPr txBox="1"/>
          <p:nvPr/>
        </p:nvSpPr>
        <p:spPr>
          <a:xfrm>
            <a:off x="1852135" y="2642138"/>
            <a:ext cx="8651590" cy="193899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使用字面量创建正则表达式</a:t>
            </a: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reg = /ab/i;</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595959"/>
                </a:solidFill>
                <a:latin typeface="微软雅黑" panose="020B0503020204020204" pitchFamily="34" charset="-122"/>
                <a:ea typeface="微软雅黑" panose="020B0503020204020204" pitchFamily="34" charset="-122"/>
                <a:cs typeface="+mn-ea"/>
              </a:rPr>
              <a:t>RegExp()</a:t>
            </a:r>
            <a:r>
              <a:rPr lang="zh-CN" altLang="zh-CN" sz="2000">
                <a:solidFill>
                  <a:srgbClr val="595959"/>
                </a:solidFill>
                <a:latin typeface="微软雅黑" panose="020B0503020204020204" pitchFamily="34" charset="-122"/>
                <a:ea typeface="微软雅黑" panose="020B0503020204020204" pitchFamily="34" charset="-122"/>
                <a:cs typeface="+mn-ea"/>
              </a:rPr>
              <a:t>构造函数创建正则表达式</a:t>
            </a: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reg1 = new RegExp('ab', 'i');</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8825417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zh-CN" altLang="en-US" sz="4800" b="1" smtClean="0">
                <a:solidFill>
                  <a:srgbClr val="1369B2"/>
                </a:solidFill>
                <a:latin typeface="微软雅黑" panose="020B0503020204020204" pitchFamily="34" charset="-122"/>
                <a:ea typeface="微软雅黑" panose="020B0503020204020204" pitchFamily="34" charset="-122"/>
                <a:cs typeface="+mn-ea"/>
                <a:sym typeface="+mn-lt"/>
              </a:rPr>
              <a:t>使用</a:t>
            </a:r>
            <a:r>
              <a:rPr lang="zh-CN" altLang="en-US" sz="4800" b="1" smtClean="0">
                <a:solidFill>
                  <a:srgbClr val="595959"/>
                </a:solidFill>
                <a:latin typeface="微软雅黑" panose="020B0503020204020204" pitchFamily="34" charset="-122"/>
                <a:ea typeface="微软雅黑" panose="020B0503020204020204" pitchFamily="34" charset="-122"/>
                <a:cs typeface="+mn-ea"/>
                <a:sym typeface="+mn-lt"/>
              </a:rPr>
              <a:t>正则表达式</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342678" y="2809240"/>
            <a:ext cx="2019012" cy="1107996"/>
          </a:xfrm>
          <a:prstGeom prst="rect">
            <a:avLst/>
          </a:prstGeom>
          <a:noFill/>
        </p:spPr>
        <p:txBody>
          <a:bodyPr wrap="square" lIns="91443" tIns="45720" rIns="91443" bIns="45720" rtlCol="0">
            <a:spAutoFit/>
          </a:bodyPr>
          <a:lstStyle/>
          <a:p>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12.2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2389864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485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正则表达式</a:t>
            </a:r>
            <a:r>
              <a:rPr lang="zh-CN" altLang="zh-CN" sz="2000" dirty="0">
                <a:solidFill>
                  <a:srgbClr val="1369B2"/>
                </a:solidFill>
                <a:latin typeface="微软雅黑" panose="020B0503020204020204" pitchFamily="34" charset="-122"/>
                <a:ea typeface="微软雅黑" panose="020B0503020204020204" pitchFamily="34" charset="-122"/>
                <a:cs typeface="+mn-ea"/>
              </a:rPr>
              <a:t>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，能够使用</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正则表达式匹配字符串</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367916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43690" y="1115504"/>
            <a:ext cx="3655372"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FFFF"/>
                </a:solidFill>
                <a:latin typeface="微软雅黑" panose="020B0503020204020204" pitchFamily="34" charset="-122"/>
                <a:ea typeface="微软雅黑" panose="020B0503020204020204" pitchFamily="34" charset="-122"/>
              </a:rPr>
              <a:t>1</a:t>
            </a:r>
            <a:r>
              <a:rPr lang="en-US" altLang="zh-CN" sz="2000" dirty="0" smtClean="0">
                <a:solidFill>
                  <a:srgbClr val="FFFFFF"/>
                </a:solidFill>
                <a:latin typeface="微软雅黑" panose="020B0503020204020204" pitchFamily="34" charset="-122"/>
                <a:ea typeface="微软雅黑" panose="020B0503020204020204" pitchFamily="34" charset="-122"/>
              </a:rPr>
              <a:t>. </a:t>
            </a:r>
            <a:r>
              <a:rPr lang="zh-CN" altLang="zh-CN" sz="2000" dirty="0" smtClean="0">
                <a:solidFill>
                  <a:srgbClr val="FFFFFF"/>
                </a:solidFill>
                <a:latin typeface="微软雅黑" panose="020B0503020204020204" pitchFamily="34" charset="-122"/>
                <a:ea typeface="微软雅黑" panose="020B0503020204020204" pitchFamily="34" charset="-122"/>
              </a:rPr>
              <a:t>检测</a:t>
            </a:r>
            <a:r>
              <a:rPr lang="zh-CN" altLang="zh-CN" sz="2000" dirty="0">
                <a:solidFill>
                  <a:srgbClr val="FFFFFF"/>
                </a:solidFill>
                <a:latin typeface="微软雅黑" panose="020B0503020204020204" pitchFamily="34" charset="-122"/>
                <a:ea typeface="微软雅黑" panose="020B0503020204020204" pitchFamily="34" charset="-122"/>
              </a:rPr>
              <a:t>字符串是否包含敏感词</a:t>
            </a:r>
          </a:p>
        </p:txBody>
      </p:sp>
      <p:sp>
        <p:nvSpPr>
          <p:cNvPr id="2" name="矩形 1"/>
          <p:cNvSpPr/>
          <p:nvPr/>
        </p:nvSpPr>
        <p:spPr>
          <a:xfrm>
            <a:off x="1054646" y="2101748"/>
            <a:ext cx="10369152" cy="1477328"/>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当</a:t>
            </a:r>
            <a:r>
              <a:rPr lang="zh-CN" altLang="zh-CN" sz="2000" dirty="0">
                <a:solidFill>
                  <a:srgbClr val="595959"/>
                </a:solidFill>
                <a:latin typeface="微软雅黑" panose="020B0503020204020204" pitchFamily="34" charset="-122"/>
                <a:ea typeface="微软雅黑" panose="020B0503020204020204" pitchFamily="34" charset="-122"/>
              </a:rPr>
              <a:t>需要检测一个</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字符串是否包含敏感词</a:t>
            </a:r>
            <a:r>
              <a:rPr lang="zh-CN" altLang="zh-CN" sz="2000" dirty="0">
                <a:solidFill>
                  <a:srgbClr val="595959"/>
                </a:solidFill>
                <a:latin typeface="微软雅黑" panose="020B0503020204020204" pitchFamily="34" charset="-122"/>
                <a:ea typeface="微软雅黑" panose="020B0503020204020204" pitchFamily="34" charset="-122"/>
              </a:rPr>
              <a:t>时，可以使用</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a:t>
            </a:r>
            <a:r>
              <a:rPr lang="zh-CN" altLang="zh-CN" sz="2000" dirty="0">
                <a:solidFill>
                  <a:srgbClr val="595959"/>
                </a:solidFill>
                <a:latin typeface="微软雅黑" panose="020B0503020204020204" pitchFamily="34" charset="-122"/>
                <a:ea typeface="微软雅黑" panose="020B0503020204020204" pitchFamily="34" charset="-122"/>
              </a:rPr>
              <a:t>中的</a:t>
            </a:r>
            <a:r>
              <a:rPr lang="en-US" altLang="zh-CN" sz="2000" dirty="0">
                <a:solidFill>
                  <a:srgbClr val="1369B2"/>
                </a:solidFill>
                <a:latin typeface="微软雅黑" panose="020B0503020204020204" pitchFamily="34" charset="-122"/>
                <a:ea typeface="微软雅黑" panose="020B0503020204020204" pitchFamily="34" charset="-122"/>
                <a:cs typeface="+mn-ea"/>
              </a:rPr>
              <a:t>test()</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test()</a:t>
            </a:r>
            <a:r>
              <a:rPr lang="zh-CN" altLang="zh-CN" sz="2000" dirty="0">
                <a:solidFill>
                  <a:srgbClr val="595959"/>
                </a:solidFill>
                <a:latin typeface="微软雅黑" panose="020B0503020204020204" pitchFamily="34" charset="-122"/>
                <a:ea typeface="微软雅黑" panose="020B0503020204020204" pitchFamily="34" charset="-122"/>
              </a:rPr>
              <a:t>方法用于检测字符串是否匹配某个正则表达式，</a:t>
            </a:r>
            <a:r>
              <a:rPr lang="zh-CN" altLang="zh-CN" sz="2000" dirty="0">
                <a:solidFill>
                  <a:srgbClr val="1369B2"/>
                </a:solidFill>
                <a:latin typeface="微软雅黑" panose="020B0503020204020204" pitchFamily="34" charset="-122"/>
                <a:ea typeface="微软雅黑" panose="020B0503020204020204" pitchFamily="34" charset="-122"/>
                <a:cs typeface="+mn-ea"/>
              </a:rPr>
              <a:t>匹配成功</a:t>
            </a:r>
            <a:r>
              <a:rPr lang="zh-CN" altLang="zh-CN" sz="2000" dirty="0">
                <a:solidFill>
                  <a:srgbClr val="595959"/>
                </a:solidFill>
                <a:latin typeface="微软雅黑" panose="020B0503020204020204" pitchFamily="34" charset="-122"/>
                <a:ea typeface="微软雅黑" panose="020B0503020204020204" pitchFamily="34" charset="-122"/>
              </a:rPr>
              <a:t>则返回</a:t>
            </a:r>
            <a:r>
              <a:rPr lang="en-US" altLang="zh-CN" sz="2000" dirty="0">
                <a:solidFill>
                  <a:srgbClr val="1369B2"/>
                </a:solidFill>
                <a:latin typeface="微软雅黑" panose="020B0503020204020204" pitchFamily="34" charset="-122"/>
                <a:ea typeface="微软雅黑" panose="020B0503020204020204" pitchFamily="34" charset="-122"/>
                <a:cs typeface="+mn-ea"/>
              </a:rPr>
              <a:t>true</a:t>
            </a:r>
            <a:r>
              <a:rPr lang="zh-CN" altLang="zh-CN" sz="2000" dirty="0">
                <a:solidFill>
                  <a:srgbClr val="595959"/>
                </a:solidFill>
                <a:latin typeface="微软雅黑" panose="020B0503020204020204" pitchFamily="34" charset="-122"/>
                <a:ea typeface="微软雅黑" panose="020B0503020204020204" pitchFamily="34" charset="-122"/>
              </a:rPr>
              <a:t>，否则返回</a:t>
            </a:r>
            <a:r>
              <a:rPr lang="en-US" altLang="zh-CN" sz="2000" dirty="0">
                <a:solidFill>
                  <a:srgbClr val="1369B2"/>
                </a:solidFill>
                <a:latin typeface="微软雅黑" panose="020B0503020204020204" pitchFamily="34" charset="-122"/>
                <a:ea typeface="微软雅黑" panose="020B0503020204020204" pitchFamily="34" charset="-122"/>
                <a:cs typeface="+mn-ea"/>
              </a:rPr>
              <a:t>false</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test()</a:t>
            </a:r>
            <a:r>
              <a:rPr lang="zh-CN" altLang="zh-CN" sz="2000" dirty="0">
                <a:solidFill>
                  <a:srgbClr val="595959"/>
                </a:solidFill>
                <a:latin typeface="微软雅黑" panose="020B0503020204020204" pitchFamily="34" charset="-122"/>
                <a:ea typeface="微软雅黑" panose="020B0503020204020204" pitchFamily="34" charset="-122"/>
              </a:rPr>
              <a:t>方法的语法格式如下。</a:t>
            </a:r>
          </a:p>
        </p:txBody>
      </p:sp>
      <p:sp>
        <p:nvSpPr>
          <p:cNvPr id="5"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 name="文本框 6">
            <a:extLst>
              <a:ext uri="{FF2B5EF4-FFF2-40B4-BE49-F238E27FC236}">
                <a16:creationId xmlns:a16="http://schemas.microsoft.com/office/drawing/2014/main" id="{2BD7E020-D0A4-47DE-BE0C-F3967B274E91}"/>
              </a:ext>
            </a:extLst>
          </p:cNvPr>
          <p:cNvSpPr txBox="1"/>
          <p:nvPr/>
        </p:nvSpPr>
        <p:spPr>
          <a:xfrm>
            <a:off x="3505618" y="3933850"/>
            <a:ext cx="5467207" cy="553998"/>
          </a:xfrm>
          <a:prstGeom prst="rect">
            <a:avLst/>
          </a:prstGeom>
          <a:solidFill>
            <a:srgbClr val="F2F2F2"/>
          </a:solidFill>
        </p:spPr>
        <p:txBody>
          <a:bodyPr wrap="square" rtlCol="0">
            <a:spAutoFit/>
          </a:bodyPr>
          <a:lstStyle/>
          <a:p>
            <a:pPr lvl="1">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正则表达式</a:t>
            </a:r>
            <a:r>
              <a:rPr lang="en-US" altLang="zh-CN" sz="2000">
                <a:solidFill>
                  <a:srgbClr val="595959"/>
                </a:solidFill>
                <a:latin typeface="微软雅黑" panose="020B0503020204020204" pitchFamily="34" charset="-122"/>
                <a:ea typeface="微软雅黑" panose="020B0503020204020204" pitchFamily="34" charset="-122"/>
                <a:cs typeface="+mn-ea"/>
              </a:rPr>
              <a:t>.test(</a:t>
            </a:r>
            <a:r>
              <a:rPr lang="zh-CN" altLang="zh-CN" sz="2000">
                <a:solidFill>
                  <a:srgbClr val="595959"/>
                </a:solidFill>
                <a:latin typeface="微软雅黑" panose="020B0503020204020204" pitchFamily="34" charset="-122"/>
                <a:ea typeface="微软雅黑" panose="020B0503020204020204" pitchFamily="34" charset="-122"/>
                <a:cs typeface="+mn-ea"/>
              </a:rPr>
              <a:t>需要匹配的字符串</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141066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1593028"/>
            <a:ext cx="9404358"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通过代码演示如何</a:t>
            </a:r>
            <a:r>
              <a:rPr lang="zh-CN" altLang="zh-CN" sz="2000" dirty="0">
                <a:solidFill>
                  <a:srgbClr val="1369B2"/>
                </a:solidFill>
                <a:latin typeface="微软雅黑" panose="020B0503020204020204" pitchFamily="34" charset="-122"/>
                <a:ea typeface="微软雅黑" panose="020B0503020204020204" pitchFamily="34" charset="-122"/>
                <a:cs typeface="+mn-ea"/>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test()</a:t>
            </a:r>
            <a:r>
              <a:rPr lang="zh-CN" altLang="zh-CN" sz="2000" dirty="0">
                <a:solidFill>
                  <a:srgbClr val="1369B2"/>
                </a:solidFill>
                <a:latin typeface="微软雅黑" panose="020B0503020204020204" pitchFamily="34" charset="-122"/>
                <a:ea typeface="微软雅黑" panose="020B0503020204020204" pitchFamily="34" charset="-122"/>
                <a:cs typeface="+mn-ea"/>
              </a:rPr>
              <a:t>方法检测字符串是否包含敏感</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词</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文本框 10">
            <a:extLst>
              <a:ext uri="{FF2B5EF4-FFF2-40B4-BE49-F238E27FC236}">
                <a16:creationId xmlns:a16="http://schemas.microsoft.com/office/drawing/2014/main" id="{2BD7E020-D0A4-47DE-BE0C-F3967B274E91}"/>
              </a:ext>
            </a:extLst>
          </p:cNvPr>
          <p:cNvSpPr txBox="1"/>
          <p:nvPr/>
        </p:nvSpPr>
        <p:spPr>
          <a:xfrm>
            <a:off x="1143691" y="2853730"/>
            <a:ext cx="8433600" cy="1477328"/>
          </a:xfrm>
          <a:prstGeom prst="rect">
            <a:avLst/>
          </a:prstGeom>
          <a:solidFill>
            <a:srgbClr val="F2F2F2"/>
          </a:solidFill>
        </p:spPr>
        <p:txBody>
          <a:bodyPr wrap="square" rtlCol="0">
            <a:spAutoFit/>
          </a:bodyPr>
          <a:lstStyle/>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 /admin/;</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reg.test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suadmin</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true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reg.test</a:t>
            </a:r>
            <a:r>
              <a:rPr lang="en-US" altLang="zh-CN" sz="2000" dirty="0">
                <a:solidFill>
                  <a:srgbClr val="595959"/>
                </a:solidFill>
                <a:latin typeface="微软雅黑" panose="020B0503020204020204" pitchFamily="34" charset="-122"/>
                <a:ea typeface="微软雅黑" panose="020B0503020204020204" pitchFamily="34" charset="-122"/>
                <a:cs typeface="+mn-ea"/>
              </a:rPr>
              <a:t>('address'));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false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721295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43690" y="1115504"/>
            <a:ext cx="3655372"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微软雅黑" panose="020B0503020204020204" pitchFamily="34" charset="-122"/>
                <a:ea typeface="微软雅黑" panose="020B0503020204020204" pitchFamily="34" charset="-122"/>
              </a:rPr>
              <a:t>2</a:t>
            </a:r>
            <a:r>
              <a:rPr lang="en-US" altLang="zh-CN" sz="2000" smtClean="0">
                <a:solidFill>
                  <a:srgbClr val="FFFFFF"/>
                </a:solidFill>
                <a:latin typeface="微软雅黑" panose="020B0503020204020204" pitchFamily="34" charset="-122"/>
                <a:ea typeface="微软雅黑" panose="020B0503020204020204" pitchFamily="34" charset="-122"/>
              </a:rPr>
              <a:t>. </a:t>
            </a:r>
            <a:r>
              <a:rPr lang="zh-CN" altLang="en-US" sz="2000" smtClean="0">
                <a:solidFill>
                  <a:srgbClr val="FFFFFF"/>
                </a:solidFill>
                <a:latin typeface="微软雅黑" panose="020B0503020204020204" pitchFamily="34" charset="-122"/>
                <a:ea typeface="微软雅黑" panose="020B0503020204020204" pitchFamily="34" charset="-122"/>
              </a:rPr>
              <a:t>获取正则表达式匹配结果</a:t>
            </a:r>
            <a:endParaRPr lang="zh-CN" altLang="zh-CN" sz="2000">
              <a:solidFill>
                <a:srgbClr val="FFFFFF"/>
              </a:solidFill>
              <a:latin typeface="微软雅黑" panose="020B0503020204020204" pitchFamily="34" charset="-122"/>
              <a:ea typeface="微软雅黑" panose="020B0503020204020204" pitchFamily="34" charset="-122"/>
            </a:endParaRPr>
          </a:p>
        </p:txBody>
      </p:sp>
      <p:sp>
        <p:nvSpPr>
          <p:cNvPr id="2" name="矩形 1"/>
          <p:cNvSpPr/>
          <p:nvPr/>
        </p:nvSpPr>
        <p:spPr>
          <a:xfrm>
            <a:off x="1142602" y="2067158"/>
            <a:ext cx="10208099" cy="1938992"/>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test()</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rPr>
              <a:t>虽然可以检测字符串是否匹配某个正则表达式，但是</a:t>
            </a:r>
            <a:r>
              <a:rPr lang="zh-CN" altLang="zh-CN" sz="2000" dirty="0">
                <a:solidFill>
                  <a:srgbClr val="1369B2"/>
                </a:solidFill>
                <a:latin typeface="微软雅黑" panose="020B0503020204020204" pitchFamily="34" charset="-122"/>
                <a:ea typeface="微软雅黑" panose="020B0503020204020204" pitchFamily="34" charset="-122"/>
                <a:cs typeface="+mn-ea"/>
              </a:rPr>
              <a:t>无法返回匹配结果</a:t>
            </a:r>
            <a:r>
              <a:rPr lang="zh-CN" altLang="zh-CN" sz="2000" dirty="0">
                <a:solidFill>
                  <a:srgbClr val="595959"/>
                </a:solidFill>
                <a:latin typeface="微软雅黑" panose="020B0503020204020204" pitchFamily="34" charset="-122"/>
                <a:ea typeface="微软雅黑" panose="020B0503020204020204" pitchFamily="34" charset="-122"/>
              </a:rPr>
              <a:t>。当需要</a:t>
            </a:r>
            <a:r>
              <a:rPr lang="zh-CN" altLang="zh-CN" sz="2000" dirty="0">
                <a:solidFill>
                  <a:srgbClr val="1369B2"/>
                </a:solidFill>
                <a:latin typeface="微软雅黑" panose="020B0503020204020204" pitchFamily="34" charset="-122"/>
                <a:ea typeface="微软雅黑" panose="020B0503020204020204" pitchFamily="34" charset="-122"/>
                <a:cs typeface="+mn-ea"/>
              </a:rPr>
              <a:t>获取正则表达式匹配结果</a:t>
            </a:r>
            <a:r>
              <a:rPr lang="zh-CN" altLang="zh-CN" sz="2000" dirty="0">
                <a:solidFill>
                  <a:srgbClr val="595959"/>
                </a:solidFill>
                <a:latin typeface="微软雅黑" panose="020B0503020204020204" pitchFamily="34" charset="-122"/>
                <a:ea typeface="微软雅黑" panose="020B0503020204020204" pitchFamily="34" charset="-122"/>
              </a:rPr>
              <a:t>时，可以使用</a:t>
            </a:r>
            <a:r>
              <a:rPr lang="en-US" altLang="zh-CN" sz="2000" dirty="0">
                <a:solidFill>
                  <a:srgbClr val="1369B2"/>
                </a:solidFill>
                <a:latin typeface="微软雅黑" panose="020B0503020204020204" pitchFamily="34" charset="-122"/>
                <a:ea typeface="微软雅黑" panose="020B0503020204020204" pitchFamily="34" charset="-122"/>
                <a:cs typeface="+mn-ea"/>
              </a:rPr>
              <a:t>match()</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match()</a:t>
            </a:r>
            <a:r>
              <a:rPr lang="zh-CN" altLang="zh-CN" sz="2000" dirty="0">
                <a:solidFill>
                  <a:srgbClr val="595959"/>
                </a:solidFill>
                <a:latin typeface="微软雅黑" panose="020B0503020204020204" pitchFamily="34" charset="-122"/>
                <a:ea typeface="微软雅黑" panose="020B0503020204020204" pitchFamily="34" charset="-122"/>
              </a:rPr>
              <a:t>方法用于</a:t>
            </a:r>
            <a:r>
              <a:rPr lang="zh-CN" altLang="zh-CN" sz="2000" dirty="0">
                <a:solidFill>
                  <a:srgbClr val="1369B2"/>
                </a:solidFill>
                <a:latin typeface="微软雅黑" panose="020B0503020204020204" pitchFamily="34" charset="-122"/>
                <a:ea typeface="微软雅黑" panose="020B0503020204020204" pitchFamily="34" charset="-122"/>
                <a:cs typeface="+mn-ea"/>
              </a:rPr>
              <a:t>在目标字符串中进行搜索匹配</a:t>
            </a:r>
            <a:r>
              <a:rPr lang="zh-CN" altLang="zh-CN" sz="2000" dirty="0">
                <a:solidFill>
                  <a:srgbClr val="595959"/>
                </a:solidFill>
                <a:latin typeface="微软雅黑" panose="020B0503020204020204" pitchFamily="34" charset="-122"/>
                <a:ea typeface="微软雅黑" panose="020B0503020204020204" pitchFamily="34" charset="-122"/>
              </a:rPr>
              <a:t>，匹配成功时，返回一个包含</a:t>
            </a:r>
            <a:r>
              <a:rPr lang="zh-CN" altLang="zh-CN" sz="2000" dirty="0">
                <a:solidFill>
                  <a:srgbClr val="1369B2"/>
                </a:solidFill>
                <a:latin typeface="微软雅黑" panose="020B0503020204020204" pitchFamily="34" charset="-122"/>
                <a:ea typeface="微软雅黑" panose="020B0503020204020204" pitchFamily="34" charset="-122"/>
                <a:cs typeface="+mn-ea"/>
              </a:rPr>
              <a:t>附加属性的数组</a:t>
            </a:r>
            <a:r>
              <a:rPr lang="zh-CN" altLang="zh-CN" sz="2000" dirty="0">
                <a:solidFill>
                  <a:srgbClr val="595959"/>
                </a:solidFill>
                <a:latin typeface="微软雅黑" panose="020B0503020204020204" pitchFamily="34" charset="-122"/>
                <a:ea typeface="微软雅黑" panose="020B0503020204020204" pitchFamily="34" charset="-122"/>
              </a:rPr>
              <a:t>，否则返回</a:t>
            </a:r>
            <a:r>
              <a:rPr lang="en-US" altLang="zh-CN" sz="2000" dirty="0">
                <a:solidFill>
                  <a:srgbClr val="1369B2"/>
                </a:solidFill>
                <a:latin typeface="微软雅黑" panose="020B0503020204020204" pitchFamily="34" charset="-122"/>
                <a:ea typeface="微软雅黑" panose="020B0503020204020204" pitchFamily="34" charset="-122"/>
                <a:cs typeface="+mn-ea"/>
              </a:rPr>
              <a:t>null</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rPr>
              <a:t>match</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方法的语法格式如下。</a:t>
            </a:r>
          </a:p>
        </p:txBody>
      </p:sp>
      <p:sp>
        <p:nvSpPr>
          <p:cNvPr id="5"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 name="文本框 6">
            <a:extLst>
              <a:ext uri="{FF2B5EF4-FFF2-40B4-BE49-F238E27FC236}">
                <a16:creationId xmlns:a16="http://schemas.microsoft.com/office/drawing/2014/main" id="{2BD7E020-D0A4-47DE-BE0C-F3967B274E91}"/>
              </a:ext>
            </a:extLst>
          </p:cNvPr>
          <p:cNvSpPr txBox="1"/>
          <p:nvPr/>
        </p:nvSpPr>
        <p:spPr>
          <a:xfrm>
            <a:off x="4374637" y="4453749"/>
            <a:ext cx="3984280" cy="55399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string.match</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regexp</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921883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054646" y="1452098"/>
            <a:ext cx="972108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通过代码演示如何</a:t>
            </a:r>
            <a:r>
              <a:rPr lang="zh-CN" altLang="zh-CN" sz="2000" dirty="0">
                <a:solidFill>
                  <a:srgbClr val="1369B2"/>
                </a:solidFill>
                <a:latin typeface="微软雅黑" panose="020B0503020204020204" pitchFamily="34" charset="-122"/>
                <a:ea typeface="微软雅黑" panose="020B0503020204020204" pitchFamily="34" charset="-122"/>
                <a:cs typeface="+mn-ea"/>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match()</a:t>
            </a:r>
            <a:r>
              <a:rPr lang="zh-CN" altLang="zh-CN" sz="2000" dirty="0">
                <a:solidFill>
                  <a:srgbClr val="1369B2"/>
                </a:solidFill>
                <a:latin typeface="微软雅黑" panose="020B0503020204020204" pitchFamily="34" charset="-122"/>
                <a:ea typeface="微软雅黑" panose="020B0503020204020204" pitchFamily="34" charset="-122"/>
                <a:cs typeface="+mn-ea"/>
              </a:rPr>
              <a:t>方法获取正则表达式匹配</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结果</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文本框 10">
            <a:extLst>
              <a:ext uri="{FF2B5EF4-FFF2-40B4-BE49-F238E27FC236}">
                <a16:creationId xmlns:a16="http://schemas.microsoft.com/office/drawing/2014/main" id="{2BD7E020-D0A4-47DE-BE0C-F3967B274E91}"/>
              </a:ext>
            </a:extLst>
          </p:cNvPr>
          <p:cNvSpPr txBox="1"/>
          <p:nvPr/>
        </p:nvSpPr>
        <p:spPr>
          <a:xfrm>
            <a:off x="1270670" y="2421682"/>
            <a:ext cx="10013444" cy="1938992"/>
          </a:xfrm>
          <a:prstGeom prst="rect">
            <a:avLst/>
          </a:prstGeom>
          <a:solidFill>
            <a:srgbClr val="F2F2F2"/>
          </a:solidFill>
        </p:spPr>
        <p:txBody>
          <a:bodyPr wrap="square" rtlCol="0">
            <a:spAutoFit/>
          </a:bodyPr>
          <a:lstStyle/>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en-US" altLang="zh-CN" sz="2000" dirty="0" err="1">
                <a:solidFill>
                  <a:srgbClr val="595959"/>
                </a:solidFill>
                <a:latin typeface="微软雅黑" panose="020B0503020204020204" pitchFamily="34" charset="-122"/>
                <a:ea typeface="微软雅黑" panose="020B0503020204020204" pitchFamily="34" charset="-122"/>
                <a:cs typeface="+mn-ea"/>
              </a:rPr>
              <a:t>a.min</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console.log('1admin2admin'.match(</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['admin', index: 1, input: '1admin2admin', groups: undefined]</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address'.match</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null</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5077506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1391019"/>
            <a:ext cx="10585176"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关于</a:t>
            </a:r>
            <a:r>
              <a:rPr lang="en-US" altLang="zh-CN" sz="2000" dirty="0">
                <a:solidFill>
                  <a:srgbClr val="1369B2"/>
                </a:solidFill>
                <a:latin typeface="微软雅黑" panose="020B0503020204020204" pitchFamily="34" charset="-122"/>
                <a:ea typeface="微软雅黑" panose="020B0503020204020204" pitchFamily="34" charset="-122"/>
                <a:cs typeface="+mn-ea"/>
              </a:rPr>
              <a:t>['admin', index: 1, input: '1admin2admin', groups: undefined]</a:t>
            </a:r>
            <a:r>
              <a:rPr lang="zh-CN" altLang="zh-CN" sz="2000" dirty="0">
                <a:solidFill>
                  <a:srgbClr val="1369B2"/>
                </a:solidFill>
                <a:latin typeface="微软雅黑" panose="020B0503020204020204" pitchFamily="34" charset="-122"/>
                <a:ea typeface="微软雅黑" panose="020B0503020204020204" pitchFamily="34" charset="-122"/>
                <a:cs typeface="+mn-ea"/>
              </a:rPr>
              <a:t>数组</a:t>
            </a:r>
            <a:r>
              <a:rPr lang="zh-CN" altLang="zh-CN" sz="2000" dirty="0">
                <a:solidFill>
                  <a:srgbClr val="595959"/>
                </a:solidFill>
                <a:latin typeface="微软雅黑" panose="020B0503020204020204" pitchFamily="34" charset="-122"/>
                <a:ea typeface="微软雅黑" panose="020B0503020204020204" pitchFamily="34" charset="-122"/>
                <a:cs typeface="+mn-ea"/>
              </a:rPr>
              <a:t>的具体解释如下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982638" y="2349674"/>
            <a:ext cx="10369152" cy="2400657"/>
          </a:xfrm>
          <a:prstGeom prst="rect">
            <a:avLst/>
          </a:prstGeom>
        </p:spPr>
        <p:txBody>
          <a:bodyPr wrap="square">
            <a:spAutoFit/>
          </a:bodyPr>
          <a:lstStyle/>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cs typeface="+mn-ea"/>
              </a:rPr>
              <a:t>数组元素</a:t>
            </a:r>
            <a:r>
              <a:rPr lang="en-US" altLang="zh-CN" sz="2000" dirty="0">
                <a:solidFill>
                  <a:srgbClr val="1369B2"/>
                </a:solidFill>
                <a:latin typeface="微软雅黑" panose="020B0503020204020204" pitchFamily="34" charset="-122"/>
                <a:ea typeface="微软雅黑" panose="020B0503020204020204" pitchFamily="34" charset="-122"/>
                <a:cs typeface="+mn-ea"/>
              </a:rPr>
              <a:t>'admin'</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匹配到的内容</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cs typeface="+mn-ea"/>
              </a:rPr>
              <a:t>附加属性</a:t>
            </a:r>
            <a:r>
              <a:rPr lang="en-US" altLang="zh-CN" sz="2000" dirty="0">
                <a:solidFill>
                  <a:srgbClr val="1369B2"/>
                </a:solidFill>
                <a:latin typeface="微软雅黑" panose="020B0503020204020204" pitchFamily="34" charset="-122"/>
                <a:ea typeface="微软雅黑" panose="020B0503020204020204" pitchFamily="34" charset="-122"/>
                <a:cs typeface="+mn-ea"/>
              </a:rPr>
              <a:t>index</a:t>
            </a:r>
            <a:r>
              <a:rPr lang="zh-CN" altLang="zh-CN" sz="2000" dirty="0">
                <a:solidFill>
                  <a:srgbClr val="595959"/>
                </a:solidFill>
                <a:latin typeface="微软雅黑" panose="020B0503020204020204" pitchFamily="34" charset="-122"/>
                <a:ea typeface="微软雅黑" panose="020B0503020204020204" pitchFamily="34" charset="-122"/>
                <a:cs typeface="+mn-ea"/>
              </a:rPr>
              <a:t>表示匹配到的内容</a:t>
            </a:r>
            <a:r>
              <a:rPr lang="en-US" altLang="zh-CN" sz="2000" dirty="0">
                <a:solidFill>
                  <a:srgbClr val="595959"/>
                </a:solidFill>
                <a:latin typeface="微软雅黑" panose="020B0503020204020204" pitchFamily="34" charset="-122"/>
                <a:ea typeface="微软雅黑" panose="020B0503020204020204" pitchFamily="34" charset="-122"/>
                <a:cs typeface="+mn-ea"/>
              </a:rPr>
              <a:t>'admin'</a:t>
            </a:r>
            <a:r>
              <a:rPr lang="zh-CN" altLang="zh-CN" sz="2000" dirty="0">
                <a:solidFill>
                  <a:srgbClr val="595959"/>
                </a:solidFill>
                <a:latin typeface="微软雅黑" panose="020B0503020204020204" pitchFamily="34" charset="-122"/>
                <a:ea typeface="微软雅黑" panose="020B0503020204020204" pitchFamily="34" charset="-122"/>
                <a:cs typeface="+mn-ea"/>
              </a:rPr>
              <a:t>在原字符串中的</a:t>
            </a:r>
            <a:r>
              <a:rPr lang="zh-CN" altLang="zh-CN" sz="2000" dirty="0">
                <a:solidFill>
                  <a:srgbClr val="1369B2"/>
                </a:solidFill>
                <a:latin typeface="微软雅黑" panose="020B0503020204020204" pitchFamily="34" charset="-122"/>
                <a:ea typeface="微软雅黑" panose="020B0503020204020204" pitchFamily="34" charset="-122"/>
                <a:cs typeface="+mn-ea"/>
              </a:rPr>
              <a:t>起始索引</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cs typeface="+mn-ea"/>
              </a:rPr>
              <a:t>附加属性</a:t>
            </a:r>
            <a:r>
              <a:rPr lang="en-US" altLang="zh-CN" sz="2000" dirty="0">
                <a:solidFill>
                  <a:srgbClr val="1369B2"/>
                </a:solidFill>
                <a:latin typeface="微软雅黑" panose="020B0503020204020204" pitchFamily="34" charset="-122"/>
                <a:ea typeface="微软雅黑" panose="020B0503020204020204" pitchFamily="34" charset="-122"/>
                <a:cs typeface="+mn-ea"/>
              </a:rPr>
              <a:t>input</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原字符串</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cs typeface="+mn-ea"/>
              </a:rPr>
              <a:t>附加属性</a:t>
            </a:r>
            <a:r>
              <a:rPr lang="en-US" altLang="zh-CN" sz="2000" dirty="0">
                <a:solidFill>
                  <a:srgbClr val="1369B2"/>
                </a:solidFill>
                <a:latin typeface="微软雅黑" panose="020B0503020204020204" pitchFamily="34" charset="-122"/>
                <a:ea typeface="微软雅黑" panose="020B0503020204020204" pitchFamily="34" charset="-122"/>
                <a:cs typeface="+mn-ea"/>
              </a:rPr>
              <a:t>groups</a:t>
            </a:r>
            <a:r>
              <a:rPr lang="zh-CN" altLang="zh-CN" sz="2000" dirty="0">
                <a:solidFill>
                  <a:srgbClr val="595959"/>
                </a:solidFill>
                <a:latin typeface="微软雅黑" panose="020B0503020204020204" pitchFamily="34" charset="-122"/>
                <a:ea typeface="微软雅黑" panose="020B0503020204020204" pitchFamily="34" charset="-122"/>
                <a:cs typeface="+mn-ea"/>
              </a:rPr>
              <a:t>是</a:t>
            </a:r>
            <a:r>
              <a:rPr lang="en-US" altLang="zh-CN" sz="2000" dirty="0">
                <a:solidFill>
                  <a:srgbClr val="595959"/>
                </a:solidFill>
                <a:latin typeface="微软雅黑" panose="020B0503020204020204" pitchFamily="34" charset="-122"/>
                <a:ea typeface="微软雅黑" panose="020B0503020204020204" pitchFamily="34" charset="-122"/>
                <a:cs typeface="+mn-ea"/>
              </a:rPr>
              <a:t>ECMAScript 2018</a:t>
            </a:r>
            <a:r>
              <a:rPr lang="zh-CN" altLang="zh-CN" sz="2000" dirty="0">
                <a:solidFill>
                  <a:srgbClr val="595959"/>
                </a:solidFill>
                <a:latin typeface="微软雅黑" panose="020B0503020204020204" pitchFamily="34" charset="-122"/>
                <a:ea typeface="微软雅黑" panose="020B0503020204020204" pitchFamily="34" charset="-122"/>
                <a:cs typeface="+mn-ea"/>
              </a:rPr>
              <a:t>中新增的内容，表示</a:t>
            </a:r>
            <a:r>
              <a:rPr lang="zh-CN" altLang="zh-CN" sz="2000" dirty="0">
                <a:solidFill>
                  <a:srgbClr val="1369B2"/>
                </a:solidFill>
                <a:latin typeface="微软雅黑" panose="020B0503020204020204" pitchFamily="34" charset="-122"/>
                <a:ea typeface="微软雅黑" panose="020B0503020204020204" pitchFamily="34" charset="-122"/>
                <a:cs typeface="+mn-ea"/>
              </a:rPr>
              <a:t>捕获数组</a:t>
            </a:r>
            <a:r>
              <a:rPr lang="zh-CN" altLang="zh-CN" sz="2000" dirty="0">
                <a:solidFill>
                  <a:srgbClr val="595959"/>
                </a:solidFill>
                <a:latin typeface="微软雅黑" panose="020B0503020204020204" pitchFamily="34" charset="-122"/>
                <a:ea typeface="微软雅黑" panose="020B0503020204020204" pitchFamily="34" charset="-122"/>
                <a:cs typeface="+mn-ea"/>
              </a:rPr>
              <a:t>，由于没有定义命名捕获组，结果为</a:t>
            </a:r>
            <a:r>
              <a:rPr lang="en-US" altLang="zh-CN" sz="2000" dirty="0">
                <a:solidFill>
                  <a:srgbClr val="1369B2"/>
                </a:solidFill>
                <a:latin typeface="微软雅黑" panose="020B0503020204020204" pitchFamily="34" charset="-122"/>
                <a:ea typeface="微软雅黑" panose="020B0503020204020204" pitchFamily="34" charset="-122"/>
                <a:cs typeface="+mn-ea"/>
              </a:rPr>
              <a:t>undefined</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extLst>
      <p:ext uri="{BB962C8B-B14F-4D97-AF65-F5344CB8AC3E}">
        <p14:creationId xmlns:p14="http://schemas.microsoft.com/office/powerpoint/2010/main" val="7921199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43690" y="1115504"/>
            <a:ext cx="3871396"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微软雅黑" panose="020B0503020204020204" pitchFamily="34" charset="-122"/>
                <a:ea typeface="微软雅黑" panose="020B0503020204020204" pitchFamily="34" charset="-122"/>
              </a:rPr>
              <a:t>3</a:t>
            </a:r>
            <a:r>
              <a:rPr lang="en-US" altLang="zh-CN" sz="2000" dirty="0" smtClean="0">
                <a:solidFill>
                  <a:srgbClr val="FFFFFF"/>
                </a:solidFill>
                <a:latin typeface="微软雅黑" panose="020B0503020204020204" pitchFamily="34" charset="-122"/>
                <a:ea typeface="微软雅黑" panose="020B0503020204020204" pitchFamily="34" charset="-122"/>
              </a:rPr>
              <a:t>. </a:t>
            </a:r>
            <a:r>
              <a:rPr lang="zh-CN" altLang="en-US" sz="2000" dirty="0" smtClean="0">
                <a:solidFill>
                  <a:srgbClr val="FFFFFF"/>
                </a:solidFill>
                <a:latin typeface="微软雅黑" panose="020B0503020204020204" pitchFamily="34" charset="-122"/>
                <a:ea typeface="微软雅黑" panose="020B0503020204020204" pitchFamily="34" charset="-122"/>
              </a:rPr>
              <a:t>获取正则表达式全局匹配结果</a:t>
            </a:r>
            <a:endParaRPr lang="zh-CN" altLang="zh-CN" sz="2000" dirty="0">
              <a:solidFill>
                <a:srgbClr val="FFFFFF"/>
              </a:solidFill>
              <a:latin typeface="微软雅黑" panose="020B0503020204020204" pitchFamily="34" charset="-122"/>
              <a:ea typeface="微软雅黑" panose="020B0503020204020204" pitchFamily="34" charset="-122"/>
            </a:endParaRPr>
          </a:p>
        </p:txBody>
      </p:sp>
      <p:sp>
        <p:nvSpPr>
          <p:cNvPr id="2" name="矩形 1"/>
          <p:cNvSpPr/>
          <p:nvPr/>
        </p:nvSpPr>
        <p:spPr>
          <a:xfrm>
            <a:off x="1143690" y="2133650"/>
            <a:ext cx="10424124" cy="1938992"/>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当</a:t>
            </a:r>
            <a:r>
              <a:rPr lang="zh-CN" altLang="zh-CN" sz="2000" dirty="0">
                <a:solidFill>
                  <a:srgbClr val="595959"/>
                </a:solidFill>
                <a:latin typeface="微软雅黑" panose="020B0503020204020204" pitchFamily="34" charset="-122"/>
                <a:ea typeface="微软雅黑" panose="020B0503020204020204" pitchFamily="34" charset="-122"/>
              </a:rPr>
              <a:t>需要匹配字符串中</a:t>
            </a:r>
            <a:r>
              <a:rPr lang="zh-CN" altLang="zh-CN" sz="2000" dirty="0">
                <a:solidFill>
                  <a:srgbClr val="1369B2"/>
                </a:solidFill>
                <a:latin typeface="微软雅黑" panose="020B0503020204020204" pitchFamily="34" charset="-122"/>
                <a:ea typeface="微软雅黑" panose="020B0503020204020204" pitchFamily="34" charset="-122"/>
                <a:cs typeface="+mn-ea"/>
              </a:rPr>
              <a:t>所有符合正则表达式的内容</a:t>
            </a:r>
            <a:r>
              <a:rPr lang="zh-CN" altLang="zh-CN" sz="2000" dirty="0">
                <a:solidFill>
                  <a:srgbClr val="595959"/>
                </a:solidFill>
                <a:latin typeface="微软雅黑" panose="020B0503020204020204" pitchFamily="34" charset="-122"/>
                <a:ea typeface="微软雅黑" panose="020B0503020204020204" pitchFamily="34" charset="-122"/>
              </a:rPr>
              <a:t>时，可以使用</a:t>
            </a:r>
            <a:r>
              <a:rPr lang="en-US" altLang="zh-CN" sz="2000" dirty="0">
                <a:solidFill>
                  <a:srgbClr val="1369B2"/>
                </a:solidFill>
                <a:latin typeface="微软雅黑" panose="020B0503020204020204" pitchFamily="34" charset="-122"/>
                <a:ea typeface="微软雅黑" panose="020B0503020204020204" pitchFamily="34" charset="-122"/>
                <a:cs typeface="+mn-ea"/>
              </a:rPr>
              <a:t>match()</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rPr>
              <a:t>结合模式修饰符</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g</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rPr>
              <a:t>完成匹配</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模式</a:t>
            </a:r>
            <a:r>
              <a:rPr lang="zh-CN" altLang="zh-CN" sz="2000" dirty="0">
                <a:solidFill>
                  <a:srgbClr val="595959"/>
                </a:solidFill>
                <a:latin typeface="微软雅黑" panose="020B0503020204020204" pitchFamily="34" charset="-122"/>
                <a:ea typeface="微软雅黑" panose="020B0503020204020204" pitchFamily="34" charset="-122"/>
              </a:rPr>
              <a:t>修饰符“</a:t>
            </a:r>
            <a:r>
              <a:rPr lang="en-US" altLang="zh-CN" sz="2000" dirty="0">
                <a:solidFill>
                  <a:srgbClr val="595959"/>
                </a:solidFill>
                <a:latin typeface="微软雅黑" panose="020B0503020204020204" pitchFamily="34" charset="-122"/>
                <a:ea typeface="微软雅黑" panose="020B0503020204020204" pitchFamily="34" charset="-122"/>
              </a:rPr>
              <a:t>g</a:t>
            </a:r>
            <a:r>
              <a:rPr lang="zh-CN" altLang="zh-CN" sz="2000" dirty="0">
                <a:solidFill>
                  <a:srgbClr val="595959"/>
                </a:solidFill>
                <a:latin typeface="微软雅黑" panose="020B0503020204020204" pitchFamily="34" charset="-122"/>
                <a:ea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全局匹配</a:t>
            </a:r>
            <a:r>
              <a:rPr lang="zh-CN" altLang="zh-CN" sz="2000" dirty="0">
                <a:solidFill>
                  <a:srgbClr val="595959"/>
                </a:solidFill>
                <a:latin typeface="微软雅黑" panose="020B0503020204020204" pitchFamily="34" charset="-122"/>
                <a:ea typeface="微软雅黑" panose="020B0503020204020204" pitchFamily="34" charset="-122"/>
              </a:rPr>
              <a:t>，即匹配到</a:t>
            </a:r>
            <a:r>
              <a:rPr lang="zh-CN" altLang="zh-CN" sz="2000" dirty="0">
                <a:solidFill>
                  <a:srgbClr val="1369B2"/>
                </a:solidFill>
                <a:latin typeface="微软雅黑" panose="020B0503020204020204" pitchFamily="34" charset="-122"/>
                <a:ea typeface="微软雅黑" panose="020B0503020204020204" pitchFamily="34" charset="-122"/>
                <a:cs typeface="+mn-ea"/>
              </a:rPr>
              <a:t>第</a:t>
            </a:r>
            <a:r>
              <a:rPr lang="en-US" altLang="zh-CN" sz="2000" dirty="0">
                <a:solidFill>
                  <a:srgbClr val="1369B2"/>
                </a:solidFill>
                <a:latin typeface="微软雅黑" panose="020B0503020204020204" pitchFamily="34" charset="-122"/>
                <a:ea typeface="微软雅黑" panose="020B0503020204020204" pitchFamily="34" charset="-122"/>
                <a:cs typeface="+mn-ea"/>
              </a:rPr>
              <a:t>1</a:t>
            </a:r>
            <a:r>
              <a:rPr lang="zh-CN" altLang="zh-CN" sz="2000" dirty="0">
                <a:solidFill>
                  <a:srgbClr val="1369B2"/>
                </a:solidFill>
                <a:latin typeface="微软雅黑" panose="020B0503020204020204" pitchFamily="34" charset="-122"/>
                <a:ea typeface="微软雅黑" panose="020B0503020204020204" pitchFamily="34" charset="-122"/>
                <a:cs typeface="+mn-ea"/>
              </a:rPr>
              <a:t>个</a:t>
            </a:r>
            <a:r>
              <a:rPr lang="zh-CN" altLang="zh-CN" sz="2000" dirty="0">
                <a:solidFill>
                  <a:srgbClr val="595959"/>
                </a:solidFill>
                <a:latin typeface="微软雅黑" panose="020B0503020204020204" pitchFamily="34" charset="-122"/>
                <a:ea typeface="微软雅黑" panose="020B0503020204020204" pitchFamily="34" charset="-122"/>
              </a:rPr>
              <a:t>符合正则表达式的内容后继续向后匹配。</a:t>
            </a:r>
          </a:p>
        </p:txBody>
      </p:sp>
      <p:sp>
        <p:nvSpPr>
          <p:cNvPr id="5"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6990157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1530454"/>
            <a:ext cx="10585176"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通过代码演示如何使用</a:t>
            </a:r>
            <a:r>
              <a:rPr lang="en-US" altLang="zh-CN" sz="2000" dirty="0">
                <a:solidFill>
                  <a:srgbClr val="1369B2"/>
                </a:solidFill>
                <a:latin typeface="微软雅黑" panose="020B0503020204020204" pitchFamily="34" charset="-122"/>
                <a:ea typeface="微软雅黑" panose="020B0503020204020204" pitchFamily="34" charset="-122"/>
                <a:cs typeface="+mn-ea"/>
              </a:rPr>
              <a:t>match()</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结合模式修饰符</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g</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获取正则表达式</a:t>
            </a:r>
            <a:r>
              <a:rPr lang="zh-CN" altLang="zh-CN" sz="2000" dirty="0">
                <a:solidFill>
                  <a:srgbClr val="1369B2"/>
                </a:solidFill>
                <a:latin typeface="微软雅黑" panose="020B0503020204020204" pitchFamily="34" charset="-122"/>
                <a:ea typeface="微软雅黑" panose="020B0503020204020204" pitchFamily="34" charset="-122"/>
                <a:cs typeface="+mn-ea"/>
              </a:rPr>
              <a:t>全局匹配</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结果</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文本框 10">
            <a:extLst>
              <a:ext uri="{FF2B5EF4-FFF2-40B4-BE49-F238E27FC236}">
                <a16:creationId xmlns:a16="http://schemas.microsoft.com/office/drawing/2014/main" id="{2BD7E020-D0A4-47DE-BE0C-F3967B274E91}"/>
              </a:ext>
            </a:extLst>
          </p:cNvPr>
          <p:cNvSpPr txBox="1"/>
          <p:nvPr/>
        </p:nvSpPr>
        <p:spPr>
          <a:xfrm>
            <a:off x="2058426" y="2565698"/>
            <a:ext cx="8433600" cy="147732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reg = /a.s/g;</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str = 'abs abc ads abd ass amas';</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console.log(str.match(reg));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(3) ['abs', 'ads', 'ass']</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2233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使用正则表达式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2725582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589584" cy="830997"/>
          </a:xfrm>
          <a:prstGeom prst="rect">
            <a:avLst/>
          </a:prstGeom>
          <a:noFill/>
        </p:spPr>
        <p:txBody>
          <a:bodyPr wrap="square" lIns="91443" tIns="45720" rIns="91443" bIns="45720" rtlCol="0">
            <a:spAutoFit/>
          </a:bodyPr>
          <a:lstStyle/>
          <a:p>
            <a:r>
              <a:rPr lang="zh-CN" altLang="en-US" sz="4800" b="1">
                <a:solidFill>
                  <a:srgbClr val="595959"/>
                </a:solidFill>
                <a:latin typeface="微软雅黑" panose="020B0503020204020204" pitchFamily="34" charset="-122"/>
                <a:ea typeface="微软雅黑" panose="020B0503020204020204" pitchFamily="34" charset="-122"/>
                <a:cs typeface="+mn-ea"/>
                <a:sym typeface="+mn-lt"/>
              </a:rPr>
              <a:t>正则表达式中的</a:t>
            </a:r>
            <a:r>
              <a:rPr lang="zh-CN" altLang="en-US" sz="4800" b="1" smtClean="0">
                <a:solidFill>
                  <a:srgbClr val="1369B2"/>
                </a:solidFill>
                <a:latin typeface="微软雅黑" panose="020B0503020204020204" pitchFamily="34" charset="-122"/>
                <a:ea typeface="微软雅黑" panose="020B0503020204020204" pitchFamily="34" charset="-122"/>
                <a:cs typeface="+mn-ea"/>
                <a:sym typeface="+mn-lt"/>
              </a:rPr>
              <a:t>元字符</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270670" y="2809240"/>
            <a:ext cx="2091020" cy="1107996"/>
          </a:xfrm>
          <a:prstGeom prst="rect">
            <a:avLst/>
          </a:prstGeom>
          <a:noFill/>
        </p:spPr>
        <p:txBody>
          <a:bodyPr wrap="square" lIns="91443" tIns="45720" rIns="91443" bIns="45720" rtlCol="0">
            <a:spAutoFit/>
          </a:bodyPr>
          <a:lstStyle/>
          <a:p>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12.3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4216198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正则表达式中</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定位符</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使用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灵活应用</a:t>
            </a:r>
            <a:r>
              <a:rPr lang="zh-CN" altLang="zh-CN" sz="2000" dirty="0">
                <a:solidFill>
                  <a:srgbClr val="595959"/>
                </a:solidFill>
                <a:latin typeface="微软雅黑" panose="020B0503020204020204" pitchFamily="34" charset="-122"/>
                <a:ea typeface="微软雅黑" panose="020B0503020204020204" pitchFamily="34" charset="-122"/>
                <a:cs typeface="+mn-ea"/>
              </a:rPr>
              <a:t>定位符</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匹配字符串</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定位符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913333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定位符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23980" y="1557586"/>
            <a:ext cx="10299818" cy="3323987"/>
          </a:xfrm>
          <a:prstGeom prst="rect">
            <a:avLst/>
          </a:prstGeom>
        </p:spPr>
        <p:txBody>
          <a:bodyPr wrap="square">
            <a:spAutoFit/>
          </a:bodyPr>
          <a:lstStyle/>
          <a:p>
            <a:pPr algn="just">
              <a:lnSpc>
                <a:spcPct val="150000"/>
              </a:lnSpc>
              <a:spcAft>
                <a:spcPts val="0"/>
              </a:spcAft>
            </a:pPr>
            <a:r>
              <a:rPr lang="zh-CN" altLang="zh-CN" sz="2000" dirty="0">
                <a:solidFill>
                  <a:srgbClr val="1369B2"/>
                </a:solidFill>
                <a:latin typeface="微软雅黑" panose="020B0503020204020204" pitchFamily="34" charset="-122"/>
                <a:ea typeface="微软雅黑" panose="020B0503020204020204" pitchFamily="34" charset="-122"/>
                <a:cs typeface="+mn-ea"/>
              </a:rPr>
              <a:t>定位符</a:t>
            </a:r>
            <a:r>
              <a:rPr lang="zh-CN" altLang="zh-CN" sz="2000" dirty="0">
                <a:solidFill>
                  <a:srgbClr val="595959"/>
                </a:solidFill>
                <a:latin typeface="微软雅黑" panose="020B0503020204020204" pitchFamily="34" charset="-122"/>
                <a:ea typeface="微软雅黑" panose="020B0503020204020204" pitchFamily="34" charset="-122"/>
                <a:cs typeface="+mn-ea"/>
              </a:rPr>
              <a:t>可以匹配以</a:t>
            </a:r>
            <a:r>
              <a:rPr lang="zh-CN" altLang="zh-CN" sz="2000" dirty="0">
                <a:solidFill>
                  <a:srgbClr val="1369B2"/>
                </a:solidFill>
                <a:latin typeface="微软雅黑" panose="020B0503020204020204" pitchFamily="34" charset="-122"/>
                <a:ea typeface="微软雅黑" panose="020B0503020204020204" pitchFamily="34" charset="-122"/>
                <a:cs typeface="+mn-ea"/>
              </a:rPr>
              <a:t>指定内容开头</a:t>
            </a:r>
            <a:r>
              <a:rPr lang="zh-CN" altLang="zh-CN" sz="2000" dirty="0">
                <a:solidFill>
                  <a:srgbClr val="595959"/>
                </a:solidFill>
                <a:latin typeface="微软雅黑" panose="020B0503020204020204" pitchFamily="34" charset="-122"/>
                <a:ea typeface="微软雅黑" panose="020B0503020204020204" pitchFamily="34" charset="-122"/>
                <a:cs typeface="+mn-ea"/>
              </a:rPr>
              <a:t>或以</a:t>
            </a:r>
            <a:r>
              <a:rPr lang="zh-CN" altLang="zh-CN" sz="2000" dirty="0">
                <a:solidFill>
                  <a:srgbClr val="1369B2"/>
                </a:solidFill>
                <a:latin typeface="微软雅黑" panose="020B0503020204020204" pitchFamily="34" charset="-122"/>
                <a:ea typeface="微软雅黑" panose="020B0503020204020204" pitchFamily="34" charset="-122"/>
                <a:cs typeface="+mn-ea"/>
              </a:rPr>
              <a:t>指定内容结尾</a:t>
            </a:r>
            <a:r>
              <a:rPr lang="zh-CN" altLang="zh-CN" sz="2000" dirty="0">
                <a:solidFill>
                  <a:srgbClr val="595959"/>
                </a:solidFill>
                <a:latin typeface="微软雅黑" panose="020B0503020204020204" pitchFamily="34" charset="-122"/>
                <a:ea typeface="微软雅黑" panose="020B0503020204020204" pitchFamily="34" charset="-122"/>
                <a:cs typeface="+mn-ea"/>
              </a:rPr>
              <a:t>的字符串。常用的定位符有</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，具体说明如下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spcAft>
                <a:spcPts val="0"/>
              </a:spcAft>
            </a:pP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marL="342900" lvl="0" indent="-342900" algn="just">
              <a:lnSpc>
                <a:spcPct val="150000"/>
              </a:lnSpc>
              <a:spcAft>
                <a:spcPts val="0"/>
              </a:spcAft>
              <a:buFont typeface="Wingdings" panose="05000000000000000000" pitchFamily="2" charset="2"/>
              <a:buChar char=""/>
            </a:pPr>
            <a:r>
              <a:rPr lang="zh-CN" altLang="zh-CN" sz="2000" dirty="0">
                <a:solidFill>
                  <a:srgbClr val="1369B2"/>
                </a:solidFill>
                <a:latin typeface="微软雅黑" panose="020B0503020204020204" pitchFamily="34" charset="-122"/>
                <a:ea typeface="微软雅黑" panose="020B0503020204020204" pitchFamily="34" charset="-122"/>
                <a:cs typeface="+mn-ea"/>
              </a:rPr>
              <a:t>定位符“</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：用于匹配以</a:t>
            </a:r>
            <a:r>
              <a:rPr lang="zh-CN" altLang="zh-CN" sz="2000" dirty="0">
                <a:solidFill>
                  <a:srgbClr val="1369B2"/>
                </a:solidFill>
                <a:latin typeface="微软雅黑" panose="020B0503020204020204" pitchFamily="34" charset="-122"/>
                <a:ea typeface="微软雅黑" panose="020B0503020204020204" pitchFamily="34" charset="-122"/>
                <a:cs typeface="+mn-ea"/>
              </a:rPr>
              <a:t>指定内容开头的字符串</a:t>
            </a:r>
            <a:r>
              <a:rPr lang="zh-CN" altLang="zh-CN" sz="2000" dirty="0">
                <a:solidFill>
                  <a:srgbClr val="595959"/>
                </a:solidFill>
                <a:latin typeface="微软雅黑" panose="020B0503020204020204" pitchFamily="34" charset="-122"/>
                <a:ea typeface="微软雅黑" panose="020B0503020204020204" pitchFamily="34" charset="-122"/>
                <a:cs typeface="+mn-ea"/>
              </a:rPr>
              <a:t>。例如，正则表达式</a:t>
            </a:r>
            <a:r>
              <a:rPr lang="en-US" altLang="zh-CN" sz="2000" dirty="0">
                <a:solidFill>
                  <a:srgbClr val="1369B2"/>
                </a:solidFill>
                <a:latin typeface="微软雅黑" panose="020B0503020204020204" pitchFamily="34" charset="-122"/>
                <a:ea typeface="微软雅黑" panose="020B0503020204020204" pitchFamily="34" charset="-122"/>
                <a:cs typeface="+mn-ea"/>
              </a:rPr>
              <a:t>/^hello/</a:t>
            </a:r>
            <a:r>
              <a:rPr lang="zh-CN" altLang="zh-CN" sz="2000" dirty="0">
                <a:solidFill>
                  <a:srgbClr val="595959"/>
                </a:solidFill>
                <a:latin typeface="微软雅黑" panose="020B0503020204020204" pitchFamily="34" charset="-122"/>
                <a:ea typeface="微软雅黑" panose="020B0503020204020204" pitchFamily="34" charset="-122"/>
                <a:cs typeface="+mn-ea"/>
              </a:rPr>
              <a:t>可以匹配以</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hello</a:t>
            </a:r>
            <a:r>
              <a:rPr lang="zh-CN" altLang="zh-CN" sz="2000" dirty="0">
                <a:solidFill>
                  <a:srgbClr val="1369B2"/>
                </a:solidFill>
                <a:latin typeface="微软雅黑" panose="020B0503020204020204" pitchFamily="34" charset="-122"/>
                <a:ea typeface="微软雅黑" panose="020B0503020204020204" pitchFamily="34" charset="-122"/>
                <a:cs typeface="+mn-ea"/>
              </a:rPr>
              <a:t>”开头</a:t>
            </a:r>
            <a:r>
              <a:rPr lang="zh-CN" altLang="zh-CN" sz="2000" dirty="0">
                <a:solidFill>
                  <a:srgbClr val="595959"/>
                </a:solidFill>
                <a:latin typeface="微软雅黑" panose="020B0503020204020204" pitchFamily="34" charset="-122"/>
                <a:ea typeface="微软雅黑" panose="020B0503020204020204" pitchFamily="34" charset="-122"/>
                <a:cs typeface="+mn-ea"/>
              </a:rPr>
              <a:t>的字符串。</a:t>
            </a:r>
          </a:p>
          <a:p>
            <a:pPr marL="342900" lvl="0" indent="-342900" algn="just">
              <a:lnSpc>
                <a:spcPct val="150000"/>
              </a:lnSpc>
              <a:spcAft>
                <a:spcPts val="0"/>
              </a:spcAft>
              <a:buFont typeface="Wingdings" panose="05000000000000000000" pitchFamily="2" charset="2"/>
              <a:buChar char=""/>
            </a:pPr>
            <a:r>
              <a:rPr lang="zh-CN" altLang="zh-CN" sz="2000" dirty="0">
                <a:solidFill>
                  <a:srgbClr val="1369B2"/>
                </a:solidFill>
                <a:latin typeface="微软雅黑" panose="020B0503020204020204" pitchFamily="34" charset="-122"/>
                <a:ea typeface="微软雅黑" panose="020B0503020204020204" pitchFamily="34" charset="-122"/>
                <a:cs typeface="+mn-ea"/>
              </a:rPr>
              <a:t>定位符“</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：用于匹配以</a:t>
            </a:r>
            <a:r>
              <a:rPr lang="zh-CN" altLang="zh-CN" sz="2000" dirty="0">
                <a:solidFill>
                  <a:srgbClr val="1369B2"/>
                </a:solidFill>
                <a:latin typeface="微软雅黑" panose="020B0503020204020204" pitchFamily="34" charset="-122"/>
                <a:ea typeface="微软雅黑" panose="020B0503020204020204" pitchFamily="34" charset="-122"/>
                <a:cs typeface="+mn-ea"/>
              </a:rPr>
              <a:t>指定内容结尾的字符串</a:t>
            </a:r>
            <a:r>
              <a:rPr lang="zh-CN" altLang="zh-CN" sz="2000" dirty="0">
                <a:solidFill>
                  <a:srgbClr val="595959"/>
                </a:solidFill>
                <a:latin typeface="微软雅黑" panose="020B0503020204020204" pitchFamily="34" charset="-122"/>
                <a:ea typeface="微软雅黑" panose="020B0503020204020204" pitchFamily="34" charset="-122"/>
                <a:cs typeface="+mn-ea"/>
              </a:rPr>
              <a:t>。例如，正则表达式</a:t>
            </a:r>
            <a:r>
              <a:rPr lang="en-US" altLang="zh-CN" sz="2000" dirty="0">
                <a:solidFill>
                  <a:srgbClr val="1369B2"/>
                </a:solidFill>
                <a:latin typeface="微软雅黑" panose="020B0503020204020204" pitchFamily="34" charset="-122"/>
                <a:ea typeface="微软雅黑" panose="020B0503020204020204" pitchFamily="34" charset="-122"/>
                <a:cs typeface="+mn-ea"/>
              </a:rPr>
              <a:t>/world$/</a:t>
            </a:r>
            <a:r>
              <a:rPr lang="zh-CN" altLang="zh-CN" sz="2000" dirty="0">
                <a:solidFill>
                  <a:srgbClr val="595959"/>
                </a:solidFill>
                <a:latin typeface="微软雅黑" panose="020B0503020204020204" pitchFamily="34" charset="-122"/>
                <a:ea typeface="微软雅黑" panose="020B0503020204020204" pitchFamily="34" charset="-122"/>
                <a:cs typeface="+mn-ea"/>
              </a:rPr>
              <a:t>可以匹配以</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world</a:t>
            </a:r>
            <a:r>
              <a:rPr lang="zh-CN" altLang="zh-CN" sz="2000" dirty="0">
                <a:solidFill>
                  <a:srgbClr val="1369B2"/>
                </a:solidFill>
                <a:latin typeface="微软雅黑" panose="020B0503020204020204" pitchFamily="34" charset="-122"/>
                <a:ea typeface="微软雅黑" panose="020B0503020204020204" pitchFamily="34" charset="-122"/>
                <a:cs typeface="+mn-ea"/>
              </a:rPr>
              <a:t>”结尾</a:t>
            </a:r>
            <a:r>
              <a:rPr lang="zh-CN" altLang="zh-CN" sz="2000" dirty="0">
                <a:solidFill>
                  <a:srgbClr val="595959"/>
                </a:solidFill>
                <a:latin typeface="微软雅黑" panose="020B0503020204020204" pitchFamily="34" charset="-122"/>
                <a:ea typeface="微软雅黑" panose="020B0503020204020204" pitchFamily="34" charset="-122"/>
                <a:cs typeface="+mn-ea"/>
              </a:rPr>
              <a:t>的字符串</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362791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592096" y="1607165"/>
            <a:ext cx="3715858" cy="4006159"/>
          </a:xfrm>
          <a:prstGeom prst="rect">
            <a:avLst/>
          </a:prstGeom>
        </p:spPr>
      </p:pic>
      <p:sp>
        <p:nvSpPr>
          <p:cNvPr id="9" name="Shape 2015"/>
          <p:cNvSpPr/>
          <p:nvPr/>
        </p:nvSpPr>
        <p:spPr>
          <a:xfrm>
            <a:off x="4583038" y="2133649"/>
            <a:ext cx="6480720" cy="172819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nvSpPr>
        <p:spPr>
          <a:xfrm>
            <a:off x="4736055" y="2489913"/>
            <a:ext cx="6174686" cy="1015663"/>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当</a:t>
            </a:r>
            <a:r>
              <a:rPr lang="zh-CN" altLang="zh-CN" sz="2000" dirty="0">
                <a:solidFill>
                  <a:srgbClr val="595959"/>
                </a:solidFill>
                <a:latin typeface="微软雅黑" panose="020B0503020204020204" pitchFamily="34" charset="-122"/>
                <a:ea typeface="微软雅黑" panose="020B0503020204020204" pitchFamily="34" charset="-122"/>
                <a:cs typeface="+mn-ea"/>
              </a:rPr>
              <a:t>同时使用定位符</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时，表示匹配以</a:t>
            </a:r>
            <a:r>
              <a:rPr lang="zh-CN" altLang="zh-CN" sz="2000" dirty="0">
                <a:solidFill>
                  <a:srgbClr val="1369B2"/>
                </a:solidFill>
                <a:latin typeface="微软雅黑" panose="020B0503020204020204" pitchFamily="34" charset="-122"/>
                <a:ea typeface="微软雅黑" panose="020B0503020204020204" pitchFamily="34" charset="-122"/>
                <a:cs typeface="+mn-ea"/>
              </a:rPr>
              <a:t>指定内容开头</a:t>
            </a:r>
            <a:r>
              <a:rPr lang="zh-CN" altLang="zh-CN" sz="2000" dirty="0">
                <a:solidFill>
                  <a:srgbClr val="595959"/>
                </a:solidFill>
                <a:latin typeface="微软雅黑" panose="020B0503020204020204" pitchFamily="34" charset="-122"/>
                <a:ea typeface="微软雅黑" panose="020B0503020204020204" pitchFamily="34" charset="-122"/>
                <a:cs typeface="+mn-ea"/>
              </a:rPr>
              <a:t>并且</a:t>
            </a:r>
            <a:r>
              <a:rPr lang="zh-CN" altLang="zh-CN" sz="2000" dirty="0">
                <a:solidFill>
                  <a:srgbClr val="1369B2"/>
                </a:solidFill>
                <a:latin typeface="微软雅黑" panose="020B0503020204020204" pitchFamily="34" charset="-122"/>
                <a:ea typeface="微软雅黑" panose="020B0503020204020204" pitchFamily="34" charset="-122"/>
                <a:cs typeface="+mn-ea"/>
              </a:rPr>
              <a:t>以指定内容结尾</a:t>
            </a:r>
            <a:r>
              <a:rPr lang="zh-CN" altLang="zh-CN" sz="2000" dirty="0">
                <a:solidFill>
                  <a:srgbClr val="595959"/>
                </a:solidFill>
                <a:latin typeface="微软雅黑" panose="020B0503020204020204" pitchFamily="34" charset="-122"/>
                <a:ea typeface="微软雅黑" panose="020B0503020204020204" pitchFamily="34" charset="-122"/>
                <a:cs typeface="+mn-ea"/>
              </a:rPr>
              <a:t>的字符串</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定位符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3147470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17351" y="1341578"/>
            <a:ext cx="10018415" cy="553998"/>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通过代码演示</a:t>
            </a:r>
            <a:r>
              <a:rPr lang="zh-CN" altLang="zh-CN" sz="2000" dirty="0">
                <a:solidFill>
                  <a:srgbClr val="1369B2"/>
                </a:solidFill>
                <a:latin typeface="微软雅黑" panose="020B0503020204020204" pitchFamily="34" charset="-122"/>
                <a:ea typeface="微软雅黑" panose="020B0503020204020204" pitchFamily="34" charset="-122"/>
              </a:rPr>
              <a:t>使用定位符“</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”匹配</a:t>
            </a:r>
            <a:r>
              <a:rPr lang="zh-CN" altLang="zh-CN" sz="2000" dirty="0" smtClean="0">
                <a:solidFill>
                  <a:srgbClr val="1369B2"/>
                </a:solidFill>
                <a:latin typeface="微软雅黑" panose="020B0503020204020204" pitchFamily="34" charset="-122"/>
                <a:ea typeface="微软雅黑" panose="020B0503020204020204" pitchFamily="34" charset="-122"/>
              </a:rPr>
              <a:t>字符串</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2BD7E020-D0A4-47DE-BE0C-F3967B274E91}"/>
              </a:ext>
            </a:extLst>
          </p:cNvPr>
          <p:cNvSpPr txBox="1"/>
          <p:nvPr/>
        </p:nvSpPr>
        <p:spPr>
          <a:xfrm>
            <a:off x="1626058" y="2205658"/>
            <a:ext cx="9001000" cy="286232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reg1 = /^a/;</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reg2 = /e$/;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console.log(reg1.test('apricot'));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true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console.log(reg2.test('orange'));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true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console.log(/^Happy day$/.test('Happy day'));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true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console.log(/^Sad day$/.test('Happy day'));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smtClean="0">
                <a:solidFill>
                  <a:srgbClr val="595959"/>
                </a:solidFill>
                <a:latin typeface="微软雅黑" panose="020B0503020204020204" pitchFamily="34" charset="-122"/>
                <a:ea typeface="微软雅黑" panose="020B0503020204020204" pitchFamily="34" charset="-122"/>
                <a:cs typeface="+mn-ea"/>
              </a:rPr>
              <a:t>false</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定位符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6855396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正则表达式中</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字符类</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使用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灵活应用常用的</a:t>
            </a:r>
            <a:r>
              <a:rPr lang="zh-CN" altLang="en-US" sz="2000" dirty="0">
                <a:solidFill>
                  <a:srgbClr val="1369B2"/>
                </a:solidFill>
                <a:latin typeface="微软雅黑" panose="020B0503020204020204" pitchFamily="34" charset="-122"/>
                <a:ea typeface="微软雅黑" panose="020B0503020204020204" pitchFamily="34" charset="-122"/>
                <a:cs typeface="+mn-ea"/>
              </a:rPr>
              <a:t>字符范围</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字符类</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854802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a:xfrm>
            <a:off x="4899447" y="1985403"/>
            <a:ext cx="6092303" cy="2236479"/>
            <a:chOff x="4899446" y="1985402"/>
            <a:chExt cx="6740375" cy="3417567"/>
          </a:xfrm>
        </p:grpSpPr>
        <p:sp>
          <p:nvSpPr>
            <p:cNvPr id="24"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5" name="矩形 5">
              <a:extLst>
                <a:ext uri="{FF2B5EF4-FFF2-40B4-BE49-F238E27FC236}">
                  <a16:creationId xmlns:a16="http://schemas.microsoft.com/office/drawing/2014/main" id="{8C22BF7A-4BC1-4144-9B36-68D1715B1173}"/>
                </a:ext>
              </a:extLst>
            </p:cNvPr>
            <p:cNvSpPr>
              <a:spLocks noChangeArrowheads="1"/>
            </p:cNvSpPr>
            <p:nvPr/>
          </p:nvSpPr>
          <p:spPr bwMode="auto">
            <a:xfrm>
              <a:off x="5353599" y="2233126"/>
              <a:ext cx="5967551" cy="2949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smtClean="0">
                  <a:solidFill>
                    <a:srgbClr val="1369B2"/>
                  </a:solidFill>
                  <a:latin typeface="微软雅黑" panose="020B0503020204020204" pitchFamily="34" charset="-122"/>
                  <a:ea typeface="微软雅黑" panose="020B0503020204020204" pitchFamily="34" charset="-122"/>
                </a:rPr>
                <a:t>字符</a:t>
              </a:r>
              <a:r>
                <a:rPr lang="zh-CN" altLang="zh-CN" sz="2000">
                  <a:solidFill>
                    <a:srgbClr val="1369B2"/>
                  </a:solidFill>
                  <a:latin typeface="微软雅黑" panose="020B0503020204020204" pitchFamily="34" charset="-122"/>
                  <a:ea typeface="微软雅黑" panose="020B0503020204020204" pitchFamily="34" charset="-122"/>
                </a:rPr>
                <a:t>类</a:t>
              </a:r>
              <a:r>
                <a:rPr lang="zh-CN" altLang="zh-CN" sz="2000">
                  <a:solidFill>
                    <a:srgbClr val="595959"/>
                  </a:solidFill>
                  <a:latin typeface="微软雅黑" panose="020B0503020204020204" pitchFamily="34" charset="-122"/>
                  <a:ea typeface="微软雅黑" panose="020B0503020204020204" pitchFamily="34" charset="-122"/>
                </a:rPr>
                <a:t>是一个</a:t>
              </a:r>
              <a:r>
                <a:rPr lang="zh-CN" altLang="zh-CN" sz="2000">
                  <a:solidFill>
                    <a:srgbClr val="1369B2"/>
                  </a:solidFill>
                  <a:latin typeface="微软雅黑" panose="020B0503020204020204" pitchFamily="34" charset="-122"/>
                  <a:ea typeface="微软雅黑" panose="020B0503020204020204" pitchFamily="34" charset="-122"/>
                </a:rPr>
                <a:t>字符集合</a:t>
              </a:r>
              <a:r>
                <a:rPr lang="zh-CN" altLang="zh-CN" sz="2000">
                  <a:solidFill>
                    <a:srgbClr val="595959"/>
                  </a:solidFill>
                  <a:latin typeface="微软雅黑" panose="020B0503020204020204" pitchFamily="34" charset="-122"/>
                  <a:ea typeface="微软雅黑" panose="020B0503020204020204" pitchFamily="34" charset="-122"/>
                </a:rPr>
                <a:t>，在实际开发中，有时需要匹配特定范围内的字符，例如，匹配</a:t>
              </a:r>
              <a:r>
                <a:rPr lang="en-US" altLang="zh-CN" sz="2000">
                  <a:solidFill>
                    <a:srgbClr val="1369B2"/>
                  </a:solidFill>
                  <a:latin typeface="微软雅黑" panose="020B0503020204020204" pitchFamily="34" charset="-122"/>
                  <a:ea typeface="微软雅黑" panose="020B0503020204020204" pitchFamily="34" charset="-122"/>
                </a:rPr>
                <a:t>a~z</a:t>
              </a:r>
              <a:r>
                <a:rPr lang="zh-CN" altLang="zh-CN" sz="2000">
                  <a:solidFill>
                    <a:srgbClr val="595959"/>
                  </a:solidFill>
                  <a:latin typeface="微软雅黑" panose="020B0503020204020204" pitchFamily="34" charset="-122"/>
                  <a:ea typeface="微软雅黑" panose="020B0503020204020204" pitchFamily="34" charset="-122"/>
                </a:rPr>
                <a:t>范围内的字符，可以使用中括号</a:t>
              </a:r>
              <a:r>
                <a:rPr lang="zh-CN" altLang="zh-CN"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实现范围匹配。</a:t>
              </a:r>
            </a:p>
          </p:txBody>
        </p:sp>
      </p:grpSp>
      <p:sp>
        <p:nvSpPr>
          <p:cNvPr id="7"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字符类</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088270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10630" y="1701602"/>
            <a:ext cx="10657184" cy="28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正则表达式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中的</a:t>
            </a:r>
            <a:r>
              <a:rPr lang="zh-CN" altLang="zh-CN" sz="2000" dirty="0">
                <a:solidFill>
                  <a:srgbClr val="1369B2"/>
                </a:solidFill>
                <a:latin typeface="微软雅黑" panose="020B0503020204020204" pitchFamily="34" charset="-122"/>
                <a:ea typeface="微软雅黑" panose="020B0503020204020204" pitchFamily="34" charset="-122"/>
                <a:cs typeface="+mn-ea"/>
              </a:rPr>
              <a:t>中括号“</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表示一个</a:t>
            </a:r>
            <a:r>
              <a:rPr lang="zh-CN" altLang="zh-CN" sz="2000" dirty="0">
                <a:solidFill>
                  <a:srgbClr val="1369B2"/>
                </a:solidFill>
                <a:latin typeface="微软雅黑" panose="020B0503020204020204" pitchFamily="34" charset="-122"/>
                <a:ea typeface="微软雅黑" panose="020B0503020204020204" pitchFamily="34" charset="-122"/>
                <a:cs typeface="+mn-ea"/>
              </a:rPr>
              <a:t>字符集合</a:t>
            </a:r>
            <a:r>
              <a:rPr lang="zh-CN" altLang="zh-CN" sz="2000" dirty="0">
                <a:solidFill>
                  <a:srgbClr val="595959"/>
                </a:solidFill>
                <a:latin typeface="微软雅黑" panose="020B0503020204020204" pitchFamily="34" charset="-122"/>
                <a:ea typeface="微软雅黑" panose="020B0503020204020204" pitchFamily="34" charset="-122"/>
                <a:cs typeface="+mn-ea"/>
              </a:rPr>
              <a:t>，只要待匹配的字符符合字符集合中的</a:t>
            </a:r>
            <a:r>
              <a:rPr lang="zh-CN" altLang="zh-CN" sz="2000" dirty="0">
                <a:solidFill>
                  <a:srgbClr val="1369B2"/>
                </a:solidFill>
                <a:latin typeface="微软雅黑" panose="020B0503020204020204" pitchFamily="34" charset="-122"/>
                <a:ea typeface="微软雅黑" panose="020B0503020204020204" pitchFamily="34" charset="-122"/>
                <a:cs typeface="+mn-ea"/>
              </a:rPr>
              <a:t>某一项</a:t>
            </a:r>
            <a:r>
              <a:rPr lang="zh-CN" altLang="zh-CN" sz="2000" dirty="0">
                <a:solidFill>
                  <a:srgbClr val="595959"/>
                </a:solidFill>
                <a:latin typeface="微软雅黑" panose="020B0503020204020204" pitchFamily="34" charset="-122"/>
                <a:ea typeface="微软雅黑" panose="020B0503020204020204" pitchFamily="34" charset="-122"/>
                <a:cs typeface="+mn-ea"/>
              </a:rPr>
              <a:t>，即表示</a:t>
            </a:r>
            <a:r>
              <a:rPr lang="zh-CN" altLang="zh-CN" sz="2000" dirty="0">
                <a:solidFill>
                  <a:srgbClr val="1369B2"/>
                </a:solidFill>
                <a:latin typeface="微软雅黑" panose="020B0503020204020204" pitchFamily="34" charset="-122"/>
                <a:ea typeface="微软雅黑" panose="020B0503020204020204" pitchFamily="34" charset="-122"/>
                <a:cs typeface="+mn-ea"/>
              </a:rPr>
              <a:t>匹配成功</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当</a:t>
            </a:r>
            <a:r>
              <a:rPr lang="zh-CN" altLang="zh-CN" sz="2000" dirty="0">
                <a:solidFill>
                  <a:srgbClr val="595959"/>
                </a:solidFill>
                <a:latin typeface="微软雅黑" panose="020B0503020204020204" pitchFamily="34" charset="-122"/>
                <a:ea typeface="微软雅黑" panose="020B0503020204020204" pitchFamily="34" charset="-122"/>
                <a:cs typeface="+mn-ea"/>
              </a:rPr>
              <a:t>需要匹配</a:t>
            </a:r>
            <a:r>
              <a:rPr lang="zh-CN" altLang="zh-CN" sz="2000" dirty="0">
                <a:solidFill>
                  <a:srgbClr val="1369B2"/>
                </a:solidFill>
                <a:latin typeface="微软雅黑" panose="020B0503020204020204" pitchFamily="34" charset="-122"/>
                <a:ea typeface="微软雅黑" panose="020B0503020204020204" pitchFamily="34" charset="-122"/>
                <a:cs typeface="+mn-ea"/>
              </a:rPr>
              <a:t>某个范围内的字符</a:t>
            </a:r>
            <a:r>
              <a:rPr lang="zh-CN" altLang="zh-CN" sz="2000" dirty="0">
                <a:solidFill>
                  <a:srgbClr val="595959"/>
                </a:solidFill>
                <a:latin typeface="微软雅黑" panose="020B0503020204020204" pitchFamily="34" charset="-122"/>
                <a:ea typeface="微软雅黑" panose="020B0503020204020204" pitchFamily="34" charset="-122"/>
                <a:cs typeface="+mn-ea"/>
              </a:rPr>
              <a:t>时，可以在正则表达式中使用中括号</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和连字符</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来表示</a:t>
            </a:r>
            <a:r>
              <a:rPr lang="zh-CN" altLang="zh-CN" sz="2000" dirty="0">
                <a:solidFill>
                  <a:srgbClr val="1369B2"/>
                </a:solidFill>
                <a:latin typeface="微软雅黑" panose="020B0503020204020204" pitchFamily="34" charset="-122"/>
                <a:ea typeface="微软雅黑" panose="020B0503020204020204" pitchFamily="34" charset="-122"/>
                <a:cs typeface="+mn-ea"/>
              </a:rPr>
              <a:t>范围</a:t>
            </a:r>
            <a:r>
              <a:rPr lang="zh-CN" altLang="zh-CN" sz="2000" dirty="0">
                <a:solidFill>
                  <a:srgbClr val="595959"/>
                </a:solidFill>
                <a:latin typeface="微软雅黑" panose="020B0503020204020204" pitchFamily="34" charset="-122"/>
                <a:ea typeface="微软雅黑" panose="020B0503020204020204" pitchFamily="34" charset="-122"/>
                <a:cs typeface="+mn-ea"/>
              </a:rPr>
              <a:t>；当需要匹配</a:t>
            </a:r>
            <a:r>
              <a:rPr lang="zh-CN" altLang="zh-CN" sz="2000" dirty="0">
                <a:solidFill>
                  <a:srgbClr val="1369B2"/>
                </a:solidFill>
                <a:latin typeface="微软雅黑" panose="020B0503020204020204" pitchFamily="34" charset="-122"/>
                <a:ea typeface="微软雅黑" panose="020B0503020204020204" pitchFamily="34" charset="-122"/>
                <a:cs typeface="+mn-ea"/>
              </a:rPr>
              <a:t>某个范围外的字符</a:t>
            </a:r>
            <a:r>
              <a:rPr lang="zh-CN" altLang="zh-CN" sz="2000" dirty="0">
                <a:solidFill>
                  <a:srgbClr val="595959"/>
                </a:solidFill>
                <a:latin typeface="微软雅黑" panose="020B0503020204020204" pitchFamily="34" charset="-122"/>
                <a:ea typeface="微软雅黑" panose="020B0503020204020204" pitchFamily="34" charset="-122"/>
                <a:cs typeface="+mn-ea"/>
              </a:rPr>
              <a:t>时，可以在</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的后面加上</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，此时“</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”不再表示定位符，而是</a:t>
            </a:r>
            <a:r>
              <a:rPr lang="zh-CN" altLang="zh-CN" sz="2000" dirty="0">
                <a:solidFill>
                  <a:srgbClr val="1369B2"/>
                </a:solidFill>
                <a:latin typeface="微软雅黑" panose="020B0503020204020204" pitchFamily="34" charset="-122"/>
                <a:ea typeface="微软雅黑" panose="020B0503020204020204" pitchFamily="34" charset="-122"/>
                <a:cs typeface="+mn-ea"/>
              </a:rPr>
              <a:t>反义符</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某个范围之外</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0"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字符类</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940238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630710" y="935400"/>
            <a:ext cx="3645637"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smtClean="0">
                <a:solidFill>
                  <a:srgbClr val="1369B2"/>
                </a:solidFill>
                <a:latin typeface="微软雅黑" panose="020B0503020204020204" pitchFamily="34" charset="-122"/>
                <a:ea typeface="微软雅黑" panose="020B0503020204020204" pitchFamily="34" charset="-122"/>
                <a:cs typeface="+mn-ea"/>
              </a:rPr>
              <a:t>常用</a:t>
            </a:r>
            <a:r>
              <a:rPr lang="zh-CN" altLang="zh-CN" sz="2000">
                <a:solidFill>
                  <a:srgbClr val="1369B2"/>
                </a:solidFill>
                <a:latin typeface="微软雅黑" panose="020B0503020204020204" pitchFamily="34" charset="-122"/>
                <a:ea typeface="微软雅黑" panose="020B0503020204020204" pitchFamily="34" charset="-122"/>
                <a:cs typeface="+mn-ea"/>
              </a:rPr>
              <a:t>的字符范围</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zh-CN" altLang="en-US" sz="2000">
                <a:solidFill>
                  <a:srgbClr val="595959"/>
                </a:solidFill>
                <a:latin typeface="微软雅黑" panose="020B0503020204020204" pitchFamily="34" charset="-122"/>
                <a:ea typeface="微软雅黑" panose="020B0503020204020204" pitchFamily="34" charset="-122"/>
                <a:cs typeface="+mn-ea"/>
              </a:rPr>
              <a:t>下表所示。</a:t>
            </a:r>
            <a:endParaRPr lang="en-US"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10"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字符类</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4" name="表格 3">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1789376501"/>
              </p:ext>
            </p:extLst>
          </p:nvPr>
        </p:nvGraphicFramePr>
        <p:xfrm>
          <a:off x="1774726" y="1557586"/>
          <a:ext cx="8568951" cy="3312366"/>
        </p:xfrm>
        <a:graphic>
          <a:graphicData uri="http://schemas.openxmlformats.org/drawingml/2006/table">
            <a:tbl>
              <a:tblPr>
                <a:tableStyleId>{7DF18680-E054-41AD-8BC1-D1AEF772440D}</a:tableStyleId>
              </a:tblPr>
              <a:tblGrid>
                <a:gridCol w="2059844">
                  <a:extLst>
                    <a:ext uri="{9D8B030D-6E8A-4147-A177-3AD203B41FA5}">
                      <a16:colId xmlns:a16="http://schemas.microsoft.com/office/drawing/2014/main" val="1170750699"/>
                    </a:ext>
                  </a:extLst>
                </a:gridCol>
                <a:gridCol w="6509107">
                  <a:extLst>
                    <a:ext uri="{9D8B030D-6E8A-4147-A177-3AD203B41FA5}">
                      <a16:colId xmlns:a16="http://schemas.microsoft.com/office/drawing/2014/main" val="2318622687"/>
                    </a:ext>
                  </a:extLst>
                </a:gridCol>
              </a:tblGrid>
              <a:tr h="552061">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示例</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说明</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10000"/>
                  </a:ext>
                </a:extLst>
              </a:tr>
              <a:tr h="552061">
                <a:tc>
                  <a:txBody>
                    <a:bodyPr/>
                    <a:lstStyle/>
                    <a:p>
                      <a:pPr algn="ctr">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[cat]</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a:t>
                      </a:r>
                      <a:r>
                        <a:rPr lang="en-US" sz="2000" kern="1200">
                          <a:solidFill>
                            <a:srgbClr val="595959"/>
                          </a:solidFill>
                          <a:latin typeface="微软雅黑" panose="020B0503020204020204" pitchFamily="34" charset="-122"/>
                          <a:ea typeface="微软雅黑" panose="020B0503020204020204" pitchFamily="34" charset="-122"/>
                          <a:cs typeface="+mn-ea"/>
                        </a:rPr>
                        <a:t>c</a:t>
                      </a:r>
                      <a:r>
                        <a:rPr lang="zh-CN" sz="2000" kern="1200">
                          <a:solidFill>
                            <a:srgbClr val="595959"/>
                          </a:solidFill>
                          <a:latin typeface="微软雅黑" panose="020B0503020204020204" pitchFamily="34" charset="-122"/>
                          <a:ea typeface="微软雅黑" panose="020B0503020204020204" pitchFamily="34" charset="-122"/>
                          <a:cs typeface="+mn-ea"/>
                        </a:rPr>
                        <a:t>、</a:t>
                      </a:r>
                      <a:r>
                        <a:rPr lang="en-US" sz="2000" kern="1200">
                          <a:solidFill>
                            <a:srgbClr val="595959"/>
                          </a:solidFill>
                          <a:latin typeface="微软雅黑" panose="020B0503020204020204" pitchFamily="34" charset="-122"/>
                          <a:ea typeface="微软雅黑" panose="020B0503020204020204" pitchFamily="34" charset="-122"/>
                          <a:cs typeface="+mn-ea"/>
                        </a:rPr>
                        <a:t>a</a:t>
                      </a:r>
                      <a:r>
                        <a:rPr lang="zh-CN" sz="2000" kern="1200">
                          <a:solidFill>
                            <a:srgbClr val="595959"/>
                          </a:solidFill>
                          <a:latin typeface="微软雅黑" panose="020B0503020204020204" pitchFamily="34" charset="-122"/>
                          <a:ea typeface="微软雅黑" panose="020B0503020204020204" pitchFamily="34" charset="-122"/>
                          <a:cs typeface="+mn-ea"/>
                        </a:rPr>
                        <a:t>、</a:t>
                      </a:r>
                      <a:r>
                        <a:rPr lang="en-US" sz="2000" kern="1200">
                          <a:solidFill>
                            <a:srgbClr val="595959"/>
                          </a:solidFill>
                          <a:latin typeface="微软雅黑" panose="020B0503020204020204" pitchFamily="34" charset="-122"/>
                          <a:ea typeface="微软雅黑" panose="020B0503020204020204" pitchFamily="34" charset="-122"/>
                          <a:cs typeface="+mn-ea"/>
                        </a:rPr>
                        <a:t>t</a:t>
                      </a:r>
                      <a:r>
                        <a:rPr lang="zh-CN" sz="2000" kern="1200">
                          <a:solidFill>
                            <a:srgbClr val="595959"/>
                          </a:solidFill>
                          <a:latin typeface="微软雅黑" panose="020B0503020204020204" pitchFamily="34" charset="-122"/>
                          <a:ea typeface="微软雅黑" panose="020B0503020204020204" pitchFamily="34" charset="-122"/>
                          <a:cs typeface="+mn-ea"/>
                        </a:rPr>
                        <a:t>中的任意一个字符</a:t>
                      </a:r>
                    </a:p>
                  </a:txBody>
                  <a:tcPr marL="68580" marR="68580" marT="0" marB="0" anchor="ctr">
                    <a:solidFill>
                      <a:srgbClr val="F2F2F2"/>
                    </a:solidFill>
                  </a:tcPr>
                </a:tc>
                <a:extLst>
                  <a:ext uri="{0D108BD9-81ED-4DB2-BD59-A6C34878D82A}">
                    <a16:rowId xmlns:a16="http://schemas.microsoft.com/office/drawing/2014/main" val="141778534"/>
                  </a:ext>
                </a:extLst>
              </a:tr>
              <a:tr h="552061">
                <a:tc>
                  <a:txBody>
                    <a:bodyPr/>
                    <a:lstStyle/>
                    <a:p>
                      <a:pPr algn="ctr">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[^cat]</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匹配除</a:t>
                      </a:r>
                      <a:r>
                        <a:rPr lang="en-US" sz="2000" kern="1200">
                          <a:solidFill>
                            <a:srgbClr val="595959"/>
                          </a:solidFill>
                          <a:latin typeface="微软雅黑" panose="020B0503020204020204" pitchFamily="34" charset="-122"/>
                          <a:ea typeface="微软雅黑" panose="020B0503020204020204" pitchFamily="34" charset="-122"/>
                          <a:cs typeface="+mn-ea"/>
                        </a:rPr>
                        <a:t>c</a:t>
                      </a:r>
                      <a:r>
                        <a:rPr lang="zh-CN" sz="2000" kern="1200">
                          <a:solidFill>
                            <a:srgbClr val="595959"/>
                          </a:solidFill>
                          <a:latin typeface="微软雅黑" panose="020B0503020204020204" pitchFamily="34" charset="-122"/>
                          <a:ea typeface="微软雅黑" panose="020B0503020204020204" pitchFamily="34" charset="-122"/>
                          <a:cs typeface="+mn-ea"/>
                        </a:rPr>
                        <a:t>、</a:t>
                      </a:r>
                      <a:r>
                        <a:rPr lang="en-US" sz="2000" kern="1200">
                          <a:solidFill>
                            <a:srgbClr val="595959"/>
                          </a:solidFill>
                          <a:latin typeface="微软雅黑" panose="020B0503020204020204" pitchFamily="34" charset="-122"/>
                          <a:ea typeface="微软雅黑" panose="020B0503020204020204" pitchFamily="34" charset="-122"/>
                          <a:cs typeface="+mn-ea"/>
                        </a:rPr>
                        <a:t>a</a:t>
                      </a:r>
                      <a:r>
                        <a:rPr lang="zh-CN" sz="2000" kern="1200">
                          <a:solidFill>
                            <a:srgbClr val="595959"/>
                          </a:solidFill>
                          <a:latin typeface="微软雅黑" panose="020B0503020204020204" pitchFamily="34" charset="-122"/>
                          <a:ea typeface="微软雅黑" panose="020B0503020204020204" pitchFamily="34" charset="-122"/>
                          <a:cs typeface="+mn-ea"/>
                        </a:rPr>
                        <a:t>、</a:t>
                      </a:r>
                      <a:r>
                        <a:rPr lang="en-US" sz="2000" kern="1200">
                          <a:solidFill>
                            <a:srgbClr val="595959"/>
                          </a:solidFill>
                          <a:latin typeface="微软雅黑" panose="020B0503020204020204" pitchFamily="34" charset="-122"/>
                          <a:ea typeface="微软雅黑" panose="020B0503020204020204" pitchFamily="34" charset="-122"/>
                          <a:cs typeface="+mn-ea"/>
                        </a:rPr>
                        <a:t>t</a:t>
                      </a:r>
                      <a:r>
                        <a:rPr lang="zh-CN" sz="2000" kern="1200">
                          <a:solidFill>
                            <a:srgbClr val="595959"/>
                          </a:solidFill>
                          <a:latin typeface="微软雅黑" panose="020B0503020204020204" pitchFamily="34" charset="-122"/>
                          <a:ea typeface="微软雅黑" panose="020B0503020204020204" pitchFamily="34" charset="-122"/>
                          <a:cs typeface="+mn-ea"/>
                        </a:rPr>
                        <a:t>以外的字符</a:t>
                      </a:r>
                    </a:p>
                  </a:txBody>
                  <a:tcPr marL="68580" marR="68580" marT="0" marB="0" anchor="ctr">
                    <a:solidFill>
                      <a:srgbClr val="F2F2F2"/>
                    </a:solidFill>
                  </a:tcPr>
                </a:tc>
                <a:extLst>
                  <a:ext uri="{0D108BD9-81ED-4DB2-BD59-A6C34878D82A}">
                    <a16:rowId xmlns:a16="http://schemas.microsoft.com/office/drawing/2014/main" val="1351245817"/>
                  </a:ext>
                </a:extLst>
              </a:tr>
              <a:tr h="552061">
                <a:tc>
                  <a:txBody>
                    <a:bodyPr/>
                    <a:lstStyle/>
                    <a:p>
                      <a:pPr algn="ctr">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[A-Z]</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a:t>
                      </a:r>
                      <a:r>
                        <a:rPr lang="en-US" sz="2000" kern="1200">
                          <a:solidFill>
                            <a:srgbClr val="595959"/>
                          </a:solidFill>
                          <a:latin typeface="微软雅黑" panose="020B0503020204020204" pitchFamily="34" charset="-122"/>
                          <a:ea typeface="微软雅黑" panose="020B0503020204020204" pitchFamily="34" charset="-122"/>
                          <a:cs typeface="+mn-ea"/>
                        </a:rPr>
                        <a:t>A~Z</a:t>
                      </a:r>
                      <a:r>
                        <a:rPr lang="zh-CN" sz="2000" kern="1200">
                          <a:solidFill>
                            <a:srgbClr val="595959"/>
                          </a:solidFill>
                          <a:latin typeface="微软雅黑" panose="020B0503020204020204" pitchFamily="34" charset="-122"/>
                          <a:ea typeface="微软雅黑" panose="020B0503020204020204" pitchFamily="34" charset="-122"/>
                          <a:cs typeface="+mn-ea"/>
                        </a:rPr>
                        <a:t>范围内的字符</a:t>
                      </a:r>
                    </a:p>
                  </a:txBody>
                  <a:tcPr marL="68580" marR="68580" marT="0" marB="0" anchor="ctr">
                    <a:solidFill>
                      <a:srgbClr val="F2F2F2"/>
                    </a:solidFill>
                  </a:tcPr>
                </a:tc>
                <a:extLst>
                  <a:ext uri="{0D108BD9-81ED-4DB2-BD59-A6C34878D82A}">
                    <a16:rowId xmlns:a16="http://schemas.microsoft.com/office/drawing/2014/main" val="3260076697"/>
                  </a:ext>
                </a:extLst>
              </a:tr>
              <a:tr h="552061">
                <a:tc>
                  <a:txBody>
                    <a:bodyPr/>
                    <a:lstStyle/>
                    <a:p>
                      <a:pPr algn="ctr">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[a-z]</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a:t>
                      </a:r>
                      <a:r>
                        <a:rPr lang="en-US" sz="2000" kern="1200" dirty="0" err="1">
                          <a:solidFill>
                            <a:srgbClr val="595959"/>
                          </a:solidFill>
                          <a:latin typeface="微软雅黑" panose="020B0503020204020204" pitchFamily="34" charset="-122"/>
                          <a:ea typeface="微软雅黑" panose="020B0503020204020204" pitchFamily="34" charset="-122"/>
                          <a:cs typeface="+mn-ea"/>
                        </a:rPr>
                        <a:t>a~z</a:t>
                      </a:r>
                      <a:r>
                        <a:rPr lang="zh-CN" sz="2000" kern="1200" dirty="0">
                          <a:solidFill>
                            <a:srgbClr val="595959"/>
                          </a:solidFill>
                          <a:latin typeface="微软雅黑" panose="020B0503020204020204" pitchFamily="34" charset="-122"/>
                          <a:ea typeface="微软雅黑" panose="020B0503020204020204" pitchFamily="34" charset="-122"/>
                          <a:cs typeface="+mn-ea"/>
                        </a:rPr>
                        <a:t>范围内的字符</a:t>
                      </a:r>
                    </a:p>
                  </a:txBody>
                  <a:tcPr marL="68580" marR="68580" marT="0" marB="0" anchor="ctr">
                    <a:solidFill>
                      <a:srgbClr val="F2F2F2"/>
                    </a:solidFill>
                  </a:tcPr>
                </a:tc>
                <a:extLst>
                  <a:ext uri="{0D108BD9-81ED-4DB2-BD59-A6C34878D82A}">
                    <a16:rowId xmlns:a16="http://schemas.microsoft.com/office/drawing/2014/main" val="67477245"/>
                  </a:ext>
                </a:extLst>
              </a:tr>
              <a:tr h="552061">
                <a:tc>
                  <a:txBody>
                    <a:bodyPr/>
                    <a:lstStyle/>
                    <a:p>
                      <a:pPr algn="ctr">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[a-zA-Z0-9]</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a:t>
                      </a:r>
                      <a:r>
                        <a:rPr lang="en-US" sz="2000" kern="1200" dirty="0" err="1">
                          <a:solidFill>
                            <a:srgbClr val="595959"/>
                          </a:solidFill>
                          <a:latin typeface="微软雅黑" panose="020B0503020204020204" pitchFamily="34" charset="-122"/>
                          <a:ea typeface="微软雅黑" panose="020B0503020204020204" pitchFamily="34" charset="-122"/>
                          <a:cs typeface="+mn-ea"/>
                        </a:rPr>
                        <a:t>a~z</a:t>
                      </a:r>
                      <a:r>
                        <a:rPr lang="zh-CN" sz="2000" kern="1200" dirty="0">
                          <a:solidFill>
                            <a:srgbClr val="595959"/>
                          </a:solidFill>
                          <a:latin typeface="微软雅黑" panose="020B0503020204020204" pitchFamily="34" charset="-122"/>
                          <a:ea typeface="微软雅黑" panose="020B0503020204020204" pitchFamily="34" charset="-122"/>
                          <a:cs typeface="+mn-ea"/>
                        </a:rPr>
                        <a:t>、</a:t>
                      </a:r>
                      <a:r>
                        <a:rPr lang="en-US" sz="2000" kern="1200" dirty="0">
                          <a:solidFill>
                            <a:srgbClr val="595959"/>
                          </a:solidFill>
                          <a:latin typeface="微软雅黑" panose="020B0503020204020204" pitchFamily="34" charset="-122"/>
                          <a:ea typeface="微软雅黑" panose="020B0503020204020204" pitchFamily="34" charset="-122"/>
                          <a:cs typeface="+mn-ea"/>
                        </a:rPr>
                        <a:t>A~Z</a:t>
                      </a:r>
                      <a:r>
                        <a:rPr lang="zh-CN" sz="2000" kern="1200" dirty="0">
                          <a:solidFill>
                            <a:srgbClr val="595959"/>
                          </a:solidFill>
                          <a:latin typeface="微软雅黑" panose="020B0503020204020204" pitchFamily="34" charset="-122"/>
                          <a:ea typeface="微软雅黑" panose="020B0503020204020204" pitchFamily="34" charset="-122"/>
                          <a:cs typeface="+mn-ea"/>
                        </a:rPr>
                        <a:t>和</a:t>
                      </a:r>
                      <a:r>
                        <a:rPr lang="en-US" sz="2000" kern="1200" dirty="0">
                          <a:solidFill>
                            <a:srgbClr val="595959"/>
                          </a:solidFill>
                          <a:latin typeface="微软雅黑" panose="020B0503020204020204" pitchFamily="34" charset="-122"/>
                          <a:ea typeface="微软雅黑" panose="020B0503020204020204" pitchFamily="34" charset="-122"/>
                          <a:cs typeface="+mn-ea"/>
                        </a:rPr>
                        <a:t>0~9</a:t>
                      </a:r>
                      <a:r>
                        <a:rPr lang="zh-CN" sz="2000" kern="1200" dirty="0">
                          <a:solidFill>
                            <a:srgbClr val="595959"/>
                          </a:solidFill>
                          <a:latin typeface="微软雅黑" panose="020B0503020204020204" pitchFamily="34" charset="-122"/>
                          <a:ea typeface="微软雅黑" panose="020B0503020204020204" pitchFamily="34" charset="-122"/>
                          <a:cs typeface="+mn-ea"/>
                        </a:rPr>
                        <a:t>范围内的字符</a:t>
                      </a:r>
                    </a:p>
                  </a:txBody>
                  <a:tcPr marL="68580" marR="68580" marT="0" marB="0" anchor="ctr">
                    <a:solidFill>
                      <a:srgbClr val="F2F2F2"/>
                    </a:solidFill>
                  </a:tcPr>
                </a:tc>
                <a:extLst>
                  <a:ext uri="{0D108BD9-81ED-4DB2-BD59-A6C34878D82A}">
                    <a16:rowId xmlns:a16="http://schemas.microsoft.com/office/drawing/2014/main" val="667423117"/>
                  </a:ext>
                </a:extLst>
              </a:tr>
            </a:tbl>
          </a:graphicData>
        </a:graphic>
      </p:graphicFrame>
      <p:sp>
        <p:nvSpPr>
          <p:cNvPr id="5" name="矩形: 圆角 38">
            <a:extLst>
              <a:ext uri="{FF2B5EF4-FFF2-40B4-BE49-F238E27FC236}">
                <a16:creationId xmlns:a16="http://schemas.microsoft.com/office/drawing/2014/main" id="{67C83A7C-7D6F-4BDB-B121-E0F3184AF92D}"/>
              </a:ext>
            </a:extLst>
          </p:cNvPr>
          <p:cNvSpPr/>
          <p:nvPr/>
        </p:nvSpPr>
        <p:spPr>
          <a:xfrm>
            <a:off x="1270670" y="5220249"/>
            <a:ext cx="9505056" cy="13778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95959"/>
              </a:solidFill>
            </a:endParaRPr>
          </a:p>
        </p:txBody>
      </p:sp>
      <p:sp>
        <p:nvSpPr>
          <p:cNvPr id="6" name="流程图: 资料带 5">
            <a:extLst>
              <a:ext uri="{FF2B5EF4-FFF2-40B4-BE49-F238E27FC236}">
                <a16:creationId xmlns:a16="http://schemas.microsoft.com/office/drawing/2014/main" id="{4D24D15E-ACFA-45A5-A041-FD3CA10573ED}"/>
              </a:ext>
            </a:extLst>
          </p:cNvPr>
          <p:cNvSpPr/>
          <p:nvPr/>
        </p:nvSpPr>
        <p:spPr>
          <a:xfrm>
            <a:off x="1071681" y="5013970"/>
            <a:ext cx="775053" cy="504056"/>
          </a:xfrm>
          <a:prstGeom prst="flowChartPunchedTape">
            <a:avLst/>
          </a:prstGeom>
          <a:solidFill>
            <a:srgbClr val="1369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latin typeface="微软雅黑" panose="020B0503020204020204" pitchFamily="34" charset="-122"/>
                <a:ea typeface="微软雅黑" panose="020B0503020204020204" pitchFamily="34" charset="-122"/>
              </a:rPr>
              <a:t>注意</a:t>
            </a:r>
            <a:endParaRPr lang="zh-CN" altLang="en-US" sz="2000" dirty="0">
              <a:latin typeface="微软雅黑" panose="020B0503020204020204" pitchFamily="34" charset="-122"/>
              <a:ea typeface="微软雅黑" panose="020B0503020204020204" pitchFamily="34" charset="-122"/>
            </a:endParaRPr>
          </a:p>
        </p:txBody>
      </p:sp>
      <p:sp>
        <p:nvSpPr>
          <p:cNvPr id="7" name="矩形 6"/>
          <p:cNvSpPr/>
          <p:nvPr/>
        </p:nvSpPr>
        <p:spPr>
          <a:xfrm>
            <a:off x="1774726" y="5220248"/>
            <a:ext cx="8928990" cy="1422954"/>
          </a:xfrm>
          <a:prstGeom prst="rect">
            <a:avLst/>
          </a:prstGeom>
        </p:spPr>
        <p:txBody>
          <a:bodyPr wrap="square">
            <a:spAutoFit/>
          </a:bodyPr>
          <a:lstStyle/>
          <a:p>
            <a:pPr>
              <a:lnSpc>
                <a:spcPct val="150000"/>
              </a:lnSpc>
            </a:pPr>
            <a:r>
              <a:rPr lang="zh-CN" altLang="zh-CN" sz="2000" dirty="0" smtClean="0">
                <a:solidFill>
                  <a:srgbClr val="FF0000"/>
                </a:solidFill>
                <a:latin typeface="微软雅黑" panose="020B0503020204020204" pitchFamily="34" charset="-122"/>
                <a:ea typeface="微软雅黑" panose="020B0503020204020204" pitchFamily="34" charset="-122"/>
                <a:cs typeface="+mn-ea"/>
              </a:rPr>
              <a:t>连</a:t>
            </a:r>
            <a:r>
              <a:rPr lang="zh-CN" altLang="zh-CN" sz="2000" dirty="0">
                <a:solidFill>
                  <a:srgbClr val="FF0000"/>
                </a:solidFill>
                <a:latin typeface="微软雅黑" panose="020B0503020204020204" pitchFamily="34" charset="-122"/>
                <a:ea typeface="微软雅黑" panose="020B0503020204020204" pitchFamily="34" charset="-122"/>
                <a:cs typeface="+mn-ea"/>
              </a:rPr>
              <a:t>字符“</a:t>
            </a:r>
            <a:r>
              <a:rPr lang="en-US" altLang="zh-CN" sz="2000" dirty="0">
                <a:solidFill>
                  <a:srgbClr val="FF0000"/>
                </a:solidFill>
                <a:latin typeface="微软雅黑" panose="020B0503020204020204" pitchFamily="34" charset="-122"/>
                <a:ea typeface="微软雅黑" panose="020B0503020204020204" pitchFamily="34" charset="-122"/>
                <a:cs typeface="+mn-ea"/>
              </a:rPr>
              <a:t>-</a:t>
            </a:r>
            <a:r>
              <a:rPr lang="zh-CN" altLang="zh-CN" sz="2000" dirty="0">
                <a:solidFill>
                  <a:srgbClr val="FF0000"/>
                </a:solidFill>
                <a:latin typeface="微软雅黑" panose="020B0503020204020204" pitchFamily="34" charset="-122"/>
                <a:ea typeface="微软雅黑" panose="020B0503020204020204" pitchFamily="34" charset="-122"/>
                <a:cs typeface="+mn-ea"/>
              </a:rPr>
              <a:t>”只有在表示字符范围时才作为元字符来使用，其他情况下只表示一个本文字符。连字符“</a:t>
            </a:r>
            <a:r>
              <a:rPr lang="en-US" altLang="zh-CN" sz="2000" dirty="0">
                <a:solidFill>
                  <a:srgbClr val="FF0000"/>
                </a:solidFill>
                <a:latin typeface="微软雅黑" panose="020B0503020204020204" pitchFamily="34" charset="-122"/>
                <a:ea typeface="微软雅黑" panose="020B0503020204020204" pitchFamily="34" charset="-122"/>
                <a:cs typeface="+mn-ea"/>
              </a:rPr>
              <a:t>-</a:t>
            </a:r>
            <a:r>
              <a:rPr lang="zh-CN" altLang="zh-CN" sz="2000" dirty="0">
                <a:solidFill>
                  <a:srgbClr val="FF0000"/>
                </a:solidFill>
                <a:latin typeface="微软雅黑" panose="020B0503020204020204" pitchFamily="34" charset="-122"/>
                <a:ea typeface="微软雅黑" panose="020B0503020204020204" pitchFamily="34" charset="-122"/>
                <a:cs typeface="+mn-ea"/>
              </a:rPr>
              <a:t>”表示的范围遵循字符编码的顺序，如“</a:t>
            </a:r>
            <a:r>
              <a:rPr lang="en-US" altLang="zh-CN" sz="2000" dirty="0">
                <a:solidFill>
                  <a:srgbClr val="FF0000"/>
                </a:solidFill>
                <a:latin typeface="微软雅黑" panose="020B0503020204020204" pitchFamily="34" charset="-122"/>
                <a:ea typeface="微软雅黑" panose="020B0503020204020204" pitchFamily="34" charset="-122"/>
                <a:cs typeface="+mn-ea"/>
              </a:rPr>
              <a:t>a-z</a:t>
            </a:r>
            <a:r>
              <a:rPr lang="zh-CN" altLang="zh-CN" sz="2000" dirty="0">
                <a:solidFill>
                  <a:srgbClr val="FF0000"/>
                </a:solidFill>
                <a:latin typeface="微软雅黑" panose="020B0503020204020204" pitchFamily="34" charset="-122"/>
                <a:ea typeface="微软雅黑" panose="020B0503020204020204" pitchFamily="34" charset="-122"/>
                <a:cs typeface="+mn-ea"/>
              </a:rPr>
              <a:t>”“</a:t>
            </a:r>
            <a:r>
              <a:rPr lang="en-US" altLang="zh-CN" sz="2000" dirty="0">
                <a:solidFill>
                  <a:srgbClr val="FF0000"/>
                </a:solidFill>
                <a:latin typeface="微软雅黑" panose="020B0503020204020204" pitchFamily="34" charset="-122"/>
                <a:ea typeface="微软雅黑" panose="020B0503020204020204" pitchFamily="34" charset="-122"/>
                <a:cs typeface="+mn-ea"/>
              </a:rPr>
              <a:t>A-Z</a:t>
            </a:r>
            <a:r>
              <a:rPr lang="zh-CN" altLang="zh-CN" sz="2000" dirty="0">
                <a:solidFill>
                  <a:srgbClr val="FF0000"/>
                </a:solidFill>
                <a:latin typeface="微软雅黑" panose="020B0503020204020204" pitchFamily="34" charset="-122"/>
                <a:ea typeface="微软雅黑" panose="020B0503020204020204" pitchFamily="34" charset="-122"/>
                <a:cs typeface="+mn-ea"/>
              </a:rPr>
              <a:t>”“</a:t>
            </a:r>
            <a:r>
              <a:rPr lang="en-US" altLang="zh-CN" sz="2000" dirty="0">
                <a:solidFill>
                  <a:srgbClr val="FF0000"/>
                </a:solidFill>
                <a:latin typeface="微软雅黑" panose="020B0503020204020204" pitchFamily="34" charset="-122"/>
                <a:ea typeface="微软雅黑" panose="020B0503020204020204" pitchFamily="34" charset="-122"/>
                <a:cs typeface="+mn-ea"/>
              </a:rPr>
              <a:t>0-9</a:t>
            </a:r>
            <a:r>
              <a:rPr lang="zh-CN" altLang="zh-CN" sz="2000" dirty="0">
                <a:solidFill>
                  <a:srgbClr val="FF0000"/>
                </a:solidFill>
                <a:latin typeface="微软雅黑" panose="020B0503020204020204" pitchFamily="34" charset="-122"/>
                <a:ea typeface="微软雅黑" panose="020B0503020204020204" pitchFamily="34" charset="-122"/>
                <a:cs typeface="+mn-ea"/>
              </a:rPr>
              <a:t>”是合法的范围，“</a:t>
            </a:r>
            <a:r>
              <a:rPr lang="en-US" altLang="zh-CN" sz="2000" dirty="0">
                <a:solidFill>
                  <a:srgbClr val="FF0000"/>
                </a:solidFill>
                <a:latin typeface="微软雅黑" panose="020B0503020204020204" pitchFamily="34" charset="-122"/>
                <a:ea typeface="微软雅黑" panose="020B0503020204020204" pitchFamily="34" charset="-122"/>
                <a:cs typeface="+mn-ea"/>
              </a:rPr>
              <a:t>a-Z</a:t>
            </a:r>
            <a:r>
              <a:rPr lang="zh-CN" altLang="zh-CN" sz="2000" dirty="0">
                <a:solidFill>
                  <a:srgbClr val="FF0000"/>
                </a:solidFill>
                <a:latin typeface="微软雅黑" panose="020B0503020204020204" pitchFamily="34" charset="-122"/>
                <a:ea typeface="微软雅黑" panose="020B0503020204020204" pitchFamily="34" charset="-122"/>
                <a:cs typeface="+mn-ea"/>
              </a:rPr>
              <a:t>”“</a:t>
            </a:r>
            <a:r>
              <a:rPr lang="en-US" altLang="zh-CN" sz="2000" dirty="0">
                <a:solidFill>
                  <a:srgbClr val="FF0000"/>
                </a:solidFill>
                <a:latin typeface="微软雅黑" panose="020B0503020204020204" pitchFamily="34" charset="-122"/>
                <a:ea typeface="微软雅黑" panose="020B0503020204020204" pitchFamily="34" charset="-122"/>
                <a:cs typeface="+mn-ea"/>
              </a:rPr>
              <a:t>z-a</a:t>
            </a:r>
            <a:r>
              <a:rPr lang="zh-CN" altLang="zh-CN" sz="2000" dirty="0">
                <a:solidFill>
                  <a:srgbClr val="FF0000"/>
                </a:solidFill>
                <a:latin typeface="微软雅黑" panose="020B0503020204020204" pitchFamily="34" charset="-122"/>
                <a:ea typeface="微软雅黑" panose="020B0503020204020204" pitchFamily="34" charset="-122"/>
                <a:cs typeface="+mn-ea"/>
              </a:rPr>
              <a:t>”“</a:t>
            </a:r>
            <a:r>
              <a:rPr lang="en-US" altLang="zh-CN" sz="2000" dirty="0">
                <a:solidFill>
                  <a:srgbClr val="FF0000"/>
                </a:solidFill>
                <a:latin typeface="微软雅黑" panose="020B0503020204020204" pitchFamily="34" charset="-122"/>
                <a:ea typeface="微软雅黑" panose="020B0503020204020204" pitchFamily="34" charset="-122"/>
                <a:cs typeface="+mn-ea"/>
              </a:rPr>
              <a:t>a-9</a:t>
            </a:r>
            <a:r>
              <a:rPr lang="zh-CN" altLang="zh-CN" sz="2000" dirty="0">
                <a:solidFill>
                  <a:srgbClr val="FF0000"/>
                </a:solidFill>
                <a:latin typeface="微软雅黑" panose="020B0503020204020204" pitchFamily="34" charset="-122"/>
                <a:ea typeface="微软雅黑" panose="020B0503020204020204" pitchFamily="34" charset="-122"/>
                <a:cs typeface="+mn-ea"/>
              </a:rPr>
              <a:t>”是不合法的范围。</a:t>
            </a:r>
          </a:p>
        </p:txBody>
      </p:sp>
    </p:spTree>
    <p:extLst>
      <p:ext uri="{BB962C8B-B14F-4D97-AF65-F5344CB8AC3E}">
        <p14:creationId xmlns:p14="http://schemas.microsoft.com/office/powerpoint/2010/main" val="39949972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54646" y="1773610"/>
            <a:ext cx="8784977" cy="499624"/>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通过代码演示</a:t>
            </a:r>
            <a:r>
              <a:rPr lang="zh-CN" altLang="zh-CN" sz="2000" dirty="0">
                <a:solidFill>
                  <a:srgbClr val="1369B2"/>
                </a:solidFill>
                <a:latin typeface="微软雅黑" panose="020B0503020204020204" pitchFamily="34" charset="-122"/>
                <a:ea typeface="微软雅黑" panose="020B0503020204020204" pitchFamily="34" charset="-122"/>
              </a:rPr>
              <a:t>常用的字符</a:t>
            </a:r>
            <a:r>
              <a:rPr lang="zh-CN" altLang="zh-CN" sz="2000" dirty="0" smtClean="0">
                <a:solidFill>
                  <a:srgbClr val="1369B2"/>
                </a:solidFill>
                <a:latin typeface="微软雅黑" panose="020B0503020204020204" pitchFamily="34" charset="-122"/>
                <a:ea typeface="微软雅黑" panose="020B0503020204020204" pitchFamily="34" charset="-122"/>
              </a:rPr>
              <a:t>范围</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2BD7E020-D0A4-47DE-BE0C-F3967B274E91}"/>
              </a:ext>
            </a:extLst>
          </p:cNvPr>
          <p:cNvSpPr txBox="1"/>
          <p:nvPr/>
        </p:nvSpPr>
        <p:spPr>
          <a:xfrm>
            <a:off x="1120298" y="2781722"/>
            <a:ext cx="9799443" cy="1477328"/>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'beautiful </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风景</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str.match</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abc</a:t>
            </a:r>
            <a:r>
              <a:rPr lang="en-US" altLang="zh-CN" sz="2000" dirty="0">
                <a:solidFill>
                  <a:srgbClr val="595959"/>
                </a:solidFill>
                <a:latin typeface="微软雅黑" panose="020B0503020204020204" pitchFamily="34" charset="-122"/>
                <a:ea typeface="微软雅黑" panose="020B0503020204020204" pitchFamily="34" charset="-122"/>
                <a:cs typeface="+mn-ea"/>
              </a:rPr>
              <a:t>]/g));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(2) ['b', 'a']</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str.match</a:t>
            </a:r>
            <a:r>
              <a:rPr lang="en-US" altLang="zh-CN" sz="2000" dirty="0">
                <a:solidFill>
                  <a:srgbClr val="595959"/>
                </a:solidFill>
                <a:latin typeface="微软雅黑" panose="020B0503020204020204" pitchFamily="34" charset="-122"/>
                <a:ea typeface="微软雅黑" panose="020B0503020204020204" pitchFamily="34" charset="-122"/>
                <a:cs typeface="+mn-ea"/>
              </a:rPr>
              <a:t>(/[^a-z]/g));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(4)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风</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en-US" sz="2000" dirty="0">
                <a:solidFill>
                  <a:srgbClr val="595959"/>
                </a:solidFill>
                <a:latin typeface="微软雅黑" panose="020B0503020204020204" pitchFamily="34" charset="-122"/>
                <a:ea typeface="微软雅黑" panose="020B0503020204020204" pitchFamily="34" charset="-122"/>
                <a:cs typeface="+mn-ea"/>
              </a:rPr>
              <a:t>景</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字符类</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9782259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正则表达式中</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反斜线</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使用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灵活应用常见的</a:t>
            </a:r>
            <a:r>
              <a:rPr lang="zh-CN" altLang="en-US" sz="2000" dirty="0">
                <a:solidFill>
                  <a:srgbClr val="1369B2"/>
                </a:solidFill>
                <a:latin typeface="微软雅黑" panose="020B0503020204020204" pitchFamily="34" charset="-122"/>
                <a:ea typeface="微软雅黑" panose="020B0503020204020204" pitchFamily="34" charset="-122"/>
                <a:cs typeface="+mn-ea"/>
              </a:rPr>
              <a:t>预定义符</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反斜线</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9281864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5">
            <a:extLst>
              <a:ext uri="{FF2B5EF4-FFF2-40B4-BE49-F238E27FC236}">
                <a16:creationId xmlns:a16="http://schemas.microsoft.com/office/drawing/2014/main" id="{8C22BF7A-4BC1-4144-9B36-68D1715B1173}"/>
              </a:ext>
            </a:extLst>
          </p:cNvPr>
          <p:cNvSpPr>
            <a:spLocks noChangeArrowheads="1"/>
          </p:cNvSpPr>
          <p:nvPr/>
        </p:nvSpPr>
        <p:spPr bwMode="auto">
          <a:xfrm>
            <a:off x="1143690" y="1773610"/>
            <a:ext cx="10424123"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当</a:t>
            </a:r>
            <a:r>
              <a:rPr lang="zh-CN" altLang="zh-CN" sz="2000">
                <a:solidFill>
                  <a:srgbClr val="595959"/>
                </a:solidFill>
                <a:latin typeface="微软雅黑" panose="020B0503020204020204" pitchFamily="34" charset="-122"/>
                <a:ea typeface="微软雅黑" panose="020B0503020204020204" pitchFamily="34" charset="-122"/>
              </a:rPr>
              <a:t>需要匹配的字符串中包含</a:t>
            </a:r>
            <a:r>
              <a:rPr lang="zh-CN" altLang="zh-CN" sz="2000">
                <a:solidFill>
                  <a:srgbClr val="1369B2"/>
                </a:solidFill>
                <a:latin typeface="微软雅黑" panose="020B0503020204020204" pitchFamily="34" charset="-122"/>
                <a:ea typeface="微软雅黑" panose="020B0503020204020204" pitchFamily="34" charset="-122"/>
              </a:rPr>
              <a:t>换行符</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制表符</a:t>
            </a:r>
            <a:r>
              <a:rPr lang="zh-CN" altLang="zh-CN" sz="2000">
                <a:solidFill>
                  <a:srgbClr val="595959"/>
                </a:solidFill>
                <a:latin typeface="微软雅黑" panose="020B0503020204020204" pitchFamily="34" charset="-122"/>
                <a:ea typeface="微软雅黑" panose="020B0503020204020204" pitchFamily="34" charset="-122"/>
              </a:rPr>
              <a:t>和</a:t>
            </a:r>
            <a:r>
              <a:rPr lang="zh-CN" altLang="zh-CN" sz="2000">
                <a:solidFill>
                  <a:srgbClr val="1369B2"/>
                </a:solidFill>
                <a:latin typeface="微软雅黑" panose="020B0503020204020204" pitchFamily="34" charset="-122"/>
                <a:ea typeface="微软雅黑" panose="020B0503020204020204" pitchFamily="34" charset="-122"/>
              </a:rPr>
              <a:t>元字符</a:t>
            </a:r>
            <a:r>
              <a:rPr lang="zh-CN" altLang="zh-CN" sz="2000">
                <a:solidFill>
                  <a:srgbClr val="595959"/>
                </a:solidFill>
                <a:latin typeface="微软雅黑" panose="020B0503020204020204" pitchFamily="34" charset="-122"/>
                <a:ea typeface="微软雅黑" panose="020B0503020204020204" pitchFamily="34" charset="-122"/>
              </a:rPr>
              <a:t>时，就需要用到反斜线</a:t>
            </a:r>
            <a:r>
              <a:rPr lang="zh-CN" altLang="zh-CN"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。在正则表达式中，不仅可以使用反斜线“</a:t>
            </a:r>
            <a:r>
              <a:rPr lang="en-US"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”加一些具有特定含义的字符来进行特定匹配，而且可以将元字符转换为</a:t>
            </a:r>
            <a:r>
              <a:rPr lang="zh-CN" altLang="zh-CN" sz="2000">
                <a:solidFill>
                  <a:srgbClr val="1369B2"/>
                </a:solidFill>
                <a:latin typeface="微软雅黑" panose="020B0503020204020204" pitchFamily="34" charset="-122"/>
                <a:ea typeface="微软雅黑" panose="020B0503020204020204" pitchFamily="34" charset="-122"/>
              </a:rPr>
              <a:t>文本字符</a:t>
            </a:r>
            <a:r>
              <a:rPr lang="zh-CN" altLang="zh-CN" sz="2000" smtClean="0">
                <a:solidFill>
                  <a:srgbClr val="595959"/>
                </a:solidFill>
                <a:latin typeface="微软雅黑" panose="020B0503020204020204" pitchFamily="34" charset="-122"/>
                <a:ea typeface="微软雅黑" panose="020B0503020204020204" pitchFamily="34" charset="-122"/>
              </a:rPr>
              <a:t>。</a:t>
            </a:r>
            <a:endParaRPr lang="en-US" altLang="zh-CN" sz="2000" smtClean="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使用</a:t>
            </a:r>
            <a:r>
              <a:rPr lang="zh-CN" altLang="zh-CN" sz="2000">
                <a:solidFill>
                  <a:srgbClr val="595959"/>
                </a:solidFill>
                <a:latin typeface="微软雅黑" panose="020B0503020204020204" pitchFamily="34" charset="-122"/>
                <a:ea typeface="微软雅黑" panose="020B0503020204020204" pitchFamily="34" charset="-122"/>
              </a:rPr>
              <a:t>反斜线“</a:t>
            </a:r>
            <a:r>
              <a:rPr lang="en-US"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”进行</a:t>
            </a:r>
            <a:r>
              <a:rPr lang="zh-CN" altLang="zh-CN" sz="2000">
                <a:solidFill>
                  <a:srgbClr val="1369B2"/>
                </a:solidFill>
                <a:latin typeface="微软雅黑" panose="020B0503020204020204" pitchFamily="34" charset="-122"/>
                <a:ea typeface="微软雅黑" panose="020B0503020204020204" pitchFamily="34" charset="-122"/>
              </a:rPr>
              <a:t>特定匹配</a:t>
            </a:r>
            <a:r>
              <a:rPr lang="zh-CN" altLang="zh-CN" sz="2000">
                <a:solidFill>
                  <a:srgbClr val="595959"/>
                </a:solidFill>
                <a:latin typeface="微软雅黑" panose="020B0503020204020204" pitchFamily="34" charset="-122"/>
                <a:ea typeface="微软雅黑" panose="020B0503020204020204" pitchFamily="34" charset="-122"/>
              </a:rPr>
              <a:t>的形式是一些</a:t>
            </a:r>
            <a:r>
              <a:rPr lang="zh-CN" altLang="zh-CN" sz="2000">
                <a:solidFill>
                  <a:srgbClr val="1369B2"/>
                </a:solidFill>
                <a:latin typeface="微软雅黑" panose="020B0503020204020204" pitchFamily="34" charset="-122"/>
                <a:ea typeface="微软雅黑" panose="020B0503020204020204" pitchFamily="34" charset="-122"/>
              </a:rPr>
              <a:t>常见模式的简写</a:t>
            </a:r>
            <a:r>
              <a:rPr lang="zh-CN" altLang="zh-CN" sz="2000">
                <a:solidFill>
                  <a:srgbClr val="595959"/>
                </a:solidFill>
                <a:latin typeface="微软雅黑" panose="020B0503020204020204" pitchFamily="34" charset="-122"/>
                <a:ea typeface="微软雅黑" panose="020B0503020204020204" pitchFamily="34" charset="-122"/>
              </a:rPr>
              <a:t>，被称为</a:t>
            </a:r>
            <a:r>
              <a:rPr lang="zh-CN" altLang="zh-CN" sz="2000">
                <a:solidFill>
                  <a:srgbClr val="1369B2"/>
                </a:solidFill>
                <a:latin typeface="微软雅黑" panose="020B0503020204020204" pitchFamily="34" charset="-122"/>
                <a:ea typeface="微软雅黑" panose="020B0503020204020204" pitchFamily="34" charset="-122"/>
              </a:rPr>
              <a:t>预定义符</a:t>
            </a:r>
            <a:r>
              <a:rPr lang="zh-CN" altLang="zh-CN" sz="2000">
                <a:solidFill>
                  <a:srgbClr val="595959"/>
                </a:solidFill>
                <a:latin typeface="微软雅黑" panose="020B0503020204020204" pitchFamily="34" charset="-122"/>
                <a:ea typeface="微软雅黑" panose="020B0503020204020204" pitchFamily="34" charset="-122"/>
              </a:rPr>
              <a:t>。</a:t>
            </a:r>
          </a:p>
        </p:txBody>
      </p:sp>
      <p:sp>
        <p:nvSpPr>
          <p:cNvPr id="8"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反斜线</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539527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270670" y="1039230"/>
            <a:ext cx="3645637"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1369B2"/>
                </a:solidFill>
                <a:latin typeface="微软雅黑" panose="020B0503020204020204" pitchFamily="34" charset="-122"/>
                <a:ea typeface="微软雅黑" panose="020B0503020204020204" pitchFamily="34" charset="-122"/>
                <a:cs typeface="+mn-ea"/>
              </a:rPr>
              <a:t>常</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见</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的</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预定义符</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如</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下</a:t>
            </a:r>
            <a:r>
              <a:rPr lang="zh-CN" altLang="en-US" sz="2000" dirty="0">
                <a:solidFill>
                  <a:srgbClr val="595959"/>
                </a:solidFill>
                <a:latin typeface="微软雅黑" panose="020B0503020204020204" pitchFamily="34" charset="-122"/>
                <a:ea typeface="微软雅黑" panose="020B0503020204020204" pitchFamily="34" charset="-122"/>
                <a:cs typeface="+mn-ea"/>
              </a:rPr>
              <a:t>表所示。</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4" name="表格 3">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1227533542"/>
              </p:ext>
            </p:extLst>
          </p:nvPr>
        </p:nvGraphicFramePr>
        <p:xfrm>
          <a:off x="1270670" y="1759310"/>
          <a:ext cx="9793088" cy="4158462"/>
        </p:xfrm>
        <a:graphic>
          <a:graphicData uri="http://schemas.openxmlformats.org/drawingml/2006/table">
            <a:tbl>
              <a:tblPr>
                <a:tableStyleId>{7DF18680-E054-41AD-8BC1-D1AEF772440D}</a:tableStyleId>
              </a:tblPr>
              <a:tblGrid>
                <a:gridCol w="1563602">
                  <a:extLst>
                    <a:ext uri="{9D8B030D-6E8A-4147-A177-3AD203B41FA5}">
                      <a16:colId xmlns:a16="http://schemas.microsoft.com/office/drawing/2014/main" val="1170750699"/>
                    </a:ext>
                  </a:extLst>
                </a:gridCol>
                <a:gridCol w="8229486">
                  <a:extLst>
                    <a:ext uri="{9D8B030D-6E8A-4147-A177-3AD203B41FA5}">
                      <a16:colId xmlns:a16="http://schemas.microsoft.com/office/drawing/2014/main" val="2318622687"/>
                    </a:ext>
                  </a:extLst>
                </a:gridCol>
              </a:tblGrid>
              <a:tr h="594066">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预定义符</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说明</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10000"/>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\d</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匹配所有</a:t>
                      </a:r>
                      <a:r>
                        <a:rPr lang="en-US" sz="2000" kern="1200">
                          <a:solidFill>
                            <a:srgbClr val="595959"/>
                          </a:solidFill>
                          <a:latin typeface="微软雅黑" panose="020B0503020204020204" pitchFamily="34" charset="-122"/>
                          <a:ea typeface="微软雅黑" panose="020B0503020204020204" pitchFamily="34" charset="-122"/>
                          <a:cs typeface="+mn-ea"/>
                        </a:rPr>
                        <a:t>0</a:t>
                      </a:r>
                      <a:r>
                        <a:rPr lang="zh-CN" sz="2000" kern="1200">
                          <a:solidFill>
                            <a:srgbClr val="595959"/>
                          </a:solidFill>
                          <a:latin typeface="微软雅黑" panose="020B0503020204020204" pitchFamily="34" charset="-122"/>
                          <a:ea typeface="微软雅黑" panose="020B0503020204020204" pitchFamily="34" charset="-122"/>
                          <a:cs typeface="+mn-ea"/>
                        </a:rPr>
                        <a:t>～</a:t>
                      </a:r>
                      <a:r>
                        <a:rPr lang="en-US" sz="2000" kern="1200">
                          <a:solidFill>
                            <a:srgbClr val="595959"/>
                          </a:solidFill>
                          <a:latin typeface="微软雅黑" panose="020B0503020204020204" pitchFamily="34" charset="-122"/>
                          <a:ea typeface="微软雅黑" panose="020B0503020204020204" pitchFamily="34" charset="-122"/>
                          <a:cs typeface="+mn-ea"/>
                        </a:rPr>
                        <a:t>9</a:t>
                      </a:r>
                      <a:r>
                        <a:rPr lang="zh-CN" sz="2000" kern="1200">
                          <a:solidFill>
                            <a:srgbClr val="595959"/>
                          </a:solidFill>
                          <a:latin typeface="微软雅黑" panose="020B0503020204020204" pitchFamily="34" charset="-122"/>
                          <a:ea typeface="微软雅黑" panose="020B0503020204020204" pitchFamily="34" charset="-122"/>
                          <a:cs typeface="+mn-ea"/>
                        </a:rPr>
                        <a:t>的任意一个数字，相当于</a:t>
                      </a:r>
                      <a:r>
                        <a:rPr lang="en-US" sz="2000" kern="1200">
                          <a:solidFill>
                            <a:srgbClr val="595959"/>
                          </a:solidFill>
                          <a:latin typeface="微软雅黑" panose="020B0503020204020204" pitchFamily="34" charset="-122"/>
                          <a:ea typeface="微软雅黑" panose="020B0503020204020204" pitchFamily="34" charset="-122"/>
                          <a:cs typeface="+mn-ea"/>
                        </a:rPr>
                        <a:t>[0-9]</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141778534"/>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\D</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匹配所有</a:t>
                      </a:r>
                      <a:r>
                        <a:rPr lang="en-US" sz="2000" kern="1200">
                          <a:solidFill>
                            <a:srgbClr val="595959"/>
                          </a:solidFill>
                          <a:latin typeface="微软雅黑" panose="020B0503020204020204" pitchFamily="34" charset="-122"/>
                          <a:ea typeface="微软雅黑" panose="020B0503020204020204" pitchFamily="34" charset="-122"/>
                          <a:cs typeface="+mn-ea"/>
                        </a:rPr>
                        <a:t>0</a:t>
                      </a:r>
                      <a:r>
                        <a:rPr lang="zh-CN" sz="2000" kern="1200">
                          <a:solidFill>
                            <a:srgbClr val="595959"/>
                          </a:solidFill>
                          <a:latin typeface="微软雅黑" panose="020B0503020204020204" pitchFamily="34" charset="-122"/>
                          <a:ea typeface="微软雅黑" panose="020B0503020204020204" pitchFamily="34" charset="-122"/>
                          <a:cs typeface="+mn-ea"/>
                        </a:rPr>
                        <a:t>～</a:t>
                      </a:r>
                      <a:r>
                        <a:rPr lang="en-US" sz="2000" kern="1200">
                          <a:solidFill>
                            <a:srgbClr val="595959"/>
                          </a:solidFill>
                          <a:latin typeface="微软雅黑" panose="020B0503020204020204" pitchFamily="34" charset="-122"/>
                          <a:ea typeface="微软雅黑" panose="020B0503020204020204" pitchFamily="34" charset="-122"/>
                          <a:cs typeface="+mn-ea"/>
                        </a:rPr>
                        <a:t>9</a:t>
                      </a:r>
                      <a:r>
                        <a:rPr lang="zh-CN" sz="2000" kern="1200">
                          <a:solidFill>
                            <a:srgbClr val="595959"/>
                          </a:solidFill>
                          <a:latin typeface="微软雅黑" panose="020B0503020204020204" pitchFamily="34" charset="-122"/>
                          <a:ea typeface="微软雅黑" panose="020B0503020204020204" pitchFamily="34" charset="-122"/>
                          <a:cs typeface="+mn-ea"/>
                        </a:rPr>
                        <a:t>以外的字符，相当于</a:t>
                      </a:r>
                      <a:r>
                        <a:rPr lang="en-US" sz="2000" kern="1200">
                          <a:solidFill>
                            <a:srgbClr val="595959"/>
                          </a:solidFill>
                          <a:latin typeface="微软雅黑" panose="020B0503020204020204" pitchFamily="34" charset="-122"/>
                          <a:ea typeface="微软雅黑" panose="020B0503020204020204" pitchFamily="34" charset="-122"/>
                          <a:cs typeface="+mn-ea"/>
                        </a:rPr>
                        <a:t>[^0-9]</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1351245817"/>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\w</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匹配任意的字母、数字、下画线，相当于</a:t>
                      </a:r>
                      <a:r>
                        <a:rPr lang="en-US" sz="2000" kern="1200" dirty="0">
                          <a:solidFill>
                            <a:srgbClr val="595959"/>
                          </a:solidFill>
                          <a:latin typeface="微软雅黑" panose="020B0503020204020204" pitchFamily="34" charset="-122"/>
                          <a:ea typeface="微软雅黑" panose="020B0503020204020204" pitchFamily="34" charset="-122"/>
                          <a:cs typeface="+mn-ea"/>
                        </a:rPr>
                        <a:t>[a-zA-Z0-9_]</a:t>
                      </a:r>
                      <a:endParaRPr lang="zh-CN" sz="2000" kern="120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3260076697"/>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\W</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匹配除字母、数字、下画线以外的字符，相当于</a:t>
                      </a:r>
                      <a:r>
                        <a:rPr lang="en-US" sz="2000" kern="1200" dirty="0">
                          <a:solidFill>
                            <a:srgbClr val="595959"/>
                          </a:solidFill>
                          <a:latin typeface="微软雅黑" panose="020B0503020204020204" pitchFamily="34" charset="-122"/>
                          <a:ea typeface="微软雅黑" panose="020B0503020204020204" pitchFamily="34" charset="-122"/>
                          <a:cs typeface="+mn-ea"/>
                        </a:rPr>
                        <a:t>[^a-zA-Z0-9_]</a:t>
                      </a:r>
                      <a:endParaRPr lang="zh-CN" sz="2000" kern="120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67477245"/>
                  </a:ext>
                </a:extLst>
              </a:tr>
              <a:tr h="594066">
                <a:tc>
                  <a:txBody>
                    <a:bodyPr/>
                    <a:lstStyle/>
                    <a:p>
                      <a:pPr algn="ctr">
                        <a:lnSpc>
                          <a:spcPct val="150000"/>
                        </a:lnSpc>
                        <a:spcAft>
                          <a:spcPts val="0"/>
                        </a:spcAft>
                      </a:pPr>
                      <a:r>
                        <a:rPr lang="en-US" sz="2000" kern="1200" dirty="0">
                          <a:solidFill>
                            <a:srgbClr val="595959"/>
                          </a:solidFill>
                          <a:latin typeface="微软雅黑" panose="020B0503020204020204" pitchFamily="34" charset="-122"/>
                          <a:ea typeface="微软雅黑" panose="020B0503020204020204" pitchFamily="34" charset="-122"/>
                          <a:cs typeface="+mn-ea"/>
                        </a:rPr>
                        <a:t>\s</a:t>
                      </a:r>
                      <a:endParaRPr lang="zh-CN" sz="2000" kern="120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匹配空白字符（包括换行符、制表符、空格符等），相当于</a:t>
                      </a:r>
                      <a:r>
                        <a:rPr lang="en-US" sz="2000" kern="1200">
                          <a:solidFill>
                            <a:srgbClr val="595959"/>
                          </a:solidFill>
                          <a:latin typeface="微软雅黑" panose="020B0503020204020204" pitchFamily="34" charset="-122"/>
                          <a:ea typeface="微软雅黑" panose="020B0503020204020204" pitchFamily="34" charset="-122"/>
                          <a:cs typeface="+mn-ea"/>
                        </a:rPr>
                        <a:t>[\t\r\n\v\f]</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667423117"/>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\S</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匹配非空白字符，相当于</a:t>
                      </a:r>
                      <a:r>
                        <a:rPr lang="en-US" sz="2000" kern="1200" dirty="0">
                          <a:solidFill>
                            <a:srgbClr val="595959"/>
                          </a:solidFill>
                          <a:latin typeface="微软雅黑" panose="020B0503020204020204" pitchFamily="34" charset="-122"/>
                          <a:ea typeface="微软雅黑" panose="020B0503020204020204" pitchFamily="34" charset="-122"/>
                          <a:cs typeface="+mn-ea"/>
                        </a:rPr>
                        <a:t>[^\t\r\n\v\f]</a:t>
                      </a:r>
                      <a:endParaRPr lang="zh-CN" sz="2000" kern="120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2756824223"/>
                  </a:ext>
                </a:extLst>
              </a:tr>
            </a:tbl>
          </a:graphicData>
        </a:graphic>
      </p:graphicFrame>
      <p:sp>
        <p:nvSpPr>
          <p:cNvPr id="8"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反斜线</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64679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153425" y="981522"/>
            <a:ext cx="1917445"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&gt;&gt;</a:t>
            </a:r>
            <a:r>
              <a:rPr lang="zh-CN" altLang="en-US" sz="2000" dirty="0">
                <a:solidFill>
                  <a:srgbClr val="595959"/>
                </a:solidFill>
                <a:latin typeface="微软雅黑" panose="020B0503020204020204" pitchFamily="34" charset="-122"/>
                <a:ea typeface="微软雅黑" panose="020B0503020204020204" pitchFamily="34" charset="-122"/>
                <a:cs typeface="+mn-ea"/>
              </a:rPr>
              <a:t>续</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上一页表</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4" name="表格 3">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333080195"/>
              </p:ext>
            </p:extLst>
          </p:nvPr>
        </p:nvGraphicFramePr>
        <p:xfrm>
          <a:off x="1126654" y="1629594"/>
          <a:ext cx="10009112" cy="4158462"/>
        </p:xfrm>
        <a:graphic>
          <a:graphicData uri="http://schemas.openxmlformats.org/drawingml/2006/table">
            <a:tbl>
              <a:tblPr>
                <a:tableStyleId>{7DF18680-E054-41AD-8BC1-D1AEF772440D}</a:tableStyleId>
              </a:tblPr>
              <a:tblGrid>
                <a:gridCol w="1598094">
                  <a:extLst>
                    <a:ext uri="{9D8B030D-6E8A-4147-A177-3AD203B41FA5}">
                      <a16:colId xmlns:a16="http://schemas.microsoft.com/office/drawing/2014/main" val="1170750699"/>
                    </a:ext>
                  </a:extLst>
                </a:gridCol>
                <a:gridCol w="8411018">
                  <a:extLst>
                    <a:ext uri="{9D8B030D-6E8A-4147-A177-3AD203B41FA5}">
                      <a16:colId xmlns:a16="http://schemas.microsoft.com/office/drawing/2014/main" val="2318622687"/>
                    </a:ext>
                  </a:extLst>
                </a:gridCol>
              </a:tblGrid>
              <a:tr h="594066">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预定义符</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说明</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10000"/>
                  </a:ext>
                </a:extLst>
              </a:tr>
              <a:tr h="594066">
                <a:tc>
                  <a:txBody>
                    <a:bodyPr/>
                    <a:lstStyle/>
                    <a:p>
                      <a:pPr marL="0" algn="ctr" defTabSz="1219200" rtl="0" eaLnBrk="1" latinLnBrk="0" hangingPunct="1">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\f</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algn="l" defTabSz="1219200" rtl="0" eaLnBrk="1" latinLnBrk="0" hangingPunct="1">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匹配一个换页符（</a:t>
                      </a:r>
                      <a:r>
                        <a:rPr lang="en-US" sz="2000" kern="1200" dirty="0">
                          <a:solidFill>
                            <a:srgbClr val="595959"/>
                          </a:solidFill>
                          <a:latin typeface="微软雅黑" panose="020B0503020204020204" pitchFamily="34" charset="-122"/>
                          <a:ea typeface="微软雅黑" panose="020B0503020204020204" pitchFamily="34" charset="-122"/>
                          <a:cs typeface="+mn-ea"/>
                        </a:rPr>
                        <a:t>form feed</a:t>
                      </a:r>
                      <a:r>
                        <a:rPr lang="zh-CN" sz="2000" kern="1200" dirty="0">
                          <a:solidFill>
                            <a:srgbClr val="595959"/>
                          </a:solidFill>
                          <a:latin typeface="微软雅黑" panose="020B0503020204020204" pitchFamily="34" charset="-122"/>
                          <a:ea typeface="微软雅黑" panose="020B0503020204020204" pitchFamily="34" charset="-122"/>
                          <a:cs typeface="+mn-ea"/>
                        </a:rPr>
                        <a:t>）</a:t>
                      </a:r>
                    </a:p>
                  </a:txBody>
                  <a:tcPr marL="68580" marR="68580" marT="0" marB="0" anchor="ctr">
                    <a:solidFill>
                      <a:srgbClr val="F2F2F2"/>
                    </a:solidFill>
                  </a:tcPr>
                </a:tc>
                <a:extLst>
                  <a:ext uri="{0D108BD9-81ED-4DB2-BD59-A6C34878D82A}">
                    <a16:rowId xmlns:a16="http://schemas.microsoft.com/office/drawing/2014/main" val="141778534"/>
                  </a:ext>
                </a:extLst>
              </a:tr>
              <a:tr h="594066">
                <a:tc>
                  <a:txBody>
                    <a:bodyPr/>
                    <a:lstStyle/>
                    <a:p>
                      <a:pPr marL="0" algn="ctr" defTabSz="1219200" rtl="0" eaLnBrk="1" latinLnBrk="0" hangingPunct="1">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\b</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algn="l" defTabSz="1219200" rtl="0" eaLnBrk="1" latinLnBrk="0" hangingPunct="1">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匹配单词分界符。如“</a:t>
                      </a:r>
                      <a:r>
                        <a:rPr lang="en-US" sz="2000" kern="1200" dirty="0">
                          <a:solidFill>
                            <a:srgbClr val="595959"/>
                          </a:solidFill>
                          <a:latin typeface="微软雅黑" panose="020B0503020204020204" pitchFamily="34" charset="-122"/>
                          <a:ea typeface="微软雅黑" panose="020B0503020204020204" pitchFamily="34" charset="-122"/>
                          <a:cs typeface="+mn-ea"/>
                        </a:rPr>
                        <a:t>\</a:t>
                      </a:r>
                      <a:r>
                        <a:rPr lang="en-US" sz="2000" kern="1200" dirty="0" err="1">
                          <a:solidFill>
                            <a:srgbClr val="595959"/>
                          </a:solidFill>
                          <a:latin typeface="微软雅黑" panose="020B0503020204020204" pitchFamily="34" charset="-122"/>
                          <a:ea typeface="微软雅黑" panose="020B0503020204020204" pitchFamily="34" charset="-122"/>
                          <a:cs typeface="+mn-ea"/>
                        </a:rPr>
                        <a:t>bg</a:t>
                      </a:r>
                      <a:r>
                        <a:rPr lang="zh-CN" sz="2000" kern="1200" dirty="0">
                          <a:solidFill>
                            <a:srgbClr val="595959"/>
                          </a:solidFill>
                          <a:latin typeface="微软雅黑" panose="020B0503020204020204" pitchFamily="34" charset="-122"/>
                          <a:ea typeface="微软雅黑" panose="020B0503020204020204" pitchFamily="34" charset="-122"/>
                          <a:cs typeface="+mn-ea"/>
                        </a:rPr>
                        <a:t>”可以匹配“</a:t>
                      </a:r>
                      <a:r>
                        <a:rPr lang="en-US" sz="2000" kern="1200" dirty="0">
                          <a:solidFill>
                            <a:srgbClr val="595959"/>
                          </a:solidFill>
                          <a:latin typeface="微软雅黑" panose="020B0503020204020204" pitchFamily="34" charset="-122"/>
                          <a:ea typeface="微软雅黑" panose="020B0503020204020204" pitchFamily="34" charset="-122"/>
                          <a:cs typeface="+mn-ea"/>
                        </a:rPr>
                        <a:t>best grade</a:t>
                      </a:r>
                      <a:r>
                        <a:rPr lang="zh-CN" sz="2000" kern="1200" dirty="0">
                          <a:solidFill>
                            <a:srgbClr val="595959"/>
                          </a:solidFill>
                          <a:latin typeface="微软雅黑" panose="020B0503020204020204" pitchFamily="34" charset="-122"/>
                          <a:ea typeface="微软雅黑" panose="020B0503020204020204" pitchFamily="34" charset="-122"/>
                          <a:cs typeface="+mn-ea"/>
                        </a:rPr>
                        <a:t>”，结果为“</a:t>
                      </a:r>
                      <a:r>
                        <a:rPr lang="en-US" sz="2000" kern="1200" dirty="0">
                          <a:solidFill>
                            <a:srgbClr val="595959"/>
                          </a:solidFill>
                          <a:latin typeface="微软雅黑" panose="020B0503020204020204" pitchFamily="34" charset="-122"/>
                          <a:ea typeface="微软雅黑" panose="020B0503020204020204" pitchFamily="34" charset="-122"/>
                          <a:cs typeface="+mn-ea"/>
                        </a:rPr>
                        <a:t>g</a:t>
                      </a:r>
                      <a:r>
                        <a:rPr lang="zh-CN" sz="2000" kern="1200" dirty="0">
                          <a:solidFill>
                            <a:srgbClr val="595959"/>
                          </a:solidFill>
                          <a:latin typeface="微软雅黑" panose="020B0503020204020204" pitchFamily="34" charset="-122"/>
                          <a:ea typeface="微软雅黑" panose="020B0503020204020204" pitchFamily="34" charset="-122"/>
                          <a:cs typeface="+mn-ea"/>
                        </a:rPr>
                        <a:t>”</a:t>
                      </a:r>
                    </a:p>
                  </a:txBody>
                  <a:tcPr marL="68580" marR="68580" marT="0" marB="0" anchor="ctr">
                    <a:solidFill>
                      <a:srgbClr val="F2F2F2"/>
                    </a:solidFill>
                  </a:tcPr>
                </a:tc>
                <a:extLst>
                  <a:ext uri="{0D108BD9-81ED-4DB2-BD59-A6C34878D82A}">
                    <a16:rowId xmlns:a16="http://schemas.microsoft.com/office/drawing/2014/main" val="1351245817"/>
                  </a:ext>
                </a:extLst>
              </a:tr>
              <a:tr h="594066">
                <a:tc>
                  <a:txBody>
                    <a:bodyPr/>
                    <a:lstStyle/>
                    <a:p>
                      <a:pPr marL="0" algn="ctr" defTabSz="1219200" rtl="0" eaLnBrk="1" latinLnBrk="0" hangingPunct="1">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\B</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algn="l" defTabSz="1219200" rtl="0" eaLnBrk="1" latinLnBrk="0" hangingPunct="1">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非单词分界符。如“</a:t>
                      </a:r>
                      <a:r>
                        <a:rPr lang="en-US" sz="2000" kern="1200">
                          <a:solidFill>
                            <a:srgbClr val="595959"/>
                          </a:solidFill>
                          <a:latin typeface="微软雅黑" panose="020B0503020204020204" pitchFamily="34" charset="-122"/>
                          <a:ea typeface="微软雅黑" panose="020B0503020204020204" pitchFamily="34" charset="-122"/>
                          <a:cs typeface="+mn-ea"/>
                        </a:rPr>
                        <a:t>\Bade</a:t>
                      </a:r>
                      <a:r>
                        <a:rPr lang="zh-CN" sz="2000" kern="1200">
                          <a:solidFill>
                            <a:srgbClr val="595959"/>
                          </a:solidFill>
                          <a:latin typeface="微软雅黑" panose="020B0503020204020204" pitchFamily="34" charset="-122"/>
                          <a:ea typeface="微软雅黑" panose="020B0503020204020204" pitchFamily="34" charset="-122"/>
                          <a:cs typeface="+mn-ea"/>
                        </a:rPr>
                        <a:t>”可以匹配“</a:t>
                      </a:r>
                      <a:r>
                        <a:rPr lang="en-US" sz="2000" kern="1200">
                          <a:solidFill>
                            <a:srgbClr val="595959"/>
                          </a:solidFill>
                          <a:latin typeface="微软雅黑" panose="020B0503020204020204" pitchFamily="34" charset="-122"/>
                          <a:ea typeface="微软雅黑" panose="020B0503020204020204" pitchFamily="34" charset="-122"/>
                          <a:cs typeface="+mn-ea"/>
                        </a:rPr>
                        <a:t>best grade</a:t>
                      </a:r>
                      <a:r>
                        <a:rPr lang="zh-CN" sz="2000" kern="1200">
                          <a:solidFill>
                            <a:srgbClr val="595959"/>
                          </a:solidFill>
                          <a:latin typeface="微软雅黑" panose="020B0503020204020204" pitchFamily="34" charset="-122"/>
                          <a:ea typeface="微软雅黑" panose="020B0503020204020204" pitchFamily="34" charset="-122"/>
                          <a:cs typeface="+mn-ea"/>
                        </a:rPr>
                        <a:t>”，结果为“</a:t>
                      </a:r>
                      <a:r>
                        <a:rPr lang="en-US" sz="2000" kern="1200">
                          <a:solidFill>
                            <a:srgbClr val="595959"/>
                          </a:solidFill>
                          <a:latin typeface="微软雅黑" panose="020B0503020204020204" pitchFamily="34" charset="-122"/>
                          <a:ea typeface="微软雅黑" panose="020B0503020204020204" pitchFamily="34" charset="-122"/>
                          <a:cs typeface="+mn-ea"/>
                        </a:rPr>
                        <a:t>ade</a:t>
                      </a:r>
                      <a:r>
                        <a:rPr lang="zh-CN" sz="2000" kern="1200">
                          <a:solidFill>
                            <a:srgbClr val="595959"/>
                          </a:solidFill>
                          <a:latin typeface="微软雅黑" panose="020B0503020204020204" pitchFamily="34" charset="-122"/>
                          <a:ea typeface="微软雅黑" panose="020B0503020204020204" pitchFamily="34" charset="-122"/>
                          <a:cs typeface="+mn-ea"/>
                        </a:rPr>
                        <a:t>”</a:t>
                      </a:r>
                    </a:p>
                  </a:txBody>
                  <a:tcPr marL="68580" marR="68580" marT="0" marB="0" anchor="ctr">
                    <a:solidFill>
                      <a:srgbClr val="F2F2F2"/>
                    </a:solidFill>
                  </a:tcPr>
                </a:tc>
                <a:extLst>
                  <a:ext uri="{0D108BD9-81ED-4DB2-BD59-A6C34878D82A}">
                    <a16:rowId xmlns:a16="http://schemas.microsoft.com/office/drawing/2014/main" val="3260076697"/>
                  </a:ext>
                </a:extLst>
              </a:tr>
              <a:tr h="594066">
                <a:tc>
                  <a:txBody>
                    <a:bodyPr/>
                    <a:lstStyle/>
                    <a:p>
                      <a:pPr marL="0" algn="ctr" defTabSz="1219200" rtl="0" eaLnBrk="1" latinLnBrk="0" hangingPunct="1">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\t</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algn="l" defTabSz="1219200" rtl="0" eaLnBrk="1" latinLnBrk="0" hangingPunct="1">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匹配一个水平制表符（</a:t>
                      </a:r>
                      <a:r>
                        <a:rPr lang="en-US" sz="2000" kern="1200">
                          <a:solidFill>
                            <a:srgbClr val="595959"/>
                          </a:solidFill>
                          <a:latin typeface="微软雅黑" panose="020B0503020204020204" pitchFamily="34" charset="-122"/>
                          <a:ea typeface="微软雅黑" panose="020B0503020204020204" pitchFamily="34" charset="-122"/>
                          <a:cs typeface="+mn-ea"/>
                        </a:rPr>
                        <a:t>horizontal tab</a:t>
                      </a:r>
                      <a:r>
                        <a:rPr lang="zh-CN" sz="2000" kern="1200">
                          <a:solidFill>
                            <a:srgbClr val="595959"/>
                          </a:solidFill>
                          <a:latin typeface="微软雅黑" panose="020B0503020204020204" pitchFamily="34" charset="-122"/>
                          <a:ea typeface="微软雅黑" panose="020B0503020204020204" pitchFamily="34" charset="-122"/>
                          <a:cs typeface="+mn-ea"/>
                        </a:rPr>
                        <a:t>）</a:t>
                      </a:r>
                    </a:p>
                  </a:txBody>
                  <a:tcPr marL="68580" marR="68580" marT="0" marB="0" anchor="ctr">
                    <a:solidFill>
                      <a:srgbClr val="F2F2F2"/>
                    </a:solidFill>
                  </a:tcPr>
                </a:tc>
                <a:extLst>
                  <a:ext uri="{0D108BD9-81ED-4DB2-BD59-A6C34878D82A}">
                    <a16:rowId xmlns:a16="http://schemas.microsoft.com/office/drawing/2014/main" val="67477245"/>
                  </a:ext>
                </a:extLst>
              </a:tr>
              <a:tr h="594066">
                <a:tc>
                  <a:txBody>
                    <a:bodyPr/>
                    <a:lstStyle/>
                    <a:p>
                      <a:pPr marL="0" algn="ctr" defTabSz="1219200" rtl="0" eaLnBrk="1" latinLnBrk="0" hangingPunct="1">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\n</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algn="l" defTabSz="1219200" rtl="0" eaLnBrk="1" latinLnBrk="0" hangingPunct="1">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匹配一个换行符（</a:t>
                      </a:r>
                      <a:r>
                        <a:rPr lang="en-US" sz="2000" kern="1200">
                          <a:solidFill>
                            <a:srgbClr val="595959"/>
                          </a:solidFill>
                          <a:latin typeface="微软雅黑" panose="020B0503020204020204" pitchFamily="34" charset="-122"/>
                          <a:ea typeface="微软雅黑" panose="020B0503020204020204" pitchFamily="34" charset="-122"/>
                          <a:cs typeface="+mn-ea"/>
                        </a:rPr>
                        <a:t>line feed</a:t>
                      </a:r>
                      <a:r>
                        <a:rPr lang="zh-CN" sz="2000" kern="1200">
                          <a:solidFill>
                            <a:srgbClr val="595959"/>
                          </a:solidFill>
                          <a:latin typeface="微软雅黑" panose="020B0503020204020204" pitchFamily="34" charset="-122"/>
                          <a:ea typeface="微软雅黑" panose="020B0503020204020204" pitchFamily="34" charset="-122"/>
                          <a:cs typeface="+mn-ea"/>
                        </a:rPr>
                        <a:t>）</a:t>
                      </a:r>
                    </a:p>
                  </a:txBody>
                  <a:tcPr marL="68580" marR="68580" marT="0" marB="0" anchor="ctr">
                    <a:solidFill>
                      <a:srgbClr val="F2F2F2"/>
                    </a:solidFill>
                  </a:tcPr>
                </a:tc>
                <a:extLst>
                  <a:ext uri="{0D108BD9-81ED-4DB2-BD59-A6C34878D82A}">
                    <a16:rowId xmlns:a16="http://schemas.microsoft.com/office/drawing/2014/main" val="667423117"/>
                  </a:ext>
                </a:extLst>
              </a:tr>
              <a:tr h="594066">
                <a:tc>
                  <a:txBody>
                    <a:bodyPr/>
                    <a:lstStyle/>
                    <a:p>
                      <a:pPr marL="0" algn="ctr" defTabSz="1219200" rtl="0" eaLnBrk="1" latinLnBrk="0" hangingPunct="1">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\xhh</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algn="l" defTabSz="1219200" rtl="0" eaLnBrk="1" latinLnBrk="0" hangingPunct="1">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a:t>
                      </a:r>
                      <a:r>
                        <a:rPr lang="en-US" sz="2000" kern="1200" dirty="0">
                          <a:solidFill>
                            <a:srgbClr val="595959"/>
                          </a:solidFill>
                          <a:latin typeface="微软雅黑" panose="020B0503020204020204" pitchFamily="34" charset="-122"/>
                          <a:ea typeface="微软雅黑" panose="020B0503020204020204" pitchFamily="34" charset="-122"/>
                          <a:cs typeface="+mn-ea"/>
                        </a:rPr>
                        <a:t>ISO-8859-1</a:t>
                      </a:r>
                      <a:r>
                        <a:rPr lang="zh-CN" sz="2000" kern="1200" dirty="0">
                          <a:solidFill>
                            <a:srgbClr val="595959"/>
                          </a:solidFill>
                          <a:latin typeface="微软雅黑" panose="020B0503020204020204" pitchFamily="34" charset="-122"/>
                          <a:ea typeface="微软雅黑" panose="020B0503020204020204" pitchFamily="34" charset="-122"/>
                          <a:cs typeface="+mn-ea"/>
                        </a:rPr>
                        <a:t>值为</a:t>
                      </a:r>
                      <a:r>
                        <a:rPr lang="en-US" sz="2000" kern="1200" dirty="0" err="1">
                          <a:solidFill>
                            <a:srgbClr val="595959"/>
                          </a:solidFill>
                          <a:latin typeface="微软雅黑" panose="020B0503020204020204" pitchFamily="34" charset="-122"/>
                          <a:ea typeface="微软雅黑" panose="020B0503020204020204" pitchFamily="34" charset="-122"/>
                          <a:cs typeface="+mn-ea"/>
                        </a:rPr>
                        <a:t>hh</a:t>
                      </a:r>
                      <a:r>
                        <a:rPr lang="zh-CN" sz="2000" kern="1200" dirty="0">
                          <a:solidFill>
                            <a:srgbClr val="595959"/>
                          </a:solidFill>
                          <a:latin typeface="微软雅黑" panose="020B0503020204020204" pitchFamily="34" charset="-122"/>
                          <a:ea typeface="微软雅黑" panose="020B0503020204020204" pitchFamily="34" charset="-122"/>
                          <a:cs typeface="+mn-ea"/>
                        </a:rPr>
                        <a:t>（十六进制</a:t>
                      </a:r>
                      <a:r>
                        <a:rPr lang="en-US" sz="2000" kern="1200" dirty="0">
                          <a:solidFill>
                            <a:srgbClr val="595959"/>
                          </a:solidFill>
                          <a:latin typeface="微软雅黑" panose="020B0503020204020204" pitchFamily="34" charset="-122"/>
                          <a:ea typeface="微软雅黑" panose="020B0503020204020204" pitchFamily="34" charset="-122"/>
                          <a:cs typeface="+mn-ea"/>
                        </a:rPr>
                        <a:t>2</a:t>
                      </a:r>
                      <a:r>
                        <a:rPr lang="zh-CN" sz="2000" kern="1200" dirty="0">
                          <a:solidFill>
                            <a:srgbClr val="595959"/>
                          </a:solidFill>
                          <a:latin typeface="微软雅黑" panose="020B0503020204020204" pitchFamily="34" charset="-122"/>
                          <a:ea typeface="微软雅黑" panose="020B0503020204020204" pitchFamily="34" charset="-122"/>
                          <a:cs typeface="+mn-ea"/>
                        </a:rPr>
                        <a:t>位数）的字符，如“</a:t>
                      </a:r>
                      <a:r>
                        <a:rPr lang="en-US" sz="2000" kern="1200" dirty="0">
                          <a:solidFill>
                            <a:srgbClr val="595959"/>
                          </a:solidFill>
                          <a:latin typeface="微软雅黑" panose="020B0503020204020204" pitchFamily="34" charset="-122"/>
                          <a:ea typeface="微软雅黑" panose="020B0503020204020204" pitchFamily="34" charset="-122"/>
                          <a:cs typeface="+mn-ea"/>
                        </a:rPr>
                        <a:t>\x61</a:t>
                      </a:r>
                      <a:r>
                        <a:rPr lang="zh-CN" sz="2000" kern="1200" dirty="0">
                          <a:solidFill>
                            <a:srgbClr val="595959"/>
                          </a:solidFill>
                          <a:latin typeface="微软雅黑" panose="020B0503020204020204" pitchFamily="34" charset="-122"/>
                          <a:ea typeface="微软雅黑" panose="020B0503020204020204" pitchFamily="34" charset="-122"/>
                          <a:cs typeface="+mn-ea"/>
                        </a:rPr>
                        <a:t>”表示“</a:t>
                      </a:r>
                      <a:r>
                        <a:rPr lang="en-US" sz="2000" kern="1200" dirty="0">
                          <a:solidFill>
                            <a:srgbClr val="595959"/>
                          </a:solidFill>
                          <a:latin typeface="微软雅黑" panose="020B0503020204020204" pitchFamily="34" charset="-122"/>
                          <a:ea typeface="微软雅黑" panose="020B0503020204020204" pitchFamily="34" charset="-122"/>
                          <a:cs typeface="+mn-ea"/>
                        </a:rPr>
                        <a:t>a</a:t>
                      </a:r>
                      <a:r>
                        <a:rPr lang="zh-CN" sz="2000" kern="1200" dirty="0">
                          <a:solidFill>
                            <a:srgbClr val="595959"/>
                          </a:solidFill>
                          <a:latin typeface="微软雅黑" panose="020B0503020204020204" pitchFamily="34" charset="-122"/>
                          <a:ea typeface="微软雅黑" panose="020B0503020204020204" pitchFamily="34" charset="-122"/>
                          <a:cs typeface="+mn-ea"/>
                        </a:rPr>
                        <a:t>”</a:t>
                      </a:r>
                    </a:p>
                  </a:txBody>
                  <a:tcPr marL="68580" marR="68580" marT="0" marB="0" anchor="b">
                    <a:solidFill>
                      <a:srgbClr val="F2F2F2"/>
                    </a:solidFill>
                  </a:tcPr>
                </a:tc>
                <a:extLst>
                  <a:ext uri="{0D108BD9-81ED-4DB2-BD59-A6C34878D82A}">
                    <a16:rowId xmlns:a16="http://schemas.microsoft.com/office/drawing/2014/main" val="2756824223"/>
                  </a:ext>
                </a:extLst>
              </a:tr>
            </a:tbl>
          </a:graphicData>
        </a:graphic>
      </p:graphicFrame>
      <p:sp>
        <p:nvSpPr>
          <p:cNvPr id="8"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反斜线</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8705110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766614" y="1413570"/>
            <a:ext cx="2304256"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&gt;&gt;</a:t>
            </a:r>
            <a:r>
              <a:rPr lang="zh-CN" altLang="en-US" sz="2000">
                <a:solidFill>
                  <a:srgbClr val="595959"/>
                </a:solidFill>
                <a:latin typeface="微软雅黑" panose="020B0503020204020204" pitchFamily="34" charset="-122"/>
                <a:ea typeface="微软雅黑" panose="020B0503020204020204" pitchFamily="34" charset="-122"/>
                <a:cs typeface="+mn-ea"/>
              </a:rPr>
              <a:t>续</a:t>
            </a:r>
            <a:r>
              <a:rPr lang="zh-CN" altLang="en-US" sz="2000" smtClean="0">
                <a:solidFill>
                  <a:srgbClr val="595959"/>
                </a:solidFill>
                <a:latin typeface="微软雅黑" panose="020B0503020204020204" pitchFamily="34" charset="-122"/>
                <a:ea typeface="微软雅黑" panose="020B0503020204020204" pitchFamily="34" charset="-122"/>
                <a:cs typeface="+mn-ea"/>
              </a:rPr>
              <a:t>上一页表</a:t>
            </a:r>
            <a:endParaRPr lang="en-US" altLang="zh-CN" sz="200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4" name="表格 3">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855040365"/>
              </p:ext>
            </p:extLst>
          </p:nvPr>
        </p:nvGraphicFramePr>
        <p:xfrm>
          <a:off x="838622" y="2101348"/>
          <a:ext cx="10585176" cy="2376264"/>
        </p:xfrm>
        <a:graphic>
          <a:graphicData uri="http://schemas.openxmlformats.org/drawingml/2006/table">
            <a:tbl>
              <a:tblPr>
                <a:tableStyleId>{7DF18680-E054-41AD-8BC1-D1AEF772440D}</a:tableStyleId>
              </a:tblPr>
              <a:tblGrid>
                <a:gridCol w="1690069">
                  <a:extLst>
                    <a:ext uri="{9D8B030D-6E8A-4147-A177-3AD203B41FA5}">
                      <a16:colId xmlns:a16="http://schemas.microsoft.com/office/drawing/2014/main" val="1170750699"/>
                    </a:ext>
                  </a:extLst>
                </a:gridCol>
                <a:gridCol w="8895107">
                  <a:extLst>
                    <a:ext uri="{9D8B030D-6E8A-4147-A177-3AD203B41FA5}">
                      <a16:colId xmlns:a16="http://schemas.microsoft.com/office/drawing/2014/main" val="2318622687"/>
                    </a:ext>
                  </a:extLst>
                </a:gridCol>
              </a:tblGrid>
              <a:tr h="594066">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预定义符</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说明</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10000"/>
                  </a:ext>
                </a:extLst>
              </a:tr>
              <a:tr h="594066">
                <a:tc>
                  <a:txBody>
                    <a:bodyPr/>
                    <a:lstStyle/>
                    <a:p>
                      <a:pPr marL="0" algn="ctr" defTabSz="1219200" rtl="0" eaLnBrk="1" latinLnBrk="0" hangingPunct="1">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\r</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algn="l" defTabSz="1219200" rtl="0" eaLnBrk="1" latinLnBrk="0" hangingPunct="1">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匹配一个回车符（</a:t>
                      </a:r>
                      <a:r>
                        <a:rPr lang="en-US" sz="2000" kern="1200">
                          <a:solidFill>
                            <a:srgbClr val="595959"/>
                          </a:solidFill>
                          <a:latin typeface="微软雅黑" panose="020B0503020204020204" pitchFamily="34" charset="-122"/>
                          <a:ea typeface="微软雅黑" panose="020B0503020204020204" pitchFamily="34" charset="-122"/>
                          <a:cs typeface="+mn-ea"/>
                        </a:rPr>
                        <a:t>carriage return</a:t>
                      </a:r>
                      <a:r>
                        <a:rPr lang="zh-CN" sz="2000" kern="1200">
                          <a:solidFill>
                            <a:srgbClr val="595959"/>
                          </a:solidFill>
                          <a:latin typeface="微软雅黑" panose="020B0503020204020204" pitchFamily="34" charset="-122"/>
                          <a:ea typeface="微软雅黑" panose="020B0503020204020204" pitchFamily="34" charset="-122"/>
                          <a:cs typeface="+mn-ea"/>
                        </a:rPr>
                        <a:t>）</a:t>
                      </a:r>
                    </a:p>
                  </a:txBody>
                  <a:tcPr marL="68580" marR="68580" marT="0" marB="0" anchor="ctr">
                    <a:solidFill>
                      <a:srgbClr val="F2F2F2"/>
                    </a:solidFill>
                  </a:tcPr>
                </a:tc>
                <a:extLst>
                  <a:ext uri="{0D108BD9-81ED-4DB2-BD59-A6C34878D82A}">
                    <a16:rowId xmlns:a16="http://schemas.microsoft.com/office/drawing/2014/main" val="141778534"/>
                  </a:ext>
                </a:extLst>
              </a:tr>
              <a:tr h="594066">
                <a:tc>
                  <a:txBody>
                    <a:bodyPr/>
                    <a:lstStyle/>
                    <a:p>
                      <a:pPr marL="0" algn="ctr" defTabSz="1219200" rtl="0" eaLnBrk="1" latinLnBrk="0" hangingPunct="1">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\v</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algn="l" defTabSz="1219200" rtl="0" eaLnBrk="1" latinLnBrk="0" hangingPunct="1">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匹配一个垂直制表符（</a:t>
                      </a:r>
                      <a:r>
                        <a:rPr lang="en-US" sz="2000" kern="1200">
                          <a:solidFill>
                            <a:srgbClr val="595959"/>
                          </a:solidFill>
                          <a:latin typeface="微软雅黑" panose="020B0503020204020204" pitchFamily="34" charset="-122"/>
                          <a:ea typeface="微软雅黑" panose="020B0503020204020204" pitchFamily="34" charset="-122"/>
                          <a:cs typeface="+mn-ea"/>
                        </a:rPr>
                        <a:t>vertical tab</a:t>
                      </a:r>
                      <a:r>
                        <a:rPr lang="zh-CN" sz="2000" kern="1200">
                          <a:solidFill>
                            <a:srgbClr val="595959"/>
                          </a:solidFill>
                          <a:latin typeface="微软雅黑" panose="020B0503020204020204" pitchFamily="34" charset="-122"/>
                          <a:ea typeface="微软雅黑" panose="020B0503020204020204" pitchFamily="34" charset="-122"/>
                          <a:cs typeface="+mn-ea"/>
                        </a:rPr>
                        <a:t>）</a:t>
                      </a:r>
                    </a:p>
                  </a:txBody>
                  <a:tcPr marL="68580" marR="68580" marT="0" marB="0" anchor="b">
                    <a:solidFill>
                      <a:srgbClr val="F2F2F2"/>
                    </a:solidFill>
                  </a:tcPr>
                </a:tc>
                <a:extLst>
                  <a:ext uri="{0D108BD9-81ED-4DB2-BD59-A6C34878D82A}">
                    <a16:rowId xmlns:a16="http://schemas.microsoft.com/office/drawing/2014/main" val="1351245817"/>
                  </a:ext>
                </a:extLst>
              </a:tr>
              <a:tr h="594066">
                <a:tc>
                  <a:txBody>
                    <a:bodyPr/>
                    <a:lstStyle/>
                    <a:p>
                      <a:pPr marL="0" algn="ctr" defTabSz="1219200" rtl="0" eaLnBrk="1" latinLnBrk="0" hangingPunct="1">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\uhhhh</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algn="l" defTabSz="1219200" rtl="0" eaLnBrk="1" latinLnBrk="0" hangingPunct="1">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a:t>
                      </a:r>
                      <a:r>
                        <a:rPr lang="en-US" sz="2000" kern="1200" dirty="0">
                          <a:solidFill>
                            <a:srgbClr val="595959"/>
                          </a:solidFill>
                          <a:latin typeface="微软雅黑" panose="020B0503020204020204" pitchFamily="34" charset="-122"/>
                          <a:ea typeface="微软雅黑" panose="020B0503020204020204" pitchFamily="34" charset="-122"/>
                          <a:cs typeface="+mn-ea"/>
                        </a:rPr>
                        <a:t>Unicode</a:t>
                      </a:r>
                      <a:r>
                        <a:rPr lang="zh-CN" sz="2000" kern="1200" dirty="0">
                          <a:solidFill>
                            <a:srgbClr val="595959"/>
                          </a:solidFill>
                          <a:latin typeface="微软雅黑" panose="020B0503020204020204" pitchFamily="34" charset="-122"/>
                          <a:ea typeface="微软雅黑" panose="020B0503020204020204" pitchFamily="34" charset="-122"/>
                          <a:cs typeface="+mn-ea"/>
                        </a:rPr>
                        <a:t>值为</a:t>
                      </a:r>
                      <a:r>
                        <a:rPr lang="en-US" sz="2000" kern="1200" dirty="0" err="1">
                          <a:solidFill>
                            <a:srgbClr val="595959"/>
                          </a:solidFill>
                          <a:latin typeface="微软雅黑" panose="020B0503020204020204" pitchFamily="34" charset="-122"/>
                          <a:ea typeface="微软雅黑" panose="020B0503020204020204" pitchFamily="34" charset="-122"/>
                          <a:cs typeface="+mn-ea"/>
                        </a:rPr>
                        <a:t>hhhh</a:t>
                      </a:r>
                      <a:r>
                        <a:rPr lang="zh-CN" sz="2000" kern="1200" dirty="0">
                          <a:solidFill>
                            <a:srgbClr val="595959"/>
                          </a:solidFill>
                          <a:latin typeface="微软雅黑" panose="020B0503020204020204" pitchFamily="34" charset="-122"/>
                          <a:ea typeface="微软雅黑" panose="020B0503020204020204" pitchFamily="34" charset="-122"/>
                          <a:cs typeface="+mn-ea"/>
                        </a:rPr>
                        <a:t>（十六进制</a:t>
                      </a:r>
                      <a:r>
                        <a:rPr lang="en-US" sz="2000" kern="1200" dirty="0">
                          <a:solidFill>
                            <a:srgbClr val="595959"/>
                          </a:solidFill>
                          <a:latin typeface="微软雅黑" panose="020B0503020204020204" pitchFamily="34" charset="-122"/>
                          <a:ea typeface="微软雅黑" panose="020B0503020204020204" pitchFamily="34" charset="-122"/>
                          <a:cs typeface="+mn-ea"/>
                        </a:rPr>
                        <a:t>4</a:t>
                      </a:r>
                      <a:r>
                        <a:rPr lang="zh-CN" sz="2000" kern="1200" dirty="0">
                          <a:solidFill>
                            <a:srgbClr val="595959"/>
                          </a:solidFill>
                          <a:latin typeface="微软雅黑" panose="020B0503020204020204" pitchFamily="34" charset="-122"/>
                          <a:ea typeface="微软雅黑" panose="020B0503020204020204" pitchFamily="34" charset="-122"/>
                          <a:cs typeface="+mn-ea"/>
                        </a:rPr>
                        <a:t>位数）的字符，如“</a:t>
                      </a:r>
                      <a:r>
                        <a:rPr lang="en-US" sz="2000" kern="1200" dirty="0">
                          <a:solidFill>
                            <a:srgbClr val="595959"/>
                          </a:solidFill>
                          <a:latin typeface="微软雅黑" panose="020B0503020204020204" pitchFamily="34" charset="-122"/>
                          <a:ea typeface="微软雅黑" panose="020B0503020204020204" pitchFamily="34" charset="-122"/>
                          <a:cs typeface="+mn-ea"/>
                        </a:rPr>
                        <a:t>\u597d</a:t>
                      </a:r>
                      <a:r>
                        <a:rPr lang="zh-CN" sz="2000" kern="1200" dirty="0">
                          <a:solidFill>
                            <a:srgbClr val="595959"/>
                          </a:solidFill>
                          <a:latin typeface="微软雅黑" panose="020B0503020204020204" pitchFamily="34" charset="-122"/>
                          <a:ea typeface="微软雅黑" panose="020B0503020204020204" pitchFamily="34" charset="-122"/>
                          <a:cs typeface="+mn-ea"/>
                        </a:rPr>
                        <a:t>”表示“好”</a:t>
                      </a:r>
                    </a:p>
                  </a:txBody>
                  <a:tcPr marL="68580" marR="68580" marT="0" marB="0" anchor="b">
                    <a:solidFill>
                      <a:srgbClr val="F2F2F2"/>
                    </a:solidFill>
                  </a:tcPr>
                </a:tc>
                <a:extLst>
                  <a:ext uri="{0D108BD9-81ED-4DB2-BD59-A6C34878D82A}">
                    <a16:rowId xmlns:a16="http://schemas.microsoft.com/office/drawing/2014/main" val="3260076697"/>
                  </a:ext>
                </a:extLst>
              </a:tr>
            </a:tbl>
          </a:graphicData>
        </a:graphic>
      </p:graphicFrame>
      <p:sp>
        <p:nvSpPr>
          <p:cNvPr id="8"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反斜线</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6775629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3691" y="1773610"/>
            <a:ext cx="8784977" cy="553998"/>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以</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\d</a:t>
            </a:r>
            <a:r>
              <a:rPr lang="zh-CN" altLang="zh-CN" sz="2000" dirty="0">
                <a:solidFill>
                  <a:srgbClr val="1369B2"/>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\w</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为例进行演示，示例代码如下。</a:t>
            </a:r>
          </a:p>
        </p:txBody>
      </p:sp>
      <p:sp>
        <p:nvSpPr>
          <p:cNvPr id="9" name="文本框 8">
            <a:extLst>
              <a:ext uri="{FF2B5EF4-FFF2-40B4-BE49-F238E27FC236}">
                <a16:creationId xmlns:a16="http://schemas.microsoft.com/office/drawing/2014/main" id="{2BD7E020-D0A4-47DE-BE0C-F3967B274E91}"/>
              </a:ext>
            </a:extLst>
          </p:cNvPr>
          <p:cNvSpPr txBox="1"/>
          <p:nvPr/>
        </p:nvSpPr>
        <p:spPr>
          <a:xfrm>
            <a:off x="1143690" y="2637706"/>
            <a:ext cx="9560027" cy="2400657"/>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'Hello World123';</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reg1 = /\d/g;</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reg2 = /\W/g;</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str.match</a:t>
            </a:r>
            <a:r>
              <a:rPr lang="en-US" altLang="zh-CN" sz="2000" dirty="0">
                <a:solidFill>
                  <a:srgbClr val="595959"/>
                </a:solidFill>
                <a:latin typeface="微软雅黑" panose="020B0503020204020204" pitchFamily="34" charset="-122"/>
                <a:ea typeface="微软雅黑" panose="020B0503020204020204" pitchFamily="34" charset="-122"/>
                <a:cs typeface="+mn-ea"/>
              </a:rPr>
              <a:t>(reg1));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(3) ['1', '2', '3']</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str.match</a:t>
            </a:r>
            <a:r>
              <a:rPr lang="en-US" altLang="zh-CN" sz="2000" dirty="0">
                <a:solidFill>
                  <a:srgbClr val="595959"/>
                </a:solidFill>
                <a:latin typeface="微软雅黑" panose="020B0503020204020204" pitchFamily="34" charset="-122"/>
                <a:ea typeface="微软雅黑" panose="020B0503020204020204" pitchFamily="34" charset="-122"/>
                <a:cs typeface="+mn-ea"/>
              </a:rPr>
              <a:t>(reg2));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反斜线</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218268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5">
            <a:extLst>
              <a:ext uri="{FF2B5EF4-FFF2-40B4-BE49-F238E27FC236}">
                <a16:creationId xmlns:a16="http://schemas.microsoft.com/office/drawing/2014/main" id="{8C22BF7A-4BC1-4144-9B36-68D1715B1173}"/>
              </a:ext>
            </a:extLst>
          </p:cNvPr>
          <p:cNvSpPr>
            <a:spLocks noChangeArrowheads="1"/>
          </p:cNvSpPr>
          <p:nvPr/>
        </p:nvSpPr>
        <p:spPr bwMode="auto">
          <a:xfrm>
            <a:off x="982638" y="1582264"/>
            <a:ext cx="1049613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当</a:t>
            </a:r>
            <a:r>
              <a:rPr lang="zh-CN" altLang="zh-CN" sz="2000" dirty="0">
                <a:solidFill>
                  <a:srgbClr val="595959"/>
                </a:solidFill>
                <a:latin typeface="微软雅黑" panose="020B0503020204020204" pitchFamily="34" charset="-122"/>
                <a:ea typeface="微软雅黑" panose="020B0503020204020204" pitchFamily="34" charset="-122"/>
              </a:rPr>
              <a:t>需要匹配的字符是</a:t>
            </a:r>
            <a:r>
              <a:rPr lang="zh-CN" altLang="zh-CN" sz="2000" dirty="0">
                <a:solidFill>
                  <a:srgbClr val="1369B2"/>
                </a:solidFill>
                <a:latin typeface="微软雅黑" panose="020B0503020204020204" pitchFamily="34" charset="-122"/>
                <a:ea typeface="微软雅黑" panose="020B0503020204020204" pitchFamily="34" charset="-122"/>
              </a:rPr>
              <a:t>元字符</a:t>
            </a:r>
            <a:r>
              <a:rPr lang="zh-CN" altLang="zh-CN" sz="2000" dirty="0">
                <a:solidFill>
                  <a:srgbClr val="595959"/>
                </a:solidFill>
                <a:latin typeface="微软雅黑" panose="020B0503020204020204" pitchFamily="34" charset="-122"/>
                <a:ea typeface="微软雅黑" panose="020B0503020204020204" pitchFamily="34" charset="-122"/>
              </a:rPr>
              <a:t>时，在正则表达式中需要使用</a:t>
            </a:r>
            <a:r>
              <a:rPr lang="zh-CN" altLang="zh-CN" sz="2000" dirty="0">
                <a:solidFill>
                  <a:srgbClr val="1369B2"/>
                </a:solidFill>
                <a:latin typeface="微软雅黑" panose="020B0503020204020204" pitchFamily="34" charset="-122"/>
                <a:ea typeface="微软雅黑" panose="020B0503020204020204" pitchFamily="34" charset="-122"/>
              </a:rPr>
              <a:t>反斜线</a:t>
            </a:r>
            <a:r>
              <a:rPr lang="zh-CN" altLang="zh-CN" sz="2000" dirty="0">
                <a:solidFill>
                  <a:srgbClr val="595959"/>
                </a:solidFill>
                <a:latin typeface="微软雅黑" panose="020B0503020204020204" pitchFamily="34" charset="-122"/>
                <a:ea typeface="微软雅黑" panose="020B0503020204020204" pitchFamily="34" charset="-122"/>
              </a:rPr>
              <a:t>将元字符转换为</a:t>
            </a:r>
            <a:r>
              <a:rPr lang="zh-CN" altLang="zh-CN" sz="2000" dirty="0">
                <a:solidFill>
                  <a:srgbClr val="1369B2"/>
                </a:solidFill>
                <a:latin typeface="微软雅黑" panose="020B0503020204020204" pitchFamily="34" charset="-122"/>
                <a:ea typeface="微软雅黑" panose="020B0503020204020204" pitchFamily="34" charset="-122"/>
              </a:rPr>
              <a:t>文本字符</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p:txBody>
      </p:sp>
      <p:sp>
        <p:nvSpPr>
          <p:cNvPr id="8"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反斜线</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 name="矩形: 圆角 38">
            <a:extLst>
              <a:ext uri="{FF2B5EF4-FFF2-40B4-BE49-F238E27FC236}">
                <a16:creationId xmlns:a16="http://schemas.microsoft.com/office/drawing/2014/main" id="{67C83A7C-7D6F-4BDB-B121-E0F3184AF92D}"/>
              </a:ext>
            </a:extLst>
          </p:cNvPr>
          <p:cNvSpPr/>
          <p:nvPr/>
        </p:nvSpPr>
        <p:spPr>
          <a:xfrm>
            <a:off x="1270670" y="3213770"/>
            <a:ext cx="9505056" cy="180019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95959"/>
              </a:solidFill>
            </a:endParaRPr>
          </a:p>
        </p:txBody>
      </p:sp>
      <p:sp>
        <p:nvSpPr>
          <p:cNvPr id="5" name="流程图: 资料带 4">
            <a:extLst>
              <a:ext uri="{FF2B5EF4-FFF2-40B4-BE49-F238E27FC236}">
                <a16:creationId xmlns:a16="http://schemas.microsoft.com/office/drawing/2014/main" id="{4D24D15E-ACFA-45A5-A041-FD3CA10573ED}"/>
              </a:ext>
            </a:extLst>
          </p:cNvPr>
          <p:cNvSpPr/>
          <p:nvPr/>
        </p:nvSpPr>
        <p:spPr>
          <a:xfrm>
            <a:off x="1071681" y="2997746"/>
            <a:ext cx="775053" cy="504056"/>
          </a:xfrm>
          <a:prstGeom prst="flowChartPunchedTape">
            <a:avLst/>
          </a:prstGeom>
          <a:solidFill>
            <a:srgbClr val="1369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latin typeface="微软雅黑" panose="020B0503020204020204" pitchFamily="34" charset="-122"/>
                <a:ea typeface="微软雅黑" panose="020B0503020204020204" pitchFamily="34" charset="-122"/>
              </a:rPr>
              <a:t>注意</a:t>
            </a:r>
            <a:endParaRPr lang="zh-CN" altLang="en-US" sz="2000" dirty="0">
              <a:latin typeface="微软雅黑" panose="020B0503020204020204" pitchFamily="34" charset="-122"/>
              <a:ea typeface="微软雅黑" panose="020B0503020204020204" pitchFamily="34" charset="-122"/>
            </a:endParaRPr>
          </a:p>
        </p:txBody>
      </p:sp>
      <p:sp>
        <p:nvSpPr>
          <p:cNvPr id="6" name="矩形 5"/>
          <p:cNvSpPr/>
          <p:nvPr/>
        </p:nvSpPr>
        <p:spPr>
          <a:xfrm>
            <a:off x="1774726" y="3420048"/>
            <a:ext cx="8928990" cy="1422954"/>
          </a:xfrm>
          <a:prstGeom prst="rect">
            <a:avLst/>
          </a:prstGeom>
        </p:spPr>
        <p:txBody>
          <a:bodyPr wrap="square">
            <a:spAutoFit/>
          </a:bodyPr>
          <a:lstStyle/>
          <a:p>
            <a:pPr>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cs typeface="+mn-ea"/>
              </a:rPr>
              <a:t>当正则表达式是使用字面量的方式创建时，只需要使用一个反斜线将元字符转换为文本字符；当正则表达式是使用</a:t>
            </a:r>
            <a:r>
              <a:rPr lang="en-US" altLang="zh-CN" sz="2000" dirty="0" err="1">
                <a:solidFill>
                  <a:srgbClr val="FF0000"/>
                </a:solidFill>
                <a:latin typeface="微软雅黑" panose="020B0503020204020204" pitchFamily="34" charset="-122"/>
                <a:ea typeface="微软雅黑" panose="020B0503020204020204" pitchFamily="34" charset="-122"/>
                <a:cs typeface="+mn-ea"/>
              </a:rPr>
              <a:t>RegExp</a:t>
            </a:r>
            <a:r>
              <a:rPr lang="en-US" altLang="zh-CN" sz="2000" dirty="0">
                <a:solidFill>
                  <a:srgbClr val="FF0000"/>
                </a:solidFill>
                <a:latin typeface="微软雅黑" panose="020B0503020204020204" pitchFamily="34" charset="-122"/>
                <a:ea typeface="微软雅黑" panose="020B0503020204020204" pitchFamily="34" charset="-122"/>
                <a:cs typeface="+mn-ea"/>
              </a:rPr>
              <a:t>()</a:t>
            </a:r>
            <a:r>
              <a:rPr lang="zh-CN" altLang="zh-CN" sz="2000" dirty="0">
                <a:solidFill>
                  <a:srgbClr val="FF0000"/>
                </a:solidFill>
                <a:latin typeface="微软雅黑" panose="020B0503020204020204" pitchFamily="34" charset="-122"/>
                <a:ea typeface="微软雅黑" panose="020B0503020204020204" pitchFamily="34" charset="-122"/>
                <a:cs typeface="+mn-ea"/>
              </a:rPr>
              <a:t>构造函数的方式创建时，需要使用两个反斜线将元字符转换为文本字符。</a:t>
            </a:r>
          </a:p>
        </p:txBody>
      </p:sp>
    </p:spTree>
    <p:extLst>
      <p:ext uri="{BB962C8B-B14F-4D97-AF65-F5344CB8AC3E}">
        <p14:creationId xmlns:p14="http://schemas.microsoft.com/office/powerpoint/2010/main" val="155842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3691" y="1275561"/>
            <a:ext cx="10513168" cy="499624"/>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下面通过代码演示如何使用</a:t>
            </a:r>
            <a:r>
              <a:rPr lang="zh-CN" altLang="zh-CN" sz="2000" dirty="0">
                <a:solidFill>
                  <a:srgbClr val="1369B2"/>
                </a:solidFill>
                <a:latin typeface="微软雅黑" panose="020B0503020204020204" pitchFamily="34" charset="-122"/>
                <a:ea typeface="微软雅黑" panose="020B0503020204020204" pitchFamily="34" charset="-122"/>
              </a:rPr>
              <a:t>反斜线</a:t>
            </a:r>
            <a:r>
              <a:rPr lang="zh-CN" altLang="zh-CN" sz="2000" dirty="0">
                <a:solidFill>
                  <a:srgbClr val="595959"/>
                </a:solidFill>
                <a:latin typeface="微软雅黑" panose="020B0503020204020204" pitchFamily="34" charset="-122"/>
                <a:ea typeface="微软雅黑" panose="020B0503020204020204" pitchFamily="34" charset="-122"/>
              </a:rPr>
              <a:t>将元字符</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转换为</a:t>
            </a:r>
            <a:r>
              <a:rPr lang="zh-CN" altLang="zh-CN" sz="2000" dirty="0">
                <a:solidFill>
                  <a:srgbClr val="1369B2"/>
                </a:solidFill>
                <a:latin typeface="微软雅黑" panose="020B0503020204020204" pitchFamily="34" charset="-122"/>
                <a:ea typeface="微软雅黑" panose="020B0503020204020204" pitchFamily="34" charset="-122"/>
              </a:rPr>
              <a:t>文本</a:t>
            </a:r>
            <a:r>
              <a:rPr lang="zh-CN" altLang="zh-CN" sz="2000" dirty="0" smtClean="0">
                <a:solidFill>
                  <a:srgbClr val="1369B2"/>
                </a:solidFill>
                <a:latin typeface="微软雅黑" panose="020B0503020204020204" pitchFamily="34" charset="-122"/>
                <a:ea typeface="微软雅黑" panose="020B0503020204020204" pitchFamily="34" charset="-122"/>
              </a:rPr>
              <a:t>字符</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2BD7E020-D0A4-47DE-BE0C-F3967B274E91}"/>
              </a:ext>
            </a:extLst>
          </p:cNvPr>
          <p:cNvSpPr txBox="1"/>
          <p:nvPr/>
        </p:nvSpPr>
        <p:spPr>
          <a:xfrm>
            <a:off x="1270670" y="2277666"/>
            <a:ext cx="9001000" cy="2862322"/>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 /\^/g;</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reg1 = /\?/g;</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reg2 = new </a:t>
            </a:r>
            <a:r>
              <a:rPr lang="en-US" altLang="zh-CN" sz="2000" dirty="0" err="1">
                <a:solidFill>
                  <a:srgbClr val="595959"/>
                </a:solidFill>
                <a:latin typeface="微软雅黑" panose="020B0503020204020204" pitchFamily="34" charset="-122"/>
                <a:ea typeface="微软雅黑" panose="020B0503020204020204" pitchFamily="34" charset="-122"/>
                <a:cs typeface="+mn-ea"/>
              </a:rPr>
              <a:t>RegExp</a:t>
            </a:r>
            <a:r>
              <a:rPr lang="en-US" altLang="zh-CN" sz="2000" dirty="0">
                <a:solidFill>
                  <a:srgbClr val="595959"/>
                </a:solidFill>
                <a:latin typeface="微软雅黑" panose="020B0503020204020204" pitchFamily="34" charset="-122"/>
                <a:ea typeface="微软雅黑" panose="020B0503020204020204" pitchFamily="34" charset="-122"/>
                <a:cs typeface="+mn-ea"/>
              </a:rPr>
              <a:t>('\\.', 'g');</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console.log('^a1b2'.match(</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console.log('a1?b2'.match(reg1));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console.log('a1.b2'.match(reg2));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21036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反斜线</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4159791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正则表达式中</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点字符和限定符</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使用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灵活应用</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点</a:t>
            </a:r>
            <a:r>
              <a:rPr lang="zh-CN" altLang="en-US" sz="2000" dirty="0">
                <a:solidFill>
                  <a:srgbClr val="1369B2"/>
                </a:solidFill>
                <a:latin typeface="微软雅黑" panose="020B0503020204020204" pitchFamily="34" charset="-122"/>
                <a:ea typeface="微软雅黑" panose="020B0503020204020204" pitchFamily="34" charset="-122"/>
                <a:cs typeface="+mn-ea"/>
              </a:rPr>
              <a:t>字符</a:t>
            </a:r>
            <a:r>
              <a:rPr lang="zh-CN" altLang="en-US" sz="2000" dirty="0">
                <a:solidFill>
                  <a:srgbClr val="595959"/>
                </a:solidFill>
                <a:latin typeface="微软雅黑" panose="020B0503020204020204" pitchFamily="34" charset="-122"/>
                <a:ea typeface="微软雅黑" panose="020B0503020204020204" pitchFamily="34" charset="-122"/>
                <a:cs typeface="+mn-ea"/>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限定符</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12.3.4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字符和限定符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30677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总结小人">
            <a:extLst>
              <a:ext uri="{FF2B5EF4-FFF2-40B4-BE49-F238E27FC236}">
                <a16:creationId xmlns:a16="http://schemas.microsoft.com/office/drawing/2014/main" id="{B6DA8452-0BB1-4A92-968E-A043641C5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p:cNvGrpSpPr/>
          <p:nvPr/>
        </p:nvGrpSpPr>
        <p:grpSpPr>
          <a:xfrm>
            <a:off x="4899447" y="1985403"/>
            <a:ext cx="6092303" cy="2919585"/>
            <a:chOff x="4899446" y="1985402"/>
            <a:chExt cx="6740375" cy="3417567"/>
          </a:xfrm>
        </p:grpSpPr>
        <p:sp>
          <p:nvSpPr>
            <p:cNvPr id="10" name="圆角矩形标注 11">
              <a:extLst>
                <a:ext uri="{FF2B5EF4-FFF2-40B4-BE49-F238E27FC236}">
                  <a16:creationId xmlns:a16="http://schemas.microsoft.com/office/drawing/2014/main" id="{06575A5B-724F-4573-9E80-68A788A2FC82}"/>
                </a:ext>
              </a:extLst>
            </p:cNvPr>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1" name="矩形 5">
              <a:extLst>
                <a:ext uri="{FF2B5EF4-FFF2-40B4-BE49-F238E27FC236}">
                  <a16:creationId xmlns:a16="http://schemas.microsoft.com/office/drawing/2014/main" id="{8C22BF7A-4BC1-4144-9B36-68D1715B1173}"/>
                </a:ext>
              </a:extLst>
            </p:cNvPr>
            <p:cNvSpPr>
              <a:spLocks noChangeArrowheads="1"/>
            </p:cNvSpPr>
            <p:nvPr/>
          </p:nvSpPr>
          <p:spPr bwMode="auto">
            <a:xfrm>
              <a:off x="5266390" y="2338273"/>
              <a:ext cx="6119415" cy="2810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在</a:t>
              </a:r>
              <a:r>
                <a:rPr lang="zh-CN" altLang="zh-CN" sz="2000">
                  <a:solidFill>
                    <a:srgbClr val="595959"/>
                  </a:solidFill>
                  <a:latin typeface="微软雅黑" panose="020B0503020204020204" pitchFamily="34" charset="-122"/>
                  <a:ea typeface="微软雅黑" panose="020B0503020204020204" pitchFamily="34" charset="-122"/>
                </a:rPr>
                <a:t>实际开发中，当需要匹配除</a:t>
              </a:r>
              <a:r>
                <a:rPr lang="zh-CN" altLang="zh-CN" sz="2000">
                  <a:solidFill>
                    <a:srgbClr val="1369B2"/>
                  </a:solidFill>
                  <a:latin typeface="微软雅黑" panose="020B0503020204020204" pitchFamily="34" charset="-122"/>
                  <a:ea typeface="微软雅黑" panose="020B0503020204020204" pitchFamily="34" charset="-122"/>
                </a:rPr>
                <a:t>换行符（</a:t>
              </a:r>
              <a:r>
                <a:rPr lang="en-US" altLang="zh-CN" sz="2000">
                  <a:solidFill>
                    <a:srgbClr val="1369B2"/>
                  </a:solidFill>
                  <a:latin typeface="微软雅黑" panose="020B0503020204020204" pitchFamily="34" charset="-122"/>
                  <a:ea typeface="微软雅黑" panose="020B0503020204020204" pitchFamily="34" charset="-122"/>
                </a:rPr>
                <a:t>\n</a:t>
              </a:r>
              <a:r>
                <a:rPr lang="zh-CN"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和</a:t>
              </a:r>
              <a:r>
                <a:rPr lang="zh-CN" altLang="zh-CN" sz="2000">
                  <a:solidFill>
                    <a:srgbClr val="1369B2"/>
                  </a:solidFill>
                  <a:latin typeface="微软雅黑" panose="020B0503020204020204" pitchFamily="34" charset="-122"/>
                  <a:ea typeface="微软雅黑" panose="020B0503020204020204" pitchFamily="34" charset="-122"/>
                </a:rPr>
                <a:t>回车符（</a:t>
              </a:r>
              <a:r>
                <a:rPr lang="en-US" altLang="zh-CN" sz="2000">
                  <a:solidFill>
                    <a:srgbClr val="1369B2"/>
                  </a:solidFill>
                  <a:latin typeface="微软雅黑" panose="020B0503020204020204" pitchFamily="34" charset="-122"/>
                  <a:ea typeface="微软雅黑" panose="020B0503020204020204" pitchFamily="34" charset="-122"/>
                </a:rPr>
                <a:t>\r</a:t>
              </a:r>
              <a:r>
                <a:rPr lang="zh-CN"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之外的</a:t>
              </a:r>
              <a:r>
                <a:rPr lang="zh-CN" altLang="zh-CN" sz="2000">
                  <a:solidFill>
                    <a:srgbClr val="1369B2"/>
                  </a:solidFill>
                  <a:latin typeface="微软雅黑" panose="020B0503020204020204" pitchFamily="34" charset="-122"/>
                  <a:ea typeface="微软雅黑" panose="020B0503020204020204" pitchFamily="34" charset="-122"/>
                </a:rPr>
                <a:t>任意单个字符</a:t>
              </a:r>
              <a:r>
                <a:rPr lang="zh-CN" altLang="zh-CN" sz="2000">
                  <a:solidFill>
                    <a:srgbClr val="595959"/>
                  </a:solidFill>
                  <a:latin typeface="微软雅黑" panose="020B0503020204020204" pitchFamily="34" charset="-122"/>
                  <a:ea typeface="微软雅黑" panose="020B0503020204020204" pitchFamily="34" charset="-122"/>
                </a:rPr>
                <a:t>时，可以在正则表达式中使用</a:t>
              </a:r>
              <a:r>
                <a:rPr lang="zh-CN" altLang="zh-CN" sz="2000">
                  <a:solidFill>
                    <a:srgbClr val="1369B2"/>
                  </a:solidFill>
                  <a:latin typeface="微软雅黑" panose="020B0503020204020204" pitchFamily="34" charset="-122"/>
                  <a:ea typeface="微软雅黑" panose="020B0503020204020204" pitchFamily="34" charset="-122"/>
                </a:rPr>
                <a:t>点字符“</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。当需要匹配</a:t>
              </a:r>
              <a:r>
                <a:rPr lang="zh-CN" altLang="zh-CN" sz="2000">
                  <a:solidFill>
                    <a:srgbClr val="1369B2"/>
                  </a:solidFill>
                  <a:latin typeface="微软雅黑" panose="020B0503020204020204" pitchFamily="34" charset="-122"/>
                  <a:ea typeface="微软雅黑" panose="020B0503020204020204" pitchFamily="34" charset="-122"/>
                </a:rPr>
                <a:t>某个连续出现的字符</a:t>
              </a:r>
              <a:r>
                <a:rPr lang="zh-CN" altLang="zh-CN" sz="2000">
                  <a:solidFill>
                    <a:srgbClr val="595959"/>
                  </a:solidFill>
                  <a:latin typeface="微软雅黑" panose="020B0503020204020204" pitchFamily="34" charset="-122"/>
                  <a:ea typeface="微软雅黑" panose="020B0503020204020204" pitchFamily="34" charset="-122"/>
                </a:rPr>
                <a:t>时，可以使用</a:t>
              </a:r>
              <a:r>
                <a:rPr lang="zh-CN" altLang="zh-CN" sz="2000">
                  <a:solidFill>
                    <a:srgbClr val="1369B2"/>
                  </a:solidFill>
                  <a:latin typeface="微软雅黑" panose="020B0503020204020204" pitchFamily="34" charset="-122"/>
                  <a:ea typeface="微软雅黑" panose="020B0503020204020204" pitchFamily="34" charset="-122"/>
                </a:rPr>
                <a:t>限定符</a:t>
              </a:r>
              <a:r>
                <a:rPr lang="zh-CN" altLang="zh-CN" sz="2000">
                  <a:solidFill>
                    <a:srgbClr val="595959"/>
                  </a:solidFill>
                  <a:latin typeface="微软雅黑" panose="020B0503020204020204" pitchFamily="34" charset="-122"/>
                  <a:ea typeface="微软雅黑" panose="020B0503020204020204" pitchFamily="34" charset="-122"/>
                </a:rPr>
                <a:t>。限定符包括</a:t>
              </a:r>
              <a:r>
                <a:rPr lang="zh-CN" altLang="zh-CN"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a:t>
              </a:r>
            </a:p>
          </p:txBody>
        </p:sp>
      </p:grpSp>
      <p:sp>
        <p:nvSpPr>
          <p:cNvPr id="8"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12.3.4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字符和限定符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7014888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774726" y="1016964"/>
            <a:ext cx="5157805"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点字符和限定符的说明</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如</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下</a:t>
            </a:r>
            <a:r>
              <a:rPr lang="zh-CN" altLang="en-US" sz="2000" dirty="0">
                <a:solidFill>
                  <a:srgbClr val="595959"/>
                </a:solidFill>
                <a:latin typeface="微软雅黑" panose="020B0503020204020204" pitchFamily="34" charset="-122"/>
                <a:ea typeface="微软雅黑" panose="020B0503020204020204" pitchFamily="34" charset="-122"/>
                <a:cs typeface="+mn-ea"/>
              </a:rPr>
              <a:t>表所示。</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4" name="表格 3">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1661541916"/>
              </p:ext>
            </p:extLst>
          </p:nvPr>
        </p:nvGraphicFramePr>
        <p:xfrm>
          <a:off x="1774726" y="1845618"/>
          <a:ext cx="8568951" cy="4752528"/>
        </p:xfrm>
        <a:graphic>
          <a:graphicData uri="http://schemas.openxmlformats.org/drawingml/2006/table">
            <a:tbl>
              <a:tblPr>
                <a:tableStyleId>{7DF18680-E054-41AD-8BC1-D1AEF772440D}</a:tableStyleId>
              </a:tblPr>
              <a:tblGrid>
                <a:gridCol w="2059844">
                  <a:extLst>
                    <a:ext uri="{9D8B030D-6E8A-4147-A177-3AD203B41FA5}">
                      <a16:colId xmlns:a16="http://schemas.microsoft.com/office/drawing/2014/main" val="1170750699"/>
                    </a:ext>
                  </a:extLst>
                </a:gridCol>
                <a:gridCol w="6509107">
                  <a:extLst>
                    <a:ext uri="{9D8B030D-6E8A-4147-A177-3AD203B41FA5}">
                      <a16:colId xmlns:a16="http://schemas.microsoft.com/office/drawing/2014/main" val="2318622687"/>
                    </a:ext>
                  </a:extLst>
                </a:gridCol>
              </a:tblGrid>
              <a:tr h="594066">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字符</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说明</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10000"/>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ea"/>
                        </a:rPr>
                        <a:t>匹配除换行符和回车符之外的任意单个字符</a:t>
                      </a:r>
                    </a:p>
                  </a:txBody>
                  <a:tcPr marL="68580" marR="68580" marT="0" marB="0" anchor="ctr">
                    <a:solidFill>
                      <a:srgbClr val="F2F2F2"/>
                    </a:solidFill>
                  </a:tcPr>
                </a:tc>
                <a:extLst>
                  <a:ext uri="{0D108BD9-81ED-4DB2-BD59-A6C34878D82A}">
                    <a16:rowId xmlns:a16="http://schemas.microsoft.com/office/drawing/2014/main" val="141778534"/>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匹配前面的字符零次或一次</a:t>
                      </a:r>
                    </a:p>
                  </a:txBody>
                  <a:tcPr marL="68580" marR="68580" marT="0" marB="0" anchor="ctr">
                    <a:solidFill>
                      <a:srgbClr val="F2F2F2"/>
                    </a:solidFill>
                  </a:tcPr>
                </a:tc>
                <a:extLst>
                  <a:ext uri="{0D108BD9-81ED-4DB2-BD59-A6C34878D82A}">
                    <a16:rowId xmlns:a16="http://schemas.microsoft.com/office/drawing/2014/main" val="1351245817"/>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匹配前面的字符一次或多次</a:t>
                      </a:r>
                    </a:p>
                  </a:txBody>
                  <a:tcPr marL="68580" marR="68580" marT="0" marB="0" anchor="ctr">
                    <a:solidFill>
                      <a:srgbClr val="F2F2F2"/>
                    </a:solidFill>
                  </a:tcPr>
                </a:tc>
                <a:extLst>
                  <a:ext uri="{0D108BD9-81ED-4DB2-BD59-A6C34878D82A}">
                    <a16:rowId xmlns:a16="http://schemas.microsoft.com/office/drawing/2014/main" val="3260076697"/>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匹配前面的字符零次或多次</a:t>
                      </a:r>
                    </a:p>
                  </a:txBody>
                  <a:tcPr marL="68580" marR="68580" marT="0" marB="0" anchor="ctr">
                    <a:solidFill>
                      <a:srgbClr val="F2F2F2"/>
                    </a:solidFill>
                  </a:tcPr>
                </a:tc>
                <a:extLst>
                  <a:ext uri="{0D108BD9-81ED-4DB2-BD59-A6C34878D82A}">
                    <a16:rowId xmlns:a16="http://schemas.microsoft.com/office/drawing/2014/main" val="67477245"/>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{n}</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匹配前面的字符</a:t>
                      </a:r>
                      <a:r>
                        <a:rPr lang="en-US" sz="2000" kern="1200" dirty="0">
                          <a:solidFill>
                            <a:srgbClr val="595959"/>
                          </a:solidFill>
                          <a:latin typeface="微软雅黑" panose="020B0503020204020204" pitchFamily="34" charset="-122"/>
                          <a:ea typeface="微软雅黑" panose="020B0503020204020204" pitchFamily="34" charset="-122"/>
                          <a:cs typeface="+mn-ea"/>
                        </a:rPr>
                        <a:t>n</a:t>
                      </a:r>
                      <a:r>
                        <a:rPr lang="zh-CN" sz="2000" kern="1200" dirty="0">
                          <a:solidFill>
                            <a:srgbClr val="595959"/>
                          </a:solidFill>
                          <a:latin typeface="微软雅黑" panose="020B0503020204020204" pitchFamily="34" charset="-122"/>
                          <a:ea typeface="微软雅黑" panose="020B0503020204020204" pitchFamily="34" charset="-122"/>
                          <a:cs typeface="+mn-ea"/>
                        </a:rPr>
                        <a:t>次</a:t>
                      </a:r>
                    </a:p>
                  </a:txBody>
                  <a:tcPr marL="68580" marR="68580" marT="0" marB="0" anchor="ctr">
                    <a:solidFill>
                      <a:srgbClr val="F2F2F2"/>
                    </a:solidFill>
                  </a:tcPr>
                </a:tc>
                <a:extLst>
                  <a:ext uri="{0D108BD9-81ED-4DB2-BD59-A6C34878D82A}">
                    <a16:rowId xmlns:a16="http://schemas.microsoft.com/office/drawing/2014/main" val="667423117"/>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{n,}</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匹配前面的字符最少</a:t>
                      </a:r>
                      <a:r>
                        <a:rPr lang="en-US" sz="2000" kern="1200" dirty="0">
                          <a:solidFill>
                            <a:srgbClr val="595959"/>
                          </a:solidFill>
                          <a:latin typeface="微软雅黑" panose="020B0503020204020204" pitchFamily="34" charset="-122"/>
                          <a:ea typeface="微软雅黑" panose="020B0503020204020204" pitchFamily="34" charset="-122"/>
                          <a:cs typeface="+mn-ea"/>
                        </a:rPr>
                        <a:t>n</a:t>
                      </a:r>
                      <a:r>
                        <a:rPr lang="zh-CN" sz="2000" kern="1200" dirty="0">
                          <a:solidFill>
                            <a:srgbClr val="595959"/>
                          </a:solidFill>
                          <a:latin typeface="微软雅黑" panose="020B0503020204020204" pitchFamily="34" charset="-122"/>
                          <a:ea typeface="微软雅黑" panose="020B0503020204020204" pitchFamily="34" charset="-122"/>
                          <a:cs typeface="+mn-ea"/>
                        </a:rPr>
                        <a:t>次</a:t>
                      </a:r>
                    </a:p>
                  </a:txBody>
                  <a:tcPr marL="68580" marR="68580" marT="0" marB="0" anchor="ctr">
                    <a:solidFill>
                      <a:srgbClr val="F2F2F2"/>
                    </a:solidFill>
                  </a:tcPr>
                </a:tc>
                <a:extLst>
                  <a:ext uri="{0D108BD9-81ED-4DB2-BD59-A6C34878D82A}">
                    <a16:rowId xmlns:a16="http://schemas.microsoft.com/office/drawing/2014/main" val="1033812120"/>
                  </a:ext>
                </a:extLst>
              </a:tr>
              <a:tr h="594066">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ea"/>
                        </a:rPr>
                        <a:t>{n,m}</a:t>
                      </a:r>
                      <a:endParaRPr lang="zh-CN" sz="2000"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ea"/>
                        </a:rPr>
                        <a:t>匹配前面的字符最少</a:t>
                      </a:r>
                      <a:r>
                        <a:rPr lang="en-US" sz="2000" kern="1200" dirty="0">
                          <a:solidFill>
                            <a:srgbClr val="595959"/>
                          </a:solidFill>
                          <a:latin typeface="微软雅黑" panose="020B0503020204020204" pitchFamily="34" charset="-122"/>
                          <a:ea typeface="微软雅黑" panose="020B0503020204020204" pitchFamily="34" charset="-122"/>
                          <a:cs typeface="+mn-ea"/>
                        </a:rPr>
                        <a:t>n</a:t>
                      </a:r>
                      <a:r>
                        <a:rPr lang="zh-CN" sz="2000" kern="1200" dirty="0">
                          <a:solidFill>
                            <a:srgbClr val="595959"/>
                          </a:solidFill>
                          <a:latin typeface="微软雅黑" panose="020B0503020204020204" pitchFamily="34" charset="-122"/>
                          <a:ea typeface="微软雅黑" panose="020B0503020204020204" pitchFamily="34" charset="-122"/>
                          <a:cs typeface="+mn-ea"/>
                        </a:rPr>
                        <a:t>次，最多</a:t>
                      </a:r>
                      <a:r>
                        <a:rPr lang="en-US" sz="2000" kern="1200" dirty="0">
                          <a:solidFill>
                            <a:srgbClr val="595959"/>
                          </a:solidFill>
                          <a:latin typeface="微软雅黑" panose="020B0503020204020204" pitchFamily="34" charset="-122"/>
                          <a:ea typeface="微软雅黑" panose="020B0503020204020204" pitchFamily="34" charset="-122"/>
                          <a:cs typeface="+mn-ea"/>
                        </a:rPr>
                        <a:t>m</a:t>
                      </a:r>
                      <a:r>
                        <a:rPr lang="zh-CN" sz="2000" kern="1200" dirty="0">
                          <a:solidFill>
                            <a:srgbClr val="595959"/>
                          </a:solidFill>
                          <a:latin typeface="微软雅黑" panose="020B0503020204020204" pitchFamily="34" charset="-122"/>
                          <a:ea typeface="微软雅黑" panose="020B0503020204020204" pitchFamily="34" charset="-122"/>
                          <a:cs typeface="+mn-ea"/>
                        </a:rPr>
                        <a:t>次</a:t>
                      </a:r>
                    </a:p>
                  </a:txBody>
                  <a:tcPr marL="68580" marR="68580" marT="0" marB="0" anchor="b">
                    <a:solidFill>
                      <a:srgbClr val="F2F2F2"/>
                    </a:solidFill>
                  </a:tcPr>
                </a:tc>
                <a:extLst>
                  <a:ext uri="{0D108BD9-81ED-4DB2-BD59-A6C34878D82A}">
                    <a16:rowId xmlns:a16="http://schemas.microsoft.com/office/drawing/2014/main" val="2646535084"/>
                  </a:ext>
                </a:extLst>
              </a:tr>
            </a:tbl>
          </a:graphicData>
        </a:graphic>
      </p:graphicFrame>
      <p:sp>
        <p:nvSpPr>
          <p:cNvPr id="8"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12.3.4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字符和限定符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683878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39188" y="1233566"/>
            <a:ext cx="10284610"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下面通过代码演示如何使用</a:t>
            </a:r>
            <a:r>
              <a:rPr lang="zh-CN" altLang="zh-CN" sz="2000" dirty="0">
                <a:solidFill>
                  <a:srgbClr val="1369B2"/>
                </a:solidFill>
                <a:latin typeface="微软雅黑" panose="020B0503020204020204" pitchFamily="34" charset="-122"/>
                <a:ea typeface="微软雅黑" panose="020B0503020204020204" pitchFamily="34" charset="-122"/>
              </a:rPr>
              <a:t>点字符</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rPr>
              <a:t>限定符</a:t>
            </a:r>
            <a:r>
              <a:rPr lang="zh-CN" altLang="zh-CN" sz="2000" dirty="0">
                <a:solidFill>
                  <a:srgbClr val="595959"/>
                </a:solidFill>
                <a:latin typeface="微软雅黑" panose="020B0503020204020204" pitchFamily="34" charset="-122"/>
                <a:ea typeface="微软雅黑" panose="020B0503020204020204" pitchFamily="34" charset="-122"/>
                <a:cs typeface="+mn-ea"/>
              </a:rPr>
              <a:t>匹配</a:t>
            </a:r>
            <a:r>
              <a:rPr lang="en-US" altLang="zh-CN" sz="2000" dirty="0">
                <a:solidFill>
                  <a:srgbClr val="1369B2"/>
                </a:solidFill>
                <a:latin typeface="微软雅黑" panose="020B0503020204020204" pitchFamily="34" charset="-122"/>
                <a:ea typeface="微软雅黑" panose="020B0503020204020204" pitchFamily="34" charset="-122"/>
              </a:rPr>
              <a:t>h</a:t>
            </a:r>
            <a:r>
              <a:rPr lang="zh-CN" altLang="zh-CN" sz="2000" dirty="0">
                <a:solidFill>
                  <a:srgbClr val="595959"/>
                </a:solidFill>
                <a:latin typeface="微软雅黑" panose="020B0503020204020204" pitchFamily="34" charset="-122"/>
                <a:ea typeface="微软雅黑" panose="020B0503020204020204" pitchFamily="34" charset="-122"/>
                <a:cs typeface="+mn-ea"/>
              </a:rPr>
              <a:t>与</a:t>
            </a:r>
            <a:r>
              <a:rPr lang="en-US" altLang="zh-CN" sz="2000" dirty="0">
                <a:solidFill>
                  <a:srgbClr val="1369B2"/>
                </a:solidFill>
                <a:latin typeface="微软雅黑" panose="020B0503020204020204" pitchFamily="34" charset="-122"/>
                <a:ea typeface="微软雅黑" panose="020B0503020204020204" pitchFamily="34" charset="-122"/>
              </a:rPr>
              <a:t>t</a:t>
            </a:r>
            <a:r>
              <a:rPr lang="zh-CN" altLang="zh-CN" sz="2000" dirty="0">
                <a:solidFill>
                  <a:srgbClr val="595959"/>
                </a:solidFill>
                <a:latin typeface="微软雅黑" panose="020B0503020204020204" pitchFamily="34" charset="-122"/>
                <a:ea typeface="微软雅黑" panose="020B0503020204020204" pitchFamily="34" charset="-122"/>
                <a:cs typeface="+mn-ea"/>
              </a:rPr>
              <a:t>之间除</a:t>
            </a:r>
            <a:r>
              <a:rPr lang="zh-CN" altLang="zh-CN" sz="2000" dirty="0">
                <a:solidFill>
                  <a:srgbClr val="1369B2"/>
                </a:solidFill>
                <a:latin typeface="微软雅黑" panose="020B0503020204020204" pitchFamily="34" charset="-122"/>
                <a:ea typeface="微软雅黑" panose="020B0503020204020204" pitchFamily="34" charset="-122"/>
              </a:rPr>
              <a:t>换行符和回车符之外的任意单个字符</a:t>
            </a:r>
            <a:r>
              <a:rPr lang="zh-CN" altLang="zh-CN" sz="2000" dirty="0">
                <a:solidFill>
                  <a:srgbClr val="595959"/>
                </a:solidFill>
                <a:latin typeface="微软雅黑" panose="020B0503020204020204" pitchFamily="34" charset="-122"/>
                <a:ea typeface="微软雅黑" panose="020B0503020204020204" pitchFamily="34" charset="-122"/>
                <a:cs typeface="+mn-ea"/>
              </a:rPr>
              <a:t>，使用限定符匹配</a:t>
            </a:r>
            <a:r>
              <a:rPr lang="en-US" altLang="zh-CN" sz="2000" dirty="0">
                <a:solidFill>
                  <a:srgbClr val="595959"/>
                </a:solidFill>
                <a:latin typeface="微软雅黑" panose="020B0503020204020204" pitchFamily="34" charset="-122"/>
                <a:ea typeface="微软雅黑" panose="020B0503020204020204" pitchFamily="34" charset="-122"/>
                <a:cs typeface="+mn-ea"/>
              </a:rPr>
              <a:t>h</a:t>
            </a:r>
            <a:r>
              <a:rPr lang="zh-CN" altLang="zh-CN" sz="2000" dirty="0">
                <a:solidFill>
                  <a:srgbClr val="595959"/>
                </a:solidFill>
                <a:latin typeface="微软雅黑" panose="020B0503020204020204" pitchFamily="34" charset="-122"/>
                <a:ea typeface="微软雅黑" panose="020B0503020204020204" pitchFamily="34" charset="-122"/>
                <a:cs typeface="+mn-ea"/>
              </a:rPr>
              <a:t>与</a:t>
            </a:r>
            <a:r>
              <a:rPr lang="en-US" altLang="zh-CN" sz="2000" dirty="0">
                <a:solidFill>
                  <a:srgbClr val="595959"/>
                </a:solidFill>
                <a:latin typeface="微软雅黑" panose="020B0503020204020204" pitchFamily="34" charset="-122"/>
                <a:ea typeface="微软雅黑" panose="020B0503020204020204" pitchFamily="34" charset="-122"/>
                <a:cs typeface="+mn-ea"/>
              </a:rPr>
              <a:t>t</a:t>
            </a:r>
            <a:r>
              <a:rPr lang="zh-CN" altLang="zh-CN" sz="2000" dirty="0">
                <a:solidFill>
                  <a:srgbClr val="595959"/>
                </a:solidFill>
                <a:latin typeface="微软雅黑" panose="020B0503020204020204" pitchFamily="34" charset="-122"/>
                <a:ea typeface="微软雅黑" panose="020B0503020204020204" pitchFamily="34" charset="-122"/>
                <a:cs typeface="+mn-ea"/>
              </a:rPr>
              <a:t>之间的</a:t>
            </a:r>
            <a:r>
              <a:rPr lang="zh-CN" altLang="zh-CN" sz="2000" dirty="0">
                <a:solidFill>
                  <a:srgbClr val="1369B2"/>
                </a:solidFill>
                <a:latin typeface="微软雅黑" panose="020B0503020204020204" pitchFamily="34" charset="-122"/>
                <a:ea typeface="微软雅黑" panose="020B0503020204020204" pitchFamily="34" charset="-122"/>
              </a:rPr>
              <a:t>字符</a:t>
            </a:r>
            <a:r>
              <a:rPr lang="en-US" altLang="zh-CN" sz="2000" dirty="0" err="1" smtClean="0">
                <a:solidFill>
                  <a:srgbClr val="1369B2"/>
                </a:solidFill>
                <a:latin typeface="微软雅黑" panose="020B0503020204020204" pitchFamily="34" charset="-122"/>
                <a:ea typeface="微软雅黑" panose="020B0503020204020204" pitchFamily="34" charset="-122"/>
              </a:rPr>
              <a:t>i</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文本框 8">
            <a:extLst>
              <a:ext uri="{FF2B5EF4-FFF2-40B4-BE49-F238E27FC236}">
                <a16:creationId xmlns:a16="http://schemas.microsoft.com/office/drawing/2014/main" id="{2BD7E020-D0A4-47DE-BE0C-F3967B274E91}"/>
              </a:ext>
            </a:extLst>
          </p:cNvPr>
          <p:cNvSpPr txBox="1"/>
          <p:nvPr/>
        </p:nvSpPr>
        <p:spPr>
          <a:xfrm>
            <a:off x="1414686" y="2565698"/>
            <a:ext cx="9433048" cy="3323987"/>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hit'.match</a:t>
            </a:r>
            <a:r>
              <a:rPr lang="en-US" altLang="zh-CN" sz="2000" dirty="0">
                <a:solidFill>
                  <a:srgbClr val="595959"/>
                </a:solidFill>
                <a:latin typeface="微软雅黑" panose="020B0503020204020204" pitchFamily="34" charset="-122"/>
                <a:ea typeface="微软雅黑" panose="020B0503020204020204" pitchFamily="34" charset="-122"/>
                <a:cs typeface="+mn-ea"/>
              </a:rPr>
              <a:t>(/h.t/g));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['hit']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hiit</a:t>
            </a:r>
            <a:r>
              <a:rPr lang="en-US" altLang="zh-CN" sz="2000" dirty="0">
                <a:solidFill>
                  <a:srgbClr val="595959"/>
                </a:solidFill>
                <a:latin typeface="微软雅黑" panose="020B0503020204020204" pitchFamily="34" charset="-122"/>
                <a:ea typeface="微软雅黑" panose="020B0503020204020204" pitchFamily="34" charset="-122"/>
                <a:cs typeface="+mn-ea"/>
              </a:rPr>
              <a:t>'.match(/</a:t>
            </a:r>
            <a:r>
              <a:rPr lang="en-US" altLang="zh-CN" sz="2000" dirty="0" err="1">
                <a:solidFill>
                  <a:srgbClr val="595959"/>
                </a:solidFill>
                <a:latin typeface="微软雅黑" panose="020B0503020204020204" pitchFamily="34" charset="-122"/>
                <a:ea typeface="微软雅黑" panose="020B0503020204020204" pitchFamily="34" charset="-122"/>
                <a:cs typeface="+mn-ea"/>
              </a:rPr>
              <a:t>hi?t</a:t>
            </a:r>
            <a:r>
              <a:rPr lang="en-US" altLang="zh-CN" sz="2000" dirty="0">
                <a:solidFill>
                  <a:srgbClr val="595959"/>
                </a:solidFill>
                <a:latin typeface="微软雅黑" panose="020B0503020204020204" pitchFamily="34" charset="-122"/>
                <a:ea typeface="微软雅黑" panose="020B0503020204020204" pitchFamily="34" charset="-122"/>
                <a:cs typeface="+mn-ea"/>
              </a:rPr>
              <a:t>/g));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null</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hiit</a:t>
            </a:r>
            <a:r>
              <a:rPr lang="en-US" altLang="zh-CN" sz="2000" dirty="0">
                <a:solidFill>
                  <a:srgbClr val="595959"/>
                </a:solidFill>
                <a:latin typeface="微软雅黑" panose="020B0503020204020204" pitchFamily="34" charset="-122"/>
                <a:ea typeface="微软雅黑" panose="020B0503020204020204" pitchFamily="34" charset="-122"/>
                <a:cs typeface="+mn-ea"/>
              </a:rPr>
              <a:t>'.match(/</a:t>
            </a:r>
            <a:r>
              <a:rPr lang="en-US" altLang="zh-CN" sz="2000" dirty="0" err="1">
                <a:solidFill>
                  <a:srgbClr val="595959"/>
                </a:solidFill>
                <a:latin typeface="微软雅黑" panose="020B0503020204020204" pitchFamily="34" charset="-122"/>
                <a:ea typeface="微软雅黑" panose="020B0503020204020204" pitchFamily="34" charset="-122"/>
                <a:cs typeface="+mn-ea"/>
              </a:rPr>
              <a:t>hi+t</a:t>
            </a:r>
            <a:r>
              <a:rPr lang="en-US" altLang="zh-CN" sz="2000" dirty="0">
                <a:solidFill>
                  <a:srgbClr val="595959"/>
                </a:solidFill>
                <a:latin typeface="微软雅黑" panose="020B0503020204020204" pitchFamily="34" charset="-122"/>
                <a:ea typeface="微软雅黑" panose="020B0503020204020204" pitchFamily="34" charset="-122"/>
                <a:cs typeface="+mn-ea"/>
              </a:rPr>
              <a:t>/g));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hiit</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ht</a:t>
            </a:r>
            <a:r>
              <a:rPr lang="en-US" altLang="zh-CN" sz="2000" dirty="0">
                <a:solidFill>
                  <a:srgbClr val="595959"/>
                </a:solidFill>
                <a:latin typeface="微软雅黑" panose="020B0503020204020204" pitchFamily="34" charset="-122"/>
                <a:ea typeface="微软雅黑" panose="020B0503020204020204" pitchFamily="34" charset="-122"/>
                <a:cs typeface="+mn-ea"/>
              </a:rPr>
              <a:t>'.match(/hi*t/g));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ht</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hit'.match</a:t>
            </a:r>
            <a:r>
              <a:rPr lang="en-US" altLang="zh-CN" sz="2000" dirty="0">
                <a:solidFill>
                  <a:srgbClr val="595959"/>
                </a:solidFill>
                <a:latin typeface="微软雅黑" panose="020B0503020204020204" pitchFamily="34" charset="-122"/>
                <a:ea typeface="微软雅黑" panose="020B0503020204020204" pitchFamily="34" charset="-122"/>
                <a:cs typeface="+mn-ea"/>
              </a:rPr>
              <a:t>(/hi{1}t/g));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['hit']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hiit</a:t>
            </a:r>
            <a:r>
              <a:rPr lang="en-US" altLang="zh-CN" sz="2000" dirty="0">
                <a:solidFill>
                  <a:srgbClr val="595959"/>
                </a:solidFill>
                <a:latin typeface="微软雅黑" panose="020B0503020204020204" pitchFamily="34" charset="-122"/>
                <a:ea typeface="微软雅黑" panose="020B0503020204020204" pitchFamily="34" charset="-122"/>
                <a:cs typeface="+mn-ea"/>
              </a:rPr>
              <a:t>'.match(/hi{1,}t/g));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hiit</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hiiit</a:t>
            </a:r>
            <a:r>
              <a:rPr lang="en-US" altLang="zh-CN" sz="2000" dirty="0">
                <a:solidFill>
                  <a:srgbClr val="595959"/>
                </a:solidFill>
                <a:latin typeface="微软雅黑" panose="020B0503020204020204" pitchFamily="34" charset="-122"/>
                <a:ea typeface="微软雅黑" panose="020B0503020204020204" pitchFamily="34" charset="-122"/>
                <a:cs typeface="+mn-ea"/>
              </a:rPr>
              <a:t>'.match(/hi{1,3}t/g));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hiiit</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12.3.4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字符和限定符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635947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592096" y="1607165"/>
            <a:ext cx="3715858" cy="4006159"/>
          </a:xfrm>
          <a:prstGeom prst="rect">
            <a:avLst/>
          </a:prstGeom>
        </p:spPr>
      </p:pic>
      <p:sp>
        <p:nvSpPr>
          <p:cNvPr id="9" name="Shape 2015"/>
          <p:cNvSpPr/>
          <p:nvPr/>
        </p:nvSpPr>
        <p:spPr>
          <a:xfrm>
            <a:off x="4583038" y="2133649"/>
            <a:ext cx="6768752" cy="2376265"/>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nvSpPr>
        <p:spPr>
          <a:xfrm>
            <a:off x="4799062" y="2349674"/>
            <a:ext cx="6390710" cy="1938992"/>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当</a:t>
            </a:r>
            <a:r>
              <a:rPr lang="zh-CN" altLang="zh-CN" sz="2000">
                <a:solidFill>
                  <a:srgbClr val="595959"/>
                </a:solidFill>
                <a:latin typeface="微软雅黑" panose="020B0503020204020204" pitchFamily="34" charset="-122"/>
                <a:ea typeface="微软雅黑" panose="020B0503020204020204" pitchFamily="34" charset="-122"/>
                <a:cs typeface="+mn-ea"/>
              </a:rPr>
              <a:t>同时使用</a:t>
            </a:r>
            <a:r>
              <a:rPr lang="zh-CN" altLang="zh-CN" sz="2000">
                <a:solidFill>
                  <a:srgbClr val="1369B2"/>
                </a:solidFill>
                <a:latin typeface="微软雅黑" panose="020B0503020204020204" pitchFamily="34" charset="-122"/>
                <a:ea typeface="微软雅黑" panose="020B0503020204020204" pitchFamily="34" charset="-122"/>
              </a:rPr>
              <a:t>点字符</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rPr>
              <a:t>限定符</a:t>
            </a:r>
            <a:r>
              <a:rPr lang="zh-CN" altLang="zh-CN" sz="2000">
                <a:solidFill>
                  <a:srgbClr val="595959"/>
                </a:solidFill>
                <a:latin typeface="微软雅黑" panose="020B0503020204020204" pitchFamily="34" charset="-122"/>
                <a:ea typeface="微软雅黑" panose="020B0503020204020204" pitchFamily="34" charset="-122"/>
                <a:cs typeface="+mn-ea"/>
              </a:rPr>
              <a:t>时，可以实现匹配</a:t>
            </a:r>
            <a:r>
              <a:rPr lang="zh-CN" altLang="zh-CN" sz="2000">
                <a:solidFill>
                  <a:srgbClr val="1369B2"/>
                </a:solidFill>
                <a:latin typeface="微软雅黑" panose="020B0503020204020204" pitchFamily="34" charset="-122"/>
                <a:ea typeface="微软雅黑" panose="020B0503020204020204" pitchFamily="34" charset="-122"/>
              </a:rPr>
              <a:t>指定数量范围的任意字符</a:t>
            </a:r>
            <a:r>
              <a:rPr lang="zh-CN" altLang="zh-CN" sz="2000">
                <a:solidFill>
                  <a:srgbClr val="595959"/>
                </a:solidFill>
                <a:latin typeface="微软雅黑" panose="020B0503020204020204" pitchFamily="34" charset="-122"/>
                <a:ea typeface="微软雅黑" panose="020B0503020204020204" pitchFamily="34" charset="-122"/>
                <a:cs typeface="+mn-ea"/>
              </a:rPr>
              <a:t>。例如，正则表达式</a:t>
            </a:r>
            <a:r>
              <a:rPr lang="zh-CN" altLang="zh-CN"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/hello.*world/</a:t>
            </a:r>
            <a:r>
              <a:rPr lang="zh-CN"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可以匹配</a:t>
            </a:r>
            <a:r>
              <a:rPr lang="en-US" altLang="zh-CN" sz="2000">
                <a:solidFill>
                  <a:srgbClr val="1369B2"/>
                </a:solidFill>
                <a:latin typeface="微软雅黑" panose="020B0503020204020204" pitchFamily="34" charset="-122"/>
                <a:ea typeface="微软雅黑" panose="020B0503020204020204" pitchFamily="34" charset="-122"/>
              </a:rPr>
              <a:t>hello</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en-US" altLang="zh-CN" sz="2000">
                <a:solidFill>
                  <a:srgbClr val="1369B2"/>
                </a:solidFill>
                <a:latin typeface="微软雅黑" panose="020B0503020204020204" pitchFamily="34" charset="-122"/>
                <a:ea typeface="微软雅黑" panose="020B0503020204020204" pitchFamily="34" charset="-122"/>
              </a:rPr>
              <a:t>world</a:t>
            </a:r>
            <a:r>
              <a:rPr lang="zh-CN" altLang="zh-CN" sz="2000">
                <a:solidFill>
                  <a:srgbClr val="595959"/>
                </a:solidFill>
                <a:latin typeface="微软雅黑" panose="020B0503020204020204" pitchFamily="34" charset="-122"/>
                <a:ea typeface="微软雅黑" panose="020B0503020204020204" pitchFamily="34" charset="-122"/>
                <a:cs typeface="+mn-ea"/>
              </a:rPr>
              <a:t>之间包含</a:t>
            </a:r>
            <a:r>
              <a:rPr lang="zh-CN" altLang="zh-CN" sz="2000">
                <a:solidFill>
                  <a:srgbClr val="1369B2"/>
                </a:solidFill>
                <a:latin typeface="微软雅黑" panose="020B0503020204020204" pitchFamily="34" charset="-122"/>
                <a:ea typeface="微软雅黑" panose="020B0503020204020204" pitchFamily="34" charset="-122"/>
              </a:rPr>
              <a:t>零个或多个任意字符</a:t>
            </a:r>
            <a:r>
              <a:rPr lang="zh-CN" altLang="zh-CN" sz="2000">
                <a:solidFill>
                  <a:srgbClr val="595959"/>
                </a:solidFill>
                <a:latin typeface="微软雅黑" panose="020B0503020204020204" pitchFamily="34" charset="-122"/>
                <a:ea typeface="微软雅黑" panose="020B0503020204020204" pitchFamily="34" charset="-122"/>
                <a:cs typeface="+mn-ea"/>
              </a:rPr>
              <a:t>（不包括换行符、回车符）的字符串。</a:t>
            </a:r>
          </a:p>
        </p:txBody>
      </p:sp>
      <p:sp>
        <p:nvSpPr>
          <p:cNvPr id="7"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12.3.4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字符和限定符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932648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18642" y="1241484"/>
            <a:ext cx="10369152"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在实现指定数量范围的</a:t>
            </a:r>
            <a:r>
              <a:rPr lang="zh-CN" altLang="zh-CN" sz="2000" dirty="0">
                <a:solidFill>
                  <a:srgbClr val="1369B2"/>
                </a:solidFill>
                <a:latin typeface="微软雅黑" panose="020B0503020204020204" pitchFamily="34" charset="-122"/>
                <a:ea typeface="微软雅黑" panose="020B0503020204020204" pitchFamily="34" charset="-122"/>
              </a:rPr>
              <a:t>任意字符匹配</a:t>
            </a:r>
            <a:r>
              <a:rPr lang="zh-CN" altLang="zh-CN" sz="2000" dirty="0">
                <a:solidFill>
                  <a:srgbClr val="595959"/>
                </a:solidFill>
                <a:latin typeface="微软雅黑" panose="020B0503020204020204" pitchFamily="34" charset="-122"/>
                <a:ea typeface="微软雅黑" panose="020B0503020204020204" pitchFamily="34" charset="-122"/>
                <a:cs typeface="+mn-ea"/>
              </a:rPr>
              <a:t>时，支持</a:t>
            </a:r>
            <a:r>
              <a:rPr lang="zh-CN" altLang="zh-CN" sz="2000" dirty="0">
                <a:solidFill>
                  <a:srgbClr val="1369B2"/>
                </a:solidFill>
                <a:latin typeface="微软雅黑" panose="020B0503020204020204" pitchFamily="34" charset="-122"/>
                <a:ea typeface="微软雅黑" panose="020B0503020204020204" pitchFamily="34" charset="-122"/>
              </a:rPr>
              <a:t>贪婪匹配</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和</a:t>
            </a:r>
            <a:r>
              <a:rPr lang="zh-CN" altLang="zh-CN" sz="2000" dirty="0" smtClean="0">
                <a:solidFill>
                  <a:srgbClr val="1369B2"/>
                </a:solidFill>
                <a:latin typeface="微软雅黑" panose="020B0503020204020204" pitchFamily="34" charset="-122"/>
                <a:ea typeface="微软雅黑" panose="020B0503020204020204" pitchFamily="34" charset="-122"/>
              </a:rPr>
              <a:t>懒惰匹配</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两种</a:t>
            </a:r>
            <a:r>
              <a:rPr lang="zh-CN" altLang="zh-CN" sz="2000" dirty="0">
                <a:solidFill>
                  <a:srgbClr val="595959"/>
                </a:solidFill>
                <a:latin typeface="微软雅黑" panose="020B0503020204020204" pitchFamily="34" charset="-122"/>
                <a:ea typeface="微软雅黑" panose="020B0503020204020204" pitchFamily="34" charset="-122"/>
                <a:cs typeface="+mn-ea"/>
              </a:rPr>
              <a:t>方式。贪婪匹配表示</a:t>
            </a:r>
            <a:r>
              <a:rPr lang="zh-CN" altLang="zh-CN" sz="2000" dirty="0">
                <a:solidFill>
                  <a:srgbClr val="1369B2"/>
                </a:solidFill>
                <a:latin typeface="微软雅黑" panose="020B0503020204020204" pitchFamily="34" charset="-122"/>
                <a:ea typeface="微软雅黑" panose="020B0503020204020204" pitchFamily="34" charset="-122"/>
              </a:rPr>
              <a:t>匹配尽可能多的字符</a:t>
            </a:r>
            <a:r>
              <a:rPr lang="zh-CN" altLang="zh-CN" sz="2000" dirty="0">
                <a:solidFill>
                  <a:srgbClr val="595959"/>
                </a:solidFill>
                <a:latin typeface="微软雅黑" panose="020B0503020204020204" pitchFamily="34" charset="-122"/>
                <a:ea typeface="微软雅黑" panose="020B0503020204020204" pitchFamily="34" charset="-122"/>
                <a:cs typeface="+mn-ea"/>
              </a:rPr>
              <a:t>，懒惰匹配表示</a:t>
            </a:r>
            <a:r>
              <a:rPr lang="zh-CN" altLang="zh-CN" sz="2000" dirty="0">
                <a:solidFill>
                  <a:srgbClr val="1369B2"/>
                </a:solidFill>
                <a:latin typeface="微软雅黑" panose="020B0503020204020204" pitchFamily="34" charset="-122"/>
                <a:ea typeface="微软雅黑" panose="020B0503020204020204" pitchFamily="34" charset="-122"/>
              </a:rPr>
              <a:t>匹配尽可能少的字符</a:t>
            </a:r>
            <a:r>
              <a:rPr lang="zh-CN" altLang="zh-CN" sz="2000" dirty="0">
                <a:solidFill>
                  <a:srgbClr val="595959"/>
                </a:solidFill>
                <a:latin typeface="微软雅黑" panose="020B0503020204020204" pitchFamily="34" charset="-122"/>
                <a:ea typeface="微软雅黑" panose="020B0503020204020204" pitchFamily="34" charset="-122"/>
                <a:cs typeface="+mn-ea"/>
              </a:rPr>
              <a:t>。正则表达式默认是</a:t>
            </a:r>
            <a:r>
              <a:rPr lang="zh-CN" altLang="zh-CN" sz="2000" dirty="0">
                <a:solidFill>
                  <a:srgbClr val="1369B2"/>
                </a:solidFill>
                <a:latin typeface="微软雅黑" panose="020B0503020204020204" pitchFamily="34" charset="-122"/>
                <a:ea typeface="微软雅黑" panose="020B0503020204020204" pitchFamily="34" charset="-122"/>
              </a:rPr>
              <a:t>贪婪匹配</a:t>
            </a:r>
            <a:r>
              <a:rPr lang="zh-CN" altLang="zh-CN" sz="2000" dirty="0">
                <a:solidFill>
                  <a:srgbClr val="595959"/>
                </a:solidFill>
                <a:latin typeface="微软雅黑" panose="020B0503020204020204" pitchFamily="34" charset="-122"/>
                <a:ea typeface="微软雅黑" panose="020B0503020204020204" pitchFamily="34" charset="-122"/>
                <a:cs typeface="+mn-ea"/>
              </a:rPr>
              <a:t>，当需要使用懒惰匹配时，可以在限定符的后面加上</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smtClean="0">
                <a:solidFill>
                  <a:srgbClr val="1369B2"/>
                </a:solidFill>
                <a:latin typeface="微软雅黑" panose="020B0503020204020204" pitchFamily="34" charset="-122"/>
                <a:ea typeface="微软雅黑" panose="020B0503020204020204" pitchFamily="34" charset="-122"/>
              </a:rPr>
              <a:t>?</a:t>
            </a:r>
            <a:r>
              <a:rPr lang="zh-CN" altLang="zh-CN" sz="2000" dirty="0" smtClean="0">
                <a:solidFill>
                  <a:srgbClr val="1369B2"/>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文本框 8">
            <a:extLst>
              <a:ext uri="{FF2B5EF4-FFF2-40B4-BE49-F238E27FC236}">
                <a16:creationId xmlns:a16="http://schemas.microsoft.com/office/drawing/2014/main" id="{2BD7E020-D0A4-47DE-BE0C-F3967B274E91}"/>
              </a:ext>
            </a:extLst>
          </p:cNvPr>
          <p:cNvSpPr txBox="1"/>
          <p:nvPr/>
        </p:nvSpPr>
        <p:spPr>
          <a:xfrm>
            <a:off x="1702718" y="3069754"/>
            <a:ext cx="9001000" cy="2400657"/>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en-US" altLang="zh-CN" sz="2000" dirty="0" err="1">
                <a:solidFill>
                  <a:srgbClr val="595959"/>
                </a:solidFill>
                <a:latin typeface="微软雅黑" panose="020B0503020204020204" pitchFamily="34" charset="-122"/>
                <a:ea typeface="微软雅黑" panose="020B0503020204020204" pitchFamily="34" charset="-122"/>
                <a:cs typeface="+mn-ea"/>
              </a:rPr>
              <a:t>webWEB</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reg1 = /w.*b/</a:t>
            </a:r>
            <a:r>
              <a:rPr lang="en-US" altLang="zh-CN" sz="2000" dirty="0" err="1">
                <a:solidFill>
                  <a:srgbClr val="595959"/>
                </a:solidFill>
                <a:latin typeface="微软雅黑" panose="020B0503020204020204" pitchFamily="34" charset="-122"/>
                <a:ea typeface="微软雅黑" panose="020B0503020204020204" pitchFamily="34" charset="-122"/>
                <a:cs typeface="+mn-ea"/>
              </a:rPr>
              <a:t>ig</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贪婪匹配</a:t>
            </a: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str.match</a:t>
            </a:r>
            <a:r>
              <a:rPr lang="en-US" altLang="zh-CN" sz="2000" dirty="0">
                <a:solidFill>
                  <a:srgbClr val="595959"/>
                </a:solidFill>
                <a:latin typeface="微软雅黑" panose="020B0503020204020204" pitchFamily="34" charset="-122"/>
                <a:ea typeface="微软雅黑" panose="020B0503020204020204" pitchFamily="34" charset="-122"/>
                <a:cs typeface="+mn-ea"/>
              </a:rPr>
              <a:t>(reg1));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webWEB</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reg2 = /w.*?b/</a:t>
            </a:r>
            <a:r>
              <a:rPr lang="en-US" altLang="zh-CN" sz="2000" dirty="0" err="1">
                <a:solidFill>
                  <a:srgbClr val="595959"/>
                </a:solidFill>
                <a:latin typeface="微软雅黑" panose="020B0503020204020204" pitchFamily="34" charset="-122"/>
                <a:ea typeface="微软雅黑" panose="020B0503020204020204" pitchFamily="34" charset="-122"/>
                <a:cs typeface="+mn-ea"/>
              </a:rPr>
              <a:t>ig</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懒惰匹配</a:t>
            </a: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str.match</a:t>
            </a:r>
            <a:r>
              <a:rPr lang="en-US" altLang="zh-CN" sz="2000" dirty="0">
                <a:solidFill>
                  <a:srgbClr val="595959"/>
                </a:solidFill>
                <a:latin typeface="微软雅黑" panose="020B0503020204020204" pitchFamily="34" charset="-122"/>
                <a:ea typeface="微软雅黑" panose="020B0503020204020204" pitchFamily="34" charset="-122"/>
                <a:cs typeface="+mn-ea"/>
              </a:rPr>
              <a:t>(reg2));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(2) ['web', 'WEB']</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12.3.4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字符和限定符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5924715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smtClean="0">
                <a:solidFill>
                  <a:srgbClr val="1369B2"/>
                </a:solidFill>
                <a:latin typeface="微软雅黑" panose="020B0503020204020204" pitchFamily="34" charset="-122"/>
                <a:ea typeface="微软雅黑" panose="020B0503020204020204" pitchFamily="34" charset="-122"/>
                <a:cs typeface="+mn-ea"/>
              </a:rPr>
              <a:t>正则表达式中</a:t>
            </a:r>
            <a:r>
              <a:rPr lang="zh-CN" altLang="en-US" sz="2000">
                <a:solidFill>
                  <a:srgbClr val="1369B2"/>
                </a:solidFill>
                <a:latin typeface="微软雅黑" panose="020B0503020204020204" pitchFamily="34" charset="-122"/>
                <a:ea typeface="微软雅黑" panose="020B0503020204020204" pitchFamily="34" charset="-122"/>
                <a:cs typeface="+mn-ea"/>
              </a:rPr>
              <a:t>竖线</a:t>
            </a:r>
            <a:r>
              <a:rPr lang="zh-CN" altLang="en-US" sz="2000" smtClean="0">
                <a:solidFill>
                  <a:srgbClr val="1369B2"/>
                </a:solidFill>
                <a:latin typeface="微软雅黑" panose="020B0503020204020204" pitchFamily="34" charset="-122"/>
                <a:ea typeface="微软雅黑" panose="020B0503020204020204" pitchFamily="34" charset="-122"/>
                <a:cs typeface="+mn-ea"/>
              </a:rPr>
              <a:t>和小括号</a:t>
            </a:r>
            <a:r>
              <a:rPr lang="zh-CN" altLang="zh-CN" sz="2000" smtClean="0">
                <a:solidFill>
                  <a:srgbClr val="1369B2"/>
                </a:solidFill>
                <a:latin typeface="微软雅黑" panose="020B0503020204020204" pitchFamily="34" charset="-122"/>
                <a:ea typeface="微软雅黑" panose="020B0503020204020204" pitchFamily="34" charset="-122"/>
                <a:cs typeface="+mn-ea"/>
              </a:rPr>
              <a:t>的</a:t>
            </a:r>
            <a:r>
              <a:rPr lang="zh-CN" altLang="zh-CN" sz="2000">
                <a:solidFill>
                  <a:srgbClr val="1369B2"/>
                </a:solidFill>
                <a:latin typeface="微软雅黑" panose="020B0503020204020204" pitchFamily="34" charset="-122"/>
                <a:ea typeface="微软雅黑" panose="020B0503020204020204" pitchFamily="34" charset="-122"/>
                <a:cs typeface="+mn-ea"/>
              </a:rPr>
              <a:t>使用</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smtClean="0">
                <a:solidFill>
                  <a:srgbClr val="595959"/>
                </a:solidFill>
                <a:latin typeface="微软雅黑" panose="020B0503020204020204" pitchFamily="34" charset="-122"/>
                <a:ea typeface="微软雅黑" panose="020B0503020204020204" pitchFamily="34" charset="-122"/>
                <a:cs typeface="+mn-ea"/>
              </a:rPr>
              <a:t>灵活应用</a:t>
            </a:r>
            <a:r>
              <a:rPr lang="zh-CN" altLang="en-US" sz="2000">
                <a:solidFill>
                  <a:srgbClr val="1369B2"/>
                </a:solidFill>
                <a:latin typeface="微软雅黑" panose="020B0503020204020204" pitchFamily="34" charset="-122"/>
                <a:ea typeface="微软雅黑" panose="020B0503020204020204" pitchFamily="34" charset="-122"/>
                <a:cs typeface="+mn-ea"/>
              </a:rPr>
              <a:t>竖线</a:t>
            </a:r>
            <a:r>
              <a:rPr lang="zh-CN" altLang="en-US" sz="2000" smtClean="0">
                <a:solidFill>
                  <a:srgbClr val="595959"/>
                </a:solidFill>
                <a:latin typeface="微软雅黑" panose="020B0503020204020204" pitchFamily="34" charset="-122"/>
                <a:ea typeface="微软雅黑" panose="020B0503020204020204" pitchFamily="34" charset="-122"/>
                <a:cs typeface="+mn-ea"/>
              </a:rPr>
              <a:t>和</a:t>
            </a:r>
            <a:r>
              <a:rPr lang="zh-CN" altLang="en-US" sz="2000" smtClean="0">
                <a:solidFill>
                  <a:srgbClr val="1369B2"/>
                </a:solidFill>
                <a:latin typeface="微软雅黑" panose="020B0503020204020204" pitchFamily="34" charset="-122"/>
                <a:ea typeface="微软雅黑" panose="020B0503020204020204" pitchFamily="34" charset="-122"/>
                <a:cs typeface="+mn-ea"/>
              </a:rPr>
              <a:t>小括号</a:t>
            </a:r>
            <a:r>
              <a:rPr lang="zh-CN" altLang="en-US" sz="2000">
                <a:solidFill>
                  <a:srgbClr val="595959"/>
                </a:solidFill>
                <a:latin typeface="微软雅黑" panose="020B0503020204020204" pitchFamily="34" charset="-122"/>
                <a:ea typeface="微软雅黑" panose="020B0503020204020204" pitchFamily="34" charset="-122"/>
                <a:cs typeface="+mn-ea"/>
              </a:rPr>
              <a:t>匹配字符串</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0"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843301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82638" y="1365385"/>
            <a:ext cx="10297144" cy="1477328"/>
          </a:xfrm>
          <a:prstGeom prst="rect">
            <a:avLst/>
          </a:prstGeom>
        </p:spPr>
        <p:txBody>
          <a:bodyPr wrap="square">
            <a:spAutoFit/>
          </a:bodyPr>
          <a:lstStyle/>
          <a:p>
            <a:pPr>
              <a:lnSpc>
                <a:spcPct val="150000"/>
              </a:lnSpc>
            </a:pPr>
            <a:r>
              <a:rPr lang="zh-CN" altLang="zh-CN" sz="2000" dirty="0" smtClean="0">
                <a:solidFill>
                  <a:srgbClr val="1369B2"/>
                </a:solidFill>
                <a:latin typeface="微软雅黑" panose="020B0503020204020204" pitchFamily="34" charset="-122"/>
                <a:ea typeface="微软雅黑" panose="020B0503020204020204" pitchFamily="34" charset="-122"/>
              </a:rPr>
              <a:t>竖线</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rPr>
              <a:t>或</a:t>
            </a:r>
            <a:r>
              <a:rPr lang="zh-CN" altLang="zh-CN" sz="2000" dirty="0">
                <a:solidFill>
                  <a:srgbClr val="595959"/>
                </a:solidFill>
                <a:latin typeface="微软雅黑" panose="020B0503020204020204" pitchFamily="34" charset="-122"/>
                <a:ea typeface="微软雅黑" panose="020B0503020204020204" pitchFamily="34" charset="-122"/>
                <a:cs typeface="+mn-ea"/>
              </a:rPr>
              <a:t>，当需要匹配的字符串有</a:t>
            </a:r>
            <a:r>
              <a:rPr lang="zh-CN" altLang="zh-CN" sz="2000" dirty="0">
                <a:solidFill>
                  <a:srgbClr val="1369B2"/>
                </a:solidFill>
                <a:latin typeface="微软雅黑" panose="020B0503020204020204" pitchFamily="34" charset="-122"/>
                <a:ea typeface="微软雅黑" panose="020B0503020204020204" pitchFamily="34" charset="-122"/>
              </a:rPr>
              <a:t>多个条件</a:t>
            </a:r>
            <a:r>
              <a:rPr lang="zh-CN" altLang="zh-CN" sz="2000" dirty="0">
                <a:solidFill>
                  <a:srgbClr val="595959"/>
                </a:solidFill>
                <a:latin typeface="微软雅黑" panose="020B0503020204020204" pitchFamily="34" charset="-122"/>
                <a:ea typeface="微软雅黑" panose="020B0503020204020204" pitchFamily="34" charset="-122"/>
                <a:cs typeface="+mn-ea"/>
              </a:rPr>
              <a:t>时，可以在正则表达式中使用竖线“</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”连接前后两个条件。例如，正则表达式</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hi|ha</a:t>
            </a:r>
            <a:r>
              <a:rPr lang="en-US" altLang="zh-CN" sz="2000" dirty="0">
                <a:solidFill>
                  <a:srgbClr val="1369B2"/>
                </a:solidFill>
                <a:latin typeface="微软雅黑" panose="020B0503020204020204" pitchFamily="34" charset="-122"/>
                <a:ea typeface="微软雅黑" panose="020B0503020204020204" pitchFamily="34" charset="-122"/>
              </a:rPr>
              <a:t>/g</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表示匹配</a:t>
            </a:r>
            <a:r>
              <a:rPr lang="en-US" altLang="zh-CN" sz="2000" dirty="0">
                <a:solidFill>
                  <a:srgbClr val="1369B2"/>
                </a:solidFill>
                <a:latin typeface="微软雅黑" panose="020B0503020204020204" pitchFamily="34" charset="-122"/>
                <a:ea typeface="微软雅黑" panose="020B0503020204020204" pitchFamily="34" charset="-122"/>
              </a:rPr>
              <a:t>hi</a:t>
            </a:r>
            <a:r>
              <a:rPr lang="zh-CN" altLang="zh-CN" sz="2000" dirty="0">
                <a:solidFill>
                  <a:srgbClr val="595959"/>
                </a:solidFill>
                <a:latin typeface="微软雅黑" panose="020B0503020204020204" pitchFamily="34" charset="-122"/>
                <a:ea typeface="微软雅黑" panose="020B0503020204020204" pitchFamily="34" charset="-122"/>
                <a:cs typeface="+mn-ea"/>
              </a:rPr>
              <a:t>或</a:t>
            </a:r>
            <a:r>
              <a:rPr lang="en-US" altLang="zh-CN" sz="2000" dirty="0">
                <a:solidFill>
                  <a:srgbClr val="1369B2"/>
                </a:solidFill>
                <a:latin typeface="微软雅黑" panose="020B0503020204020204" pitchFamily="34" charset="-122"/>
                <a:ea typeface="微软雅黑" panose="020B0503020204020204" pitchFamily="34" charset="-122"/>
              </a:rPr>
              <a:t>ha</a:t>
            </a:r>
            <a:r>
              <a:rPr lang="zh-CN" altLang="zh-CN" sz="2000" dirty="0">
                <a:solidFill>
                  <a:srgbClr val="595959"/>
                </a:solidFill>
                <a:latin typeface="微软雅黑" panose="020B0503020204020204" pitchFamily="34" charset="-122"/>
                <a:ea typeface="微软雅黑" panose="020B0503020204020204" pitchFamily="34" charset="-122"/>
                <a:cs typeface="+mn-ea"/>
              </a:rPr>
              <a:t>，只要在给定的字符串中包含竖线“</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”前后中一个，就会匹配</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成功。</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文本框 8">
            <a:extLst>
              <a:ext uri="{FF2B5EF4-FFF2-40B4-BE49-F238E27FC236}">
                <a16:creationId xmlns:a16="http://schemas.microsoft.com/office/drawing/2014/main" id="{2BD7E020-D0A4-47DE-BE0C-F3967B274E91}"/>
              </a:ext>
            </a:extLst>
          </p:cNvPr>
          <p:cNvSpPr txBox="1"/>
          <p:nvPr/>
        </p:nvSpPr>
        <p:spPr>
          <a:xfrm>
            <a:off x="1630710" y="3435017"/>
            <a:ext cx="9001000" cy="1477328"/>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en-US" altLang="zh-CN" sz="2000" dirty="0" err="1">
                <a:solidFill>
                  <a:srgbClr val="595959"/>
                </a:solidFill>
                <a:latin typeface="微软雅黑" panose="020B0503020204020204" pitchFamily="34" charset="-122"/>
                <a:ea typeface="微软雅黑" panose="020B0503020204020204" pitchFamily="34" charset="-122"/>
                <a:cs typeface="+mn-ea"/>
              </a:rPr>
              <a:t>hi|ha</a:t>
            </a:r>
            <a:r>
              <a:rPr lang="en-US" altLang="zh-CN" sz="2000" dirty="0">
                <a:solidFill>
                  <a:srgbClr val="595959"/>
                </a:solidFill>
                <a:latin typeface="微软雅黑" panose="020B0503020204020204" pitchFamily="34" charset="-122"/>
                <a:ea typeface="微软雅黑" panose="020B0503020204020204" pitchFamily="34" charset="-122"/>
                <a:cs typeface="+mn-ea"/>
              </a:rPr>
              <a:t>/g;</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shill'.match</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['hi']</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happy'.match</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['ha']</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7701633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592096" y="1607165"/>
            <a:ext cx="3715858" cy="4006159"/>
          </a:xfrm>
          <a:prstGeom prst="rect">
            <a:avLst/>
          </a:prstGeom>
        </p:spPr>
      </p:pic>
      <p:sp>
        <p:nvSpPr>
          <p:cNvPr id="9" name="Shape 2015"/>
          <p:cNvSpPr/>
          <p:nvPr/>
        </p:nvSpPr>
        <p:spPr>
          <a:xfrm>
            <a:off x="4583038" y="2133649"/>
            <a:ext cx="6768752" cy="2736305"/>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nvSpPr>
        <p:spPr>
          <a:xfrm>
            <a:off x="4799062" y="2349674"/>
            <a:ext cx="6390710" cy="2400657"/>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在</a:t>
            </a:r>
            <a:r>
              <a:rPr lang="zh-CN" altLang="zh-CN" sz="2000">
                <a:solidFill>
                  <a:srgbClr val="595959"/>
                </a:solidFill>
                <a:latin typeface="微软雅黑" panose="020B0503020204020204" pitchFamily="34" charset="-122"/>
                <a:ea typeface="微软雅黑" panose="020B0503020204020204" pitchFamily="34" charset="-122"/>
                <a:cs typeface="+mn-ea"/>
              </a:rPr>
              <a:t>正则表达式中，使用</a:t>
            </a:r>
            <a:r>
              <a:rPr lang="zh-CN" altLang="zh-CN" sz="2000">
                <a:solidFill>
                  <a:srgbClr val="1369B2"/>
                </a:solidFill>
                <a:latin typeface="微软雅黑" panose="020B0503020204020204" pitchFamily="34" charset="-122"/>
                <a:ea typeface="微软雅黑" panose="020B0503020204020204" pitchFamily="34" charset="-122"/>
              </a:rPr>
              <a:t>小括号“</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可以对正则表达式进行</a:t>
            </a:r>
            <a:r>
              <a:rPr lang="zh-CN" altLang="zh-CN" sz="2000">
                <a:solidFill>
                  <a:srgbClr val="1369B2"/>
                </a:solidFill>
                <a:latin typeface="微软雅黑" panose="020B0503020204020204" pitchFamily="34" charset="-122"/>
                <a:ea typeface="微软雅黑" panose="020B0503020204020204" pitchFamily="34" charset="-122"/>
              </a:rPr>
              <a:t>分组</a:t>
            </a:r>
            <a:r>
              <a:rPr lang="zh-CN" altLang="zh-CN" sz="2000">
                <a:solidFill>
                  <a:srgbClr val="595959"/>
                </a:solidFill>
                <a:latin typeface="微软雅黑" panose="020B0503020204020204" pitchFamily="34" charset="-122"/>
                <a:ea typeface="微软雅黑" panose="020B0503020204020204" pitchFamily="34" charset="-122"/>
                <a:cs typeface="+mn-ea"/>
              </a:rPr>
              <a:t>，被小括号标注的内容称为</a:t>
            </a:r>
            <a:r>
              <a:rPr lang="zh-CN" altLang="zh-CN" sz="2000">
                <a:solidFill>
                  <a:srgbClr val="1369B2"/>
                </a:solidFill>
                <a:latin typeface="微软雅黑" panose="020B0503020204020204" pitchFamily="34" charset="-122"/>
                <a:ea typeface="微软雅黑" panose="020B0503020204020204" pitchFamily="34" charset="-122"/>
              </a:rPr>
              <a:t>子模式</a:t>
            </a:r>
            <a:r>
              <a:rPr lang="zh-CN" altLang="zh-CN" sz="2000">
                <a:solidFill>
                  <a:srgbClr val="595959"/>
                </a:solidFill>
                <a:latin typeface="微软雅黑" panose="020B0503020204020204" pitchFamily="34" charset="-122"/>
                <a:ea typeface="微软雅黑" panose="020B0503020204020204" pitchFamily="34" charset="-122"/>
                <a:cs typeface="+mn-ea"/>
              </a:rPr>
              <a:t>（或称为子表达式），一个子模式可以看作一个</a:t>
            </a:r>
            <a:r>
              <a:rPr lang="zh-CN" altLang="zh-CN" sz="2000">
                <a:solidFill>
                  <a:srgbClr val="1369B2"/>
                </a:solidFill>
                <a:latin typeface="微软雅黑" panose="020B0503020204020204" pitchFamily="34" charset="-122"/>
                <a:ea typeface="微软雅黑" panose="020B0503020204020204" pitchFamily="34" charset="-122"/>
              </a:rPr>
              <a:t>组</a:t>
            </a:r>
            <a:r>
              <a:rPr lang="zh-CN" altLang="zh-CN" sz="2000">
                <a:solidFill>
                  <a:srgbClr val="595959"/>
                </a:solidFill>
                <a:latin typeface="微软雅黑" panose="020B0503020204020204" pitchFamily="34" charset="-122"/>
                <a:ea typeface="微软雅黑" panose="020B0503020204020204" pitchFamily="34" charset="-122"/>
                <a:cs typeface="+mn-ea"/>
              </a:rPr>
              <a:t>。正则表达式中的小括号“</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”主要有</a:t>
            </a:r>
            <a:r>
              <a:rPr lang="en-US" altLang="zh-CN" sz="2000">
                <a:solidFill>
                  <a:srgbClr val="1369B2"/>
                </a:solidFill>
                <a:latin typeface="微软雅黑" panose="020B0503020204020204" pitchFamily="34" charset="-122"/>
                <a:ea typeface="微软雅黑" panose="020B0503020204020204" pitchFamily="34" charset="-122"/>
              </a:rPr>
              <a:t>4</a:t>
            </a:r>
            <a:r>
              <a:rPr lang="zh-CN" altLang="zh-CN" sz="2000">
                <a:solidFill>
                  <a:srgbClr val="1369B2"/>
                </a:solidFill>
                <a:latin typeface="微软雅黑" panose="020B0503020204020204" pitchFamily="34" charset="-122"/>
                <a:ea typeface="微软雅黑" panose="020B0503020204020204" pitchFamily="34" charset="-122"/>
              </a:rPr>
              <a:t>个作用</a:t>
            </a:r>
            <a:r>
              <a:rPr lang="zh-CN" altLang="zh-CN" sz="2000">
                <a:solidFill>
                  <a:srgbClr val="595959"/>
                </a:solidFill>
                <a:latin typeface="微软雅黑" panose="020B0503020204020204" pitchFamily="34" charset="-122"/>
                <a:ea typeface="微软雅黑" panose="020B0503020204020204" pitchFamily="34" charset="-122"/>
                <a:cs typeface="+mn-ea"/>
              </a:rPr>
              <a:t>，分别是</a:t>
            </a:r>
            <a:r>
              <a:rPr lang="zh-CN" altLang="zh-CN" sz="2000">
                <a:solidFill>
                  <a:srgbClr val="1369B2"/>
                </a:solidFill>
                <a:latin typeface="微软雅黑" panose="020B0503020204020204" pitchFamily="34" charset="-122"/>
                <a:ea typeface="微软雅黑" panose="020B0503020204020204" pitchFamily="34" charset="-122"/>
              </a:rPr>
              <a:t>改变作用范围</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捕获内容</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反向引用</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rPr>
              <a:t>零宽断言</a:t>
            </a:r>
            <a:r>
              <a:rPr lang="zh-CN" altLang="zh-CN" sz="2000">
                <a:solidFill>
                  <a:srgbClr val="595959"/>
                </a:solidFill>
                <a:latin typeface="微软雅黑" panose="020B0503020204020204" pitchFamily="34" charset="-122"/>
                <a:ea typeface="微软雅黑" panose="020B0503020204020204" pitchFamily="34" charset="-122"/>
                <a:cs typeface="+mn-ea"/>
              </a:rPr>
              <a:t>。</a:t>
            </a:r>
          </a:p>
        </p:txBody>
      </p:sp>
      <p:sp>
        <p:nvSpPr>
          <p:cNvPr id="6"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537414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43690" y="1115504"/>
            <a:ext cx="2215212"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微软雅黑" panose="020B0503020204020204" pitchFamily="34" charset="-122"/>
                <a:ea typeface="微软雅黑" panose="020B0503020204020204" pitchFamily="34" charset="-122"/>
              </a:rPr>
              <a:t>1</a:t>
            </a:r>
            <a:r>
              <a:rPr lang="en-US" altLang="zh-CN" sz="2000" dirty="0" smtClean="0">
                <a:solidFill>
                  <a:srgbClr val="FFFFFF"/>
                </a:solidFill>
                <a:latin typeface="微软雅黑" panose="020B0503020204020204" pitchFamily="34" charset="-122"/>
                <a:ea typeface="微软雅黑" panose="020B0503020204020204" pitchFamily="34" charset="-122"/>
              </a:rPr>
              <a:t>. </a:t>
            </a:r>
            <a:r>
              <a:rPr lang="zh-CN" altLang="en-US" sz="2000" dirty="0" smtClean="0">
                <a:solidFill>
                  <a:srgbClr val="FFFFFF"/>
                </a:solidFill>
                <a:latin typeface="微软雅黑" panose="020B0503020204020204" pitchFamily="34" charset="-122"/>
                <a:ea typeface="微软雅黑" panose="020B0503020204020204" pitchFamily="34" charset="-122"/>
              </a:rPr>
              <a:t>改变作用范围</a:t>
            </a:r>
            <a:endParaRPr lang="zh-CN" altLang="zh-CN" sz="2000" dirty="0">
              <a:solidFill>
                <a:srgbClr val="FFFFFF"/>
              </a:solidFill>
              <a:latin typeface="微软雅黑" panose="020B0503020204020204" pitchFamily="34" charset="-122"/>
              <a:ea typeface="微软雅黑" panose="020B0503020204020204" pitchFamily="34" charset="-122"/>
            </a:endParaRPr>
          </a:p>
        </p:txBody>
      </p:sp>
      <p:sp>
        <p:nvSpPr>
          <p:cNvPr id="2" name="矩形 1"/>
          <p:cNvSpPr/>
          <p:nvPr/>
        </p:nvSpPr>
        <p:spPr>
          <a:xfrm>
            <a:off x="1117283" y="2133650"/>
            <a:ext cx="10162499" cy="2346283"/>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使用</a:t>
            </a:r>
            <a:r>
              <a:rPr lang="zh-CN" altLang="zh-CN" sz="2000" dirty="0">
                <a:solidFill>
                  <a:srgbClr val="1369B2"/>
                </a:solidFill>
                <a:latin typeface="微软雅黑" panose="020B0503020204020204" pitchFamily="34" charset="-122"/>
                <a:ea typeface="微软雅黑" panose="020B0503020204020204" pitchFamily="34" charset="-122"/>
                <a:cs typeface="+mn-ea"/>
              </a:rPr>
              <a:t>小括号“</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rPr>
              <a:t>对内容进行</a:t>
            </a:r>
            <a:r>
              <a:rPr lang="zh-CN" altLang="zh-CN" sz="2000" dirty="0">
                <a:solidFill>
                  <a:srgbClr val="1369B2"/>
                </a:solidFill>
                <a:latin typeface="微软雅黑" panose="020B0503020204020204" pitchFamily="34" charset="-122"/>
                <a:ea typeface="微软雅黑" panose="020B0503020204020204" pitchFamily="34" charset="-122"/>
                <a:cs typeface="+mn-ea"/>
              </a:rPr>
              <a:t>分组</a:t>
            </a:r>
            <a:r>
              <a:rPr lang="zh-CN" altLang="zh-CN" sz="2000" dirty="0">
                <a:solidFill>
                  <a:srgbClr val="595959"/>
                </a:solidFill>
                <a:latin typeface="微软雅黑" panose="020B0503020204020204" pitchFamily="34" charset="-122"/>
                <a:ea typeface="微软雅黑" panose="020B0503020204020204" pitchFamily="34" charset="-122"/>
              </a:rPr>
              <a:t>后，小括号“</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”中的竖线“</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”将只对</a:t>
            </a:r>
            <a:r>
              <a:rPr lang="zh-CN" altLang="zh-CN" sz="2000" dirty="0">
                <a:solidFill>
                  <a:srgbClr val="1369B2"/>
                </a:solidFill>
                <a:latin typeface="微软雅黑" panose="020B0503020204020204" pitchFamily="34" charset="-122"/>
                <a:ea typeface="微软雅黑" panose="020B0503020204020204" pitchFamily="34" charset="-122"/>
                <a:cs typeface="+mn-ea"/>
              </a:rPr>
              <a:t>当前子模式</a:t>
            </a:r>
            <a:r>
              <a:rPr lang="zh-CN" altLang="zh-CN" sz="2000" dirty="0">
                <a:solidFill>
                  <a:srgbClr val="595959"/>
                </a:solidFill>
                <a:latin typeface="微软雅黑" panose="020B0503020204020204" pitchFamily="34" charset="-122"/>
                <a:ea typeface="微软雅黑" panose="020B0503020204020204" pitchFamily="34" charset="-122"/>
              </a:rPr>
              <a:t>有效，而不会作用于整个模式</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限定符</a:t>
            </a:r>
            <a:r>
              <a:rPr lang="zh-CN" altLang="zh-CN" sz="2000" dirty="0">
                <a:solidFill>
                  <a:srgbClr val="595959"/>
                </a:solidFill>
                <a:latin typeface="微软雅黑" panose="020B0503020204020204" pitchFamily="34" charset="-122"/>
                <a:ea typeface="微软雅黑" panose="020B0503020204020204" pitchFamily="34" charset="-122"/>
              </a:rPr>
              <a:t>原本用于限定其前面的字符出现的次数，而分组后，则用于限定其前面的分组匹配到的</a:t>
            </a:r>
            <a:r>
              <a:rPr lang="zh-CN" altLang="zh-CN" sz="2000" dirty="0">
                <a:solidFill>
                  <a:srgbClr val="1369B2"/>
                </a:solidFill>
                <a:latin typeface="微软雅黑" panose="020B0503020204020204" pitchFamily="34" charset="-122"/>
                <a:ea typeface="微软雅黑" panose="020B0503020204020204" pitchFamily="34" charset="-122"/>
                <a:cs typeface="+mn-ea"/>
              </a:rPr>
              <a:t>内容出现的次数</a:t>
            </a:r>
            <a:r>
              <a:rPr lang="zh-CN" altLang="zh-CN" sz="2000" dirty="0">
                <a:solidFill>
                  <a:srgbClr val="595959"/>
                </a:solidFill>
                <a:latin typeface="微软雅黑" panose="020B0503020204020204" pitchFamily="34" charset="-122"/>
                <a:ea typeface="微软雅黑" panose="020B0503020204020204" pitchFamily="34" charset="-122"/>
              </a:rPr>
              <a:t>。</a:t>
            </a:r>
          </a:p>
        </p:txBody>
      </p:sp>
      <p:sp>
        <p:nvSpPr>
          <p:cNvPr id="7"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5083093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70670" y="1701602"/>
            <a:ext cx="8631958" cy="553998"/>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通过代码演示如何</a:t>
            </a:r>
            <a:r>
              <a:rPr lang="zh-CN" altLang="zh-CN" sz="2000" dirty="0">
                <a:solidFill>
                  <a:srgbClr val="1369B2"/>
                </a:solidFill>
                <a:latin typeface="微软雅黑" panose="020B0503020204020204" pitchFamily="34" charset="-122"/>
                <a:ea typeface="微软雅黑" panose="020B0503020204020204" pitchFamily="34" charset="-122"/>
              </a:rPr>
              <a:t>通过小括号“</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”改变作用</a:t>
            </a:r>
            <a:r>
              <a:rPr lang="zh-CN" altLang="zh-CN" sz="2000" dirty="0" smtClean="0">
                <a:solidFill>
                  <a:srgbClr val="1369B2"/>
                </a:solidFill>
                <a:latin typeface="微软雅黑" panose="020B0503020204020204" pitchFamily="34" charset="-122"/>
                <a:ea typeface="微软雅黑" panose="020B0503020204020204" pitchFamily="34" charset="-122"/>
              </a:rPr>
              <a:t>范围</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 name="文本框 6">
            <a:extLst>
              <a:ext uri="{FF2B5EF4-FFF2-40B4-BE49-F238E27FC236}">
                <a16:creationId xmlns:a16="http://schemas.microsoft.com/office/drawing/2014/main" id="{2BD7E020-D0A4-47DE-BE0C-F3967B274E91}"/>
              </a:ext>
            </a:extLst>
          </p:cNvPr>
          <p:cNvSpPr txBox="1"/>
          <p:nvPr/>
        </p:nvSpPr>
        <p:spPr>
          <a:xfrm>
            <a:off x="1414686" y="2781722"/>
            <a:ext cx="8651590" cy="193899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reg1 = /happy|te/;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可匹配的结果：</a:t>
            </a:r>
            <a:r>
              <a:rPr lang="en-US" altLang="zh-CN" sz="2000">
                <a:solidFill>
                  <a:srgbClr val="595959"/>
                </a:solidFill>
                <a:latin typeface="微软雅黑" panose="020B0503020204020204" pitchFamily="34" charset="-122"/>
                <a:ea typeface="微软雅黑" panose="020B0503020204020204" pitchFamily="34" charset="-122"/>
                <a:cs typeface="+mn-ea"/>
              </a:rPr>
              <a:t>happy</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te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reg2 = /ha(ppy|te)/;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可匹配的结果：</a:t>
            </a:r>
            <a:r>
              <a:rPr lang="en-US" altLang="zh-CN" sz="2000">
                <a:solidFill>
                  <a:srgbClr val="595959"/>
                </a:solidFill>
                <a:latin typeface="微软雅黑" panose="020B0503020204020204" pitchFamily="34" charset="-122"/>
                <a:ea typeface="微软雅黑" panose="020B0503020204020204" pitchFamily="34" charset="-122"/>
                <a:cs typeface="+mn-ea"/>
              </a:rPr>
              <a:t>happy</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hate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reg3 = /abc{2}/;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可匹配的结果：</a:t>
            </a:r>
            <a:r>
              <a:rPr lang="en-US" altLang="zh-CN" sz="2000">
                <a:solidFill>
                  <a:srgbClr val="595959"/>
                </a:solidFill>
                <a:latin typeface="微软雅黑" panose="020B0503020204020204" pitchFamily="34" charset="-122"/>
                <a:ea typeface="微软雅黑" panose="020B0503020204020204" pitchFamily="34" charset="-122"/>
                <a:cs typeface="+mn-ea"/>
              </a:rPr>
              <a:t>abcc</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reg4 = /a(bc){2}/;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可匹配的结果：</a:t>
            </a:r>
            <a:r>
              <a:rPr lang="en-US" altLang="zh-CN" sz="2000" smtClean="0">
                <a:solidFill>
                  <a:srgbClr val="595959"/>
                </a:solidFill>
                <a:latin typeface="微软雅黑" panose="020B0503020204020204" pitchFamily="34" charset="-122"/>
                <a:ea typeface="微软雅黑" panose="020B0503020204020204" pitchFamily="34" charset="-122"/>
                <a:cs typeface="+mn-ea"/>
              </a:rPr>
              <a:t>abcbc</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460002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43690" y="1115504"/>
            <a:ext cx="2215212"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微软雅黑" panose="020B0503020204020204" pitchFamily="34" charset="-122"/>
                <a:ea typeface="微软雅黑" panose="020B0503020204020204" pitchFamily="34" charset="-122"/>
              </a:rPr>
              <a:t>2</a:t>
            </a:r>
            <a:r>
              <a:rPr lang="en-US" altLang="zh-CN" sz="2000" smtClean="0">
                <a:solidFill>
                  <a:srgbClr val="FFFFFF"/>
                </a:solidFill>
                <a:latin typeface="微软雅黑" panose="020B0503020204020204" pitchFamily="34" charset="-122"/>
                <a:ea typeface="微软雅黑" panose="020B0503020204020204" pitchFamily="34" charset="-122"/>
              </a:rPr>
              <a:t>. </a:t>
            </a:r>
            <a:r>
              <a:rPr lang="zh-CN" altLang="en-US" sz="2000" smtClean="0">
                <a:solidFill>
                  <a:srgbClr val="FFFFFF"/>
                </a:solidFill>
                <a:latin typeface="微软雅黑" panose="020B0503020204020204" pitchFamily="34" charset="-122"/>
                <a:ea typeface="微软雅黑" panose="020B0503020204020204" pitchFamily="34" charset="-122"/>
              </a:rPr>
              <a:t>捕获内容</a:t>
            </a:r>
            <a:endParaRPr lang="zh-CN" altLang="zh-CN" sz="2000">
              <a:solidFill>
                <a:srgbClr val="FFFFFF"/>
              </a:solidFill>
              <a:latin typeface="微软雅黑" panose="020B0503020204020204" pitchFamily="34" charset="-122"/>
              <a:ea typeface="微软雅黑" panose="020B0503020204020204" pitchFamily="34" charset="-122"/>
            </a:endParaRPr>
          </a:p>
        </p:txBody>
      </p:sp>
      <p:sp>
        <p:nvSpPr>
          <p:cNvPr id="2" name="矩形 1"/>
          <p:cNvSpPr/>
          <p:nvPr/>
        </p:nvSpPr>
        <p:spPr>
          <a:xfrm>
            <a:off x="982638" y="1961983"/>
            <a:ext cx="10369152" cy="1015663"/>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正则表达式中，当</a:t>
            </a:r>
            <a:r>
              <a:rPr lang="zh-CN" altLang="zh-CN" sz="2000" dirty="0">
                <a:solidFill>
                  <a:srgbClr val="1369B2"/>
                </a:solidFill>
                <a:latin typeface="微软雅黑" panose="020B0503020204020204" pitchFamily="34" charset="-122"/>
                <a:ea typeface="微软雅黑" panose="020B0503020204020204" pitchFamily="34" charset="-122"/>
                <a:cs typeface="+mn-ea"/>
              </a:rPr>
              <a:t>子模式匹配到内容</a:t>
            </a:r>
            <a:r>
              <a:rPr lang="zh-CN" altLang="zh-CN" sz="2000" dirty="0">
                <a:solidFill>
                  <a:srgbClr val="595959"/>
                </a:solidFill>
                <a:latin typeface="微软雅黑" panose="020B0503020204020204" pitchFamily="34" charset="-122"/>
                <a:ea typeface="微软雅黑" panose="020B0503020204020204" pitchFamily="34" charset="-122"/>
              </a:rPr>
              <a:t>时，匹配到的内容会被</a:t>
            </a:r>
            <a:r>
              <a:rPr lang="zh-CN" altLang="zh-CN" sz="2000" dirty="0">
                <a:solidFill>
                  <a:srgbClr val="1369B2"/>
                </a:solidFill>
                <a:latin typeface="微软雅黑" panose="020B0503020204020204" pitchFamily="34" charset="-122"/>
                <a:ea typeface="微软雅黑" panose="020B0503020204020204" pitchFamily="34" charset="-122"/>
                <a:cs typeface="+mn-ea"/>
              </a:rPr>
              <a:t>临时保存</a:t>
            </a:r>
            <a:r>
              <a:rPr lang="zh-CN" altLang="zh-CN" sz="2000" dirty="0">
                <a:solidFill>
                  <a:srgbClr val="595959"/>
                </a:solidFill>
                <a:latin typeface="微软雅黑" panose="020B0503020204020204" pitchFamily="34" charset="-122"/>
                <a:ea typeface="微软雅黑" panose="020B0503020204020204" pitchFamily="34" charset="-122"/>
              </a:rPr>
              <a:t>，这个过程称为</a:t>
            </a:r>
            <a:r>
              <a:rPr lang="zh-CN" altLang="zh-CN" sz="2000" dirty="0">
                <a:solidFill>
                  <a:srgbClr val="1369B2"/>
                </a:solidFill>
                <a:latin typeface="微软雅黑" panose="020B0503020204020204" pitchFamily="34" charset="-122"/>
                <a:ea typeface="微软雅黑" panose="020B0503020204020204" pitchFamily="34" charset="-122"/>
                <a:cs typeface="+mn-ea"/>
              </a:rPr>
              <a:t>捕获</a:t>
            </a:r>
            <a:r>
              <a:rPr lang="zh-CN" altLang="zh-CN" sz="2000" dirty="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match()</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rPr>
              <a:t>进行捕获时，返回结果中会包含</a:t>
            </a:r>
            <a:r>
              <a:rPr lang="zh-CN" altLang="zh-CN" sz="2000" dirty="0">
                <a:solidFill>
                  <a:srgbClr val="1369B2"/>
                </a:solidFill>
                <a:latin typeface="微软雅黑" panose="020B0503020204020204" pitchFamily="34" charset="-122"/>
                <a:ea typeface="微软雅黑" panose="020B0503020204020204" pitchFamily="34" charset="-122"/>
                <a:cs typeface="+mn-ea"/>
              </a:rPr>
              <a:t>子模式的匹配结果</a:t>
            </a:r>
            <a:r>
              <a:rPr lang="zh-CN" altLang="zh-CN" sz="2000" dirty="0">
                <a:solidFill>
                  <a:srgbClr val="595959"/>
                </a:solidFill>
                <a:latin typeface="微软雅黑" panose="020B0503020204020204" pitchFamily="34" charset="-122"/>
                <a:ea typeface="微软雅黑" panose="020B0503020204020204" pitchFamily="34" charset="-122"/>
              </a:rPr>
              <a:t>，示例代码如下。</a:t>
            </a:r>
          </a:p>
        </p:txBody>
      </p:sp>
      <p:sp>
        <p:nvSpPr>
          <p:cNvPr id="7"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文本框 4">
            <a:extLst>
              <a:ext uri="{FF2B5EF4-FFF2-40B4-BE49-F238E27FC236}">
                <a16:creationId xmlns:a16="http://schemas.microsoft.com/office/drawing/2014/main" id="{2BD7E020-D0A4-47DE-BE0C-F3967B274E91}"/>
              </a:ext>
            </a:extLst>
          </p:cNvPr>
          <p:cNvSpPr txBox="1"/>
          <p:nvPr/>
        </p:nvSpPr>
        <p:spPr>
          <a:xfrm>
            <a:off x="1841419" y="3501802"/>
            <a:ext cx="8651590" cy="1015663"/>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reg = /Su(nny)/;</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console.log('Sunnyday'.match(reg));</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7020962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17416" y="1773610"/>
            <a:ext cx="10162365" cy="1015663"/>
          </a:xfrm>
          <a:prstGeom prst="rect">
            <a:avLst/>
          </a:prstGeom>
        </p:spPr>
        <p:txBody>
          <a:bodyPr wrap="square">
            <a:sp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rPr>
              <a:t>在实际开发中，如果不需要捕获子模式的匹配内容，可以在子模式前使用</a:t>
            </a:r>
            <a:r>
              <a:rPr lang="zh-CN" altLang="zh-CN" sz="2000">
                <a:solidFill>
                  <a:srgbClr val="1369B2"/>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rPr>
              <a:t>实现</a:t>
            </a:r>
            <a:r>
              <a:rPr lang="zh-CN" altLang="zh-CN" sz="2000">
                <a:solidFill>
                  <a:srgbClr val="1369B2"/>
                </a:solidFill>
                <a:latin typeface="微软雅黑" panose="020B0503020204020204" pitchFamily="34" charset="-122"/>
                <a:ea typeface="微软雅黑" panose="020B0503020204020204" pitchFamily="34" charset="-122"/>
                <a:cs typeface="+mn-ea"/>
              </a:rPr>
              <a:t>非捕获匹配</a:t>
            </a:r>
            <a:r>
              <a:rPr lang="zh-CN" altLang="zh-CN" sz="2000">
                <a:solidFill>
                  <a:srgbClr val="595959"/>
                </a:solidFill>
                <a:latin typeface="微软雅黑" panose="020B0503020204020204" pitchFamily="34" charset="-122"/>
                <a:ea typeface="微软雅黑" panose="020B0503020204020204" pitchFamily="34" charset="-122"/>
              </a:rPr>
              <a:t>，示例代码如下。</a:t>
            </a:r>
          </a:p>
        </p:txBody>
      </p:sp>
      <p:sp>
        <p:nvSpPr>
          <p:cNvPr id="7"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文本框 4">
            <a:extLst>
              <a:ext uri="{FF2B5EF4-FFF2-40B4-BE49-F238E27FC236}">
                <a16:creationId xmlns:a16="http://schemas.microsoft.com/office/drawing/2014/main" id="{2BD7E020-D0A4-47DE-BE0C-F3967B274E91}"/>
              </a:ext>
            </a:extLst>
          </p:cNvPr>
          <p:cNvSpPr txBox="1"/>
          <p:nvPr/>
        </p:nvSpPr>
        <p:spPr>
          <a:xfrm>
            <a:off x="1872803" y="3213770"/>
            <a:ext cx="8651590" cy="1015663"/>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reg = /Su(?:nny)/;</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console.log('Sunnyday'.match(reg));</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65575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43690" y="1115504"/>
            <a:ext cx="2215212"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微软雅黑" panose="020B0503020204020204" pitchFamily="34" charset="-122"/>
                <a:ea typeface="微软雅黑" panose="020B0503020204020204" pitchFamily="34" charset="-122"/>
              </a:rPr>
              <a:t>3</a:t>
            </a:r>
            <a:r>
              <a:rPr lang="en-US" altLang="zh-CN" sz="2000" smtClean="0">
                <a:solidFill>
                  <a:srgbClr val="FFFFFF"/>
                </a:solidFill>
                <a:latin typeface="微软雅黑" panose="020B0503020204020204" pitchFamily="34" charset="-122"/>
                <a:ea typeface="微软雅黑" panose="020B0503020204020204" pitchFamily="34" charset="-122"/>
              </a:rPr>
              <a:t>. </a:t>
            </a:r>
            <a:r>
              <a:rPr lang="zh-CN" altLang="en-US" sz="2000" smtClean="0">
                <a:solidFill>
                  <a:srgbClr val="FFFFFF"/>
                </a:solidFill>
                <a:latin typeface="微软雅黑" panose="020B0503020204020204" pitchFamily="34" charset="-122"/>
                <a:ea typeface="微软雅黑" panose="020B0503020204020204" pitchFamily="34" charset="-122"/>
              </a:rPr>
              <a:t>反向引用</a:t>
            </a:r>
            <a:endParaRPr lang="zh-CN" altLang="zh-CN" sz="2000">
              <a:solidFill>
                <a:srgbClr val="FFFFFF"/>
              </a:solidFill>
              <a:latin typeface="微软雅黑" panose="020B0503020204020204" pitchFamily="34" charset="-122"/>
              <a:ea typeface="微软雅黑" panose="020B0503020204020204" pitchFamily="34" charset="-122"/>
            </a:endParaRPr>
          </a:p>
        </p:txBody>
      </p:sp>
      <p:sp>
        <p:nvSpPr>
          <p:cNvPr id="2" name="矩形 1"/>
          <p:cNvSpPr/>
          <p:nvPr/>
        </p:nvSpPr>
        <p:spPr>
          <a:xfrm>
            <a:off x="1054646" y="1961983"/>
            <a:ext cx="10240470" cy="2862322"/>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当</a:t>
            </a:r>
            <a:r>
              <a:rPr lang="zh-CN" altLang="zh-CN" sz="2000" dirty="0">
                <a:solidFill>
                  <a:srgbClr val="595959"/>
                </a:solidFill>
                <a:latin typeface="微软雅黑" panose="020B0503020204020204" pitchFamily="34" charset="-122"/>
                <a:ea typeface="微软雅黑" panose="020B0503020204020204" pitchFamily="34" charset="-122"/>
              </a:rPr>
              <a:t>一个正则表达式被分组后，每个组将会自动分配一个组号用于代表</a:t>
            </a:r>
            <a:r>
              <a:rPr lang="zh-CN" altLang="zh-CN" sz="2000" dirty="0">
                <a:solidFill>
                  <a:srgbClr val="1369B2"/>
                </a:solidFill>
                <a:latin typeface="微软雅黑" panose="020B0503020204020204" pitchFamily="34" charset="-122"/>
                <a:ea typeface="微软雅黑" panose="020B0503020204020204" pitchFamily="34" charset="-122"/>
                <a:cs typeface="+mn-ea"/>
              </a:rPr>
              <a:t>每个子模式</a:t>
            </a:r>
            <a:r>
              <a:rPr lang="zh-CN" altLang="zh-CN" sz="2000" dirty="0">
                <a:solidFill>
                  <a:srgbClr val="595959"/>
                </a:solidFill>
                <a:latin typeface="微软雅黑" panose="020B0503020204020204" pitchFamily="34" charset="-122"/>
                <a:ea typeface="微软雅黑" panose="020B0503020204020204" pitchFamily="34" charset="-122"/>
              </a:rPr>
              <a:t>，组号按</a:t>
            </a:r>
            <a:r>
              <a:rPr lang="zh-CN" altLang="zh-CN" sz="2000" dirty="0">
                <a:solidFill>
                  <a:srgbClr val="1369B2"/>
                </a:solidFill>
                <a:latin typeface="微软雅黑" panose="020B0503020204020204" pitchFamily="34" charset="-122"/>
                <a:ea typeface="微软雅黑" panose="020B0503020204020204" pitchFamily="34" charset="-122"/>
                <a:cs typeface="+mn-ea"/>
              </a:rPr>
              <a:t>从左到右</a:t>
            </a:r>
            <a:r>
              <a:rPr lang="zh-CN" altLang="zh-CN" sz="2000" dirty="0">
                <a:solidFill>
                  <a:srgbClr val="595959"/>
                </a:solidFill>
                <a:latin typeface="微软雅黑" panose="020B0503020204020204" pitchFamily="34" charset="-122"/>
                <a:ea typeface="微软雅黑" panose="020B0503020204020204" pitchFamily="34" charset="-122"/>
              </a:rPr>
              <a:t>的顺序编号，第</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个子模式的组号为</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，第</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个子模式的组号为</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，以此类推</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有</a:t>
            </a:r>
            <a:r>
              <a:rPr lang="zh-CN" altLang="zh-CN" sz="2000" dirty="0">
                <a:solidFill>
                  <a:srgbClr val="595959"/>
                </a:solidFill>
                <a:latin typeface="微软雅黑" panose="020B0503020204020204" pitchFamily="34" charset="-122"/>
                <a:ea typeface="微软雅黑" panose="020B0503020204020204" pitchFamily="34" charset="-122"/>
              </a:rPr>
              <a:t>组号后，可以在正则表达式的</a:t>
            </a:r>
            <a:r>
              <a:rPr lang="zh-CN" altLang="zh-CN" sz="2000" dirty="0">
                <a:solidFill>
                  <a:srgbClr val="1369B2"/>
                </a:solidFill>
                <a:latin typeface="微软雅黑" panose="020B0503020204020204" pitchFamily="34" charset="-122"/>
                <a:ea typeface="微软雅黑" panose="020B0503020204020204" pitchFamily="34" charset="-122"/>
                <a:cs typeface="+mn-ea"/>
              </a:rPr>
              <a:t>后半部分</a:t>
            </a:r>
            <a:r>
              <a:rPr lang="zh-CN" altLang="zh-CN" sz="2000" dirty="0">
                <a:solidFill>
                  <a:srgbClr val="595959"/>
                </a:solidFill>
                <a:latin typeface="微软雅黑" panose="020B0503020204020204" pitchFamily="34" charset="-122"/>
                <a:ea typeface="微软雅黑" panose="020B0503020204020204" pitchFamily="34" charset="-122"/>
              </a:rPr>
              <a:t>引用</a:t>
            </a:r>
            <a:r>
              <a:rPr lang="zh-CN" altLang="zh-CN" sz="2000" dirty="0">
                <a:solidFill>
                  <a:srgbClr val="1369B2"/>
                </a:solidFill>
                <a:latin typeface="微软雅黑" panose="020B0503020204020204" pitchFamily="34" charset="-122"/>
                <a:ea typeface="微软雅黑" panose="020B0503020204020204" pitchFamily="34" charset="-122"/>
                <a:cs typeface="+mn-ea"/>
              </a:rPr>
              <a:t>前半部分</a:t>
            </a:r>
            <a:r>
              <a:rPr lang="zh-CN" altLang="zh-CN" sz="2000" dirty="0">
                <a:solidFill>
                  <a:srgbClr val="595959"/>
                </a:solidFill>
                <a:latin typeface="微软雅黑" panose="020B0503020204020204" pitchFamily="34" charset="-122"/>
                <a:ea typeface="微软雅黑" panose="020B0503020204020204" pitchFamily="34" charset="-122"/>
              </a:rPr>
              <a:t>中的子模式的</a:t>
            </a:r>
            <a:r>
              <a:rPr lang="zh-CN" altLang="zh-CN" sz="2000" dirty="0">
                <a:solidFill>
                  <a:srgbClr val="1369B2"/>
                </a:solidFill>
                <a:latin typeface="微软雅黑" panose="020B0503020204020204" pitchFamily="34" charset="-122"/>
                <a:ea typeface="微软雅黑" panose="020B0503020204020204" pitchFamily="34" charset="-122"/>
                <a:cs typeface="+mn-ea"/>
              </a:rPr>
              <a:t>捕获结果</a:t>
            </a:r>
            <a:r>
              <a:rPr lang="zh-CN" altLang="zh-CN" sz="2000" dirty="0">
                <a:solidFill>
                  <a:srgbClr val="595959"/>
                </a:solidFill>
                <a:latin typeface="微软雅黑" panose="020B0503020204020204" pitchFamily="34" charset="-122"/>
                <a:ea typeface="微软雅黑" panose="020B0503020204020204" pitchFamily="34" charset="-122"/>
              </a:rPr>
              <a:t>，这种引用方式称为</a:t>
            </a:r>
            <a:r>
              <a:rPr lang="zh-CN" altLang="zh-CN" sz="2000" dirty="0">
                <a:solidFill>
                  <a:srgbClr val="1369B2"/>
                </a:solidFill>
                <a:latin typeface="微软雅黑" panose="020B0503020204020204" pitchFamily="34" charset="-122"/>
                <a:ea typeface="微软雅黑" panose="020B0503020204020204" pitchFamily="34" charset="-122"/>
                <a:cs typeface="+mn-ea"/>
              </a:rPr>
              <a:t>反向引用</a:t>
            </a:r>
            <a:r>
              <a:rPr lang="zh-CN" altLang="zh-CN" sz="2000" dirty="0">
                <a:solidFill>
                  <a:srgbClr val="595959"/>
                </a:solidFill>
                <a:latin typeface="微软雅黑" panose="020B0503020204020204" pitchFamily="34" charset="-122"/>
                <a:ea typeface="微软雅黑" panose="020B0503020204020204" pitchFamily="34" charset="-122"/>
              </a:rPr>
              <a:t>。反向引用的语法为</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组号”</a:t>
            </a:r>
            <a:r>
              <a:rPr lang="zh-CN" altLang="zh-CN" sz="2000" dirty="0">
                <a:solidFill>
                  <a:srgbClr val="595959"/>
                </a:solidFill>
                <a:latin typeface="微软雅黑" panose="020B0503020204020204" pitchFamily="34" charset="-122"/>
                <a:ea typeface="微软雅黑" panose="020B0503020204020204" pitchFamily="34" charset="-122"/>
              </a:rPr>
              <a:t>，例如，“</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”表示引用第</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个子模式的捕获结果。</a:t>
            </a:r>
          </a:p>
        </p:txBody>
      </p:sp>
      <p:sp>
        <p:nvSpPr>
          <p:cNvPr id="7"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303233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82638" y="1485578"/>
            <a:ext cx="8639511" cy="553998"/>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以</a:t>
            </a:r>
            <a:r>
              <a:rPr lang="zh-CN" altLang="zh-CN" sz="2000" dirty="0">
                <a:solidFill>
                  <a:srgbClr val="1369B2"/>
                </a:solidFill>
                <a:latin typeface="微软雅黑" panose="020B0503020204020204" pitchFamily="34" charset="-122"/>
                <a:ea typeface="微软雅黑" panose="020B0503020204020204" pitchFamily="34" charset="-122"/>
                <a:cs typeface="+mn-ea"/>
              </a:rPr>
              <a:t>查找字符串中连续的</a:t>
            </a:r>
            <a:r>
              <a:rPr lang="en-US" altLang="zh-CN" sz="2000" dirty="0">
                <a:solidFill>
                  <a:srgbClr val="1369B2"/>
                </a:solidFill>
                <a:latin typeface="微软雅黑" panose="020B0503020204020204" pitchFamily="34" charset="-122"/>
                <a:ea typeface="微软雅黑" panose="020B0503020204020204" pitchFamily="34" charset="-122"/>
                <a:cs typeface="+mn-ea"/>
              </a:rPr>
              <a:t>3</a:t>
            </a:r>
            <a:r>
              <a:rPr lang="zh-CN" altLang="zh-CN" sz="2000" dirty="0">
                <a:solidFill>
                  <a:srgbClr val="1369B2"/>
                </a:solidFill>
                <a:latin typeface="微软雅黑" panose="020B0503020204020204" pitchFamily="34" charset="-122"/>
                <a:ea typeface="微软雅黑" panose="020B0503020204020204" pitchFamily="34" charset="-122"/>
                <a:cs typeface="+mn-ea"/>
              </a:rPr>
              <a:t>个相同数字</a:t>
            </a:r>
            <a:r>
              <a:rPr lang="zh-CN" altLang="zh-CN" sz="2000" dirty="0">
                <a:solidFill>
                  <a:srgbClr val="595959"/>
                </a:solidFill>
                <a:latin typeface="微软雅黑" panose="020B0503020204020204" pitchFamily="34" charset="-122"/>
                <a:ea typeface="微软雅黑" panose="020B0503020204020204" pitchFamily="34" charset="-122"/>
              </a:rPr>
              <a:t>为例进行演示，示例代码如下。</a:t>
            </a:r>
          </a:p>
        </p:txBody>
      </p:sp>
      <p:sp>
        <p:nvSpPr>
          <p:cNvPr id="7"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 name="文本框 4">
            <a:extLst>
              <a:ext uri="{FF2B5EF4-FFF2-40B4-BE49-F238E27FC236}">
                <a16:creationId xmlns:a16="http://schemas.microsoft.com/office/drawing/2014/main" id="{2BD7E020-D0A4-47DE-BE0C-F3967B274E91}"/>
              </a:ext>
            </a:extLst>
          </p:cNvPr>
          <p:cNvSpPr txBox="1"/>
          <p:nvPr/>
        </p:nvSpPr>
        <p:spPr>
          <a:xfrm>
            <a:off x="1143690" y="2565698"/>
            <a:ext cx="9055971" cy="1938992"/>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'13335 12345 56668';</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 /(\d)\1\1/g;</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match =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str.match</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console.log(match);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(2) ['333', '666']</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909742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43690" y="1115504"/>
            <a:ext cx="2215212"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微软雅黑" panose="020B0503020204020204" pitchFamily="34" charset="-122"/>
                <a:ea typeface="微软雅黑" panose="020B0503020204020204" pitchFamily="34" charset="-122"/>
              </a:rPr>
              <a:t>4</a:t>
            </a:r>
            <a:r>
              <a:rPr lang="en-US" altLang="zh-CN" sz="2000" dirty="0" smtClean="0">
                <a:solidFill>
                  <a:srgbClr val="FFFFFF"/>
                </a:solidFill>
                <a:latin typeface="微软雅黑" panose="020B0503020204020204" pitchFamily="34" charset="-122"/>
                <a:ea typeface="微软雅黑" panose="020B0503020204020204" pitchFamily="34" charset="-122"/>
              </a:rPr>
              <a:t>. </a:t>
            </a:r>
            <a:r>
              <a:rPr lang="zh-CN" altLang="en-US" sz="2000" dirty="0" smtClean="0">
                <a:solidFill>
                  <a:srgbClr val="FFFFFF"/>
                </a:solidFill>
                <a:latin typeface="微软雅黑" panose="020B0503020204020204" pitchFamily="34" charset="-122"/>
                <a:ea typeface="微软雅黑" panose="020B0503020204020204" pitchFamily="34" charset="-122"/>
              </a:rPr>
              <a:t>零宽断言</a:t>
            </a:r>
            <a:endParaRPr lang="zh-CN" altLang="zh-CN" sz="2000" dirty="0">
              <a:solidFill>
                <a:srgbClr val="FFFFFF"/>
              </a:solidFill>
              <a:latin typeface="微软雅黑" panose="020B0503020204020204" pitchFamily="34" charset="-122"/>
              <a:ea typeface="微软雅黑" panose="020B0503020204020204" pitchFamily="34" charset="-122"/>
            </a:endParaRPr>
          </a:p>
        </p:txBody>
      </p:sp>
      <p:sp>
        <p:nvSpPr>
          <p:cNvPr id="2" name="矩形 1"/>
          <p:cNvSpPr/>
          <p:nvPr/>
        </p:nvSpPr>
        <p:spPr>
          <a:xfrm>
            <a:off x="1057794" y="1961983"/>
            <a:ext cx="10136092" cy="1477328"/>
          </a:xfrm>
          <a:prstGeom prst="rect">
            <a:avLst/>
          </a:prstGeom>
        </p:spPr>
        <p:txBody>
          <a:bodyPr wrap="square">
            <a:spAutoFit/>
          </a:bodyPr>
          <a:lstStyle/>
          <a:p>
            <a:pPr>
              <a:lnSpc>
                <a:spcPct val="150000"/>
              </a:lnSpc>
            </a:pPr>
            <a:r>
              <a:rPr lang="zh-CN" altLang="zh-CN" sz="2000" smtClean="0">
                <a:solidFill>
                  <a:srgbClr val="1369B2"/>
                </a:solidFill>
                <a:latin typeface="微软雅黑" panose="020B0503020204020204" pitchFamily="34" charset="-122"/>
                <a:ea typeface="微软雅黑" panose="020B0503020204020204" pitchFamily="34" charset="-122"/>
                <a:cs typeface="+mn-ea"/>
              </a:rPr>
              <a:t>零</a:t>
            </a:r>
            <a:r>
              <a:rPr lang="zh-CN" altLang="zh-CN" sz="2000">
                <a:solidFill>
                  <a:srgbClr val="1369B2"/>
                </a:solidFill>
                <a:latin typeface="微软雅黑" panose="020B0503020204020204" pitchFamily="34" charset="-122"/>
                <a:ea typeface="微软雅黑" panose="020B0503020204020204" pitchFamily="34" charset="-122"/>
                <a:cs typeface="+mn-ea"/>
              </a:rPr>
              <a:t>宽断言</a:t>
            </a:r>
            <a:r>
              <a:rPr lang="zh-CN" altLang="zh-CN" sz="2000">
                <a:solidFill>
                  <a:srgbClr val="595959"/>
                </a:solidFill>
                <a:latin typeface="微软雅黑" panose="020B0503020204020204" pitchFamily="34" charset="-122"/>
                <a:ea typeface="微软雅黑" panose="020B0503020204020204" pitchFamily="34" charset="-122"/>
              </a:rPr>
              <a:t>是指一种</a:t>
            </a:r>
            <a:r>
              <a:rPr lang="zh-CN" altLang="zh-CN" sz="2000">
                <a:solidFill>
                  <a:srgbClr val="1369B2"/>
                </a:solidFill>
                <a:latin typeface="微软雅黑" panose="020B0503020204020204" pitchFamily="34" charset="-122"/>
                <a:ea typeface="微软雅黑" panose="020B0503020204020204" pitchFamily="34" charset="-122"/>
                <a:cs typeface="+mn-ea"/>
              </a:rPr>
              <a:t>零宽度的子模式匹配</a:t>
            </a:r>
            <a:r>
              <a:rPr lang="zh-CN" altLang="zh-CN" sz="2000">
                <a:solidFill>
                  <a:srgbClr val="595959"/>
                </a:solidFill>
                <a:latin typeface="微软雅黑" panose="020B0503020204020204" pitchFamily="34" charset="-122"/>
                <a:ea typeface="微软雅黑" panose="020B0503020204020204" pitchFamily="34" charset="-122"/>
              </a:rPr>
              <a:t>，其中，</a:t>
            </a:r>
            <a:r>
              <a:rPr lang="zh-CN" altLang="zh-CN" sz="2000">
                <a:solidFill>
                  <a:srgbClr val="1369B2"/>
                </a:solidFill>
                <a:latin typeface="微软雅黑" panose="020B0503020204020204" pitchFamily="34" charset="-122"/>
                <a:ea typeface="微软雅黑" panose="020B0503020204020204" pitchFamily="34" charset="-122"/>
                <a:cs typeface="+mn-ea"/>
              </a:rPr>
              <a:t>零宽</a:t>
            </a:r>
            <a:r>
              <a:rPr lang="zh-CN" altLang="zh-CN" sz="2000">
                <a:solidFill>
                  <a:srgbClr val="595959"/>
                </a:solidFill>
                <a:latin typeface="微软雅黑" panose="020B0503020204020204" pitchFamily="34" charset="-122"/>
                <a:ea typeface="微软雅黑" panose="020B0503020204020204" pitchFamily="34" charset="-122"/>
              </a:rPr>
              <a:t>是指子模式匹配到的内容</a:t>
            </a:r>
            <a:r>
              <a:rPr lang="zh-CN" altLang="zh-CN" sz="2000">
                <a:solidFill>
                  <a:srgbClr val="1369B2"/>
                </a:solidFill>
                <a:latin typeface="微软雅黑" panose="020B0503020204020204" pitchFamily="34" charset="-122"/>
                <a:ea typeface="微软雅黑" panose="020B0503020204020204" pitchFamily="34" charset="-122"/>
                <a:cs typeface="+mn-ea"/>
              </a:rPr>
              <a:t>不会保存到匹配结果中</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cs typeface="+mn-ea"/>
              </a:rPr>
              <a:t>断言</a:t>
            </a:r>
            <a:r>
              <a:rPr lang="zh-CN" altLang="zh-CN" sz="2000">
                <a:solidFill>
                  <a:srgbClr val="595959"/>
                </a:solidFill>
                <a:latin typeface="微软雅黑" panose="020B0503020204020204" pitchFamily="34" charset="-122"/>
                <a:ea typeface="微软雅黑" panose="020B0503020204020204" pitchFamily="34" charset="-122"/>
              </a:rPr>
              <a:t>是指给子模式所在位置</a:t>
            </a:r>
            <a:r>
              <a:rPr lang="zh-CN" altLang="zh-CN" sz="2000">
                <a:solidFill>
                  <a:srgbClr val="1369B2"/>
                </a:solidFill>
                <a:latin typeface="微软雅黑" panose="020B0503020204020204" pitchFamily="34" charset="-122"/>
                <a:ea typeface="微软雅黑" panose="020B0503020204020204" pitchFamily="34" charset="-122"/>
                <a:cs typeface="+mn-ea"/>
              </a:rPr>
              <a:t>添加一个限定条件</a:t>
            </a:r>
            <a:r>
              <a:rPr lang="zh-CN" altLang="zh-CN" sz="2000">
                <a:solidFill>
                  <a:srgbClr val="595959"/>
                </a:solidFill>
                <a:latin typeface="微软雅黑" panose="020B0503020204020204" pitchFamily="34" charset="-122"/>
                <a:ea typeface="微软雅黑" panose="020B0503020204020204" pitchFamily="34" charset="-122"/>
              </a:rPr>
              <a:t>，用于规定此位置之前或者之后的内容必须满足限定条件才能使子模式匹配成功</a:t>
            </a:r>
            <a:r>
              <a:rPr lang="zh-CN" altLang="zh-CN" sz="2000" smtClean="0">
                <a:solidFill>
                  <a:srgbClr val="595959"/>
                </a:solidFill>
                <a:latin typeface="微软雅黑" panose="020B0503020204020204" pitchFamily="34" charset="-122"/>
                <a:ea typeface="微软雅黑" panose="020B0503020204020204" pitchFamily="34" charset="-122"/>
              </a:rPr>
              <a:t>。</a:t>
            </a:r>
            <a:endParaRPr lang="en-US" altLang="zh-CN" sz="200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122300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18642" y="1269570"/>
            <a:ext cx="9973108" cy="553998"/>
          </a:xfrm>
          <a:prstGeom prst="rect">
            <a:avLst/>
          </a:prstGeom>
        </p:spPr>
        <p:txBody>
          <a:bodyPr wrap="square">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零</a:t>
            </a:r>
            <a:r>
              <a:rPr lang="zh-CN" altLang="zh-CN" sz="2000">
                <a:solidFill>
                  <a:srgbClr val="595959"/>
                </a:solidFill>
                <a:latin typeface="微软雅黑" panose="020B0503020204020204" pitchFamily="34" charset="-122"/>
                <a:ea typeface="微软雅黑" panose="020B0503020204020204" pitchFamily="34" charset="-122"/>
              </a:rPr>
              <a:t>宽断言分为</a:t>
            </a:r>
            <a:r>
              <a:rPr lang="zh-CN" altLang="zh-CN" sz="2000">
                <a:solidFill>
                  <a:srgbClr val="1369B2"/>
                </a:solidFill>
                <a:latin typeface="微软雅黑" panose="020B0503020204020204" pitchFamily="34" charset="-122"/>
                <a:ea typeface="微软雅黑" panose="020B0503020204020204" pitchFamily="34" charset="-122"/>
                <a:cs typeface="+mn-ea"/>
              </a:rPr>
              <a:t>先行断言</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cs typeface="+mn-ea"/>
              </a:rPr>
              <a:t>先行否定断言</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cs typeface="+mn-ea"/>
              </a:rPr>
              <a:t>后行断言</a:t>
            </a:r>
            <a:r>
              <a:rPr lang="zh-CN" altLang="zh-CN" sz="2000">
                <a:solidFill>
                  <a:srgbClr val="595959"/>
                </a:solidFill>
                <a:latin typeface="微软雅黑" panose="020B0503020204020204" pitchFamily="34" charset="-122"/>
                <a:ea typeface="微软雅黑" panose="020B0503020204020204" pitchFamily="34" charset="-122"/>
              </a:rPr>
              <a:t>和</a:t>
            </a:r>
            <a:r>
              <a:rPr lang="zh-CN" altLang="zh-CN" sz="2000">
                <a:solidFill>
                  <a:srgbClr val="1369B2"/>
                </a:solidFill>
                <a:latin typeface="微软雅黑" panose="020B0503020204020204" pitchFamily="34" charset="-122"/>
                <a:ea typeface="微软雅黑" panose="020B0503020204020204" pitchFamily="34" charset="-122"/>
                <a:cs typeface="+mn-ea"/>
              </a:rPr>
              <a:t>后行否定断言</a:t>
            </a:r>
            <a:r>
              <a:rPr lang="zh-CN" altLang="zh-CN" sz="2000">
                <a:solidFill>
                  <a:srgbClr val="595959"/>
                </a:solidFill>
                <a:latin typeface="微软雅黑" panose="020B0503020204020204" pitchFamily="34" charset="-122"/>
                <a:ea typeface="微软雅黑" panose="020B0503020204020204" pitchFamily="34" charset="-122"/>
              </a:rPr>
              <a:t>，具体如</a:t>
            </a:r>
            <a:r>
              <a:rPr lang="zh-CN" altLang="en-US" sz="2000">
                <a:solidFill>
                  <a:srgbClr val="595959"/>
                </a:solidFill>
                <a:latin typeface="微软雅黑" panose="020B0503020204020204" pitchFamily="34" charset="-122"/>
                <a:ea typeface="微软雅黑" panose="020B0503020204020204" pitchFamily="34" charset="-122"/>
              </a:rPr>
              <a:t>下表所示。</a:t>
            </a:r>
            <a:endParaRPr lang="en-US" altLang="zh-CN" sz="200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5" name="表格 4">
            <a:extLst>
              <a:ext uri="{FF2B5EF4-FFF2-40B4-BE49-F238E27FC236}">
                <a16:creationId xmlns:a16="http://schemas.microsoft.com/office/drawing/2014/main" id="{92D9E032-3ACE-4053-B5BF-09A503F761E0}"/>
              </a:ext>
            </a:extLst>
          </p:cNvPr>
          <p:cNvGraphicFramePr>
            <a:graphicFrameLocks noGrp="1"/>
          </p:cNvGraphicFramePr>
          <p:nvPr>
            <p:extLst>
              <p:ext uri="{D42A27DB-BD31-4B8C-83A1-F6EECF244321}">
                <p14:modId xmlns:p14="http://schemas.microsoft.com/office/powerpoint/2010/main" val="1637037944"/>
              </p:ext>
            </p:extLst>
          </p:nvPr>
        </p:nvGraphicFramePr>
        <p:xfrm>
          <a:off x="1169937" y="2061642"/>
          <a:ext cx="9461773" cy="3168350"/>
        </p:xfrm>
        <a:graphic>
          <a:graphicData uri="http://schemas.openxmlformats.org/drawingml/2006/table">
            <a:tbl>
              <a:tblPr>
                <a:tableStyleId>{7DF18680-E054-41AD-8BC1-D1AEF772440D}</a:tableStyleId>
              </a:tblPr>
              <a:tblGrid>
                <a:gridCol w="2342915">
                  <a:extLst>
                    <a:ext uri="{9D8B030D-6E8A-4147-A177-3AD203B41FA5}">
                      <a16:colId xmlns:a16="http://schemas.microsoft.com/office/drawing/2014/main" val="1170750699"/>
                    </a:ext>
                  </a:extLst>
                </a:gridCol>
                <a:gridCol w="2162691">
                  <a:extLst>
                    <a:ext uri="{9D8B030D-6E8A-4147-A177-3AD203B41FA5}">
                      <a16:colId xmlns:a16="http://schemas.microsoft.com/office/drawing/2014/main" val="2318622687"/>
                    </a:ext>
                  </a:extLst>
                </a:gridCol>
                <a:gridCol w="4956167">
                  <a:extLst>
                    <a:ext uri="{9D8B030D-6E8A-4147-A177-3AD203B41FA5}">
                      <a16:colId xmlns:a16="http://schemas.microsoft.com/office/drawing/2014/main" val="155784482"/>
                    </a:ext>
                  </a:extLst>
                </a:gridCol>
              </a:tblGrid>
              <a:tr h="633670">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方式</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algn="ctr">
                        <a:spcAft>
                          <a:spcPts val="0"/>
                        </a:spcAft>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语法</a:t>
                      </a:r>
                      <a:endParaRPr lang="zh-CN" sz="2000" b="1" kern="120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tc>
                  <a:txBody>
                    <a:bodyPr/>
                    <a:lstStyle/>
                    <a:p>
                      <a:pPr marL="0" marR="0" lvl="0" indent="0" algn="ctr" defTabSz="1219200" rtl="0" eaLnBrk="1" fontAlgn="auto" latinLnBrk="0" hangingPunct="1">
                        <a:lnSpc>
                          <a:spcPct val="100000"/>
                        </a:lnSpc>
                        <a:spcBef>
                          <a:spcPts val="0"/>
                        </a:spcBef>
                        <a:spcAft>
                          <a:spcPts val="0"/>
                        </a:spcAft>
                        <a:buClrTx/>
                        <a:buSzTx/>
                        <a:buFontTx/>
                        <a:buNone/>
                        <a:tabLst/>
                        <a:defRPr/>
                      </a:pPr>
                      <a:r>
                        <a:rPr lang="zh-CN" altLang="en-US" sz="2000" b="1" kern="1200" smtClean="0">
                          <a:solidFill>
                            <a:srgbClr val="595959"/>
                          </a:solidFill>
                          <a:latin typeface="微软雅黑" panose="020B0503020204020204" pitchFamily="34" charset="-122"/>
                          <a:ea typeface="微软雅黑" panose="020B0503020204020204" pitchFamily="34" charset="-122"/>
                          <a:cs typeface="+mn-ea"/>
                        </a:rPr>
                        <a:t>说明</a:t>
                      </a:r>
                      <a:endParaRPr lang="zh-CN" altLang="zh-CN" sz="2000" b="1" kern="1200" smtClean="0">
                        <a:solidFill>
                          <a:srgbClr val="595959"/>
                        </a:solidFill>
                        <a:latin typeface="微软雅黑" panose="020B0503020204020204" pitchFamily="34" charset="-122"/>
                        <a:ea typeface="微软雅黑" panose="020B0503020204020204" pitchFamily="34" charset="-122"/>
                        <a:cs typeface="+mn-ea"/>
                      </a:endParaRPr>
                    </a:p>
                  </a:txBody>
                  <a:tcPr marL="68580" marR="68580" marT="0" marB="0" anchor="ctr">
                    <a:solidFill>
                      <a:srgbClr val="F2F2F2"/>
                    </a:solidFill>
                  </a:tcPr>
                </a:tc>
                <a:extLst>
                  <a:ext uri="{0D108BD9-81ED-4DB2-BD59-A6C34878D82A}">
                    <a16:rowId xmlns:a16="http://schemas.microsoft.com/office/drawing/2014/main" val="10000"/>
                  </a:ext>
                </a:extLst>
              </a:tr>
              <a:tr h="633670">
                <a:tc>
                  <a:txBody>
                    <a:bodyPr/>
                    <a:lstStyle/>
                    <a:p>
                      <a:pPr algn="ctr">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cs"/>
                        </a:rPr>
                        <a:t>先行断言</a:t>
                      </a:r>
                    </a:p>
                  </a:txBody>
                  <a:tcPr marL="68580" marR="68580" marT="0" marB="0" anchor="ctr">
                    <a:solidFill>
                      <a:srgbClr val="F2F2F2"/>
                    </a:solidFill>
                  </a:tcPr>
                </a:tc>
                <a:tc>
                  <a:txBody>
                    <a:bodyPr/>
                    <a:lstStyle/>
                    <a:p>
                      <a:pPr algn="ctr">
                        <a:lnSpc>
                          <a:spcPct val="150000"/>
                        </a:lnSpc>
                        <a:spcAft>
                          <a:spcPts val="0"/>
                        </a:spcAft>
                      </a:pPr>
                      <a:r>
                        <a:rPr lang="en-US" sz="2000" kern="1200">
                          <a:solidFill>
                            <a:srgbClr val="595959"/>
                          </a:solidFill>
                          <a:latin typeface="微软雅黑" panose="020B0503020204020204" pitchFamily="34" charset="-122"/>
                          <a:ea typeface="微软雅黑" panose="020B0503020204020204" pitchFamily="34" charset="-122"/>
                          <a:cs typeface="+mn-cs"/>
                        </a:rPr>
                        <a:t>x(?=y)</a:t>
                      </a:r>
                      <a:endParaRPr lang="zh-CN" sz="2000" kern="120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algn="l">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cs"/>
                        </a:rPr>
                        <a:t>只有当</a:t>
                      </a:r>
                      <a:r>
                        <a:rPr lang="en-US" sz="2000" kern="1200">
                          <a:solidFill>
                            <a:srgbClr val="595959"/>
                          </a:solidFill>
                          <a:latin typeface="微软雅黑" panose="020B0503020204020204" pitchFamily="34" charset="-122"/>
                          <a:ea typeface="微软雅黑" panose="020B0503020204020204" pitchFamily="34" charset="-122"/>
                          <a:cs typeface="+mn-cs"/>
                        </a:rPr>
                        <a:t>x</a:t>
                      </a:r>
                      <a:r>
                        <a:rPr lang="zh-CN" sz="2000" kern="1200">
                          <a:solidFill>
                            <a:srgbClr val="595959"/>
                          </a:solidFill>
                          <a:latin typeface="微软雅黑" panose="020B0503020204020204" pitchFamily="34" charset="-122"/>
                          <a:ea typeface="微软雅黑" panose="020B0503020204020204" pitchFamily="34" charset="-122"/>
                          <a:cs typeface="+mn-cs"/>
                        </a:rPr>
                        <a:t>后面是</a:t>
                      </a:r>
                      <a:r>
                        <a:rPr lang="en-US" sz="2000" kern="1200">
                          <a:solidFill>
                            <a:srgbClr val="595959"/>
                          </a:solidFill>
                          <a:latin typeface="微软雅黑" panose="020B0503020204020204" pitchFamily="34" charset="-122"/>
                          <a:ea typeface="微软雅黑" panose="020B0503020204020204" pitchFamily="34" charset="-122"/>
                          <a:cs typeface="+mn-cs"/>
                        </a:rPr>
                        <a:t>y</a:t>
                      </a:r>
                      <a:r>
                        <a:rPr lang="zh-CN" sz="2000" kern="1200">
                          <a:solidFill>
                            <a:srgbClr val="595959"/>
                          </a:solidFill>
                          <a:latin typeface="微软雅黑" panose="020B0503020204020204" pitchFamily="34" charset="-122"/>
                          <a:ea typeface="微软雅黑" panose="020B0503020204020204" pitchFamily="34" charset="-122"/>
                          <a:cs typeface="+mn-cs"/>
                        </a:rPr>
                        <a:t>时，才匹配成功</a:t>
                      </a:r>
                    </a:p>
                  </a:txBody>
                  <a:tcPr marL="68580" marR="68580" marT="0" marB="0" anchor="ctr">
                    <a:solidFill>
                      <a:srgbClr val="F2F2F2"/>
                    </a:solidFill>
                  </a:tcPr>
                </a:tc>
                <a:extLst>
                  <a:ext uri="{0D108BD9-81ED-4DB2-BD59-A6C34878D82A}">
                    <a16:rowId xmlns:a16="http://schemas.microsoft.com/office/drawing/2014/main" val="141778534"/>
                  </a:ext>
                </a:extLst>
              </a:tr>
              <a:tr h="633670">
                <a:tc>
                  <a:txBody>
                    <a:bodyPr/>
                    <a:lstStyle/>
                    <a:p>
                      <a:pPr algn="ctr">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cs"/>
                        </a:rPr>
                        <a:t>先行否定断言</a:t>
                      </a:r>
                    </a:p>
                  </a:txBody>
                  <a:tcPr marL="68580" marR="68580" marT="0" marB="0" anchor="ctr">
                    <a:solidFill>
                      <a:srgbClr val="F2F2F2"/>
                    </a:solidFill>
                  </a:tcPr>
                </a:tc>
                <a:tc>
                  <a:txBody>
                    <a:bodyPr/>
                    <a:lstStyle/>
                    <a:p>
                      <a:pPr algn="ctr">
                        <a:lnSpc>
                          <a:spcPct val="150000"/>
                        </a:lnSpc>
                        <a:spcAft>
                          <a:spcPts val="0"/>
                        </a:spcAft>
                      </a:pPr>
                      <a:r>
                        <a:rPr lang="en-US" sz="2000" kern="1200" dirty="0">
                          <a:solidFill>
                            <a:srgbClr val="595959"/>
                          </a:solidFill>
                          <a:latin typeface="微软雅黑" panose="020B0503020204020204" pitchFamily="34" charset="-122"/>
                          <a:ea typeface="微软雅黑" panose="020B0503020204020204" pitchFamily="34" charset="-122"/>
                          <a:cs typeface="+mn-cs"/>
                        </a:rPr>
                        <a:t>x(?!y)</a:t>
                      </a:r>
                      <a:endParaRPr lang="zh-CN" sz="20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algn="l">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cs"/>
                        </a:rPr>
                        <a:t>只有当</a:t>
                      </a:r>
                      <a:r>
                        <a:rPr lang="en-US" sz="2000" kern="1200">
                          <a:solidFill>
                            <a:srgbClr val="595959"/>
                          </a:solidFill>
                          <a:latin typeface="微软雅黑" panose="020B0503020204020204" pitchFamily="34" charset="-122"/>
                          <a:ea typeface="微软雅黑" panose="020B0503020204020204" pitchFamily="34" charset="-122"/>
                          <a:cs typeface="+mn-cs"/>
                        </a:rPr>
                        <a:t>x</a:t>
                      </a:r>
                      <a:r>
                        <a:rPr lang="zh-CN" sz="2000" kern="1200">
                          <a:solidFill>
                            <a:srgbClr val="595959"/>
                          </a:solidFill>
                          <a:latin typeface="微软雅黑" panose="020B0503020204020204" pitchFamily="34" charset="-122"/>
                          <a:ea typeface="微软雅黑" panose="020B0503020204020204" pitchFamily="34" charset="-122"/>
                          <a:cs typeface="+mn-cs"/>
                        </a:rPr>
                        <a:t>后面不是</a:t>
                      </a:r>
                      <a:r>
                        <a:rPr lang="en-US" sz="2000" kern="1200">
                          <a:solidFill>
                            <a:srgbClr val="595959"/>
                          </a:solidFill>
                          <a:latin typeface="微软雅黑" panose="020B0503020204020204" pitchFamily="34" charset="-122"/>
                          <a:ea typeface="微软雅黑" panose="020B0503020204020204" pitchFamily="34" charset="-122"/>
                          <a:cs typeface="+mn-cs"/>
                        </a:rPr>
                        <a:t>y</a:t>
                      </a:r>
                      <a:r>
                        <a:rPr lang="zh-CN" sz="2000" kern="1200">
                          <a:solidFill>
                            <a:srgbClr val="595959"/>
                          </a:solidFill>
                          <a:latin typeface="微软雅黑" panose="020B0503020204020204" pitchFamily="34" charset="-122"/>
                          <a:ea typeface="微软雅黑" panose="020B0503020204020204" pitchFamily="34" charset="-122"/>
                          <a:cs typeface="+mn-cs"/>
                        </a:rPr>
                        <a:t>时，才匹配成功</a:t>
                      </a:r>
                    </a:p>
                  </a:txBody>
                  <a:tcPr marL="68580" marR="68580" marT="0" marB="0" anchor="ctr">
                    <a:solidFill>
                      <a:srgbClr val="F2F2F2"/>
                    </a:solidFill>
                  </a:tcPr>
                </a:tc>
                <a:extLst>
                  <a:ext uri="{0D108BD9-81ED-4DB2-BD59-A6C34878D82A}">
                    <a16:rowId xmlns:a16="http://schemas.microsoft.com/office/drawing/2014/main" val="1351245817"/>
                  </a:ext>
                </a:extLst>
              </a:tr>
              <a:tr h="633670">
                <a:tc>
                  <a:txBody>
                    <a:bodyPr/>
                    <a:lstStyle/>
                    <a:p>
                      <a:pPr algn="ctr">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cs"/>
                        </a:rPr>
                        <a:t>后行断言</a:t>
                      </a:r>
                    </a:p>
                  </a:txBody>
                  <a:tcPr marL="68580" marR="68580" marT="0" marB="0" anchor="ctr">
                    <a:solidFill>
                      <a:srgbClr val="F2F2F2"/>
                    </a:solidFill>
                  </a:tcPr>
                </a:tc>
                <a:tc>
                  <a:txBody>
                    <a:bodyPr/>
                    <a:lstStyle/>
                    <a:p>
                      <a:pPr algn="ctr">
                        <a:lnSpc>
                          <a:spcPct val="150000"/>
                        </a:lnSpc>
                        <a:spcAft>
                          <a:spcPts val="0"/>
                        </a:spcAft>
                      </a:pPr>
                      <a:r>
                        <a:rPr lang="en-US" sz="2000" kern="1200" dirty="0">
                          <a:solidFill>
                            <a:srgbClr val="595959"/>
                          </a:solidFill>
                          <a:latin typeface="微软雅黑" panose="020B0503020204020204" pitchFamily="34" charset="-122"/>
                          <a:ea typeface="微软雅黑" panose="020B0503020204020204" pitchFamily="34" charset="-122"/>
                          <a:cs typeface="+mn-cs"/>
                        </a:rPr>
                        <a:t>(?&lt;=y)x</a:t>
                      </a:r>
                      <a:endParaRPr lang="zh-CN" sz="20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algn="l">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cs"/>
                        </a:rPr>
                        <a:t>只有当</a:t>
                      </a:r>
                      <a:r>
                        <a:rPr lang="en-US" sz="2000" kern="1200">
                          <a:solidFill>
                            <a:srgbClr val="595959"/>
                          </a:solidFill>
                          <a:latin typeface="微软雅黑" panose="020B0503020204020204" pitchFamily="34" charset="-122"/>
                          <a:ea typeface="微软雅黑" panose="020B0503020204020204" pitchFamily="34" charset="-122"/>
                          <a:cs typeface="+mn-cs"/>
                        </a:rPr>
                        <a:t>x</a:t>
                      </a:r>
                      <a:r>
                        <a:rPr lang="zh-CN" sz="2000" kern="1200">
                          <a:solidFill>
                            <a:srgbClr val="595959"/>
                          </a:solidFill>
                          <a:latin typeface="微软雅黑" panose="020B0503020204020204" pitchFamily="34" charset="-122"/>
                          <a:ea typeface="微软雅黑" panose="020B0503020204020204" pitchFamily="34" charset="-122"/>
                          <a:cs typeface="+mn-cs"/>
                        </a:rPr>
                        <a:t>前面是</a:t>
                      </a:r>
                      <a:r>
                        <a:rPr lang="en-US" sz="2000" kern="1200">
                          <a:solidFill>
                            <a:srgbClr val="595959"/>
                          </a:solidFill>
                          <a:latin typeface="微软雅黑" panose="020B0503020204020204" pitchFamily="34" charset="-122"/>
                          <a:ea typeface="微软雅黑" panose="020B0503020204020204" pitchFamily="34" charset="-122"/>
                          <a:cs typeface="+mn-cs"/>
                        </a:rPr>
                        <a:t>y</a:t>
                      </a:r>
                      <a:r>
                        <a:rPr lang="zh-CN" sz="2000" kern="1200">
                          <a:solidFill>
                            <a:srgbClr val="595959"/>
                          </a:solidFill>
                          <a:latin typeface="微软雅黑" panose="020B0503020204020204" pitchFamily="34" charset="-122"/>
                          <a:ea typeface="微软雅黑" panose="020B0503020204020204" pitchFamily="34" charset="-122"/>
                          <a:cs typeface="+mn-cs"/>
                        </a:rPr>
                        <a:t>时，才匹配成功</a:t>
                      </a:r>
                    </a:p>
                  </a:txBody>
                  <a:tcPr marL="68580" marR="68580" marT="0" marB="0" anchor="ctr">
                    <a:solidFill>
                      <a:srgbClr val="F2F2F2"/>
                    </a:solidFill>
                  </a:tcPr>
                </a:tc>
                <a:extLst>
                  <a:ext uri="{0D108BD9-81ED-4DB2-BD59-A6C34878D82A}">
                    <a16:rowId xmlns:a16="http://schemas.microsoft.com/office/drawing/2014/main" val="3260076697"/>
                  </a:ext>
                </a:extLst>
              </a:tr>
              <a:tr h="633670">
                <a:tc>
                  <a:txBody>
                    <a:bodyPr/>
                    <a:lstStyle/>
                    <a:p>
                      <a:pPr algn="ctr">
                        <a:lnSpc>
                          <a:spcPct val="150000"/>
                        </a:lnSpc>
                        <a:spcAft>
                          <a:spcPts val="0"/>
                        </a:spcAft>
                      </a:pPr>
                      <a:r>
                        <a:rPr lang="zh-CN" sz="2000" kern="1200">
                          <a:solidFill>
                            <a:srgbClr val="595959"/>
                          </a:solidFill>
                          <a:latin typeface="微软雅黑" panose="020B0503020204020204" pitchFamily="34" charset="-122"/>
                          <a:ea typeface="微软雅黑" panose="020B0503020204020204" pitchFamily="34" charset="-122"/>
                          <a:cs typeface="+mn-cs"/>
                        </a:rPr>
                        <a:t>后行否定断言</a:t>
                      </a:r>
                    </a:p>
                  </a:txBody>
                  <a:tcPr marL="68580" marR="68580" marT="0" marB="0" anchor="ctr">
                    <a:solidFill>
                      <a:srgbClr val="F2F2F2"/>
                    </a:solidFill>
                  </a:tcPr>
                </a:tc>
                <a:tc>
                  <a:txBody>
                    <a:bodyPr/>
                    <a:lstStyle/>
                    <a:p>
                      <a:pPr algn="ctr">
                        <a:lnSpc>
                          <a:spcPct val="150000"/>
                        </a:lnSpc>
                        <a:spcAft>
                          <a:spcPts val="0"/>
                        </a:spcAft>
                      </a:pPr>
                      <a:r>
                        <a:rPr lang="en-US" sz="2000" kern="1200" dirty="0">
                          <a:solidFill>
                            <a:srgbClr val="595959"/>
                          </a:solidFill>
                          <a:latin typeface="微软雅黑" panose="020B0503020204020204" pitchFamily="34" charset="-122"/>
                          <a:ea typeface="微软雅黑" panose="020B0503020204020204" pitchFamily="34" charset="-122"/>
                          <a:cs typeface="+mn-cs"/>
                        </a:rPr>
                        <a:t>(?&lt;!y)x</a:t>
                      </a:r>
                      <a:endParaRPr lang="zh-CN" sz="2000" kern="1200" dirty="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b">
                    <a:solidFill>
                      <a:srgbClr val="F2F2F2"/>
                    </a:solidFill>
                  </a:tcPr>
                </a:tc>
                <a:tc>
                  <a:txBody>
                    <a:bodyPr/>
                    <a:lstStyle/>
                    <a:p>
                      <a:pPr algn="l">
                        <a:lnSpc>
                          <a:spcPct val="150000"/>
                        </a:lnSpc>
                        <a:spcAft>
                          <a:spcPts val="0"/>
                        </a:spcAft>
                      </a:pPr>
                      <a:r>
                        <a:rPr lang="zh-CN" sz="2000" kern="1200" dirty="0">
                          <a:solidFill>
                            <a:srgbClr val="595959"/>
                          </a:solidFill>
                          <a:latin typeface="微软雅黑" panose="020B0503020204020204" pitchFamily="34" charset="-122"/>
                          <a:ea typeface="微软雅黑" panose="020B0503020204020204" pitchFamily="34" charset="-122"/>
                          <a:cs typeface="+mn-cs"/>
                        </a:rPr>
                        <a:t>只有当</a:t>
                      </a:r>
                      <a:r>
                        <a:rPr lang="en-US" sz="2000" kern="1200" dirty="0">
                          <a:solidFill>
                            <a:srgbClr val="595959"/>
                          </a:solidFill>
                          <a:latin typeface="微软雅黑" panose="020B0503020204020204" pitchFamily="34" charset="-122"/>
                          <a:ea typeface="微软雅黑" panose="020B0503020204020204" pitchFamily="34" charset="-122"/>
                          <a:cs typeface="+mn-cs"/>
                        </a:rPr>
                        <a:t>x</a:t>
                      </a:r>
                      <a:r>
                        <a:rPr lang="zh-CN" sz="2000" kern="1200" dirty="0">
                          <a:solidFill>
                            <a:srgbClr val="595959"/>
                          </a:solidFill>
                          <a:latin typeface="微软雅黑" panose="020B0503020204020204" pitchFamily="34" charset="-122"/>
                          <a:ea typeface="微软雅黑" panose="020B0503020204020204" pitchFamily="34" charset="-122"/>
                          <a:cs typeface="+mn-cs"/>
                        </a:rPr>
                        <a:t>前面不是</a:t>
                      </a:r>
                      <a:r>
                        <a:rPr lang="en-US" sz="2000" kern="1200" dirty="0">
                          <a:solidFill>
                            <a:srgbClr val="595959"/>
                          </a:solidFill>
                          <a:latin typeface="微软雅黑" panose="020B0503020204020204" pitchFamily="34" charset="-122"/>
                          <a:ea typeface="微软雅黑" panose="020B0503020204020204" pitchFamily="34" charset="-122"/>
                          <a:cs typeface="+mn-cs"/>
                        </a:rPr>
                        <a:t>y</a:t>
                      </a:r>
                      <a:r>
                        <a:rPr lang="zh-CN" sz="2000" kern="1200" dirty="0">
                          <a:solidFill>
                            <a:srgbClr val="595959"/>
                          </a:solidFill>
                          <a:latin typeface="微软雅黑" panose="020B0503020204020204" pitchFamily="34" charset="-122"/>
                          <a:ea typeface="微软雅黑" panose="020B0503020204020204" pitchFamily="34" charset="-122"/>
                          <a:cs typeface="+mn-cs"/>
                        </a:rPr>
                        <a:t>时，才匹配成功</a:t>
                      </a:r>
                    </a:p>
                  </a:txBody>
                  <a:tcPr marL="68580" marR="68580" marT="0" marB="0" anchor="ctr">
                    <a:solidFill>
                      <a:srgbClr val="F2F2F2"/>
                    </a:solidFill>
                  </a:tcPr>
                </a:tc>
                <a:extLst>
                  <a:ext uri="{0D108BD9-81ED-4DB2-BD59-A6C34878D82A}">
                    <a16:rowId xmlns:a16="http://schemas.microsoft.com/office/drawing/2014/main" val="67477245"/>
                  </a:ext>
                </a:extLst>
              </a:tr>
            </a:tbl>
          </a:graphicData>
        </a:graphic>
      </p:graphicFrame>
    </p:spTree>
    <p:extLst>
      <p:ext uri="{BB962C8B-B14F-4D97-AF65-F5344CB8AC3E}">
        <p14:creationId xmlns:p14="http://schemas.microsoft.com/office/powerpoint/2010/main" val="19299363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3691" y="1271555"/>
            <a:ext cx="7848872" cy="553998"/>
          </a:xfrm>
          <a:prstGeom prst="rect">
            <a:avLst/>
          </a:prstGeom>
        </p:spPr>
        <p:txBody>
          <a:bodyPr wrap="square">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下面</a:t>
            </a:r>
            <a:r>
              <a:rPr lang="zh-CN" altLang="zh-CN" sz="2000">
                <a:solidFill>
                  <a:srgbClr val="595959"/>
                </a:solidFill>
                <a:latin typeface="微软雅黑" panose="020B0503020204020204" pitchFamily="34" charset="-122"/>
                <a:ea typeface="微软雅黑" panose="020B0503020204020204" pitchFamily="34" charset="-122"/>
              </a:rPr>
              <a:t>通过代码演示</a:t>
            </a:r>
            <a:r>
              <a:rPr lang="zh-CN" altLang="zh-CN" sz="2000">
                <a:solidFill>
                  <a:srgbClr val="1369B2"/>
                </a:solidFill>
                <a:latin typeface="微软雅黑" panose="020B0503020204020204" pitchFamily="34" charset="-122"/>
                <a:ea typeface="微软雅黑" panose="020B0503020204020204" pitchFamily="34" charset="-122"/>
                <a:cs typeface="+mn-ea"/>
              </a:rPr>
              <a:t>零宽断言的使用</a:t>
            </a:r>
            <a:r>
              <a:rPr lang="zh-CN" altLang="zh-CN" sz="2000">
                <a:solidFill>
                  <a:srgbClr val="595959"/>
                </a:solidFill>
                <a:latin typeface="微软雅黑" panose="020B0503020204020204" pitchFamily="34" charset="-122"/>
                <a:ea typeface="微软雅黑" panose="020B0503020204020204" pitchFamily="34" charset="-122"/>
              </a:rPr>
              <a:t>，示例代码如下。</a:t>
            </a:r>
          </a:p>
        </p:txBody>
      </p:sp>
      <p:sp>
        <p:nvSpPr>
          <p:cNvPr id="7"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 name="文本框 5">
            <a:extLst>
              <a:ext uri="{FF2B5EF4-FFF2-40B4-BE49-F238E27FC236}">
                <a16:creationId xmlns:a16="http://schemas.microsoft.com/office/drawing/2014/main" id="{2BD7E020-D0A4-47DE-BE0C-F3967B274E91}"/>
              </a:ext>
            </a:extLst>
          </p:cNvPr>
          <p:cNvSpPr txBox="1"/>
          <p:nvPr/>
        </p:nvSpPr>
        <p:spPr>
          <a:xfrm>
            <a:off x="1270670" y="2205658"/>
            <a:ext cx="9505056" cy="3785652"/>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reg1 = /</a:t>
            </a:r>
            <a:r>
              <a:rPr lang="en-US" altLang="zh-CN" sz="2000" dirty="0" err="1">
                <a:solidFill>
                  <a:srgbClr val="595959"/>
                </a:solidFill>
                <a:latin typeface="微软雅黑" panose="020B0503020204020204" pitchFamily="34" charset="-122"/>
                <a:ea typeface="微软雅黑" panose="020B0503020204020204" pitchFamily="34" charset="-122"/>
                <a:cs typeface="+mn-ea"/>
              </a:rPr>
              <a:t>Countr</a:t>
            </a:r>
            <a:r>
              <a:rPr lang="en-US" altLang="zh-CN" sz="2000" dirty="0">
                <a:solidFill>
                  <a:srgbClr val="595959"/>
                </a:solidFill>
                <a:latin typeface="微软雅黑" panose="020B0503020204020204" pitchFamily="34" charset="-122"/>
                <a:ea typeface="微软雅黑" panose="020B0503020204020204" pitchFamily="34" charset="-122"/>
                <a:cs typeface="+mn-ea"/>
              </a:rPr>
              <a:t>(?=y)/g;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reg2 = /</a:t>
            </a:r>
            <a:r>
              <a:rPr lang="en-US" altLang="zh-CN" sz="2000" dirty="0" err="1">
                <a:solidFill>
                  <a:srgbClr val="595959"/>
                </a:solidFill>
                <a:latin typeface="微软雅黑" panose="020B0503020204020204" pitchFamily="34" charset="-122"/>
                <a:ea typeface="微软雅黑" panose="020B0503020204020204" pitchFamily="34" charset="-122"/>
                <a:cs typeface="+mn-ea"/>
              </a:rPr>
              <a:t>Countr</a:t>
            </a:r>
            <a:r>
              <a:rPr lang="en-US" altLang="zh-CN" sz="2000" dirty="0">
                <a:solidFill>
                  <a:srgbClr val="595959"/>
                </a:solidFill>
                <a:latin typeface="微软雅黑" panose="020B0503020204020204" pitchFamily="34" charset="-122"/>
                <a:ea typeface="微软雅黑" panose="020B0503020204020204" pitchFamily="34" charset="-122"/>
                <a:cs typeface="+mn-ea"/>
              </a:rPr>
              <a:t>(?!y)/g;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reg3 = /(?&lt;=A)</a:t>
            </a:r>
            <a:r>
              <a:rPr lang="en-US" altLang="zh-CN" sz="2000" dirty="0" err="1">
                <a:solidFill>
                  <a:srgbClr val="595959"/>
                </a:solidFill>
                <a:latin typeface="微软雅黑" panose="020B0503020204020204" pitchFamily="34" charset="-122"/>
                <a:ea typeface="微软雅黑" panose="020B0503020204020204" pitchFamily="34" charset="-122"/>
                <a:cs typeface="+mn-ea"/>
              </a:rPr>
              <a:t>dmin</a:t>
            </a:r>
            <a:r>
              <a:rPr lang="en-US" altLang="zh-CN" sz="2000" dirty="0">
                <a:solidFill>
                  <a:srgbClr val="595959"/>
                </a:solidFill>
                <a:latin typeface="微软雅黑" panose="020B0503020204020204" pitchFamily="34" charset="-122"/>
                <a:ea typeface="微软雅黑" panose="020B0503020204020204" pitchFamily="34" charset="-122"/>
                <a:cs typeface="+mn-ea"/>
              </a:rPr>
              <a:t>/g;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reg4 = /(?&lt;!A)</a:t>
            </a:r>
            <a:r>
              <a:rPr lang="en-US" altLang="zh-CN" sz="2000" dirty="0" err="1">
                <a:solidFill>
                  <a:srgbClr val="595959"/>
                </a:solidFill>
                <a:latin typeface="微软雅黑" panose="020B0503020204020204" pitchFamily="34" charset="-122"/>
                <a:ea typeface="微软雅黑" panose="020B0503020204020204" pitchFamily="34" charset="-122"/>
                <a:cs typeface="+mn-ea"/>
              </a:rPr>
              <a:t>dmin</a:t>
            </a:r>
            <a:r>
              <a:rPr lang="en-US" altLang="zh-CN" sz="2000" dirty="0">
                <a:solidFill>
                  <a:srgbClr val="595959"/>
                </a:solidFill>
                <a:latin typeface="微软雅黑" panose="020B0503020204020204" pitchFamily="34" charset="-122"/>
                <a:ea typeface="微软雅黑" panose="020B0503020204020204" pitchFamily="34" charset="-122"/>
                <a:cs typeface="+mn-ea"/>
              </a:rPr>
              <a:t>/g;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后行否定断言</a:t>
            </a: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Country'.match</a:t>
            </a:r>
            <a:r>
              <a:rPr lang="en-US" altLang="zh-CN" sz="2000" dirty="0">
                <a:solidFill>
                  <a:srgbClr val="595959"/>
                </a:solidFill>
                <a:latin typeface="微软雅黑" panose="020B0503020204020204" pitchFamily="34" charset="-122"/>
                <a:ea typeface="微软雅黑" panose="020B0503020204020204" pitchFamily="34" charset="-122"/>
                <a:cs typeface="+mn-ea"/>
              </a:rPr>
              <a:t>(reg1));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Countr</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Country'.match</a:t>
            </a:r>
            <a:r>
              <a:rPr lang="en-US" altLang="zh-CN" sz="2000" dirty="0">
                <a:solidFill>
                  <a:srgbClr val="595959"/>
                </a:solidFill>
                <a:latin typeface="微软雅黑" panose="020B0503020204020204" pitchFamily="34" charset="-122"/>
                <a:ea typeface="微软雅黑" panose="020B0503020204020204" pitchFamily="34" charset="-122"/>
                <a:cs typeface="+mn-ea"/>
              </a:rPr>
              <a:t>(reg2));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null</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Admin'.match</a:t>
            </a:r>
            <a:r>
              <a:rPr lang="en-US" altLang="zh-CN" sz="2000" dirty="0">
                <a:solidFill>
                  <a:srgbClr val="595959"/>
                </a:solidFill>
                <a:latin typeface="微软雅黑" panose="020B0503020204020204" pitchFamily="34" charset="-122"/>
                <a:ea typeface="微软雅黑" panose="020B0503020204020204" pitchFamily="34" charset="-122"/>
                <a:cs typeface="+mn-ea"/>
              </a:rPr>
              <a:t>(reg3));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dmin</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Bdmin</a:t>
            </a:r>
            <a:r>
              <a:rPr lang="en-US" altLang="zh-CN" sz="2000" dirty="0">
                <a:solidFill>
                  <a:srgbClr val="595959"/>
                </a:solidFill>
                <a:latin typeface="微软雅黑" panose="020B0503020204020204" pitchFamily="34" charset="-122"/>
                <a:ea typeface="微软雅黑" panose="020B0503020204020204" pitchFamily="34" charset="-122"/>
                <a:cs typeface="+mn-ea"/>
              </a:rPr>
              <a:t>'.match(reg4));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dmin</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513452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形 22" descr="讲故事"/>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71712" y="1352729"/>
            <a:ext cx="1015842" cy="1015842"/>
          </a:xfrm>
          <a:prstGeom prst="rect">
            <a:avLst/>
          </a:prstGeom>
        </p:spPr>
      </p:pic>
      <p:sp>
        <p:nvSpPr>
          <p:cNvPr id="8" name="矩形 7"/>
          <p:cNvSpPr/>
          <p:nvPr/>
        </p:nvSpPr>
        <p:spPr>
          <a:xfrm>
            <a:off x="2150110" y="1607820"/>
            <a:ext cx="2504936"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文本框 8"/>
          <p:cNvSpPr txBox="1"/>
          <p:nvPr/>
        </p:nvSpPr>
        <p:spPr>
          <a:xfrm>
            <a:off x="2275586" y="1743045"/>
            <a:ext cx="2247711" cy="400110"/>
          </a:xfrm>
          <a:prstGeom prst="rect">
            <a:avLst/>
          </a:prstGeom>
          <a:noFill/>
        </p:spPr>
        <p:txBody>
          <a:bodyPr wrap="square" rtlCol="0">
            <a:spAutoFit/>
          </a:bodyPr>
          <a:lstStyle/>
          <a:p>
            <a:pPr algn="ctr"/>
            <a:r>
              <a:rPr lang="zh-CN" altLang="en-US"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正则表达式优先级</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矩形 9"/>
          <p:cNvSpPr/>
          <p:nvPr/>
        </p:nvSpPr>
        <p:spPr>
          <a:xfrm>
            <a:off x="4943078"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1" name="矩形 10"/>
          <p:cNvSpPr/>
          <p:nvPr/>
        </p:nvSpPr>
        <p:spPr>
          <a:xfrm>
            <a:off x="5130777"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矩形 11"/>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2" name="矩形 1"/>
          <p:cNvSpPr/>
          <p:nvPr/>
        </p:nvSpPr>
        <p:spPr>
          <a:xfrm>
            <a:off x="971712" y="2400026"/>
            <a:ext cx="10740117" cy="923330"/>
          </a:xfrm>
          <a:prstGeom prst="rect">
            <a:avLst/>
          </a:prstGeom>
        </p:spPr>
        <p:txBody>
          <a:bodyPr wrap="square">
            <a:spAutoFit/>
          </a:bodyPr>
          <a:lstStyle/>
          <a:p>
            <a:pPr algn="just">
              <a:lnSpc>
                <a:spcPct val="150000"/>
              </a:lnSpc>
            </a:pPr>
            <a:r>
              <a:rPr lang="zh-CN" altLang="zh-CN" sz="1800" dirty="0" smtClean="0">
                <a:solidFill>
                  <a:srgbClr val="595959"/>
                </a:solidFill>
                <a:latin typeface="微软雅黑" panose="020B0503020204020204" pitchFamily="34" charset="-122"/>
                <a:ea typeface="微软雅黑" panose="020B0503020204020204" pitchFamily="34" charset="-122"/>
                <a:cs typeface="+mn-ea"/>
              </a:rPr>
              <a:t>在</a:t>
            </a:r>
            <a:r>
              <a:rPr lang="en-US" altLang="zh-CN" sz="1800" dirty="0">
                <a:solidFill>
                  <a:srgbClr val="595959"/>
                </a:solidFill>
                <a:latin typeface="微软雅黑" panose="020B0503020204020204" pitchFamily="34" charset="-122"/>
                <a:ea typeface="微软雅黑" panose="020B0503020204020204" pitchFamily="34" charset="-122"/>
                <a:cs typeface="+mn-ea"/>
              </a:rPr>
              <a:t>JavaScript</a:t>
            </a:r>
            <a:r>
              <a:rPr lang="zh-CN" altLang="zh-CN" sz="1800" dirty="0">
                <a:solidFill>
                  <a:srgbClr val="595959"/>
                </a:solidFill>
                <a:latin typeface="微软雅黑" panose="020B0503020204020204" pitchFamily="34" charset="-122"/>
                <a:ea typeface="微软雅黑" panose="020B0503020204020204" pitchFamily="34" charset="-122"/>
                <a:cs typeface="+mn-ea"/>
              </a:rPr>
              <a:t>中，除了运算符有优先级外，</a:t>
            </a:r>
            <a:r>
              <a:rPr lang="zh-CN" altLang="zh-CN" sz="1800" dirty="0">
                <a:solidFill>
                  <a:srgbClr val="1369B2"/>
                </a:solidFill>
                <a:latin typeface="微软雅黑" panose="020B0503020204020204" pitchFamily="34" charset="-122"/>
                <a:ea typeface="微软雅黑" panose="020B0503020204020204" pitchFamily="34" charset="-122"/>
                <a:cs typeface="+mn-ea"/>
              </a:rPr>
              <a:t>正则表达式也有优先级</a:t>
            </a:r>
            <a:r>
              <a:rPr lang="zh-CN" altLang="zh-CN" sz="1800" dirty="0">
                <a:solidFill>
                  <a:srgbClr val="595959"/>
                </a:solidFill>
                <a:latin typeface="微软雅黑" panose="020B0503020204020204" pitchFamily="34" charset="-122"/>
                <a:ea typeface="微软雅黑" panose="020B0503020204020204" pitchFamily="34" charset="-122"/>
                <a:cs typeface="+mn-ea"/>
              </a:rPr>
              <a:t>。在使用正则表达式时，</a:t>
            </a:r>
            <a:r>
              <a:rPr lang="zh-CN" altLang="zh-CN" sz="1800" dirty="0">
                <a:solidFill>
                  <a:srgbClr val="1369B2"/>
                </a:solidFill>
                <a:latin typeface="微软雅黑" panose="020B0503020204020204" pitchFamily="34" charset="-122"/>
                <a:ea typeface="微软雅黑" panose="020B0503020204020204" pitchFamily="34" charset="-122"/>
                <a:cs typeface="+mn-ea"/>
              </a:rPr>
              <a:t>元字符</a:t>
            </a:r>
            <a:r>
              <a:rPr lang="zh-CN" altLang="zh-CN" sz="1800" dirty="0">
                <a:solidFill>
                  <a:srgbClr val="595959"/>
                </a:solidFill>
                <a:latin typeface="微软雅黑" panose="020B0503020204020204" pitchFamily="34" charset="-122"/>
                <a:ea typeface="微软雅黑" panose="020B0503020204020204" pitchFamily="34" charset="-122"/>
                <a:cs typeface="+mn-ea"/>
              </a:rPr>
              <a:t>和</a:t>
            </a:r>
            <a:r>
              <a:rPr lang="zh-CN" altLang="zh-CN" sz="1800" dirty="0">
                <a:solidFill>
                  <a:srgbClr val="1369B2"/>
                </a:solidFill>
                <a:latin typeface="微软雅黑" panose="020B0503020204020204" pitchFamily="34" charset="-122"/>
                <a:ea typeface="微软雅黑" panose="020B0503020204020204" pitchFamily="34" charset="-122"/>
                <a:cs typeface="+mn-ea"/>
              </a:rPr>
              <a:t>文本字符</a:t>
            </a:r>
            <a:r>
              <a:rPr lang="zh-CN" altLang="zh-CN" sz="1800" dirty="0">
                <a:solidFill>
                  <a:srgbClr val="595959"/>
                </a:solidFill>
                <a:latin typeface="微软雅黑" panose="020B0503020204020204" pitchFamily="34" charset="-122"/>
                <a:ea typeface="微软雅黑" panose="020B0503020204020204" pitchFamily="34" charset="-122"/>
                <a:cs typeface="+mn-ea"/>
              </a:rPr>
              <a:t>会遵循优先级顺序。下面将正则表达式中各种符号按照</a:t>
            </a:r>
            <a:r>
              <a:rPr lang="zh-CN" altLang="zh-CN" sz="1800" dirty="0">
                <a:solidFill>
                  <a:srgbClr val="1369B2"/>
                </a:solidFill>
                <a:latin typeface="微软雅黑" panose="020B0503020204020204" pitchFamily="34" charset="-122"/>
                <a:ea typeface="微软雅黑" panose="020B0503020204020204" pitchFamily="34" charset="-122"/>
                <a:cs typeface="+mn-ea"/>
              </a:rPr>
              <a:t>优先级从高到低的顺序进行排列</a:t>
            </a:r>
            <a:r>
              <a:rPr lang="zh-CN" altLang="zh-CN" sz="1800" dirty="0">
                <a:solidFill>
                  <a:srgbClr val="595959"/>
                </a:solidFill>
                <a:latin typeface="微软雅黑" panose="020B0503020204020204" pitchFamily="34" charset="-122"/>
                <a:ea typeface="微软雅黑" panose="020B0503020204020204" pitchFamily="34" charset="-122"/>
                <a:cs typeface="+mn-ea"/>
              </a:rPr>
              <a:t>，具体如下</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1126654" y="3351670"/>
            <a:ext cx="10328284" cy="3000821"/>
          </a:xfrm>
          <a:prstGeom prst="rect">
            <a:avLst/>
          </a:prstGeom>
        </p:spPr>
        <p:txBody>
          <a:bodyPr wrap="square">
            <a:spAutoFit/>
          </a:bodyPr>
          <a:lstStyle/>
          <a:p>
            <a:pPr marL="342900" lvl="0" indent="-342900" algn="just">
              <a:lnSpc>
                <a:spcPct val="150000"/>
              </a:lnSpc>
              <a:spcAft>
                <a:spcPts val="0"/>
              </a:spcAft>
              <a:buFont typeface="Wingdings" panose="05000000000000000000" pitchFamily="2" charset="2"/>
              <a:buChar char=""/>
            </a:pPr>
            <a:r>
              <a:rPr lang="zh-CN" altLang="zh-CN" sz="1800" dirty="0">
                <a:solidFill>
                  <a:srgbClr val="595959"/>
                </a:solidFill>
                <a:latin typeface="微软雅黑" panose="020B0503020204020204" pitchFamily="34" charset="-122"/>
                <a:ea typeface="微软雅黑" panose="020B0503020204020204" pitchFamily="34" charset="-122"/>
                <a:cs typeface="+mn-ea"/>
              </a:rPr>
              <a:t>小括号</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和非捕获括号</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，用于</a:t>
            </a:r>
            <a:r>
              <a:rPr lang="zh-CN" altLang="zh-CN" sz="1800" dirty="0">
                <a:solidFill>
                  <a:srgbClr val="1369B2"/>
                </a:solidFill>
                <a:latin typeface="微软雅黑" panose="020B0503020204020204" pitchFamily="34" charset="-122"/>
                <a:ea typeface="微软雅黑" panose="020B0503020204020204" pitchFamily="34" charset="-122"/>
                <a:cs typeface="+mn-ea"/>
              </a:rPr>
              <a:t>分组</a:t>
            </a:r>
            <a:r>
              <a:rPr lang="zh-CN" altLang="zh-CN" sz="1800" dirty="0">
                <a:solidFill>
                  <a:srgbClr val="595959"/>
                </a:solidFill>
                <a:latin typeface="微软雅黑" panose="020B0503020204020204" pitchFamily="34" charset="-122"/>
                <a:ea typeface="微软雅黑" panose="020B0503020204020204" pitchFamily="34" charset="-122"/>
                <a:cs typeface="+mn-ea"/>
              </a:rPr>
              <a:t>和</a:t>
            </a:r>
            <a:r>
              <a:rPr lang="zh-CN" altLang="zh-CN" sz="1800" dirty="0">
                <a:solidFill>
                  <a:srgbClr val="1369B2"/>
                </a:solidFill>
                <a:latin typeface="微软雅黑" panose="020B0503020204020204" pitchFamily="34" charset="-122"/>
                <a:ea typeface="微软雅黑" panose="020B0503020204020204" pitchFamily="34" charset="-122"/>
                <a:cs typeface="+mn-ea"/>
              </a:rPr>
              <a:t>捕获</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gn="just">
              <a:lnSpc>
                <a:spcPct val="150000"/>
              </a:lnSpc>
              <a:spcAft>
                <a:spcPts val="0"/>
              </a:spcAft>
              <a:buFont typeface="Wingdings" panose="05000000000000000000" pitchFamily="2" charset="2"/>
              <a:buChar char=""/>
            </a:pPr>
            <a:r>
              <a:rPr lang="zh-CN" altLang="zh-CN" sz="1800" dirty="0">
                <a:solidFill>
                  <a:srgbClr val="595959"/>
                </a:solidFill>
                <a:latin typeface="微软雅黑" panose="020B0503020204020204" pitchFamily="34" charset="-122"/>
                <a:ea typeface="微软雅黑" panose="020B0503020204020204" pitchFamily="34" charset="-122"/>
                <a:cs typeface="+mn-ea"/>
              </a:rPr>
              <a:t>反斜线</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，用于</a:t>
            </a:r>
            <a:r>
              <a:rPr lang="zh-CN" altLang="zh-CN" sz="1800" dirty="0">
                <a:solidFill>
                  <a:srgbClr val="1369B2"/>
                </a:solidFill>
                <a:latin typeface="微软雅黑" panose="020B0503020204020204" pitchFamily="34" charset="-122"/>
                <a:ea typeface="微软雅黑" panose="020B0503020204020204" pitchFamily="34" charset="-122"/>
                <a:cs typeface="+mn-ea"/>
              </a:rPr>
              <a:t>将特殊字符转义为普通字符</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gn="just">
              <a:lnSpc>
                <a:spcPct val="150000"/>
              </a:lnSpc>
              <a:spcAft>
                <a:spcPts val="0"/>
              </a:spcAft>
              <a:buFont typeface="Wingdings" panose="05000000000000000000" pitchFamily="2" charset="2"/>
              <a:buChar char=""/>
            </a:pPr>
            <a:r>
              <a:rPr lang="zh-CN" altLang="zh-CN" sz="1800" dirty="0">
                <a:solidFill>
                  <a:srgbClr val="595959"/>
                </a:solidFill>
                <a:latin typeface="微软雅黑" panose="020B0503020204020204" pitchFamily="34" charset="-122"/>
                <a:ea typeface="微软雅黑" panose="020B0503020204020204" pitchFamily="34" charset="-122"/>
                <a:cs typeface="+mn-ea"/>
              </a:rPr>
              <a:t>中括号</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，用于匹配其中的</a:t>
            </a:r>
            <a:r>
              <a:rPr lang="zh-CN" altLang="zh-CN" sz="1800" dirty="0">
                <a:solidFill>
                  <a:srgbClr val="1369B2"/>
                </a:solidFill>
                <a:latin typeface="微软雅黑" panose="020B0503020204020204" pitchFamily="34" charset="-122"/>
                <a:ea typeface="微软雅黑" panose="020B0503020204020204" pitchFamily="34" charset="-122"/>
                <a:cs typeface="+mn-ea"/>
              </a:rPr>
              <a:t>任意一个字符</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gn="just">
              <a:lnSpc>
                <a:spcPct val="150000"/>
              </a:lnSpc>
              <a:spcAft>
                <a:spcPts val="0"/>
              </a:spcAft>
              <a:buFont typeface="Wingdings" panose="05000000000000000000" pitchFamily="2" charset="2"/>
              <a:buChar char=""/>
            </a:pPr>
            <a:r>
              <a:rPr lang="zh-CN" altLang="zh-CN" sz="1800" dirty="0">
                <a:solidFill>
                  <a:srgbClr val="595959"/>
                </a:solidFill>
                <a:latin typeface="微软雅黑" panose="020B0503020204020204" pitchFamily="34" charset="-122"/>
                <a:ea typeface="微软雅黑" panose="020B0503020204020204" pitchFamily="34" charset="-122"/>
                <a:cs typeface="+mn-ea"/>
              </a:rPr>
              <a:t>限定符</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，用于</a:t>
            </a:r>
            <a:r>
              <a:rPr lang="zh-CN" altLang="zh-CN" sz="1800" dirty="0">
                <a:solidFill>
                  <a:srgbClr val="1369B2"/>
                </a:solidFill>
                <a:latin typeface="微软雅黑" panose="020B0503020204020204" pitchFamily="34" charset="-122"/>
                <a:ea typeface="微软雅黑" panose="020B0503020204020204" pitchFamily="34" charset="-122"/>
                <a:cs typeface="+mn-ea"/>
              </a:rPr>
              <a:t>限定前面的子表达式出现的次数</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gn="just">
              <a:lnSpc>
                <a:spcPct val="150000"/>
              </a:lnSpc>
              <a:spcAft>
                <a:spcPts val="0"/>
              </a:spcAft>
              <a:buFont typeface="Wingdings" panose="05000000000000000000" pitchFamily="2" charset="2"/>
              <a:buChar char=""/>
            </a:pPr>
            <a:r>
              <a:rPr lang="zh-CN" altLang="zh-CN" sz="1800" dirty="0">
                <a:solidFill>
                  <a:srgbClr val="595959"/>
                </a:solidFill>
                <a:latin typeface="微软雅黑" panose="020B0503020204020204" pitchFamily="34" charset="-122"/>
                <a:ea typeface="微软雅黑" panose="020B0503020204020204" pitchFamily="34" charset="-122"/>
                <a:cs typeface="+mn-ea"/>
              </a:rPr>
              <a:t>定位符</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和</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，匹配行</a:t>
            </a:r>
            <a:r>
              <a:rPr lang="zh-CN" altLang="zh-CN" sz="1800" dirty="0">
                <a:solidFill>
                  <a:srgbClr val="1369B2"/>
                </a:solidFill>
                <a:latin typeface="微软雅黑" panose="020B0503020204020204" pitchFamily="34" charset="-122"/>
                <a:ea typeface="微软雅黑" panose="020B0503020204020204" pitchFamily="34" charset="-122"/>
                <a:cs typeface="+mn-ea"/>
              </a:rPr>
              <a:t>开头</a:t>
            </a:r>
            <a:r>
              <a:rPr lang="zh-CN" altLang="zh-CN" sz="1800" dirty="0">
                <a:solidFill>
                  <a:srgbClr val="595959"/>
                </a:solidFill>
                <a:latin typeface="微软雅黑" panose="020B0503020204020204" pitchFamily="34" charset="-122"/>
                <a:ea typeface="微软雅黑" panose="020B0503020204020204" pitchFamily="34" charset="-122"/>
                <a:cs typeface="+mn-ea"/>
              </a:rPr>
              <a:t>和</a:t>
            </a:r>
            <a:r>
              <a:rPr lang="zh-CN" altLang="zh-CN" sz="1800" dirty="0">
                <a:solidFill>
                  <a:srgbClr val="1369B2"/>
                </a:solidFill>
                <a:latin typeface="微软雅黑" panose="020B0503020204020204" pitchFamily="34" charset="-122"/>
                <a:ea typeface="微软雅黑" panose="020B0503020204020204" pitchFamily="34" charset="-122"/>
                <a:cs typeface="+mn-ea"/>
              </a:rPr>
              <a:t>结尾</a:t>
            </a:r>
            <a:r>
              <a:rPr lang="zh-CN" altLang="zh-CN" sz="1800" dirty="0">
                <a:solidFill>
                  <a:srgbClr val="595959"/>
                </a:solidFill>
                <a:latin typeface="微软雅黑" panose="020B0503020204020204" pitchFamily="34" charset="-122"/>
                <a:ea typeface="微软雅黑" panose="020B0503020204020204" pitchFamily="34" charset="-122"/>
                <a:cs typeface="+mn-ea"/>
              </a:rPr>
              <a:t>的位置。</a:t>
            </a:r>
          </a:p>
          <a:p>
            <a:pPr marL="342900" lvl="0" indent="-342900" algn="just">
              <a:lnSpc>
                <a:spcPct val="150000"/>
              </a:lnSpc>
              <a:spcAft>
                <a:spcPts val="0"/>
              </a:spcAft>
              <a:buFont typeface="Wingdings" panose="05000000000000000000" pitchFamily="2" charset="2"/>
              <a:buChar char=""/>
            </a:pPr>
            <a:r>
              <a:rPr lang="zh-CN" altLang="zh-CN" sz="1800" dirty="0">
                <a:solidFill>
                  <a:srgbClr val="595959"/>
                </a:solidFill>
                <a:latin typeface="微软雅黑" panose="020B0503020204020204" pitchFamily="34" charset="-122"/>
                <a:ea typeface="微软雅黑" panose="020B0503020204020204" pitchFamily="34" charset="-122"/>
                <a:cs typeface="+mn-ea"/>
              </a:rPr>
              <a:t>竖线</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，用于</a:t>
            </a:r>
            <a:r>
              <a:rPr lang="zh-CN" altLang="zh-CN" sz="1800" dirty="0">
                <a:solidFill>
                  <a:srgbClr val="1369B2"/>
                </a:solidFill>
                <a:latin typeface="微软雅黑" panose="020B0503020204020204" pitchFamily="34" charset="-122"/>
                <a:ea typeface="微软雅黑" panose="020B0503020204020204" pitchFamily="34" charset="-122"/>
                <a:cs typeface="+mn-ea"/>
              </a:rPr>
              <a:t>匹配多个选择分支中的一个</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gn="just">
              <a:lnSpc>
                <a:spcPct val="150000"/>
              </a:lnSpc>
              <a:spcAft>
                <a:spcPts val="0"/>
              </a:spcAft>
              <a:buFont typeface="Wingdings" panose="05000000000000000000" pitchFamily="2" charset="2"/>
              <a:buChar char=""/>
            </a:pPr>
            <a:r>
              <a:rPr lang="zh-CN" altLang="zh-CN" sz="1800" dirty="0">
                <a:solidFill>
                  <a:srgbClr val="595959"/>
                </a:solidFill>
                <a:latin typeface="微软雅黑" panose="020B0503020204020204" pitchFamily="34" charset="-122"/>
                <a:ea typeface="微软雅黑" panose="020B0503020204020204" pitchFamily="34" charset="-122"/>
                <a:cs typeface="+mn-ea"/>
              </a:rPr>
              <a:t>其他运算符，包括</a:t>
            </a:r>
            <a:r>
              <a:rPr lang="zh-CN" altLang="zh-CN" sz="1800" dirty="0">
                <a:solidFill>
                  <a:srgbClr val="1369B2"/>
                </a:solidFill>
                <a:latin typeface="微软雅黑" panose="020B0503020204020204" pitchFamily="34" charset="-122"/>
                <a:ea typeface="微软雅黑" panose="020B0503020204020204" pitchFamily="34" charset="-122"/>
                <a:cs typeface="+mn-ea"/>
              </a:rPr>
              <a:t>点字符</a:t>
            </a:r>
            <a:r>
              <a:rPr lang="en-US" altLang="zh-CN" sz="1800" dirty="0">
                <a:solidFill>
                  <a:srgbClr val="1369B2"/>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cs typeface="+mn-ea"/>
              </a:rPr>
              <a:t>预定义符</a:t>
            </a:r>
            <a:r>
              <a:rPr lang="en-US" altLang="zh-CN" sz="1800" dirty="0">
                <a:solidFill>
                  <a:srgbClr val="1369B2"/>
                </a:solidFill>
                <a:latin typeface="微软雅黑" panose="020B0503020204020204" pitchFamily="34" charset="-122"/>
                <a:ea typeface="微软雅黑" panose="020B0503020204020204" pitchFamily="34" charset="-122"/>
                <a:cs typeface="+mn-ea"/>
              </a:rPr>
              <a:t>\d</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1369B2"/>
                </a:solidFill>
                <a:latin typeface="微软雅黑" panose="020B0503020204020204" pitchFamily="34" charset="-122"/>
                <a:ea typeface="微软雅黑" panose="020B0503020204020204" pitchFamily="34" charset="-122"/>
                <a:cs typeface="+mn-ea"/>
              </a:rPr>
              <a:t>\w</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1369B2"/>
                </a:solidFill>
                <a:latin typeface="微软雅黑" panose="020B0503020204020204" pitchFamily="34" charset="-122"/>
                <a:ea typeface="微软雅黑" panose="020B0503020204020204" pitchFamily="34" charset="-122"/>
                <a:cs typeface="+mn-ea"/>
              </a:rPr>
              <a:t>\s</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cs typeface="+mn-ea"/>
              </a:rPr>
              <a:t>反向引用</a:t>
            </a:r>
            <a:r>
              <a:rPr lang="en-US" altLang="zh-CN" sz="1800" dirty="0">
                <a:solidFill>
                  <a:srgbClr val="1369B2"/>
                </a:solidFill>
                <a:latin typeface="微软雅黑" panose="020B0503020204020204" pitchFamily="34" charset="-122"/>
                <a:ea typeface="微软雅黑" panose="020B0503020204020204" pitchFamily="34" charset="-122"/>
                <a:cs typeface="+mn-ea"/>
              </a:rPr>
              <a:t>\1</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cs typeface="+mn-ea"/>
              </a:rPr>
              <a:t>先行断言</a:t>
            </a:r>
            <a:r>
              <a:rPr lang="en-US" altLang="zh-CN" sz="1800" dirty="0">
                <a:solidFill>
                  <a:srgbClr val="1369B2"/>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cs typeface="+mn-ea"/>
              </a:rPr>
              <a:t>先行否定断言</a:t>
            </a:r>
            <a:r>
              <a:rPr lang="en-US" altLang="zh-CN" sz="1800" dirty="0">
                <a:solidFill>
                  <a:srgbClr val="1369B2"/>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p:txBody>
      </p:sp>
    </p:spTree>
    <p:extLst>
      <p:ext uri="{BB962C8B-B14F-4D97-AF65-F5344CB8AC3E}">
        <p14:creationId xmlns:p14="http://schemas.microsoft.com/office/powerpoint/2010/main" val="791260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2" name="矩形 1"/>
          <p:cNvSpPr/>
          <p:nvPr/>
        </p:nvSpPr>
        <p:spPr>
          <a:xfrm>
            <a:off x="5087094" y="2426906"/>
            <a:ext cx="5832648" cy="1938992"/>
          </a:xfrm>
          <a:prstGeom prst="rect">
            <a:avLst/>
          </a:prstGeom>
        </p:spPr>
        <p:txBody>
          <a:bodyPr wrap="square">
            <a:spAutoFit/>
          </a:body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在</a:t>
            </a:r>
            <a:r>
              <a:rPr lang="zh-CN" altLang="zh-CN" sz="2000">
                <a:solidFill>
                  <a:srgbClr val="595959"/>
                </a:solidFill>
                <a:latin typeface="微软雅黑" panose="020B0503020204020204" pitchFamily="34" charset="-122"/>
                <a:ea typeface="微软雅黑" panose="020B0503020204020204" pitchFamily="34" charset="-122"/>
                <a:cs typeface="+mn-ea"/>
              </a:rPr>
              <a:t>正则表达式中，可以使用</a:t>
            </a:r>
            <a:r>
              <a:rPr lang="zh-CN" altLang="zh-CN" sz="2000">
                <a:solidFill>
                  <a:srgbClr val="1369B2"/>
                </a:solidFill>
                <a:latin typeface="微软雅黑" panose="020B0503020204020204" pitchFamily="34" charset="-122"/>
                <a:ea typeface="微软雅黑" panose="020B0503020204020204" pitchFamily="34" charset="-122"/>
                <a:cs typeface="+mn-ea"/>
              </a:rPr>
              <a:t>小括号</a:t>
            </a:r>
            <a:r>
              <a:rPr lang="zh-CN" altLang="zh-CN" sz="2000">
                <a:solidFill>
                  <a:srgbClr val="595959"/>
                </a:solidFill>
                <a:latin typeface="微软雅黑" panose="020B0503020204020204" pitchFamily="34" charset="-122"/>
                <a:ea typeface="微软雅黑" panose="020B0503020204020204" pitchFamily="34" charset="-122"/>
                <a:cs typeface="+mn-ea"/>
              </a:rPr>
              <a:t>来</a:t>
            </a:r>
            <a:r>
              <a:rPr lang="zh-CN" altLang="zh-CN" sz="2000">
                <a:solidFill>
                  <a:srgbClr val="1369B2"/>
                </a:solidFill>
                <a:latin typeface="微软雅黑" panose="020B0503020204020204" pitchFamily="34" charset="-122"/>
                <a:ea typeface="微软雅黑" panose="020B0503020204020204" pitchFamily="34" charset="-122"/>
                <a:cs typeface="+mn-ea"/>
              </a:rPr>
              <a:t>分组子表达式</a:t>
            </a:r>
            <a:r>
              <a:rPr lang="zh-CN" altLang="zh-CN" sz="2000">
                <a:solidFill>
                  <a:srgbClr val="595959"/>
                </a:solidFill>
                <a:latin typeface="微软雅黑" panose="020B0503020204020204" pitchFamily="34" charset="-122"/>
                <a:ea typeface="微软雅黑" panose="020B0503020204020204" pitchFamily="34" charset="-122"/>
                <a:cs typeface="+mn-ea"/>
              </a:rPr>
              <a:t>，以此来</a:t>
            </a:r>
            <a:r>
              <a:rPr lang="zh-CN" altLang="zh-CN" sz="2000">
                <a:solidFill>
                  <a:srgbClr val="1369B2"/>
                </a:solidFill>
                <a:latin typeface="微软雅黑" panose="020B0503020204020204" pitchFamily="34" charset="-122"/>
                <a:ea typeface="微软雅黑" panose="020B0503020204020204" pitchFamily="34" charset="-122"/>
                <a:cs typeface="+mn-ea"/>
              </a:rPr>
              <a:t>改变优先级</a:t>
            </a:r>
            <a:r>
              <a:rPr lang="zh-CN" altLang="zh-CN" sz="2000">
                <a:solidFill>
                  <a:srgbClr val="595959"/>
                </a:solidFill>
                <a:latin typeface="微软雅黑" panose="020B0503020204020204" pitchFamily="34" charset="-122"/>
                <a:ea typeface="微软雅黑" panose="020B0503020204020204" pitchFamily="34" charset="-122"/>
                <a:cs typeface="+mn-ea"/>
              </a:rPr>
              <a:t>。在编写正则表达式时，应注意按照</a:t>
            </a:r>
            <a:r>
              <a:rPr lang="zh-CN" altLang="zh-CN" sz="2000">
                <a:solidFill>
                  <a:srgbClr val="1369B2"/>
                </a:solidFill>
                <a:latin typeface="微软雅黑" panose="020B0503020204020204" pitchFamily="34" charset="-122"/>
                <a:ea typeface="微软雅黑" panose="020B0503020204020204" pitchFamily="34" charset="-122"/>
                <a:cs typeface="+mn-ea"/>
              </a:rPr>
              <a:t>正则表达式优先级</a:t>
            </a:r>
            <a:r>
              <a:rPr lang="zh-CN" altLang="zh-CN" sz="2000">
                <a:solidFill>
                  <a:srgbClr val="595959"/>
                </a:solidFill>
                <a:latin typeface="微软雅黑" panose="020B0503020204020204" pitchFamily="34" charset="-122"/>
                <a:ea typeface="微软雅黑" panose="020B0503020204020204" pitchFamily="34" charset="-122"/>
                <a:cs typeface="+mn-ea"/>
              </a:rPr>
              <a:t>来使用各种</a:t>
            </a:r>
            <a:r>
              <a:rPr lang="zh-CN" altLang="zh-CN" sz="2000">
                <a:solidFill>
                  <a:srgbClr val="1369B2"/>
                </a:solidFill>
                <a:latin typeface="微软雅黑" panose="020B0503020204020204" pitchFamily="34" charset="-122"/>
                <a:ea typeface="微软雅黑" panose="020B0503020204020204" pitchFamily="34" charset="-122"/>
                <a:cs typeface="+mn-ea"/>
              </a:rPr>
              <a:t>元字符</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cs typeface="+mn-ea"/>
              </a:rPr>
              <a:t>文本字符</a:t>
            </a:r>
            <a:r>
              <a:rPr lang="zh-CN" altLang="zh-CN" sz="2000">
                <a:solidFill>
                  <a:srgbClr val="595959"/>
                </a:solidFill>
                <a:latin typeface="微软雅黑" panose="020B0503020204020204" pitchFamily="34" charset="-122"/>
                <a:ea typeface="微软雅黑" panose="020B0503020204020204" pitchFamily="34" charset="-122"/>
                <a:cs typeface="+mn-ea"/>
              </a:rPr>
              <a:t>，以免出现匹配失败的情况</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1" y="266995"/>
            <a:ext cx="379938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12.3.5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竖线和小括号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14" name="图片 13"/>
          <p:cNvPicPr>
            <a:picLocks noChangeAspect="1"/>
          </p:cNvPicPr>
          <p:nvPr/>
        </p:nvPicPr>
        <p:blipFill>
          <a:blip r:embed="rId2"/>
          <a:stretch>
            <a:fillRect/>
          </a:stretch>
        </p:blipFill>
        <p:spPr>
          <a:xfrm>
            <a:off x="592096" y="1607165"/>
            <a:ext cx="3715858" cy="4006159"/>
          </a:xfrm>
          <a:prstGeom prst="rect">
            <a:avLst/>
          </a:prstGeom>
        </p:spPr>
      </p:pic>
      <p:sp>
        <p:nvSpPr>
          <p:cNvPr id="15" name="Shape 2015"/>
          <p:cNvSpPr/>
          <p:nvPr/>
        </p:nvSpPr>
        <p:spPr>
          <a:xfrm>
            <a:off x="4583038" y="2133649"/>
            <a:ext cx="6768752" cy="244827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7270998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9" y="3014256"/>
            <a:ext cx="5725488" cy="830997"/>
          </a:xfrm>
          <a:prstGeom prst="rect">
            <a:avLst/>
          </a:prstGeom>
          <a:noFill/>
        </p:spPr>
        <p:txBody>
          <a:bodyPr wrap="square" lIns="91443" tIns="45720" rIns="91443" bIns="45720" rtlCol="0">
            <a:spAutoFit/>
          </a:bodyPr>
          <a:lstStyle/>
          <a:p>
            <a:r>
              <a:rPr lang="zh-CN" altLang="en-US" sz="4800" b="1" smtClean="0">
                <a:solidFill>
                  <a:srgbClr val="595959"/>
                </a:solidFill>
                <a:latin typeface="微软雅黑" panose="020B0503020204020204" pitchFamily="34" charset="-122"/>
                <a:ea typeface="微软雅黑" panose="020B0503020204020204" pitchFamily="34" charset="-122"/>
                <a:cs typeface="+mn-ea"/>
                <a:sym typeface="+mn-lt"/>
              </a:rPr>
              <a:t>正则表达式</a:t>
            </a:r>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常用</a:t>
            </a:r>
            <a:r>
              <a:rPr lang="zh-CN" altLang="en-US" sz="4800" b="1" smtClean="0">
                <a:solidFill>
                  <a:srgbClr val="1369B2"/>
                </a:solidFill>
                <a:latin typeface="微软雅黑" panose="020B0503020204020204" pitchFamily="34" charset="-122"/>
                <a:ea typeface="微软雅黑" panose="020B0503020204020204" pitchFamily="34" charset="-122"/>
                <a:cs typeface="+mn-ea"/>
                <a:sym typeface="+mn-lt"/>
              </a:rPr>
              <a:t>方法</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270670" y="2809240"/>
            <a:ext cx="2091020" cy="1107996"/>
          </a:xfrm>
          <a:prstGeom prst="rect">
            <a:avLst/>
          </a:prstGeom>
          <a:noFill/>
        </p:spPr>
        <p:txBody>
          <a:bodyPr wrap="square" lIns="91443" tIns="45720" rIns="91443" bIns="45720" rtlCol="0">
            <a:spAutoFit/>
          </a:bodyPr>
          <a:lstStyle/>
          <a:p>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12.4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197561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63859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smtClean="0">
                <a:solidFill>
                  <a:srgbClr val="1369B2"/>
                </a:solidFill>
                <a:latin typeface="微软雅黑" panose="020B0503020204020204" pitchFamily="34" charset="-122"/>
                <a:ea typeface="微软雅黑" panose="020B0503020204020204" pitchFamily="34" charset="-122"/>
                <a:cs typeface="+mn-ea"/>
              </a:rPr>
              <a:t>正则表达式</a:t>
            </a:r>
            <a:r>
              <a:rPr lang="zh-CN" altLang="en-US" sz="2000">
                <a:solidFill>
                  <a:srgbClr val="1369B2"/>
                </a:solidFill>
                <a:latin typeface="微软雅黑" panose="020B0503020204020204" pitchFamily="34" charset="-122"/>
                <a:ea typeface="微软雅黑" panose="020B0503020204020204" pitchFamily="34" charset="-122"/>
                <a:cs typeface="+mn-ea"/>
              </a:rPr>
              <a:t>中</a:t>
            </a:r>
            <a:r>
              <a:rPr lang="en-US" altLang="zh-CN" sz="2000">
                <a:solidFill>
                  <a:srgbClr val="1369B2"/>
                </a:solidFill>
                <a:latin typeface="微软雅黑" panose="020B0503020204020204" pitchFamily="34" charset="-122"/>
                <a:ea typeface="微软雅黑" panose="020B0503020204020204" pitchFamily="34" charset="-122"/>
                <a:cs typeface="+mn-ea"/>
              </a:rPr>
              <a:t>search()</a:t>
            </a:r>
            <a:r>
              <a:rPr lang="zh-CN" altLang="en-US" sz="2000">
                <a:solidFill>
                  <a:srgbClr val="1369B2"/>
                </a:solidFill>
                <a:latin typeface="微软雅黑" panose="020B0503020204020204" pitchFamily="34" charset="-122"/>
                <a:ea typeface="微软雅黑" panose="020B0503020204020204" pitchFamily="34" charset="-122"/>
                <a:cs typeface="+mn-ea"/>
              </a:rPr>
              <a:t>方法的使用</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能够实现字符串的</a:t>
            </a:r>
            <a:r>
              <a:rPr lang="zh-CN" altLang="zh-CN" sz="2000" smtClean="0">
                <a:solidFill>
                  <a:srgbClr val="1369B2"/>
                </a:solidFill>
                <a:latin typeface="微软雅黑" panose="020B0503020204020204" pitchFamily="34" charset="-122"/>
                <a:ea typeface="微软雅黑" panose="020B0503020204020204" pitchFamily="34" charset="-122"/>
                <a:cs typeface="+mn-ea"/>
              </a:rPr>
              <a:t>匹配</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3" name="Title 1"/>
          <p:cNvSpPr txBox="1"/>
          <p:nvPr/>
        </p:nvSpPr>
        <p:spPr>
          <a:xfrm>
            <a:off x="1143691" y="266995"/>
            <a:ext cx="30072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12.4.1  search()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8277000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p:nvPr/>
        </p:nvSpPr>
        <p:spPr>
          <a:xfrm>
            <a:off x="1143691" y="266995"/>
            <a:ext cx="30072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12.4.1  search()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7" name="矩形 16"/>
          <p:cNvSpPr/>
          <p:nvPr/>
        </p:nvSpPr>
        <p:spPr>
          <a:xfrm>
            <a:off x="1111321" y="1613207"/>
            <a:ext cx="9664405" cy="1938992"/>
          </a:xfrm>
          <a:prstGeom prst="rect">
            <a:avLst/>
          </a:prstGeom>
        </p:spPr>
        <p:txBody>
          <a:bodyPr wrap="square">
            <a:spAutoFit/>
          </a:bodyPr>
          <a:lstStyle/>
          <a:p>
            <a:pPr>
              <a:lnSpc>
                <a:spcPct val="150000"/>
              </a:lnSpc>
            </a:pPr>
            <a:r>
              <a:rPr lang="en-US" altLang="zh-CN" sz="2000" dirty="0" smtClean="0">
                <a:solidFill>
                  <a:srgbClr val="1369B2"/>
                </a:solidFill>
                <a:latin typeface="微软雅黑" panose="020B0503020204020204" pitchFamily="34" charset="-122"/>
                <a:ea typeface="微软雅黑" panose="020B0503020204020204" pitchFamily="34" charset="-122"/>
                <a:cs typeface="+mn-ea"/>
              </a:rPr>
              <a:t>search</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rPr>
              <a:t>可以获取</a:t>
            </a:r>
            <a:r>
              <a:rPr lang="zh-CN" altLang="zh-CN" sz="2000" dirty="0">
                <a:solidFill>
                  <a:srgbClr val="1369B2"/>
                </a:solidFill>
                <a:latin typeface="微软雅黑" panose="020B0503020204020204" pitchFamily="34" charset="-122"/>
                <a:ea typeface="微软雅黑" panose="020B0503020204020204" pitchFamily="34" charset="-122"/>
                <a:cs typeface="+mn-ea"/>
              </a:rPr>
              <a:t>子字符串</a:t>
            </a:r>
            <a:r>
              <a:rPr lang="zh-CN" altLang="zh-CN" sz="2000" dirty="0">
                <a:solidFill>
                  <a:srgbClr val="595959"/>
                </a:solidFill>
                <a:latin typeface="微软雅黑" panose="020B0503020204020204" pitchFamily="34" charset="-122"/>
                <a:ea typeface="微软雅黑" panose="020B0503020204020204" pitchFamily="34" charset="-122"/>
              </a:rPr>
              <a:t>在给定的字符串中</a:t>
            </a:r>
            <a:r>
              <a:rPr lang="zh-CN" altLang="zh-CN" sz="2000" dirty="0">
                <a:solidFill>
                  <a:srgbClr val="1369B2"/>
                </a:solidFill>
                <a:latin typeface="微软雅黑" panose="020B0503020204020204" pitchFamily="34" charset="-122"/>
                <a:ea typeface="微软雅黑" panose="020B0503020204020204" pitchFamily="34" charset="-122"/>
                <a:cs typeface="+mn-ea"/>
              </a:rPr>
              <a:t>首次出现的索引</a:t>
            </a:r>
            <a:r>
              <a:rPr lang="zh-CN" altLang="zh-CN" sz="2000" dirty="0">
                <a:solidFill>
                  <a:srgbClr val="595959"/>
                </a:solidFill>
                <a:latin typeface="微软雅黑" panose="020B0503020204020204" pitchFamily="34" charset="-122"/>
                <a:ea typeface="微软雅黑" panose="020B0503020204020204" pitchFamily="34" charset="-122"/>
              </a:rPr>
              <a:t>，匹配成功则返回其首次出现的索引，</a:t>
            </a:r>
            <a:r>
              <a:rPr lang="zh-CN" altLang="zh-CN" sz="2000" dirty="0">
                <a:solidFill>
                  <a:srgbClr val="1369B2"/>
                </a:solidFill>
                <a:latin typeface="微软雅黑" panose="020B0503020204020204" pitchFamily="34" charset="-122"/>
                <a:ea typeface="微软雅黑" panose="020B0503020204020204" pitchFamily="34" charset="-122"/>
                <a:cs typeface="+mn-ea"/>
              </a:rPr>
              <a:t>匹配失败</a:t>
            </a:r>
            <a:r>
              <a:rPr lang="zh-CN" altLang="zh-CN" sz="2000" dirty="0">
                <a:solidFill>
                  <a:srgbClr val="595959"/>
                </a:solidFill>
                <a:latin typeface="微软雅黑" panose="020B0503020204020204" pitchFamily="34" charset="-122"/>
                <a:ea typeface="微软雅黑" panose="020B0503020204020204" pitchFamily="34" charset="-122"/>
              </a:rPr>
              <a:t>则返回</a:t>
            </a:r>
            <a:r>
              <a:rPr lang="en-US" altLang="zh-CN" sz="2000" dirty="0">
                <a:solidFill>
                  <a:srgbClr val="1369B2"/>
                </a:solidFill>
                <a:latin typeface="微软雅黑" panose="020B0503020204020204" pitchFamily="34" charset="-122"/>
                <a:ea typeface="微软雅黑" panose="020B0503020204020204" pitchFamily="34" charset="-122"/>
                <a:cs typeface="+mn-ea"/>
              </a:rPr>
              <a:t>-1</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rPr>
              <a:t>search</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方法的语法格式如下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2BD7E020-D0A4-47DE-BE0C-F3967B274E91}"/>
              </a:ext>
            </a:extLst>
          </p:cNvPr>
          <p:cNvSpPr txBox="1"/>
          <p:nvPr/>
        </p:nvSpPr>
        <p:spPr>
          <a:xfrm>
            <a:off x="3749979" y="3811900"/>
            <a:ext cx="4387087" cy="55399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string.search(regexp</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40992194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p:nvPr/>
        </p:nvSpPr>
        <p:spPr>
          <a:xfrm>
            <a:off x="1143691" y="266995"/>
            <a:ext cx="30072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12.4.1  search()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7" name="矩形 16"/>
          <p:cNvSpPr/>
          <p:nvPr/>
        </p:nvSpPr>
        <p:spPr>
          <a:xfrm>
            <a:off x="982638" y="1629610"/>
            <a:ext cx="10441160" cy="1015663"/>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通过代码演示使用</a:t>
            </a:r>
            <a:r>
              <a:rPr lang="en-US" altLang="zh-CN" sz="2000" dirty="0">
                <a:solidFill>
                  <a:srgbClr val="1369B2"/>
                </a:solidFill>
                <a:latin typeface="微软雅黑" panose="020B0503020204020204" pitchFamily="34" charset="-122"/>
                <a:ea typeface="微软雅黑" panose="020B0503020204020204" pitchFamily="34" charset="-122"/>
                <a:cs typeface="+mn-ea"/>
              </a:rPr>
              <a:t>search()</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rPr>
              <a:t>查找字符</a:t>
            </a:r>
            <a:r>
              <a:rPr lang="en-US" altLang="zh-CN" sz="2000" dirty="0">
                <a:solidFill>
                  <a:srgbClr val="1369B2"/>
                </a:solidFill>
                <a:latin typeface="微软雅黑" panose="020B0503020204020204" pitchFamily="34" charset="-122"/>
                <a:ea typeface="微软雅黑" panose="020B0503020204020204" pitchFamily="34" charset="-122"/>
                <a:cs typeface="+mn-ea"/>
              </a:rPr>
              <a:t>a</a:t>
            </a:r>
            <a:r>
              <a:rPr lang="zh-CN" altLang="zh-CN" sz="2000" dirty="0">
                <a:solidFill>
                  <a:srgbClr val="595959"/>
                </a:solidFill>
                <a:latin typeface="微软雅黑" panose="020B0503020204020204" pitchFamily="34" charset="-122"/>
                <a:ea typeface="微软雅黑" panose="020B0503020204020204" pitchFamily="34" charset="-122"/>
              </a:rPr>
              <a:t>和字符</a:t>
            </a:r>
            <a:r>
              <a:rPr lang="en-US" altLang="zh-CN" sz="2000" dirty="0">
                <a:solidFill>
                  <a:srgbClr val="1369B2"/>
                </a:solidFill>
                <a:latin typeface="微软雅黑" panose="020B0503020204020204" pitchFamily="34" charset="-122"/>
                <a:ea typeface="微软雅黑" panose="020B0503020204020204" pitchFamily="34" charset="-122"/>
                <a:cs typeface="+mn-ea"/>
              </a:rPr>
              <a:t>c</a:t>
            </a:r>
            <a:r>
              <a:rPr lang="zh-CN" altLang="zh-CN" sz="2000" dirty="0">
                <a:solidFill>
                  <a:srgbClr val="595959"/>
                </a:solidFill>
                <a:latin typeface="微软雅黑" panose="020B0503020204020204" pitchFamily="34" charset="-122"/>
                <a:ea typeface="微软雅黑" panose="020B0503020204020204" pitchFamily="34" charset="-122"/>
              </a:rPr>
              <a:t>中间只有一个字符的子字符串在目标</a:t>
            </a:r>
            <a:r>
              <a:rPr lang="zh-CN" altLang="zh-CN" sz="2000" dirty="0" smtClean="0">
                <a:solidFill>
                  <a:srgbClr val="595959"/>
                </a:solidFill>
                <a:latin typeface="微软雅黑" panose="020B0503020204020204" pitchFamily="34" charset="-122"/>
                <a:ea typeface="微软雅黑" panose="020B0503020204020204" pitchFamily="34" charset="-122"/>
              </a:rPr>
              <a:t>字符串</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a:t>
            </a:r>
            <a:r>
              <a:rPr lang="en-US" altLang="zh-CN" sz="2000" dirty="0" err="1" smtClean="0">
                <a:solidFill>
                  <a:srgbClr val="1369B2"/>
                </a:solidFill>
                <a:latin typeface="微软雅黑" panose="020B0503020204020204" pitchFamily="34" charset="-122"/>
                <a:ea typeface="微软雅黑" panose="020B0503020204020204" pitchFamily="34" charset="-122"/>
                <a:cs typeface="+mn-ea"/>
              </a:rPr>
              <a:t>abcadc</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rPr>
              <a:t>中</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首</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次</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出现</a:t>
            </a:r>
            <a:r>
              <a:rPr lang="zh-CN" altLang="zh-CN" sz="2000" dirty="0">
                <a:solidFill>
                  <a:srgbClr val="1369B2"/>
                </a:solidFill>
                <a:latin typeface="微软雅黑" panose="020B0503020204020204" pitchFamily="34" charset="-122"/>
                <a:ea typeface="微软雅黑" panose="020B0503020204020204" pitchFamily="34" charset="-122"/>
                <a:cs typeface="+mn-ea"/>
              </a:rPr>
              <a:t>的</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索引</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2BD7E020-D0A4-47DE-BE0C-F3967B274E91}"/>
              </a:ext>
            </a:extLst>
          </p:cNvPr>
          <p:cNvSpPr txBox="1"/>
          <p:nvPr/>
        </p:nvSpPr>
        <p:spPr>
          <a:xfrm>
            <a:off x="1877423" y="3069754"/>
            <a:ext cx="8651590" cy="1477328"/>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en-US" altLang="zh-CN" sz="2000" dirty="0" err="1">
                <a:solidFill>
                  <a:srgbClr val="595959"/>
                </a:solidFill>
                <a:latin typeface="微软雅黑" panose="020B0503020204020204" pitchFamily="34" charset="-122"/>
                <a:ea typeface="微软雅黑" panose="020B0503020204020204" pitchFamily="34" charset="-122"/>
                <a:cs typeface="+mn-ea"/>
              </a:rPr>
              <a:t>abcadc</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str.search</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a.c</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str.search</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a.c</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721602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63859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smtClean="0">
                <a:solidFill>
                  <a:srgbClr val="1369B2"/>
                </a:solidFill>
                <a:latin typeface="微软雅黑" panose="020B0503020204020204" pitchFamily="34" charset="-122"/>
                <a:ea typeface="微软雅黑" panose="020B0503020204020204" pitchFamily="34" charset="-122"/>
                <a:cs typeface="+mn-ea"/>
              </a:rPr>
              <a:t>正则表达式</a:t>
            </a:r>
            <a:r>
              <a:rPr lang="zh-CN" altLang="en-US" sz="2000">
                <a:solidFill>
                  <a:srgbClr val="1369B2"/>
                </a:solidFill>
                <a:latin typeface="微软雅黑" panose="020B0503020204020204" pitchFamily="34" charset="-122"/>
                <a:ea typeface="微软雅黑" panose="020B0503020204020204" pitchFamily="34" charset="-122"/>
                <a:cs typeface="+mn-ea"/>
              </a:rPr>
              <a:t>中</a:t>
            </a:r>
            <a:r>
              <a:rPr lang="en-US" altLang="zh-CN" sz="2000" smtClean="0">
                <a:solidFill>
                  <a:srgbClr val="1369B2"/>
                </a:solidFill>
                <a:latin typeface="微软雅黑" panose="020B0503020204020204" pitchFamily="34" charset="-122"/>
                <a:ea typeface="微软雅黑" panose="020B0503020204020204" pitchFamily="34" charset="-122"/>
                <a:cs typeface="+mn-ea"/>
              </a:rPr>
              <a:t>split()</a:t>
            </a:r>
            <a:r>
              <a:rPr lang="zh-CN" altLang="en-US" sz="2000">
                <a:solidFill>
                  <a:srgbClr val="1369B2"/>
                </a:solidFill>
                <a:latin typeface="微软雅黑" panose="020B0503020204020204" pitchFamily="34" charset="-122"/>
                <a:ea typeface="微软雅黑" panose="020B0503020204020204" pitchFamily="34" charset="-122"/>
                <a:cs typeface="+mn-ea"/>
              </a:rPr>
              <a:t>方法的使用</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能够实现字符串</a:t>
            </a:r>
            <a:r>
              <a:rPr lang="zh-CN" altLang="zh-CN" sz="2000" smtClean="0">
                <a:solidFill>
                  <a:srgbClr val="595959"/>
                </a:solidFill>
                <a:latin typeface="微软雅黑" panose="020B0503020204020204" pitchFamily="34" charset="-122"/>
                <a:ea typeface="微软雅黑" panose="020B0503020204020204" pitchFamily="34" charset="-122"/>
                <a:cs typeface="+mn-ea"/>
              </a:rPr>
              <a:t>的</a:t>
            </a:r>
            <a:r>
              <a:rPr lang="zh-CN" altLang="en-US" sz="2000">
                <a:solidFill>
                  <a:srgbClr val="1369B2"/>
                </a:solidFill>
                <a:latin typeface="微软雅黑" panose="020B0503020204020204" pitchFamily="34" charset="-122"/>
                <a:ea typeface="微软雅黑" panose="020B0503020204020204" pitchFamily="34" charset="-122"/>
                <a:cs typeface="+mn-ea"/>
              </a:rPr>
              <a:t>分割</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3" name="Title 1"/>
          <p:cNvSpPr txBox="1"/>
          <p:nvPr/>
        </p:nvSpPr>
        <p:spPr>
          <a:xfrm>
            <a:off x="1143691" y="266995"/>
            <a:ext cx="30072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12.4.2  split()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9705088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2036092"/>
            <a:ext cx="10297144" cy="196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实际开发中，若要将字符串</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test@qq.com</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以</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为分隔符分割成</a:t>
            </a:r>
            <a:r>
              <a:rPr lang="en-US" altLang="zh-CN" sz="2000" dirty="0">
                <a:solidFill>
                  <a:srgbClr val="1369B2"/>
                </a:solidFill>
                <a:latin typeface="微软雅黑" panose="020B0503020204020204" pitchFamily="34" charset="-122"/>
                <a:ea typeface="微软雅黑" panose="020B0503020204020204" pitchFamily="34" charset="-122"/>
                <a:cs typeface="+mn-ea"/>
              </a:rPr>
              <a:t>3</a:t>
            </a:r>
            <a:r>
              <a:rPr lang="zh-CN" altLang="zh-CN" sz="2000" dirty="0">
                <a:solidFill>
                  <a:srgbClr val="1369B2"/>
                </a:solidFill>
                <a:latin typeface="微软雅黑" panose="020B0503020204020204" pitchFamily="34" charset="-122"/>
                <a:ea typeface="微软雅黑" panose="020B0503020204020204" pitchFamily="34" charset="-122"/>
                <a:cs typeface="+mn-ea"/>
              </a:rPr>
              <a:t>部分</a:t>
            </a:r>
            <a:r>
              <a:rPr lang="zh-CN" altLang="zh-CN" sz="2000" dirty="0">
                <a:solidFill>
                  <a:srgbClr val="595959"/>
                </a:solidFill>
                <a:latin typeface="微软雅黑" panose="020B0503020204020204" pitchFamily="34" charset="-122"/>
                <a:ea typeface="微软雅黑" panose="020B0503020204020204" pitchFamily="34" charset="-122"/>
                <a:cs typeface="+mn-ea"/>
              </a:rPr>
              <a:t>，需要对字符串进行</a:t>
            </a:r>
            <a:r>
              <a:rPr lang="zh-CN" altLang="zh-CN" sz="2000" dirty="0">
                <a:solidFill>
                  <a:srgbClr val="1369B2"/>
                </a:solidFill>
                <a:latin typeface="微软雅黑" panose="020B0503020204020204" pitchFamily="34" charset="-122"/>
                <a:ea typeface="微软雅黑" panose="020B0503020204020204" pitchFamily="34" charset="-122"/>
                <a:cs typeface="+mn-ea"/>
              </a:rPr>
              <a:t>截取</a:t>
            </a:r>
            <a:r>
              <a:rPr lang="zh-CN" altLang="zh-CN" sz="2000" dirty="0">
                <a:solidFill>
                  <a:srgbClr val="595959"/>
                </a:solidFill>
                <a:latin typeface="微软雅黑" panose="020B0503020204020204" pitchFamily="34" charset="-122"/>
                <a:ea typeface="微软雅黑" panose="020B0503020204020204" pitchFamily="34" charset="-122"/>
                <a:cs typeface="+mn-ea"/>
              </a:rPr>
              <a:t>，并且需要知道每一部分的</a:t>
            </a:r>
            <a:r>
              <a:rPr lang="zh-CN" altLang="zh-CN" sz="2000" dirty="0">
                <a:solidFill>
                  <a:srgbClr val="1369B2"/>
                </a:solidFill>
                <a:latin typeface="微软雅黑" panose="020B0503020204020204" pitchFamily="34" charset="-122"/>
                <a:ea typeface="微软雅黑" panose="020B0503020204020204" pitchFamily="34" charset="-122"/>
                <a:cs typeface="+mn-ea"/>
              </a:rPr>
              <a:t>起始位置</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长度</a:t>
            </a:r>
            <a:r>
              <a:rPr lang="zh-CN" altLang="zh-CN" sz="2000" dirty="0">
                <a:solidFill>
                  <a:srgbClr val="595959"/>
                </a:solidFill>
                <a:latin typeface="微软雅黑" panose="020B0503020204020204" pitchFamily="34" charset="-122"/>
                <a:ea typeface="微软雅黑" panose="020B0503020204020204" pitchFamily="34" charset="-122"/>
                <a:cs typeface="+mn-ea"/>
              </a:rPr>
              <a:t>，这样需要写</a:t>
            </a:r>
            <a:r>
              <a:rPr lang="en-US" altLang="zh-CN" sz="2000" dirty="0">
                <a:solidFill>
                  <a:srgbClr val="1369B2"/>
                </a:solidFill>
                <a:latin typeface="微软雅黑" panose="020B0503020204020204" pitchFamily="34" charset="-122"/>
                <a:ea typeface="微软雅黑" panose="020B0503020204020204" pitchFamily="34" charset="-122"/>
                <a:cs typeface="+mn-ea"/>
              </a:rPr>
              <a:t>3</a:t>
            </a:r>
            <a:r>
              <a:rPr lang="zh-CN" altLang="zh-CN" sz="2000" dirty="0">
                <a:solidFill>
                  <a:srgbClr val="1369B2"/>
                </a:solidFill>
                <a:latin typeface="微软雅黑" panose="020B0503020204020204" pitchFamily="34" charset="-122"/>
                <a:ea typeface="微软雅黑" panose="020B0503020204020204" pitchFamily="34" charset="-122"/>
                <a:cs typeface="+mn-ea"/>
              </a:rPr>
              <a:t>次</a:t>
            </a:r>
            <a:r>
              <a:rPr lang="zh-CN" altLang="zh-CN" sz="2000" dirty="0">
                <a:solidFill>
                  <a:srgbClr val="595959"/>
                </a:solidFill>
                <a:latin typeface="微软雅黑" panose="020B0503020204020204" pitchFamily="34" charset="-122"/>
                <a:ea typeface="微软雅黑" panose="020B0503020204020204" pitchFamily="34" charset="-122"/>
                <a:cs typeface="+mn-ea"/>
              </a:rPr>
              <a:t>字符串截取的代码，如果字符串中包含</a:t>
            </a:r>
            <a:r>
              <a:rPr lang="zh-CN" altLang="zh-CN" sz="2000" dirty="0">
                <a:solidFill>
                  <a:srgbClr val="1369B2"/>
                </a:solidFill>
                <a:latin typeface="微软雅黑" panose="020B0503020204020204" pitchFamily="34" charset="-122"/>
                <a:ea typeface="微软雅黑" panose="020B0503020204020204" pitchFamily="34" charset="-122"/>
                <a:cs typeface="+mn-ea"/>
              </a:rPr>
              <a:t>多个分隔符</a:t>
            </a:r>
            <a:r>
              <a:rPr lang="zh-CN" altLang="zh-CN" sz="2000" dirty="0">
                <a:solidFill>
                  <a:srgbClr val="595959"/>
                </a:solidFill>
                <a:latin typeface="微软雅黑" panose="020B0503020204020204" pitchFamily="34" charset="-122"/>
                <a:ea typeface="微软雅黑" panose="020B0503020204020204" pitchFamily="34" charset="-122"/>
                <a:cs typeface="+mn-ea"/>
              </a:rPr>
              <a:t>，还</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需要</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编</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写</a:t>
            </a:r>
            <a:r>
              <a:rPr lang="zh-CN" altLang="zh-CN" sz="2000" dirty="0">
                <a:solidFill>
                  <a:srgbClr val="595959"/>
                </a:solidFill>
                <a:latin typeface="微软雅黑" panose="020B0503020204020204" pitchFamily="34" charset="-122"/>
                <a:ea typeface="微软雅黑" panose="020B0503020204020204" pitchFamily="34" charset="-122"/>
                <a:cs typeface="+mn-ea"/>
              </a:rPr>
              <a:t>更多次字符串截取的代码，非常麻烦，这时可以使用</a:t>
            </a:r>
            <a:r>
              <a:rPr lang="en-US" altLang="zh-CN" sz="2000" dirty="0">
                <a:solidFill>
                  <a:srgbClr val="1369B2"/>
                </a:solidFill>
                <a:latin typeface="微软雅黑" panose="020B0503020204020204" pitchFamily="34" charset="-122"/>
                <a:ea typeface="微软雅黑" panose="020B0503020204020204" pitchFamily="34" charset="-122"/>
                <a:cs typeface="+mn-ea"/>
              </a:rPr>
              <a:t>split()</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，配合正则表达式快速实现</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字符串分割</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13" name="Title 1"/>
          <p:cNvSpPr txBox="1"/>
          <p:nvPr/>
        </p:nvSpPr>
        <p:spPr>
          <a:xfrm>
            <a:off x="1143691" y="266995"/>
            <a:ext cx="30072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12.4.2  split()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689286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1311609"/>
            <a:ext cx="10585176"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000" dirty="0" smtClean="0">
                <a:solidFill>
                  <a:srgbClr val="1369B2"/>
                </a:solidFill>
                <a:latin typeface="微软雅黑" panose="020B0503020204020204" pitchFamily="34" charset="-122"/>
                <a:ea typeface="微软雅黑" panose="020B0503020204020204" pitchFamily="34" charset="-122"/>
                <a:cs typeface="+mn-ea"/>
              </a:rPr>
              <a:t>split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用于根据指定的</a:t>
            </a:r>
            <a:r>
              <a:rPr lang="zh-CN" altLang="zh-CN" sz="2000" dirty="0">
                <a:solidFill>
                  <a:srgbClr val="1369B2"/>
                </a:solidFill>
                <a:latin typeface="微软雅黑" panose="020B0503020204020204" pitchFamily="34" charset="-122"/>
                <a:ea typeface="微软雅黑" panose="020B0503020204020204" pitchFamily="34" charset="-122"/>
                <a:cs typeface="+mn-ea"/>
              </a:rPr>
              <a:t>分隔符</a:t>
            </a:r>
            <a:r>
              <a:rPr lang="zh-CN" altLang="zh-CN" sz="2000" dirty="0">
                <a:solidFill>
                  <a:srgbClr val="595959"/>
                </a:solidFill>
                <a:latin typeface="微软雅黑" panose="020B0503020204020204" pitchFamily="34" charset="-122"/>
                <a:ea typeface="微软雅黑" panose="020B0503020204020204" pitchFamily="34" charset="-122"/>
                <a:cs typeface="+mn-ea"/>
              </a:rPr>
              <a:t>将一个字符串</a:t>
            </a:r>
            <a:r>
              <a:rPr lang="zh-CN" altLang="zh-CN" sz="2000" dirty="0">
                <a:solidFill>
                  <a:srgbClr val="1369B2"/>
                </a:solidFill>
                <a:latin typeface="微软雅黑" panose="020B0503020204020204" pitchFamily="34" charset="-122"/>
                <a:ea typeface="微软雅黑" panose="020B0503020204020204" pitchFamily="34" charset="-122"/>
                <a:cs typeface="+mn-ea"/>
              </a:rPr>
              <a:t>分割成字符串数组</a:t>
            </a:r>
            <a:r>
              <a:rPr lang="zh-CN" altLang="zh-CN" sz="2000" dirty="0">
                <a:solidFill>
                  <a:srgbClr val="595959"/>
                </a:solidFill>
                <a:latin typeface="微软雅黑" panose="020B0503020204020204" pitchFamily="34" charset="-122"/>
                <a:ea typeface="微软雅黑" panose="020B0503020204020204" pitchFamily="34" charset="-122"/>
                <a:cs typeface="+mn-ea"/>
              </a:rPr>
              <a:t>，其分割后的字符串数组中</a:t>
            </a:r>
            <a:r>
              <a:rPr lang="zh-CN" altLang="zh-CN" sz="2000" dirty="0">
                <a:solidFill>
                  <a:srgbClr val="1369B2"/>
                </a:solidFill>
                <a:latin typeface="微软雅黑" panose="020B0503020204020204" pitchFamily="34" charset="-122"/>
                <a:ea typeface="微软雅黑" panose="020B0503020204020204" pitchFamily="34" charset="-122"/>
                <a:cs typeface="+mn-ea"/>
              </a:rPr>
              <a:t>不包括分隔符本身</a:t>
            </a:r>
            <a:r>
              <a:rPr lang="zh-CN" altLang="zh-CN" sz="2000" dirty="0">
                <a:solidFill>
                  <a:srgbClr val="595959"/>
                </a:solidFill>
                <a:latin typeface="微软雅黑" panose="020B0503020204020204" pitchFamily="34" charset="-122"/>
                <a:ea typeface="微软雅黑" panose="020B0503020204020204" pitchFamily="34" charset="-122"/>
                <a:cs typeface="+mn-ea"/>
              </a:rPr>
              <a:t>。当分隔符不止一个时，需要定义</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正则表达式对象</a:t>
            </a:r>
            <a:r>
              <a:rPr lang="zh-CN" altLang="zh-CN" sz="2000" dirty="0">
                <a:solidFill>
                  <a:srgbClr val="595959"/>
                </a:solidFill>
                <a:latin typeface="微软雅黑" panose="020B0503020204020204" pitchFamily="34" charset="-122"/>
                <a:ea typeface="微软雅黑" panose="020B0503020204020204" pitchFamily="34" charset="-122"/>
                <a:cs typeface="+mn-ea"/>
              </a:rPr>
              <a:t>来完成字符串的分割操作。在实现分割操作时还可以</a:t>
            </a:r>
            <a:r>
              <a:rPr lang="zh-CN" altLang="zh-CN" sz="2000" dirty="0">
                <a:solidFill>
                  <a:srgbClr val="1369B2"/>
                </a:solidFill>
                <a:latin typeface="微软雅黑" panose="020B0503020204020204" pitchFamily="34" charset="-122"/>
                <a:ea typeface="微软雅黑" panose="020B0503020204020204" pitchFamily="34" charset="-122"/>
                <a:cs typeface="+mn-ea"/>
              </a:rPr>
              <a:t>指定分割的次数</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split()</a:t>
            </a:r>
            <a:r>
              <a:rPr lang="zh-CN" altLang="zh-CN" sz="2000" dirty="0">
                <a:solidFill>
                  <a:srgbClr val="595959"/>
                </a:solidFill>
                <a:latin typeface="微软雅黑" panose="020B0503020204020204" pitchFamily="34" charset="-122"/>
                <a:ea typeface="微软雅黑" panose="020B0503020204020204" pitchFamily="34" charset="-122"/>
                <a:cs typeface="+mn-ea"/>
              </a:rPr>
              <a:t>方法的语法格式如下。</a:t>
            </a:r>
          </a:p>
        </p:txBody>
      </p:sp>
      <p:sp>
        <p:nvSpPr>
          <p:cNvPr id="13" name="Title 1"/>
          <p:cNvSpPr txBox="1"/>
          <p:nvPr/>
        </p:nvSpPr>
        <p:spPr>
          <a:xfrm>
            <a:off x="1143691" y="266995"/>
            <a:ext cx="30072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12.4.2  split()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 name="文本框 3">
            <a:extLst>
              <a:ext uri="{FF2B5EF4-FFF2-40B4-BE49-F238E27FC236}">
                <a16:creationId xmlns:a16="http://schemas.microsoft.com/office/drawing/2014/main" id="{2BD7E020-D0A4-47DE-BE0C-F3967B274E91}"/>
              </a:ext>
            </a:extLst>
          </p:cNvPr>
          <p:cNvSpPr txBox="1"/>
          <p:nvPr/>
        </p:nvSpPr>
        <p:spPr>
          <a:xfrm>
            <a:off x="3829654" y="4004569"/>
            <a:ext cx="4891143" cy="55399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string.split(separator</a:t>
            </a:r>
            <a:r>
              <a:rPr lang="en-US" altLang="zh-CN" sz="2000">
                <a:solidFill>
                  <a:srgbClr val="595959"/>
                </a:solidFill>
                <a:latin typeface="微软雅黑" panose="020B0503020204020204" pitchFamily="34" charset="-122"/>
                <a:ea typeface="微软雅黑" panose="020B0503020204020204" pitchFamily="34" charset="-122"/>
                <a:cs typeface="+mn-ea"/>
              </a:rPr>
              <a:t>, limit)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990328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43690" y="1115504"/>
            <a:ext cx="480750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FFFF"/>
                </a:solidFill>
                <a:latin typeface="微软雅黑" panose="020B0503020204020204" pitchFamily="34" charset="-122"/>
                <a:ea typeface="微软雅黑" panose="020B0503020204020204" pitchFamily="34" charset="-122"/>
              </a:rPr>
              <a:t>1</a:t>
            </a:r>
            <a:r>
              <a:rPr lang="en-US" altLang="zh-CN" sz="2000" smtClean="0">
                <a:solidFill>
                  <a:srgbClr val="FFFFFF"/>
                </a:solidFill>
                <a:latin typeface="微软雅黑" panose="020B0503020204020204" pitchFamily="34" charset="-122"/>
                <a:ea typeface="微软雅黑" panose="020B0503020204020204" pitchFamily="34" charset="-122"/>
              </a:rPr>
              <a:t>. </a:t>
            </a:r>
            <a:r>
              <a:rPr lang="zh-CN" altLang="en-US" sz="2000" smtClean="0">
                <a:solidFill>
                  <a:srgbClr val="FFFFFF"/>
                </a:solidFill>
                <a:latin typeface="微软雅黑" panose="020B0503020204020204" pitchFamily="34" charset="-122"/>
                <a:ea typeface="微软雅黑" panose="020B0503020204020204" pitchFamily="34" charset="-122"/>
              </a:rPr>
              <a:t>使用正则表达式匹配的方式分割字符串</a:t>
            </a:r>
            <a:endParaRPr lang="zh-CN" altLang="zh-CN" sz="2000">
              <a:solidFill>
                <a:srgbClr val="FFFFFF"/>
              </a:solidFill>
              <a:latin typeface="微软雅黑" panose="020B0503020204020204" pitchFamily="34" charset="-122"/>
              <a:ea typeface="微软雅黑" panose="020B0503020204020204" pitchFamily="34" charset="-122"/>
            </a:endParaRPr>
          </a:p>
        </p:txBody>
      </p:sp>
      <p:sp>
        <p:nvSpPr>
          <p:cNvPr id="2" name="矩形 1"/>
          <p:cNvSpPr/>
          <p:nvPr/>
        </p:nvSpPr>
        <p:spPr>
          <a:xfrm>
            <a:off x="1079698" y="1989634"/>
            <a:ext cx="10136092" cy="499624"/>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通过代码演示如何使用</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rPr>
              <a:t>两种分隔符对</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字符串进行</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分割</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1" y="266995"/>
            <a:ext cx="30072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12.4.2  split()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8" name="文本框 7">
            <a:extLst>
              <a:ext uri="{FF2B5EF4-FFF2-40B4-BE49-F238E27FC236}">
                <a16:creationId xmlns:a16="http://schemas.microsoft.com/office/drawing/2014/main" id="{2BD7E020-D0A4-47DE-BE0C-F3967B274E91}"/>
              </a:ext>
            </a:extLst>
          </p:cNvPr>
          <p:cNvSpPr txBox="1"/>
          <p:nvPr/>
        </p:nvSpPr>
        <p:spPr>
          <a:xfrm>
            <a:off x="1796897" y="2853730"/>
            <a:ext cx="8651590" cy="1938992"/>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'test@qq.com';</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arr</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str.split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arr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(3) ['test', '</a:t>
            </a:r>
            <a:r>
              <a:rPr lang="en-US" altLang="zh-CN" sz="2000" dirty="0" err="1">
                <a:solidFill>
                  <a:srgbClr val="595959"/>
                </a:solidFill>
                <a:latin typeface="微软雅黑" panose="020B0503020204020204" pitchFamily="34" charset="-122"/>
                <a:ea typeface="微软雅黑" panose="020B0503020204020204" pitchFamily="34" charset="-122"/>
                <a:cs typeface="+mn-ea"/>
              </a:rPr>
              <a:t>qq</a:t>
            </a:r>
            <a:r>
              <a:rPr lang="en-US" altLang="zh-CN" sz="2000" dirty="0">
                <a:solidFill>
                  <a:srgbClr val="595959"/>
                </a:solidFill>
                <a:latin typeface="微软雅黑" panose="020B0503020204020204" pitchFamily="34" charset="-122"/>
                <a:ea typeface="微软雅黑" panose="020B0503020204020204" pitchFamily="34" charset="-122"/>
                <a:cs typeface="+mn-ea"/>
              </a:rPr>
              <a:t>', 'com']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661111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43690" y="1115504"/>
            <a:ext cx="2359228"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微软雅黑" panose="020B0503020204020204" pitchFamily="34" charset="-122"/>
                <a:ea typeface="微软雅黑" panose="020B0503020204020204" pitchFamily="34" charset="-122"/>
              </a:rPr>
              <a:t>2</a:t>
            </a:r>
            <a:r>
              <a:rPr lang="en-US" altLang="zh-CN" sz="2000" dirty="0" smtClean="0">
                <a:solidFill>
                  <a:srgbClr val="FFFFFF"/>
                </a:solidFill>
                <a:latin typeface="微软雅黑" panose="020B0503020204020204" pitchFamily="34" charset="-122"/>
                <a:ea typeface="微软雅黑" panose="020B0503020204020204" pitchFamily="34" charset="-122"/>
              </a:rPr>
              <a:t>. </a:t>
            </a:r>
            <a:r>
              <a:rPr lang="zh-CN" altLang="en-US" sz="2000" dirty="0" smtClean="0">
                <a:solidFill>
                  <a:srgbClr val="FFFFFF"/>
                </a:solidFill>
                <a:latin typeface="微软雅黑" panose="020B0503020204020204" pitchFamily="34" charset="-122"/>
                <a:ea typeface="微软雅黑" panose="020B0503020204020204" pitchFamily="34" charset="-122"/>
              </a:rPr>
              <a:t>指定分割次数</a:t>
            </a:r>
            <a:endParaRPr lang="zh-CN" altLang="zh-CN" sz="2000" dirty="0">
              <a:solidFill>
                <a:srgbClr val="FFFFFF"/>
              </a:solidFill>
              <a:latin typeface="微软雅黑" panose="020B0503020204020204" pitchFamily="34" charset="-122"/>
              <a:ea typeface="微软雅黑" panose="020B0503020204020204" pitchFamily="34" charset="-122"/>
            </a:endParaRPr>
          </a:p>
        </p:txBody>
      </p:sp>
      <p:sp>
        <p:nvSpPr>
          <p:cNvPr id="2" name="矩形 1"/>
          <p:cNvSpPr/>
          <p:nvPr/>
        </p:nvSpPr>
        <p:spPr>
          <a:xfrm>
            <a:off x="1054646" y="1773610"/>
            <a:ext cx="10513168" cy="1477328"/>
          </a:xfrm>
          <a:prstGeom prst="rect">
            <a:avLst/>
          </a:prstGeom>
        </p:spPr>
        <p:txBody>
          <a:bodyPr wrap="square">
            <a:sp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rPr>
              <a:t>在使用正则表达式匹配的方式分割字符串时，还可以</a:t>
            </a:r>
            <a:r>
              <a:rPr lang="zh-CN" altLang="zh-CN" sz="2000">
                <a:solidFill>
                  <a:srgbClr val="1369B2"/>
                </a:solidFill>
                <a:latin typeface="微软雅黑" panose="020B0503020204020204" pitchFamily="34" charset="-122"/>
                <a:ea typeface="微软雅黑" panose="020B0503020204020204" pitchFamily="34" charset="-122"/>
                <a:cs typeface="+mn-ea"/>
              </a:rPr>
              <a:t>指定字符串分割的次数</a:t>
            </a:r>
            <a:r>
              <a:rPr lang="zh-CN" altLang="zh-CN" sz="2000">
                <a:solidFill>
                  <a:srgbClr val="595959"/>
                </a:solidFill>
                <a:latin typeface="微软雅黑" panose="020B0503020204020204" pitchFamily="34" charset="-122"/>
                <a:ea typeface="微软雅黑" panose="020B0503020204020204" pitchFamily="34" charset="-122"/>
              </a:rPr>
              <a:t>。当指定字符串分割次数后，若指定的次数</a:t>
            </a:r>
            <a:r>
              <a:rPr lang="zh-CN" altLang="zh-CN" sz="2000">
                <a:solidFill>
                  <a:srgbClr val="1369B2"/>
                </a:solidFill>
                <a:latin typeface="微软雅黑" panose="020B0503020204020204" pitchFamily="34" charset="-122"/>
                <a:ea typeface="微软雅黑" panose="020B0503020204020204" pitchFamily="34" charset="-122"/>
                <a:cs typeface="+mn-ea"/>
              </a:rPr>
              <a:t>小于</a:t>
            </a:r>
            <a:r>
              <a:rPr lang="zh-CN" altLang="zh-CN" sz="2000">
                <a:solidFill>
                  <a:srgbClr val="595959"/>
                </a:solidFill>
                <a:latin typeface="微软雅黑" panose="020B0503020204020204" pitchFamily="34" charset="-122"/>
                <a:ea typeface="微软雅黑" panose="020B0503020204020204" pitchFamily="34" charset="-122"/>
              </a:rPr>
              <a:t>实际字符串中符合规则分割的次数，则最后的返回结果中会</a:t>
            </a:r>
            <a:r>
              <a:rPr lang="zh-CN" altLang="zh-CN" sz="2000">
                <a:solidFill>
                  <a:srgbClr val="1369B2"/>
                </a:solidFill>
                <a:latin typeface="微软雅黑" panose="020B0503020204020204" pitchFamily="34" charset="-122"/>
                <a:ea typeface="微软雅黑" panose="020B0503020204020204" pitchFamily="34" charset="-122"/>
                <a:cs typeface="+mn-ea"/>
              </a:rPr>
              <a:t>忽略其他的分割结果</a:t>
            </a:r>
            <a:r>
              <a:rPr lang="zh-CN" altLang="zh-CN" sz="2000">
                <a:solidFill>
                  <a:srgbClr val="595959"/>
                </a:solidFill>
                <a:latin typeface="微软雅黑" panose="020B0503020204020204" pitchFamily="34" charset="-122"/>
                <a:ea typeface="微软雅黑" panose="020B0503020204020204" pitchFamily="34" charset="-122"/>
              </a:rPr>
              <a:t>，示例代码如下。</a:t>
            </a:r>
          </a:p>
        </p:txBody>
      </p:sp>
      <p:sp>
        <p:nvSpPr>
          <p:cNvPr id="5" name="Title 1"/>
          <p:cNvSpPr txBox="1"/>
          <p:nvPr/>
        </p:nvSpPr>
        <p:spPr>
          <a:xfrm>
            <a:off x="1143691" y="266995"/>
            <a:ext cx="300729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12.4.2  split()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8" name="文本框 7">
            <a:extLst>
              <a:ext uri="{FF2B5EF4-FFF2-40B4-BE49-F238E27FC236}">
                <a16:creationId xmlns:a16="http://schemas.microsoft.com/office/drawing/2014/main" id="{2BD7E020-D0A4-47DE-BE0C-F3967B274E91}"/>
              </a:ext>
            </a:extLst>
          </p:cNvPr>
          <p:cNvSpPr txBox="1"/>
          <p:nvPr/>
        </p:nvSpPr>
        <p:spPr>
          <a:xfrm>
            <a:off x="1985435" y="3501802"/>
            <a:ext cx="8651590" cy="193899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str = 'We are a family';</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reg = /\s/;</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split_res = str.split(reg, 2);</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console.log(split_res);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(2) ['We', 'are']</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564012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63859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正则表达式</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中</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replace()</a:t>
            </a:r>
            <a:r>
              <a:rPr lang="zh-CN" altLang="en-US" sz="2000" dirty="0">
                <a:solidFill>
                  <a:srgbClr val="1369B2"/>
                </a:solidFill>
                <a:latin typeface="微软雅黑" panose="020B0503020204020204" pitchFamily="34" charset="-122"/>
                <a:ea typeface="微软雅黑" panose="020B0503020204020204" pitchFamily="34" charset="-122"/>
                <a:cs typeface="+mn-ea"/>
              </a:rPr>
              <a:t>方法的使用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能够实现字符串</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替换</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3" name="Title 1"/>
          <p:cNvSpPr txBox="1"/>
          <p:nvPr/>
        </p:nvSpPr>
        <p:spPr>
          <a:xfrm>
            <a:off x="1143691" y="266995"/>
            <a:ext cx="351135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12.4.3  </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replace</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5264086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1379247"/>
            <a:ext cx="10441160" cy="233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实际开发中，如果需要将一篇文章中多次出现的错别字进行修改，采用一边查找一边修改的方式不仅非常</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麻烦而且</a:t>
            </a:r>
            <a:r>
              <a:rPr lang="zh-CN" altLang="zh-CN" sz="2000" dirty="0">
                <a:solidFill>
                  <a:srgbClr val="595959"/>
                </a:solidFill>
                <a:latin typeface="微软雅黑" panose="020B0503020204020204" pitchFamily="34" charset="-122"/>
                <a:ea typeface="微软雅黑" panose="020B0503020204020204" pitchFamily="34" charset="-122"/>
                <a:cs typeface="+mn-ea"/>
              </a:rPr>
              <a:t>容易</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遗漏，</a:t>
            </a:r>
            <a:r>
              <a:rPr lang="zh-CN" altLang="zh-CN" sz="2000" dirty="0">
                <a:solidFill>
                  <a:srgbClr val="595959"/>
                </a:solidFill>
                <a:latin typeface="微软雅黑" panose="020B0503020204020204" pitchFamily="34" charset="-122"/>
                <a:ea typeface="微软雅黑" panose="020B0503020204020204" pitchFamily="34" charset="-122"/>
                <a:cs typeface="+mn-ea"/>
              </a:rPr>
              <a:t>这时使用</a:t>
            </a:r>
            <a:r>
              <a:rPr lang="en-US" altLang="zh-CN" sz="2000" dirty="0">
                <a:solidFill>
                  <a:srgbClr val="1369B2"/>
                </a:solidFill>
                <a:latin typeface="微软雅黑" panose="020B0503020204020204" pitchFamily="34" charset="-122"/>
                <a:ea typeface="微软雅黑" panose="020B0503020204020204" pitchFamily="34" charset="-122"/>
                <a:cs typeface="+mn-ea"/>
              </a:rPr>
              <a:t>replace()</a:t>
            </a:r>
            <a:r>
              <a:rPr lang="zh-CN" altLang="zh-CN" sz="2000" dirty="0">
                <a:solidFill>
                  <a:srgbClr val="1369B2"/>
                </a:solidFill>
                <a:latin typeface="微软雅黑" panose="020B0503020204020204" pitchFamily="34" charset="-122"/>
                <a:ea typeface="微软雅黑" panose="020B0503020204020204" pitchFamily="34" charset="-122"/>
                <a:cs typeface="+mn-ea"/>
              </a:rPr>
              <a:t>方法结合正则表达式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可以很方便地进行</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字符串查找并替换</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r>
              <a:rPr lang="en-US" altLang="zh-CN" sz="2000" dirty="0">
                <a:solidFill>
                  <a:srgbClr val="1369B2"/>
                </a:solidFill>
                <a:latin typeface="微软雅黑" panose="020B0503020204020204" pitchFamily="34" charset="-122"/>
                <a:ea typeface="微软雅黑" panose="020B0503020204020204" pitchFamily="34" charset="-122"/>
                <a:cs typeface="+mn-ea"/>
              </a:rPr>
              <a:t>replace()</a:t>
            </a:r>
            <a:r>
              <a:rPr lang="zh-CN" altLang="zh-CN" sz="2000" dirty="0">
                <a:solidFill>
                  <a:srgbClr val="1369B2"/>
                </a:solidFill>
                <a:latin typeface="微软雅黑" panose="020B0503020204020204" pitchFamily="34" charset="-122"/>
                <a:ea typeface="微软雅黑" panose="020B0503020204020204" pitchFamily="34" charset="-122"/>
                <a:cs typeface="+mn-ea"/>
              </a:rPr>
              <a:t>方法用于替换字符串</a:t>
            </a:r>
            <a:r>
              <a:rPr lang="zh-CN" altLang="zh-CN" sz="2000" dirty="0">
                <a:solidFill>
                  <a:srgbClr val="595959"/>
                </a:solidFill>
                <a:latin typeface="微软雅黑" panose="020B0503020204020204" pitchFamily="34" charset="-122"/>
                <a:ea typeface="微软雅黑" panose="020B0503020204020204" pitchFamily="34" charset="-122"/>
                <a:cs typeface="+mn-ea"/>
              </a:rPr>
              <a:t>，该方法的语法格式如下。</a:t>
            </a:r>
          </a:p>
        </p:txBody>
      </p:sp>
      <p:sp>
        <p:nvSpPr>
          <p:cNvPr id="4" name="文本框 3">
            <a:extLst>
              <a:ext uri="{FF2B5EF4-FFF2-40B4-BE49-F238E27FC236}">
                <a16:creationId xmlns:a16="http://schemas.microsoft.com/office/drawing/2014/main" id="{2BD7E020-D0A4-47DE-BE0C-F3967B274E91}"/>
              </a:ext>
            </a:extLst>
          </p:cNvPr>
          <p:cNvSpPr txBox="1"/>
          <p:nvPr/>
        </p:nvSpPr>
        <p:spPr>
          <a:xfrm>
            <a:off x="2929554" y="4047512"/>
            <a:ext cx="6547327" cy="553998"/>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string.replace</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searchValue</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replaceValue</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51135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12.4.3  </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replace</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680644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982638" y="1349037"/>
            <a:ext cx="10513168"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下面通过代码演示如何使用</a:t>
            </a:r>
            <a:r>
              <a:rPr lang="en-US" altLang="zh-CN" sz="2000" dirty="0">
                <a:solidFill>
                  <a:srgbClr val="1369B2"/>
                </a:solidFill>
                <a:latin typeface="微软雅黑" panose="020B0503020204020204" pitchFamily="34" charset="-122"/>
                <a:ea typeface="微软雅黑" panose="020B0503020204020204" pitchFamily="34" charset="-122"/>
                <a:cs typeface="+mn-ea"/>
              </a:rPr>
              <a:t>replace()</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将字符串</a:t>
            </a:r>
            <a:r>
              <a:rPr lang="en-US" altLang="zh-CN" sz="2000" dirty="0">
                <a:solidFill>
                  <a:srgbClr val="1369B2"/>
                </a:solidFill>
                <a:latin typeface="微软雅黑" panose="020B0503020204020204" pitchFamily="34" charset="-122"/>
                <a:ea typeface="微软雅黑" panose="020B0503020204020204" pitchFamily="34" charset="-122"/>
                <a:cs typeface="+mn-ea"/>
              </a:rPr>
              <a:t>'Hello Word'</a:t>
            </a:r>
            <a:r>
              <a:rPr lang="zh-CN" altLang="zh-CN" sz="2000" dirty="0">
                <a:solidFill>
                  <a:srgbClr val="595959"/>
                </a:solidFill>
                <a:latin typeface="微软雅黑" panose="020B0503020204020204" pitchFamily="34" charset="-122"/>
                <a:ea typeface="微软雅黑" panose="020B0503020204020204" pitchFamily="34" charset="-122"/>
                <a:cs typeface="+mn-ea"/>
              </a:rPr>
              <a:t>中的</a:t>
            </a:r>
            <a:r>
              <a:rPr lang="en-US" altLang="zh-CN" sz="2000" dirty="0">
                <a:solidFill>
                  <a:srgbClr val="1369B2"/>
                </a:solidFill>
                <a:latin typeface="微软雅黑" panose="020B0503020204020204" pitchFamily="34" charset="-122"/>
                <a:ea typeface="微软雅黑" panose="020B0503020204020204" pitchFamily="34" charset="-122"/>
                <a:cs typeface="+mn-ea"/>
              </a:rPr>
              <a:t>'Word'</a:t>
            </a:r>
            <a:r>
              <a:rPr lang="zh-CN" altLang="zh-CN" sz="2000" dirty="0">
                <a:solidFill>
                  <a:srgbClr val="595959"/>
                </a:solidFill>
                <a:latin typeface="微软雅黑" panose="020B0503020204020204" pitchFamily="34" charset="-122"/>
                <a:ea typeface="微软雅黑" panose="020B0503020204020204" pitchFamily="34" charset="-122"/>
                <a:cs typeface="+mn-ea"/>
              </a:rPr>
              <a:t>替换为</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'World'</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文本框 3">
            <a:extLst>
              <a:ext uri="{FF2B5EF4-FFF2-40B4-BE49-F238E27FC236}">
                <a16:creationId xmlns:a16="http://schemas.microsoft.com/office/drawing/2014/main" id="{2BD7E020-D0A4-47DE-BE0C-F3967B274E91}"/>
              </a:ext>
            </a:extLst>
          </p:cNvPr>
          <p:cNvSpPr txBox="1"/>
          <p:nvPr/>
        </p:nvSpPr>
        <p:spPr>
          <a:xfrm>
            <a:off x="1913427" y="2455391"/>
            <a:ext cx="8651590" cy="1938992"/>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'Hello Word';</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 /(\w+)\s(\w+)/</a:t>
            </a:r>
            <a:r>
              <a:rPr lang="en-US" altLang="zh-CN" sz="2000" dirty="0" err="1">
                <a:solidFill>
                  <a:srgbClr val="595959"/>
                </a:solidFill>
                <a:latin typeface="微软雅黑" panose="020B0503020204020204" pitchFamily="34" charset="-122"/>
                <a:ea typeface="微软雅黑" panose="020B0503020204020204" pitchFamily="34" charset="-122"/>
                <a:cs typeface="+mn-ea"/>
              </a:rPr>
              <a:t>gi</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newStr</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str.replace</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reg</a:t>
            </a:r>
            <a:r>
              <a:rPr lang="en-US" altLang="zh-CN" sz="2000" dirty="0">
                <a:solidFill>
                  <a:srgbClr val="595959"/>
                </a:solidFill>
                <a:latin typeface="微软雅黑" panose="020B0503020204020204" pitchFamily="34" charset="-122"/>
                <a:ea typeface="微软雅黑" panose="020B0503020204020204" pitchFamily="34" charset="-122"/>
                <a:cs typeface="+mn-ea"/>
              </a:rPr>
              <a:t>, '$1 World');</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newStr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Hello World</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51135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12.4.3  </a:t>
            </a:r>
            <a:r>
              <a:rPr lang="en-US" altLang="zh-CN"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replace</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124290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785200" y="3636000"/>
            <a:ext cx="563859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查找并替换敏感词</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en-US" sz="2000" dirty="0">
                <a:solidFill>
                  <a:srgbClr val="595959"/>
                </a:solidFill>
                <a:latin typeface="微软雅黑" panose="020B0503020204020204" pitchFamily="34" charset="-122"/>
                <a:ea typeface="微软雅黑" panose="020B0503020204020204" pitchFamily="34" charset="-122"/>
                <a:cs typeface="+mn-ea"/>
              </a:rPr>
              <a:t>案例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dirty="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7"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3" name="Title 1"/>
          <p:cNvSpPr txBox="1"/>
          <p:nvPr/>
        </p:nvSpPr>
        <p:spPr>
          <a:xfrm>
            <a:off x="1143691" y="266995"/>
            <a:ext cx="50235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12.4.4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查找并替换敏感词</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909118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1054646" y="1199626"/>
            <a:ext cx="10297144"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网页开发中，为了避免用户填写或上传的内容中含有</a:t>
            </a:r>
            <a:r>
              <a:rPr lang="zh-CN" altLang="zh-CN" sz="2000" dirty="0">
                <a:solidFill>
                  <a:srgbClr val="1369B2"/>
                </a:solidFill>
                <a:latin typeface="微软雅黑" panose="020B0503020204020204" pitchFamily="34" charset="-122"/>
                <a:ea typeface="微软雅黑" panose="020B0503020204020204" pitchFamily="34" charset="-122"/>
                <a:cs typeface="+mn-ea"/>
              </a:rPr>
              <a:t>敏感</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词</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保护用户提交的个人信息，可以使用</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的正则表达式完成</a:t>
            </a:r>
            <a:r>
              <a:rPr lang="zh-CN" altLang="zh-CN" sz="2000" dirty="0">
                <a:solidFill>
                  <a:srgbClr val="1369B2"/>
                </a:solidFill>
                <a:latin typeface="微软雅黑" panose="020B0503020204020204" pitchFamily="34" charset="-122"/>
                <a:ea typeface="微软雅黑" panose="020B0503020204020204" pitchFamily="34" charset="-122"/>
                <a:cs typeface="+mn-ea"/>
              </a:rPr>
              <a:t>查找内容并替换敏感词</a:t>
            </a:r>
            <a:r>
              <a:rPr lang="zh-CN" altLang="zh-CN" sz="2000" dirty="0">
                <a:solidFill>
                  <a:srgbClr val="595959"/>
                </a:solidFill>
                <a:latin typeface="微软雅黑" panose="020B0503020204020204" pitchFamily="34" charset="-122"/>
                <a:ea typeface="微软雅黑" panose="020B0503020204020204" pitchFamily="34" charset="-122"/>
                <a:cs typeface="+mn-ea"/>
              </a:rPr>
              <a:t>的相关操作</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。查找</a:t>
            </a:r>
            <a:r>
              <a:rPr lang="zh-CN" altLang="zh-CN" sz="2000" dirty="0">
                <a:solidFill>
                  <a:srgbClr val="595959"/>
                </a:solidFill>
                <a:latin typeface="微软雅黑" panose="020B0503020204020204" pitchFamily="34" charset="-122"/>
                <a:ea typeface="微软雅黑" panose="020B0503020204020204" pitchFamily="34" charset="-122"/>
                <a:cs typeface="+mn-ea"/>
              </a:rPr>
              <a:t>文本域中的</a:t>
            </a:r>
            <a:r>
              <a:rPr lang="en-US" altLang="zh-CN" sz="2000" dirty="0">
                <a:solidFill>
                  <a:srgbClr val="1369B2"/>
                </a:solidFill>
                <a:latin typeface="微软雅黑" panose="020B0503020204020204" pitchFamily="34" charset="-122"/>
                <a:ea typeface="微软雅黑" panose="020B0503020204020204" pitchFamily="34" charset="-122"/>
                <a:cs typeface="+mn-ea"/>
              </a:rPr>
              <a:t>bad</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，将</a:t>
            </a:r>
            <a:r>
              <a:rPr lang="zh-CN" altLang="zh-CN" sz="2000" dirty="0">
                <a:solidFill>
                  <a:srgbClr val="595959"/>
                </a:solidFill>
                <a:latin typeface="微软雅黑" panose="020B0503020204020204" pitchFamily="34" charset="-122"/>
                <a:ea typeface="微软雅黑" panose="020B0503020204020204" pitchFamily="34" charset="-122"/>
                <a:cs typeface="+mn-ea"/>
              </a:rPr>
              <a:t>查找到的内容替换为</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1" y="266995"/>
            <a:ext cx="502352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12.4.4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查找并替换敏感词</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9408" y="2853730"/>
            <a:ext cx="7447619" cy="3200000"/>
          </a:xfrm>
          <a:prstGeom prst="rect">
            <a:avLst/>
          </a:prstGeom>
        </p:spPr>
      </p:pic>
    </p:spTree>
    <p:extLst>
      <p:ext uri="{BB962C8B-B14F-4D97-AF65-F5344CB8AC3E}">
        <p14:creationId xmlns:p14="http://schemas.microsoft.com/office/powerpoint/2010/main" val="16034790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3F6908-92E7-4A91-863C-1B36143E8DCD}"/>
              </a:ext>
            </a:extLst>
          </p:cNvPr>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p>
        </p:txBody>
      </p:sp>
      <p:sp>
        <p:nvSpPr>
          <p:cNvPr id="4" name="圆角矩形 26">
            <a:extLst>
              <a:ext uri="{FF2B5EF4-FFF2-40B4-BE49-F238E27FC236}">
                <a16:creationId xmlns:a16="http://schemas.microsoft.com/office/drawing/2014/main" id="{FB40132D-FEA4-4137-839F-407CBE609B3F}"/>
              </a:ext>
            </a:extLst>
          </p:cNvPr>
          <p:cNvSpPr/>
          <p:nvPr/>
        </p:nvSpPr>
        <p:spPr>
          <a:xfrm>
            <a:off x="1198880" y="1810385"/>
            <a:ext cx="9794240" cy="3059569"/>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5" name="TextBox 38">
            <a:extLst>
              <a:ext uri="{FF2B5EF4-FFF2-40B4-BE49-F238E27FC236}">
                <a16:creationId xmlns:a16="http://schemas.microsoft.com/office/drawing/2014/main" id="{814CCD3C-575E-4C15-89E6-3D4FA5A051F1}"/>
              </a:ext>
            </a:extLst>
          </p:cNvPr>
          <p:cNvSpPr txBox="1"/>
          <p:nvPr/>
        </p:nvSpPr>
        <p:spPr>
          <a:xfrm>
            <a:off x="1558702" y="2591247"/>
            <a:ext cx="9004538" cy="1846659"/>
          </a:xfrm>
          <a:prstGeom prst="rect">
            <a:avLst/>
          </a:prstGeom>
          <a:noFill/>
        </p:spPr>
        <p:txBody>
          <a:bodyPr wrap="square" lIns="0" tIns="0" rIns="0" bIns="0" rtlCol="0">
            <a:spAutoFit/>
          </a:body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本章</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主要讲解了</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正则表达式</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的内容，首先讲解了</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正则表达式的概念</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作用</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创建方式</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，然后讲解了</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正则表达式的使用</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，最后讲解了</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正则表达式中的元字符</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正则表达式常用方法</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。通过本章的学习，</a:t>
            </a:r>
            <a:r>
              <a:rPr lang="zh-CN" altLang="zh-CN" sz="200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读者</a:t>
            </a:r>
            <a:r>
              <a:rPr lang="zh-CN" altLang="en-US" sz="200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应</a:t>
            </a:r>
            <a:r>
              <a:rPr lang="zh-CN" altLang="zh-CN" sz="200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能够</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掌握</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正则表达式的基本用法</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，并能够使用正则表达式对字符串进行</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匹配</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分割</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替换</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操作。</a:t>
            </a:r>
          </a:p>
        </p:txBody>
      </p:sp>
      <p:sp>
        <p:nvSpPr>
          <p:cNvPr id="6" name="椭圆 5">
            <a:extLst>
              <a:ext uri="{FF2B5EF4-FFF2-40B4-BE49-F238E27FC236}">
                <a16:creationId xmlns:a16="http://schemas.microsoft.com/office/drawing/2014/main" id="{12D02CBD-122C-4126-9C27-9F5A42D82327}"/>
              </a:ext>
            </a:extLst>
          </p:cNvPr>
          <p:cNvSpPr/>
          <p:nvPr/>
        </p:nvSpPr>
        <p:spPr>
          <a:xfrm>
            <a:off x="442023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本</a:t>
            </a:r>
          </a:p>
        </p:txBody>
      </p:sp>
      <p:sp>
        <p:nvSpPr>
          <p:cNvPr id="7" name="椭圆 6">
            <a:extLst>
              <a:ext uri="{FF2B5EF4-FFF2-40B4-BE49-F238E27FC236}">
                <a16:creationId xmlns:a16="http://schemas.microsoft.com/office/drawing/2014/main" id="{248D732B-AEB5-4AF0-80CB-E49986E102F7}"/>
              </a:ext>
            </a:extLst>
          </p:cNvPr>
          <p:cNvSpPr/>
          <p:nvPr/>
        </p:nvSpPr>
        <p:spPr>
          <a:xfrm>
            <a:off x="513905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章</a:t>
            </a:r>
          </a:p>
        </p:txBody>
      </p:sp>
      <p:sp>
        <p:nvSpPr>
          <p:cNvPr id="8" name="椭圆 7">
            <a:extLst>
              <a:ext uri="{FF2B5EF4-FFF2-40B4-BE49-F238E27FC236}">
                <a16:creationId xmlns:a16="http://schemas.microsoft.com/office/drawing/2014/main" id="{B0611DBD-A63B-4039-A64B-C5315892C467}"/>
              </a:ext>
            </a:extLst>
          </p:cNvPr>
          <p:cNvSpPr/>
          <p:nvPr/>
        </p:nvSpPr>
        <p:spPr>
          <a:xfrm>
            <a:off x="585787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小</a:t>
            </a:r>
          </a:p>
        </p:txBody>
      </p:sp>
      <p:sp>
        <p:nvSpPr>
          <p:cNvPr id="9" name="椭圆 8">
            <a:extLst>
              <a:ext uri="{FF2B5EF4-FFF2-40B4-BE49-F238E27FC236}">
                <a16:creationId xmlns:a16="http://schemas.microsoft.com/office/drawing/2014/main" id="{7CAB7274-D61E-48A3-90F6-2DA430D6E3B7}"/>
              </a:ext>
            </a:extLst>
          </p:cNvPr>
          <p:cNvSpPr/>
          <p:nvPr/>
        </p:nvSpPr>
        <p:spPr>
          <a:xfrm>
            <a:off x="657669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结</a:t>
            </a:r>
          </a:p>
        </p:txBody>
      </p:sp>
    </p:spTree>
    <p:extLst>
      <p:ext uri="{BB962C8B-B14F-4D97-AF65-F5344CB8AC3E}">
        <p14:creationId xmlns:p14="http://schemas.microsoft.com/office/powerpoint/2010/main" val="64430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88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15465</TotalTime>
  <Words>5143</Words>
  <Application>Microsoft Office PowerPoint</Application>
  <PresentationFormat>自定义</PresentationFormat>
  <Paragraphs>437</Paragraphs>
  <Slides>75</Slides>
  <Notes>32</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75</vt:i4>
      </vt:variant>
    </vt:vector>
  </HeadingPairs>
  <TitlesOfParts>
    <vt:vector size="87" baseType="lpstr">
      <vt:lpstr>Source Han Sans K Bold</vt:lpstr>
      <vt:lpstr>思源黑体 CN Medium</vt:lpstr>
      <vt:lpstr>思源黑体 CN Regular</vt:lpstr>
      <vt:lpstr>宋体</vt:lpstr>
      <vt:lpstr>微软雅黑</vt:lpstr>
      <vt:lpstr>字魂105号-简雅黑</vt:lpstr>
      <vt:lpstr>字魂58号-创中黑</vt:lpstr>
      <vt:lpstr>Arial</vt:lpstr>
      <vt:lpstr>Calibri</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hd</cp:lastModifiedBy>
  <cp:revision>5834</cp:revision>
  <dcterms:created xsi:type="dcterms:W3CDTF">2020-11-09T06:56:00Z</dcterms:created>
  <dcterms:modified xsi:type="dcterms:W3CDTF">2024-04-19T09:52:32Z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