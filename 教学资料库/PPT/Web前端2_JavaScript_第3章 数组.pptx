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.xml" ContentType="application/vnd.openxmlformats-officedocument.presentationml.tags+xml"/>
  <Override PartName="/ppt/notesSlides/notesSlide30.xml" ContentType="application/vnd.openxmlformats-officedocument.presentationml.notesSlide+xml"/>
  <Override PartName="/ppt/tags/tag2.xml" ContentType="application/vnd.openxmlformats-officedocument.presentationml.tags+xml"/>
  <Override PartName="/ppt/notesSlides/notesSlide31.xml" ContentType="application/vnd.openxmlformats-officedocument.presentationml.notesSlide+xml"/>
  <Override PartName="/ppt/tags/tag3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89"/>
  </p:notesMasterIdLst>
  <p:handoutMasterIdLst>
    <p:handoutMasterId r:id="rId90"/>
  </p:handoutMasterIdLst>
  <p:sldIdLst>
    <p:sldId id="325" r:id="rId3"/>
    <p:sldId id="1129" r:id="rId4"/>
    <p:sldId id="1488" r:id="rId5"/>
    <p:sldId id="328" r:id="rId6"/>
    <p:sldId id="1146" r:id="rId7"/>
    <p:sldId id="309" r:id="rId8"/>
    <p:sldId id="1059" r:id="rId9"/>
    <p:sldId id="1125" r:id="rId10"/>
    <p:sldId id="1423" r:id="rId11"/>
    <p:sldId id="1289" r:id="rId12"/>
    <p:sldId id="1421" r:id="rId13"/>
    <p:sldId id="1492" r:id="rId14"/>
    <p:sldId id="1419" r:id="rId15"/>
    <p:sldId id="1489" r:id="rId16"/>
    <p:sldId id="1450" r:id="rId17"/>
    <p:sldId id="1490" r:id="rId18"/>
    <p:sldId id="1491" r:id="rId19"/>
    <p:sldId id="1493" r:id="rId20"/>
    <p:sldId id="1424" r:id="rId21"/>
    <p:sldId id="1304" r:id="rId22"/>
    <p:sldId id="1439" r:id="rId23"/>
    <p:sldId id="1494" r:id="rId24"/>
    <p:sldId id="1495" r:id="rId25"/>
    <p:sldId id="1496" r:id="rId26"/>
    <p:sldId id="1427" r:id="rId27"/>
    <p:sldId id="1497" r:id="rId28"/>
    <p:sldId id="1498" r:id="rId29"/>
    <p:sldId id="1277" r:id="rId30"/>
    <p:sldId id="1438" r:id="rId31"/>
    <p:sldId id="1499" r:id="rId32"/>
    <p:sldId id="1500" r:id="rId33"/>
    <p:sldId id="1501" r:id="rId34"/>
    <p:sldId id="1502" r:id="rId35"/>
    <p:sldId id="1430" r:id="rId36"/>
    <p:sldId id="1503" r:id="rId37"/>
    <p:sldId id="1504" r:id="rId38"/>
    <p:sldId id="1505" r:id="rId39"/>
    <p:sldId id="1278" r:id="rId40"/>
    <p:sldId id="1506" r:id="rId41"/>
    <p:sldId id="1507" r:id="rId42"/>
    <p:sldId id="1508" r:id="rId43"/>
    <p:sldId id="1509" r:id="rId44"/>
    <p:sldId id="1510" r:id="rId45"/>
    <p:sldId id="1511" r:id="rId46"/>
    <p:sldId id="1512" r:id="rId47"/>
    <p:sldId id="1513" r:id="rId48"/>
    <p:sldId id="1514" r:id="rId49"/>
    <p:sldId id="1515" r:id="rId50"/>
    <p:sldId id="1299" r:id="rId51"/>
    <p:sldId id="1516" r:id="rId52"/>
    <p:sldId id="1517" r:id="rId53"/>
    <p:sldId id="1518" r:id="rId54"/>
    <p:sldId id="1279" r:id="rId55"/>
    <p:sldId id="1519" r:id="rId56"/>
    <p:sldId id="1481" r:id="rId57"/>
    <p:sldId id="1520" r:id="rId58"/>
    <p:sldId id="1161" r:id="rId59"/>
    <p:sldId id="1356" r:id="rId60"/>
    <p:sldId id="1459" r:id="rId61"/>
    <p:sldId id="1432" r:id="rId62"/>
    <p:sldId id="1307" r:id="rId63"/>
    <p:sldId id="1521" r:id="rId64"/>
    <p:sldId id="1522" r:id="rId65"/>
    <p:sldId id="1286" r:id="rId66"/>
    <p:sldId id="1523" r:id="rId67"/>
    <p:sldId id="1458" r:id="rId68"/>
    <p:sldId id="1524" r:id="rId69"/>
    <p:sldId id="1525" r:id="rId70"/>
    <p:sldId id="1163" r:id="rId71"/>
    <p:sldId id="1383" r:id="rId72"/>
    <p:sldId id="1462" r:id="rId73"/>
    <p:sldId id="1465" r:id="rId74"/>
    <p:sldId id="1527" r:id="rId75"/>
    <p:sldId id="1528" r:id="rId76"/>
    <p:sldId id="1529" r:id="rId77"/>
    <p:sldId id="1477" r:id="rId78"/>
    <p:sldId id="1530" r:id="rId79"/>
    <p:sldId id="1531" r:id="rId80"/>
    <p:sldId id="1486" r:id="rId81"/>
    <p:sldId id="1532" r:id="rId82"/>
    <p:sldId id="1533" r:id="rId83"/>
    <p:sldId id="1534" r:id="rId84"/>
    <p:sldId id="1535" r:id="rId85"/>
    <p:sldId id="1536" r:id="rId86"/>
    <p:sldId id="1416" r:id="rId87"/>
    <p:sldId id="1417" r:id="rId88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0" autoAdjust="0"/>
    <p:restoredTop sz="95974" autoAdjust="0"/>
  </p:normalViewPr>
  <p:slideViewPr>
    <p:cSldViewPr>
      <p:cViewPr varScale="1">
        <p:scale>
          <a:sx n="93" d="100"/>
          <a:sy n="93" d="100"/>
        </p:scale>
        <p:origin x="102" y="138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418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90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520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136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954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613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999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80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094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76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50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155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791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477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7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170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8494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5822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949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0122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8715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6995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8752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0249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6106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6569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10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9929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198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564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657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660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9372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5118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8048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0634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522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0293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5499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2531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7837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7062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7356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9144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Relationship Id="rId5" Type="http://schemas.openxmlformats.org/officeDocument/2006/relationships/image" Target="NULL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NUL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.bin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3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数组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1852932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数组的概念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描述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数组的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组成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282315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数组的创建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，能够灵活运用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数组字面量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的方式创建数组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379126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获取和修改数组长度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的方法，能够实现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数组长度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修改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81958" y="472593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访问数组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的方法，能够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访问数组元素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481958" y="5694045"/>
            <a:ext cx="9698457" cy="688077"/>
            <a:chOff x="978872" y="3338787"/>
            <a:chExt cx="5437064" cy="515938"/>
          </a:xfrm>
        </p:grpSpPr>
        <p:sp>
          <p:nvSpPr>
            <p:cNvPr id="26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遍历数组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的方法，能够使用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for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语句实现数组的遍历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7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481958" y="1852932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添加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修改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删除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筛选数组元素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的方法，能够实现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添加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修改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删除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endPara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筛选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数组元素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81958" y="2823154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反转数组元素顺序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的方法，能够实现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数组元素顺序的反转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81958" y="3791264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数组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的排序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能够实现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数组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冒泡排序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插入排序</a:t>
              </a: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81958" y="4725935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与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访问二维数组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的方法，能够实现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二维数组的创建与访问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481958" y="5694045"/>
            <a:ext cx="9698457" cy="688077"/>
            <a:chOff x="978872" y="3338787"/>
            <a:chExt cx="5437064" cy="515938"/>
          </a:xfrm>
        </p:grpSpPr>
        <p:sp>
          <p:nvSpPr>
            <p:cNvPr id="26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遍历二维数组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的方法，能够实现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二维数组的遍历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7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5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4" y="1845618"/>
            <a:ext cx="10269847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一组数据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集合在一起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赋值给一个变量后，通过变量就可以访问一组数据。在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中，使用数组可以很方便地对数据进行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批量处理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将对数组进行详细讲解，包括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初识数组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数组的基本操作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" name="Picture 2" descr="C:\Users\Administrator\Desktop\ppt展示模板-8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59912" y="3571675"/>
            <a:ext cx="4551518" cy="273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252906" y="3947816"/>
            <a:ext cx="3210452" cy="1800200"/>
          </a:xfrm>
          <a:prstGeom prst="rect">
            <a:avLst/>
          </a:prstGeom>
          <a:blipFill>
            <a:blip r:embed="rId4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 sz="1800">
              <a:latin typeface="Arial" panose="020B0604020202020204" pitchFamily="34" charset="0"/>
              <a:ea typeface="思源黑体 CN Regular" panose="020B0500000000000000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1939805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2807120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707900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1917626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初识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数组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790294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创建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数组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686247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数组的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基本操作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617156"/>
            <a:ext cx="1192190" cy="614525"/>
            <a:chOff x="2215144" y="3084852"/>
            <a:chExt cx="1244730" cy="844793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595502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数组元素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排序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73894" y="5539680"/>
            <a:ext cx="1192190" cy="614525"/>
            <a:chOff x="2215144" y="3084852"/>
            <a:chExt cx="1244730" cy="844793"/>
          </a:xfrm>
        </p:grpSpPr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79446" y="5518026"/>
            <a:ext cx="5142331" cy="613062"/>
            <a:chOff x="4315150" y="2341731"/>
            <a:chExt cx="3857250" cy="540057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二维数组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17826"/>
            <a:ext cx="5429568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数组的概念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，能够描述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数组的组成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6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611414" y="1985402"/>
            <a:ext cx="6740375" cy="3417567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1849" y="2290211"/>
              <a:ext cx="5936166" cy="28079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实际开发中，经常需要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保存一批相关联的数据并进行处理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。例如，保存一个班级中所有学生的语文考试成绩并计算这些成绩的平均分。虽然我们可以通过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多个变量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分别保存每位学生的考试成绩，再将这些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变量相加后除以班级人数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，求出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平均分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，但是这种方式非常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麻烦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低效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11" name="Shape 2015"/>
          <p:cNvSpPr/>
          <p:nvPr/>
        </p:nvSpPr>
        <p:spPr>
          <a:xfrm>
            <a:off x="4583038" y="2162174"/>
            <a:ext cx="6768752" cy="2059708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9062" y="2453364"/>
            <a:ext cx="633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此时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，可以使用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保存班级内每位学生的成绩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，然后通过对数组的处理求出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平均分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，这种方式不仅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，而且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开发效率更高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280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148940" y="2052889"/>
            <a:ext cx="69677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组成，数组中的每个元素由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构成，其中，索引也称为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表示，默认情况下从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依次递增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标识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；值为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任意类型的数据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</a:t>
            </a:r>
          </a:p>
        </p:txBody>
      </p:sp>
      <p:pic>
        <p:nvPicPr>
          <p:cNvPr id="7" name="Picture 2" descr="C:\Users\admin\Desktop\QQ截图20201109163646.png">
            <a:extLst>
              <a:ext uri="{FF2B5EF4-FFF2-40B4-BE49-F238E27FC236}">
                <a16:creationId xmlns:a16="http://schemas.microsoft.com/office/drawing/2014/main" id="{65FF40EC-B1D1-D144-84F0-26C0514AF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6"/>
          <a:stretch/>
        </p:blipFill>
        <p:spPr bwMode="auto">
          <a:xfrm flipH="1">
            <a:off x="8410575" y="2103928"/>
            <a:ext cx="2946548" cy="348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2015"/>
          <p:cNvSpPr/>
          <p:nvPr/>
        </p:nvSpPr>
        <p:spPr>
          <a:xfrm>
            <a:off x="1016000" y="1750881"/>
            <a:ext cx="7233620" cy="2543009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975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82638" y="1449590"/>
            <a:ext cx="95770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某个数组包含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个数字型的元素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个元素的值分别是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95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，该数组中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索引和值的关系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627386"/>
              </p:ext>
            </p:extLst>
          </p:nvPr>
        </p:nvGraphicFramePr>
        <p:xfrm>
          <a:off x="1990750" y="3141762"/>
          <a:ext cx="7661652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9" name="Visio" r:id="rId3" imgW="3191007" imgH="828718" progId="Visio.Drawing.15">
                  <p:embed/>
                </p:oleObj>
              </mc:Choice>
              <mc:Fallback>
                <p:oleObj name="Visio" r:id="rId3" imgW="3191007" imgH="828718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50" y="3141762"/>
                        <a:ext cx="7661652" cy="2016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766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9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的创建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，能够灵活运用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数组字面量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的方式创建数组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01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7" y="1985403"/>
            <a:ext cx="6380335" cy="2596520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004" y="2418125"/>
              <a:ext cx="5703258" cy="2552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使用数组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，首先需要将数组创建出来。在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创建数组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的方式有两种，第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种方式是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使用数组字面量“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[]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”创建数组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，第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种方式是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new Array()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创建数组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383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313709"/>
            <a:ext cx="856895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数组字面量“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[]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”创建数组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2402" y="2378321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4646" y="3357786"/>
            <a:ext cx="100091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在上述语法格式中，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元素的数量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，各元素之间使用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逗号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分隔。若元素的数量是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创建一个空数组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一个元素后面的逗号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可以存在也可以省略，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通常省略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9489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415947"/>
            <a:ext cx="105131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允许数组中含有空位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，数组中的空位表示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没有任何值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，具体语法格式如下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88411" y="2561911"/>
            <a:ext cx="562095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1, ,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2638" y="3677102"/>
            <a:ext cx="856895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之间含有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个空位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946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557586"/>
            <a:ext cx="85143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使用数组字面量“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[]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”创建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2709714"/>
            <a:ext cx="843360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arr01 = [];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arr02 = ['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, ,'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arr03 = ['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草莓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苹果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香蕉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arr04 = [13,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玉米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true, null, undefined, [22, 33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  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520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数组的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1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和修改数组长度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的方法，能够实现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数组长度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获取和修改数组长度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8298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884551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5">
                  <a:extLst>
                    <a:ext uri="{FF2B5EF4-FFF2-40B4-BE49-F238E27FC236}">
                      <a16:creationId xmlns:a16="http://schemas.microsoft.com/office/drawing/2014/main" id="{8C22BF7A-4BC1-4144-9B36-68D1715B11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0079" y="2272055"/>
                  <a:ext cx="6039108" cy="2844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zh-CN" sz="2000" dirty="0" smtClean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数组</a:t>
                  </a:r>
                  <a:r>
                    <a:rPr lang="zh-CN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长度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是指</a:t>
                  </a:r>
                  <a:r>
                    <a:rPr lang="zh-CN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数组中元素的个数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，取值范围为</a:t>
                  </a:r>
                  <a:r>
                    <a:rPr lang="en-US" altLang="zh-CN" sz="2000" dirty="0" smtClean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r>
                    <a:rPr lang="en-US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~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1369B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1369B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rgbClr val="1369B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32</m:t>
                          </m:r>
                        </m:sup>
                      </m:sSup>
                    </m:oMath>
                  </a14:m>
                  <a:r>
                    <a:rPr lang="en-US" altLang="zh-CN" sz="2000" dirty="0" smtClean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-1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（包括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solidFill>
                                <a:srgbClr val="1369B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solidFill>
                                <a:srgbClr val="1369B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1369B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32</m:t>
                          </m:r>
                        </m:sup>
                      </m:sSup>
                    </m:oMath>
                  </a14:m>
                  <a:r>
                    <a:rPr lang="en-US" altLang="zh-CN" sz="2000" dirty="0" smtClean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-1</a:t>
                  </a:r>
                  <a:r>
                    <a:rPr lang="zh-CN" altLang="zh-CN" sz="2000" dirty="0" smtClean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）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之间的</a:t>
                  </a:r>
                  <a:r>
                    <a:rPr lang="zh-CN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整数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。</a:t>
                  </a:r>
                  <a:r>
                    <a:rPr lang="zh-CN" altLang="zh-CN" sz="2000" dirty="0" smtClean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若</a:t>
                  </a:r>
                  <a:r>
                    <a:rPr lang="zh-CN" altLang="en-US" sz="2000" dirty="0" smtClean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将</a:t>
                  </a:r>
                  <a:r>
                    <a:rPr lang="zh-CN" altLang="zh-CN" sz="2000" dirty="0" smtClean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数组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长度设置为</a:t>
                  </a:r>
                  <a:r>
                    <a:rPr lang="zh-CN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负数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或</a:t>
                  </a:r>
                  <a:r>
                    <a:rPr lang="zh-CN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小数</a:t>
                  </a:r>
                  <a:r>
                    <a:rPr lang="zh-CN" altLang="zh-CN" sz="2000" dirty="0" smtClean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</a:t>
                  </a:r>
                  <a:r>
                    <a:rPr lang="zh-CN" altLang="en-US" sz="2000" dirty="0" smtClean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则</a:t>
                  </a:r>
                  <a:r>
                    <a:rPr lang="zh-CN" altLang="zh-CN" sz="2000" dirty="0" smtClean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程序</a:t>
                  </a:r>
                  <a:r>
                    <a:rPr lang="zh-CN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会报错</a:t>
                  </a:r>
                  <a:r>
                    <a:rPr lang="zh-CN" altLang="zh-CN" sz="2000" dirty="0" smtClean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。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在实际开发中，对于一个现有的数组，有时候需要</a:t>
                  </a:r>
                  <a:r>
                    <a:rPr lang="zh-CN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获取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和</a:t>
                  </a:r>
                  <a:r>
                    <a:rPr lang="zh-CN" altLang="zh-CN" sz="2000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修改</a:t>
                  </a:r>
                  <a:r>
                    <a:rPr lang="zh-CN" altLang="zh-CN" sz="20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其长度。</a:t>
                  </a:r>
                </a:p>
              </p:txBody>
            </p:sp>
          </mc:Choice>
          <mc:Fallback xmlns="">
            <p:sp>
              <p:nvSpPr>
                <p:cNvPr id="25" name="矩形 5">
                  <a:extLst>
                    <a:ext uri="{FF2B5EF4-FFF2-40B4-BE49-F238E27FC236}">
                      <a16:creationId xmlns:a16="http://schemas.microsoft.com/office/drawing/2014/main" id="{8C22BF7A-4BC1-4144-9B36-68D1715B11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50079" y="2272055"/>
                  <a:ext cx="6039108" cy="2844257"/>
                </a:xfrm>
                <a:prstGeom prst="rect">
                  <a:avLst/>
                </a:prstGeom>
                <a:blipFill>
                  <a:blip r:embed="rId3"/>
                  <a:stretch>
                    <a:fillRect l="-1229" b="-126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获取和修改数组长度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82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获取数组长度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获取和修改数组长度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0" y="1961983"/>
            <a:ext cx="85143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获取数组长度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02918" y="2941603"/>
            <a:ext cx="4859902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.length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3690" y="3890450"/>
            <a:ext cx="91999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是指用于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保存数组的变量名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。如果数组中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包含空位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空位也会被计算在数组长度内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7550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0" y="1961983"/>
            <a:ext cx="85143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长度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8070" y="2858954"/>
            <a:ext cx="843360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arr1 = [0, 30, 60, 90];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arr2 = ['a', , , , 'b', 'c'];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console.log(arr1.length);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console.log(arr2.length);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获取和修改数组长度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获取数组长度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302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数组长度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获取和修改数组长度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264" y="1961983"/>
            <a:ext cx="85143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数组长度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50521" y="2980723"/>
            <a:ext cx="464387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.length = 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43690" y="3968690"/>
            <a:ext cx="99920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修改数组长度时，如果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修改的数组长度大于数组原长度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数组的末尾会出现空位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修改的数组长度等于数组原长度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数组长度不变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修改的数组长度小于数组原长度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多余的数组元素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将会被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舍弃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8438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888" y="1619560"/>
            <a:ext cx="85143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如何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长度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59804" y="2206813"/>
            <a:ext cx="8433600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arr3 = [0, 1];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arr3.length = 4;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修改数组长度为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console.log(arr3);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(4) [0, 1, empty × 2]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arr4 = [0, 1];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arr4.length = 2;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修改数组长度为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console.log(arr4);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(2) [0, 1]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arr5 = [0, 1, 2, 3];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arr5.length = 3;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修改数组长度为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console.log(arr5);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(3) [0, 1, 2]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获取和修改数组长度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43690" y="1115504"/>
            <a:ext cx="2071195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数组长度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622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09119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访问数组元素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172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622" y="1390070"/>
            <a:ext cx="1065718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创建数组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后，就可以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访问数组中的某个元素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中，访问数组的语法格式如下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87251" y="2578921"/>
            <a:ext cx="4880678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58828" y="3736999"/>
            <a:ext cx="856895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在上述语法格式中，若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索引大于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等于数组长度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访问结果为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129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52740"/>
            <a:ext cx="85143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后访问数组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954934" y="2062797"/>
            <a:ext cx="10225136" cy="378565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course = ['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语文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数学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英语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政治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历史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console.log(course);   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(5) ['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语文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数学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英语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政治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历史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console.log(course[0]);	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输出结果为：语文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console.log(course[1]);	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输出结果为：数学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console.log(course[2]);	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输出结果为：英语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console.log(course[3]);	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输出结果为：政治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console.log(course[4]);	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输出结果为：历史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console.log(course[5]);	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访问数组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088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语句实现数组的遍历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遍历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885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380335" cy="3170983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7956" y="2180526"/>
              <a:ext cx="6021508" cy="3084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在数组中会有多个元素，如果需要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访问数组中的所有元素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，使用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“数组名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]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的方式进行访问不仅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麻烦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，还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增加了代码量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，这时可以使用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遍历数组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的方式访问数组中的所有元素。遍历数组是指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将数组中的元素全部访问一遍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for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可以对数组进行遍历。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遍历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396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392" y="1494575"/>
            <a:ext cx="867257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遍历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69732" y="2464985"/>
            <a:ext cx="8433600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(var i = 0; i &lt;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数组名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.length; i++)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数组名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[i]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遍历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1" y="4509914"/>
            <a:ext cx="84336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在上述语法格式中，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循环计数器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5054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56774"/>
            <a:ext cx="1029714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以求班级中语文成绩的平均分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为例进行演示。首先使用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数组保存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班级中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所有学生的语文成绩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遍历数组对数组元素求和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，最后使用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求和结果除以数组的长度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求出班级的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语文成绩平均分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79594" y="2997746"/>
            <a:ext cx="8433600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 = [75, 78, 83, 88, 89, 60, 56, 95, 93, 67];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sum = 0;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1;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score.length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sum += score[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console.log(sum /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score.length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遍历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66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的方法，能够实现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添加和修改数组元素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33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380335" cy="3170983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7956" y="2180526"/>
              <a:ext cx="6063355" cy="3084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现实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生活中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的某个部门有新来的员工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则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新员工的信息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，如果新员工的信息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录入错误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就需要进行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。同理，程序中有一个保存员工信息的数组，若是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加入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员工，则需要向数组中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；若某个员工的姓名录入错误，则需要修改员工的姓名，也就是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修改数组元素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添加和修改数组元素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267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58395" y="2417360"/>
            <a:ext cx="61926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添加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数组元素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是指向数组中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增加新的元素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修改数组元素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是指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修改数组中已有的元素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，如果数组中有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空位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，也可以</a:t>
            </a:r>
            <a:r>
              <a:rPr lang="zh-CN" altLang="zh-CN" sz="200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将空位修改成指定的元素</a:t>
            </a:r>
            <a:r>
              <a:rPr lang="zh-CN" altLang="zh-CN" sz="200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9" name="Shape 2015"/>
          <p:cNvSpPr/>
          <p:nvPr/>
        </p:nvSpPr>
        <p:spPr>
          <a:xfrm>
            <a:off x="4943078" y="2162174"/>
            <a:ext cx="6408712" cy="1987700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添加和修改数组元素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061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1" y="1400525"/>
            <a:ext cx="6440324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添加和修改数组元素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854846" y="2546025"/>
            <a:ext cx="538473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数组名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= 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3501802"/>
            <a:ext cx="81918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索引大于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等于数组长度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则表示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添加数组元素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，否则表示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修改数组元素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添加和修改数组元素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78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755" y="1332182"/>
            <a:ext cx="85143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添加和修改数组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982638" y="2421682"/>
            <a:ext cx="10631711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marL="180000"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employee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['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80000"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employee[2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80000"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employee[4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80000"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employee[0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=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小丽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80000"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console.log(employee);      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(5) ['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小丽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empty,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小王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添加和修改数组元素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24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413190"/>
            <a:ext cx="986509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值得一提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的是，通过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可以很方便地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为数组添加多个数组元素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26378" y="2421682"/>
            <a:ext cx="8433600" cy="240065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 = [];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(var i = 0; i &lt; 5; i++) {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arr[i] = i + 1;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console.log(arr); 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(5) [1, 2, 3, 4, 5]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3.3.4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添加和修改数组元素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873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删除数组元素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的方法，能够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实现删除数组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3.3.5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446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380335" cy="2812543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2785" y="2253037"/>
              <a:ext cx="6063355" cy="2917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实际开发中，有时需要根据实际情况，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删除数组中的某个元素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。例如，有一个保存部门员工信息的数组，如果该部门中的某个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员工离职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了，则在这个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保存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部门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信息的数组中就需要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该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离职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员工的信息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3.3.5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503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465608"/>
            <a:ext cx="867257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75504" y="2570845"/>
            <a:ext cx="5624803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数组名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0147" y="3576260"/>
            <a:ext cx="8433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关键字可以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删除数组中指定索引的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删除数组中的某个元素后，该元素在数组中依然会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占用一个空位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3.3.5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019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315220"/>
            <a:ext cx="8514392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下面通过代码演示如何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910630" y="2421682"/>
            <a:ext cx="10169323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department = ['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小丽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小王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 department[0];	  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删除数组中索引为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 department[2];	  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删除数组中索引为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console.log(department);  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(4) [empty,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empty, '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小王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'] 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3.3.5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117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筛选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方法，能够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筛选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endParaRPr lang="zh-CN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3.3.6	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07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007884"/>
            <a:ext cx="10297144" cy="1369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实际开发中，经常会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遇到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筛选数组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情况。通过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if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实现筛选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例如，将班级中所有学生的数学成绩保存到数组中，教师需要筛选所有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大于或等于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80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的学生成绩，并将筛选出来的成绩保存到一个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新的数组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中，示例代码如下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48218" y="2565698"/>
            <a:ext cx="8611484" cy="34163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[92, 83, 69, 78, 95, 88, 75, 64, 90, 81];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newArr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[];</a:t>
            </a:r>
            <a:endParaRPr lang="zh-CN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0;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arr.length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</a:t>
            </a:r>
            <a:endParaRPr lang="zh-CN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if 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&gt;= 80) {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newArr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newArr.length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];  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新数组的索引从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开始依次递增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newArr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     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//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(6) [92, 83, 95, 88, 90, 81]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3.3.6	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筛选数组元素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87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数组元素顺序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的方法，能够实现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数组元素顺序的反转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996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013172"/>
            <a:ext cx="10225136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反转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数组元素顺序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指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一个数组中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所有元素的顺序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例如，有一个数组为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['tiger', 'elephant', 'cat', 'dog', 'bear', 'monkey']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，将该数组元素顺序反转后的结果为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['monkey', 'bear', 'dog', 'cat', 'elephant', 'tiger']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想要实现这个效果，则需要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改变数组遍历的顺序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，从数组的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最后一个元素遍历到第一个元素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，并将遍历到的每个元素添加到新的数组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示例代码如下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18742" y="3038363"/>
            <a:ext cx="8651850" cy="300082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 = ['tiger', 'elephant', 'cat', 'dog', 'bear', 'monkey'];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newArr = [];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(var i = arr.length - 1; i &gt;= 0; i--) {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newArr[newArr.length] = arr[i];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console.log(newArr);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(6) ['monkey', 'bear', 'dog', 'cat', 'elephant', 'tiger']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45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640" y="2594753"/>
            <a:ext cx="10087126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是一种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复杂数据类型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，它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属于对象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，具有对象的一些特征。关于对象的具体内容将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讲解。下面通过代码演示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数组的易错点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形 28" descr="灯泡和齿轮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03300" y="1334042"/>
            <a:ext cx="944034" cy="94403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181859" y="1470660"/>
            <a:ext cx="3193267" cy="7080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35"/>
          <p:cNvSpPr txBox="1"/>
          <p:nvPr/>
        </p:nvSpPr>
        <p:spPr>
          <a:xfrm>
            <a:off x="2662293" y="1622784"/>
            <a:ext cx="2232397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数组的易错点</a:t>
            </a:r>
            <a:endParaRPr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66850" y="1468239"/>
            <a:ext cx="83127" cy="709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652039" y="1468239"/>
            <a:ext cx="83127" cy="709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脚下留心</a:t>
            </a:r>
          </a:p>
        </p:txBody>
      </p:sp>
      <p:sp>
        <p:nvSpPr>
          <p:cNvPr id="2" name="矩形 1"/>
          <p:cNvSpPr/>
          <p:nvPr/>
        </p:nvSpPr>
        <p:spPr>
          <a:xfrm>
            <a:off x="699389" y="3704150"/>
            <a:ext cx="867967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并不是一种单独的数据类型，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而是对象型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33219" y="4537294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console.log(typeof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[]);        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32345" y="5293216"/>
            <a:ext cx="898418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从上述示例代码可以看出，使用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检测数组的数据类型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的结果为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object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7335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脚下留心</a:t>
            </a:r>
          </a:p>
        </p:txBody>
      </p:sp>
      <p:sp>
        <p:nvSpPr>
          <p:cNvPr id="2" name="矩形 1"/>
          <p:cNvSpPr/>
          <p:nvPr/>
        </p:nvSpPr>
        <p:spPr>
          <a:xfrm>
            <a:off x="694606" y="1708287"/>
            <a:ext cx="109210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为数组添加元素时，如果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将索引指定为字符串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，则相当于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为数组对象添加了一个属性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422798" y="3085167"/>
            <a:ext cx="7992888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 = [];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arr['fruit'] = 'apple';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console.log(arr['fruit']);  	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apple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42678" y="4925746"/>
            <a:ext cx="80648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上述示例代码相当于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数组添加了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apple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707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脚下留心</a:t>
            </a:r>
          </a:p>
        </p:txBody>
      </p:sp>
      <p:sp>
        <p:nvSpPr>
          <p:cNvPr id="2" name="矩形 1"/>
          <p:cNvSpPr/>
          <p:nvPr/>
        </p:nvSpPr>
        <p:spPr>
          <a:xfrm>
            <a:off x="478582" y="1876656"/>
            <a:ext cx="1072919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对数组类型的变量进行赋值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时，会发生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引用传递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，而不是值传递，示例代码如下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72932" y="2963015"/>
            <a:ext cx="8536767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arr1 = [1, 2];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arr2 = arr1;          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引用传递，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引用同一个数组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arr2[2] = 3;              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此时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相当于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的别名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console.log(arr1);        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 [1, 2, 3]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64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形 22" descr="讲故事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712" y="1352729"/>
            <a:ext cx="1015842" cy="101584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50110" y="1607820"/>
            <a:ext cx="1717931" cy="6705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68402" y="1743045"/>
            <a:ext cx="1599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解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构赋值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983224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159048" y="1608089"/>
            <a:ext cx="83114" cy="670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71712" y="2814015"/>
            <a:ext cx="102080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除了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前面学习过的变量声明与赋值方式，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ECMAScript 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6.0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还提供了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解构赋值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的方式。解构赋值是指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从数组和对象中提取值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，并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对变量进行赋值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。解构赋值是对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赋值运算符的扩展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6614" y="4119259"/>
            <a:ext cx="60279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9240"/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构赋值的语法格式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如下。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805931" y="5022399"/>
            <a:ext cx="6539660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 = [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441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5842" y="1989634"/>
            <a:ext cx="1049996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在解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构赋值的语法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中，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等号右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侧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一个数组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会将数组中的元素依次赋值给等号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左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侧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等号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左侧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变量的数量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小于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等号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右侧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元素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则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忽略多余的元素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；如果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等号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左侧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多于等号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右侧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元素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的数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则多余的变量会被初始化为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undefined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566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980" y="1635222"/>
            <a:ext cx="106568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传统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赋值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方式与解构赋值方式的区别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。例如，把数组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['pink', 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'red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', </a:t>
            </a:r>
            <a:r>
              <a:rPr lang="en-US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'blue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']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中的元素分别赋值给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传统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的赋值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单独声明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zh-CN" altLang="en-US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赋值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494806" y="2781722"/>
            <a:ext cx="8280913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 = ['pink', 'red', 'blue'];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a = arr[0];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b = arr[1];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c = arr[2];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0097" y="4901892"/>
            <a:ext cx="42883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解构赋值方式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的示例代码如下。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558142" y="5518026"/>
            <a:ext cx="8217577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[a, b, c] = ['pink', 'red', 'blue'];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3718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982980" y="838200"/>
            <a:ext cx="1779905" cy="506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多学一招</a:t>
            </a:r>
          </a:p>
        </p:txBody>
      </p:sp>
      <p:sp>
        <p:nvSpPr>
          <p:cNvPr id="1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3.3.7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反转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数组元素顺序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67941" y="1442631"/>
            <a:ext cx="8326730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除此之外，</a:t>
            </a:r>
            <a:r>
              <a:rPr lang="zh-CN" altLang="en-US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构赋值时</a:t>
            </a:r>
            <a:r>
              <a:rPr lang="zh-CN" altLang="zh-CN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等号右侧的内容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还可以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zh-CN" sz="18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变量名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示例代码如下。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1989634"/>
            <a:ext cx="8433600" cy="448084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等号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左侧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变量的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数量小于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等号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右侧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量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['pink', 'red', 'blue'];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[a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b] =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console.log(a + ' - ' + b);            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pink - red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等号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左侧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变量的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数量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于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等号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右侧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量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arr1 = ['pink', 'red'];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[d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e, f] = arr1;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console.log(d + ' - ' + e + ' - ' + f);    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pink - red - undefined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两个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变量值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的交换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name1 = 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name2 = '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小红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[name1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name2] = [name2, name1];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console.log(name1 + ' - ' + name2);  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输出结果为：小红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–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</a:p>
        </p:txBody>
      </p:sp>
    </p:spTree>
    <p:extLst>
      <p:ext uri="{BB962C8B-B14F-4D97-AF65-F5344CB8AC3E}">
        <p14:creationId xmlns:p14="http://schemas.microsoft.com/office/powerpoint/2010/main" val="8687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查找班级最高分和最低分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559958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3.3.8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查找班级最高分和最低分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6719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773610"/>
            <a:ext cx="10441160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班级管理中，数学老师为了能够更好地帮助到班级中的学生，经常会在考试后邀请分数最高的学生为大家分享学习经验，并且为分数最低的学生分析原因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查找班级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数学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考试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最高分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最低分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进行讲解。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把所有学生的分数保存到数组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中，然后通过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查找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中最大值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最小值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找到班级中分数最高和分数最低的学生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559958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3.3.8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查找班级最高分和最低分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845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413570"/>
            <a:ext cx="10297144" cy="335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实现本案例的具体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思路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第一个元素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从数组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的元素开始遍历到最后一个元素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预先设置的最大值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当前元素比最大值大，则将当前元素设置为最大值，再继续比较下一个元素，遍历完成后即可找到最大值。查找最小值的方法与查找最大值的方法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559958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3.3.8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查找班级最高分和最低分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326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0" y="266995"/>
            <a:ext cx="559958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3.3.8	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查找班级最高分和最低分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303" y="1845618"/>
            <a:ext cx="6286215" cy="348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2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数组元素</a:t>
            </a:r>
            <a:r>
              <a:rPr lang="zh-CN" altLang="en-US" sz="4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709119"/>
            <a:ext cx="563859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冒泡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实现数组的冒泡排序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冒泡排序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322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2"/>
            <a:ext cx="6452343" cy="3316601"/>
            <a:chOff x="4899446" y="1985401"/>
            <a:chExt cx="6740375" cy="3778931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380168" y="504679"/>
              <a:ext cx="377893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4357" y="2244203"/>
              <a:ext cx="6090552" cy="3261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冒泡排序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是计算机科学领域中较简单的排序算法。冒泡排序是通过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不断比较数组中相邻两个元素的值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，将较小或较大的元素前移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从而实现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数组中的元素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从小到大排序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从大到小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排序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由于冒泡排序的过程类似于水杯中气泡上浮的过程，所以称为冒泡排序。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冒泡排序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444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197546"/>
            <a:ext cx="101531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演示对一组数字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27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78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冒泡排序按照从小到大的顺序进行排序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，具体排序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过程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冒泡排序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661" y="2277666"/>
            <a:ext cx="8145081" cy="385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3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910630" y="1242565"/>
            <a:ext cx="10297144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由冒泡排序的过程可知，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排序前待排序数组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中共有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元素，使用冒泡排序算法经过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排序实现了数组元素按照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从小到大的顺序排序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轮排序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的具体过程如下。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冒泡排序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44352" y="3189377"/>
            <a:ext cx="832731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，进行顺序交换。</a:t>
            </a: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，进行顺序交换。</a:t>
            </a: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27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27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，进行顺序交换。</a:t>
            </a: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，进行顺序交换。</a:t>
            </a:r>
          </a:p>
          <a:p>
            <a:pPr marL="342900" lvl="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大于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78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，进行顺序交换。</a:t>
            </a:r>
          </a:p>
        </p:txBody>
      </p:sp>
    </p:spTree>
    <p:extLst>
      <p:ext uri="{BB962C8B-B14F-4D97-AF65-F5344CB8AC3E}">
        <p14:creationId xmlns:p14="http://schemas.microsoft.com/office/powerpoint/2010/main" val="417740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1" y="1773610"/>
            <a:ext cx="1006408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分析冒泡排序过程可知，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冒泡排序比较的轮数是数组长度减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，每轮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比较的次数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数组的长度减当前的轮数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了解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冒泡排序的原理后，下面通过代码演示冒泡排序的实现。创建一个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无序数组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冒泡排序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实现数组元素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按照从小到大的顺序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排序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冒泡排序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825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冒泡排序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23" y="1629594"/>
            <a:ext cx="6733767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52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掌握数组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插入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排序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实现数组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插入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397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5">
            <a:extLst>
              <a:ext uri="{FF2B5EF4-FFF2-40B4-BE49-F238E27FC236}">
                <a16:creationId xmlns:a16="http://schemas.microsoft.com/office/drawing/2014/main" id="{8C22BF7A-4BC1-4144-9B36-68D1715B1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076" y="1413570"/>
            <a:ext cx="10095697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插入排序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是一种直观的简单排序算法，实现原理是把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个待排序的元素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看成一个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，默认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第一个元素为有序数组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，开始排序时，有序数组中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只包含一个元素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，无序数组中包含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，在排序过程中，首先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从无序数组中取出第一个元素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，然后依次与有序数组中的元素进行比较，最后将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无序数组中的元素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插入有序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合适位置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冒泡排序，如果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待排序数组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在一定程度上是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插入排序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减少比较和交换的次数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提高效率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838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8622" y="1100320"/>
            <a:ext cx="106571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演示如何对一组数字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插入排序按照从小到大的顺序进行排序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，具体排序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过程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34" y="2277666"/>
            <a:ext cx="4827159" cy="375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1269570"/>
            <a:ext cx="102971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插入排序的过程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，首先将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看作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有序数组中的一个元素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，剩余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元素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无序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，具体排序过程如下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10630" y="2421682"/>
            <a:ext cx="102048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轮：比较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大于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，将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前面，插入后进入第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轮排序。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轮：首先比较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大于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，进行位置交换；然后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小于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，进入第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轮排序。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轮：首先比较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大于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，进行位置交换；然后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大于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进行位置交换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；最后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小于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65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中间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，进入第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轮排序。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轮的比较方式与前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，最终完成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数组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排序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7386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691" y="1197546"/>
            <a:ext cx="97760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了解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插入排序的具体过程后，下面通过代码演示插入排序的实现。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创建一个无序数组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，使用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插入排序实现数组元素按照从小到大的顺序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排序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22332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3.4.2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插入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排序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353" y="2421682"/>
            <a:ext cx="6926109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6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320520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二维数组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访问二维数组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的方法，能够实现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二维数组的创建与访问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创建与访问二维数组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668367" cy="3388607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006" y="2300228"/>
              <a:ext cx="6179253" cy="288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维数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，数组可以分为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一维数组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二维数组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等。一维数组中数组元素的值是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非数组类型的数据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，二维数组是以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一维数组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作为数组元素的数组。二维数组在实际编程中应用广泛。例如，二维数组可以用于表示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二维表格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图像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等。因此，掌握二维数组的用法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对于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日常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编程任务非常有帮助。</a:t>
              </a:r>
            </a:p>
          </p:txBody>
        </p:sp>
      </p:grpSp>
      <p:sp>
        <p:nvSpPr>
          <p:cNvPr id="12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创建与访问二维数组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6437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创建与访问二维数组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374930"/>
            <a:ext cx="744843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[]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”创建二维数组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格式如下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58467" y="2479380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[[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…], [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2, …], …]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43690" y="3573810"/>
            <a:ext cx="99920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一个二维数组中可以包含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个或多个一维数组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，一维数组中的元素是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非数组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。在访问二维数组中的元素时需要使用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两个“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[]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525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创建与访问二维数组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34" y="1267873"/>
            <a:ext cx="10524263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结合生活中的示例讲解如何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创建与访问二维数组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。期末考试结束后，老师要统计班级中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英语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成绩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小明、小智、小强的各科成绩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470302"/>
              </p:ext>
            </p:extLst>
          </p:nvPr>
        </p:nvGraphicFramePr>
        <p:xfrm>
          <a:off x="1877189" y="2709714"/>
          <a:ext cx="8568951" cy="237626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059844">
                  <a:extLst>
                    <a:ext uri="{9D8B030D-6E8A-4147-A177-3AD203B41FA5}">
                      <a16:colId xmlns:a16="http://schemas.microsoft.com/office/drawing/2014/main" val="1170750699"/>
                    </a:ext>
                  </a:extLst>
                </a:gridCol>
                <a:gridCol w="2059844">
                  <a:extLst>
                    <a:ext uri="{9D8B030D-6E8A-4147-A177-3AD203B41FA5}">
                      <a16:colId xmlns:a16="http://schemas.microsoft.com/office/drawing/2014/main" val="2318622687"/>
                    </a:ext>
                  </a:extLst>
                </a:gridCol>
                <a:gridCol w="2059844">
                  <a:extLst>
                    <a:ext uri="{9D8B030D-6E8A-4147-A177-3AD203B41FA5}">
                      <a16:colId xmlns:a16="http://schemas.microsoft.com/office/drawing/2014/main" val="1296770823"/>
                    </a:ext>
                  </a:extLst>
                </a:gridCol>
                <a:gridCol w="2389419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594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姓名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语文成绩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数学成绩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英语成绩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小明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89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98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80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小智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95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83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85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940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小强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93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86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79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7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创建与访问二维数组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019" y="981522"/>
            <a:ext cx="10520406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若使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一维数组保存表中的各科成绩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将非常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烦琐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，这时可以使用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二维数组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来保存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使用二维数组保存小明、小智、小强的各科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成绩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9675" y="5150435"/>
            <a:ext cx="107841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假设二维数组名称为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数组中共有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，每个元素都是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一维数组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个成绩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89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[0][0]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个成绩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[0][1]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个成绩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80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[0][2]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942" y="2136016"/>
            <a:ext cx="4090476" cy="28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3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916905"/>
            <a:ext cx="850560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通过代码演示如何</a:t>
            </a:r>
            <a:r>
              <a:rPr lang="zh-CN" altLang="zh-CN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创建与访问二维数</a:t>
            </a:r>
            <a:r>
              <a:rPr lang="zh-CN" altLang="zh-CN" sz="18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02718" y="1519637"/>
            <a:ext cx="8629620" cy="486248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创建二维数组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6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[[89, 98, 80], [95, 83, 85], [93, 86, 79]];</a:t>
            </a:r>
            <a:endParaRPr lang="zh-CN" altLang="zh-CN" sz="16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访问二维数组</a:t>
            </a: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[0][0]);            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89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[0][1]);         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98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[0][2]);         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80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[1][0]);            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95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[1][1]);         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83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[1][2]);         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85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[2][0]);            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93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[2][1]);         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86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[2][2]);         	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79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[0]);                 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 [89, 98, 80]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[1]);              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 [95, 83, 85]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3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[2]);                 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// 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(3) [93, 86, 79</a:t>
            </a:r>
            <a:r>
              <a: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endParaRPr lang="zh-CN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6304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3.5.1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创建与访问二维数组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295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遍历二维数组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的方法，能够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实现二维数组的遍历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遍历二维数组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59468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1191752"/>
            <a:ext cx="102971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前面的学习可知，创建一维数组后可以通过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语句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进行遍历。二维数组的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遍历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一维数组的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遍历</a:t>
            </a: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类似</a:t>
            </a:r>
            <a:r>
              <a:rPr lang="zh-CN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，下面通过代码演示如何</a:t>
            </a:r>
            <a:r>
              <a:rPr lang="zh-CN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遍历二维数</a:t>
            </a:r>
            <a:r>
              <a:rPr lang="zh-CN" altLang="zh-CN" sz="20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</a:t>
            </a:r>
            <a:r>
              <a:rPr lang="zh-CN" altLang="zh-CN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30710" y="2626086"/>
            <a:ext cx="9073008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[[10, 20, 30], [40, 50, 60]]; 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创建二维数组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 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0;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&lt;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arr.length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++) {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遍历二维数组中的元素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for(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j = 0; j &lt;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].length;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j++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遍历一维数组中的元素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][j]);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    	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输出二维数组中的每个元素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遍历二维数组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495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遍历二维数组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862" y="1485578"/>
            <a:ext cx="6192688" cy="403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156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0" y="1845618"/>
            <a:ext cx="9704044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求和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的案例进行演示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创建二维数组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语句遍历二维数组中的元素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，最后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求和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3.5.2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遍历二维数组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045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使用二维数组实现矩阵转置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案例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编写代码实现案例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0" y="266995"/>
            <a:ext cx="588762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使用二维数组实现矩阵转置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248248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4899447" y="1985403"/>
            <a:ext cx="6668367" cy="2956559"/>
            <a:chOff x="4899446" y="1985402"/>
            <a:chExt cx="6740375" cy="3417567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006" y="2300228"/>
              <a:ext cx="6095887" cy="276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维数组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能够以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的形式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存储数据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，矩阵由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组成，矩阵的每一行元素称为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横向元素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，每一列的元素称为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纵向元素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。在实际开发中，我们可以使用二维数组实现矩阵转置。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矩阵转置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是指将二维数组的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横向元素转换为纵向元素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11" name="Title 1"/>
          <p:cNvSpPr txBox="1"/>
          <p:nvPr/>
        </p:nvSpPr>
        <p:spPr>
          <a:xfrm>
            <a:off x="1143690" y="266995"/>
            <a:ext cx="588762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使用二维数组实现矩阵转置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551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1143690" y="266995"/>
            <a:ext cx="588762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使用二维数组实现矩阵转置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7478" y="1152741"/>
            <a:ext cx="101882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二维数组存储矩阵中的数据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，并通过二维数组实现矩阵转置的示意图进行讲解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，如下图所示。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204377"/>
              </p:ext>
            </p:extLst>
          </p:nvPr>
        </p:nvGraphicFramePr>
        <p:xfrm>
          <a:off x="2998862" y="2349674"/>
          <a:ext cx="6430430" cy="3065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6" name="Visio" r:id="rId4" imgW="2952918" imgH="1419069" progId="Visio.Drawing.15">
                  <p:embed/>
                </p:oleObj>
              </mc:Choice>
              <mc:Fallback>
                <p:oleObj name="Visio" r:id="rId4" imgW="2952918" imgH="1419069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862" y="2349674"/>
                        <a:ext cx="6430430" cy="30656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488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/>
        </p:nvSpPr>
        <p:spPr>
          <a:xfrm>
            <a:off x="1143690" y="266995"/>
            <a:ext cx="588762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使用二维数组实现矩阵转置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5" y="1269554"/>
            <a:ext cx="950505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二维数组的索引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二维数组实现矩阵转置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示意图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，可以发现如下规律。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83238" y="2187041"/>
            <a:ext cx="575294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res[0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][0] = arr[0][0];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res[0][1] = arr[1][0];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res[0][2] = arr[2][0];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res[0][3] = arr[3][0];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4551514"/>
            <a:ext cx="96320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根据上述规律，可以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得出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维数组实现矩阵转置的公式为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res[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][j]=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[j][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7735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622" y="981522"/>
            <a:ext cx="10657184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使用二维数组实现矩阵转置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创建二维数组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根据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公式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res[</a:t>
            </a: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][j] = 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[j][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完成矩阵的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转置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0" y="266995"/>
            <a:ext cx="5887620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3.5.3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	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案例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使用二维数组实现矩阵转置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86" y="2061642"/>
            <a:ext cx="5904656" cy="428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63563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349674"/>
            <a:ext cx="9001000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的基本使用，首先讲解了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初识数组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数组的基本操作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获取和修改数组长度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访问数组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遍历数组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添加数组元素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修改数组元素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删除数组元素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反转数组元素顺序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，最后讲解了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元素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二维数组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读者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掌握创建数组的方式，并且能够对数组进行相关操作，能够使用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冒泡排序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插入排序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实现数组元素的排序以及实现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二维数组的创建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访问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遍历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13818</TotalTime>
  <Words>6033</Words>
  <Application>Microsoft Office PowerPoint</Application>
  <PresentationFormat>自定义</PresentationFormat>
  <Paragraphs>467</Paragraphs>
  <Slides>86</Slides>
  <Notes>55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101" baseType="lpstr">
      <vt:lpstr>Source Han Sans K Bold</vt:lpstr>
      <vt:lpstr>思源黑体 CN Medium</vt:lpstr>
      <vt:lpstr>思源黑体 CN Regular</vt:lpstr>
      <vt:lpstr>宋体</vt:lpstr>
      <vt:lpstr>微软雅黑</vt:lpstr>
      <vt:lpstr>微软雅黑</vt:lpstr>
      <vt:lpstr>字魂105号-简雅黑</vt:lpstr>
      <vt:lpstr>字魂58号-创中黑</vt:lpstr>
      <vt:lpstr>Arial</vt:lpstr>
      <vt:lpstr>Calibri</vt:lpstr>
      <vt:lpstr>Cambria Math</vt:lpstr>
      <vt:lpstr>Wingdings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5400</cp:revision>
  <dcterms:created xsi:type="dcterms:W3CDTF">2020-11-09T06:56:00Z</dcterms:created>
  <dcterms:modified xsi:type="dcterms:W3CDTF">2024-07-16T06:58:28Z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