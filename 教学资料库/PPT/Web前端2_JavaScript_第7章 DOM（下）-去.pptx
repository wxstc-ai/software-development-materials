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96"/>
  </p:handoutMasterIdLst>
  <p:sldIdLst>
    <p:sldId id="325" r:id="rId4"/>
    <p:sldId id="1129" r:id="rId6"/>
    <p:sldId id="1538" r:id="rId7"/>
    <p:sldId id="1539" r:id="rId8"/>
    <p:sldId id="328" r:id="rId9"/>
    <p:sldId id="1146" r:id="rId10"/>
    <p:sldId id="1540" r:id="rId11"/>
    <p:sldId id="309" r:id="rId12"/>
    <p:sldId id="1059" r:id="rId13"/>
    <p:sldId id="1125" r:id="rId14"/>
    <p:sldId id="1289" r:id="rId15"/>
    <p:sldId id="1541" r:id="rId16"/>
    <p:sldId id="1423" r:id="rId17"/>
    <p:sldId id="1543" r:id="rId18"/>
    <p:sldId id="1489" r:id="rId19"/>
    <p:sldId id="1544" r:id="rId20"/>
    <p:sldId id="1545" r:id="rId21"/>
    <p:sldId id="1546" r:id="rId22"/>
    <p:sldId id="1550" r:id="rId23"/>
    <p:sldId id="1551" r:id="rId24"/>
    <p:sldId id="1552" r:id="rId25"/>
    <p:sldId id="1553" r:id="rId26"/>
    <p:sldId id="1554" r:id="rId27"/>
    <p:sldId id="1555" r:id="rId28"/>
    <p:sldId id="1556" r:id="rId29"/>
    <p:sldId id="1557" r:id="rId30"/>
    <p:sldId id="1558" r:id="rId31"/>
    <p:sldId id="1559" r:id="rId32"/>
    <p:sldId id="1560" r:id="rId33"/>
    <p:sldId id="1563" r:id="rId34"/>
    <p:sldId id="1561" r:id="rId35"/>
    <p:sldId id="1492" r:id="rId36"/>
    <p:sldId id="1419" r:id="rId37"/>
    <p:sldId id="1304" r:id="rId38"/>
    <p:sldId id="1450" r:id="rId39"/>
    <p:sldId id="1566" r:id="rId40"/>
    <p:sldId id="1490" r:id="rId41"/>
    <p:sldId id="1567" r:id="rId42"/>
    <p:sldId id="1568" r:id="rId43"/>
    <p:sldId id="1459" r:id="rId44"/>
    <p:sldId id="1569" r:id="rId45"/>
    <p:sldId id="1570" r:id="rId46"/>
    <p:sldId id="1571" r:id="rId47"/>
    <p:sldId id="1573" r:id="rId48"/>
    <p:sldId id="1572" r:id="rId49"/>
    <p:sldId id="1574" r:id="rId50"/>
    <p:sldId id="1575" r:id="rId51"/>
    <p:sldId id="1493" r:id="rId52"/>
    <p:sldId id="1424" r:id="rId53"/>
    <p:sldId id="1462" r:id="rId54"/>
    <p:sldId id="1576" r:id="rId55"/>
    <p:sldId id="1577" r:id="rId56"/>
    <p:sldId id="1578" r:id="rId57"/>
    <p:sldId id="1579" r:id="rId58"/>
    <p:sldId id="1580" r:id="rId59"/>
    <p:sldId id="1581" r:id="rId60"/>
    <p:sldId id="1582" r:id="rId61"/>
    <p:sldId id="1583" r:id="rId62"/>
    <p:sldId id="1584" r:id="rId63"/>
    <p:sldId id="1585" r:id="rId64"/>
    <p:sldId id="1586" r:id="rId65"/>
    <p:sldId id="1587" r:id="rId66"/>
    <p:sldId id="1588" r:id="rId67"/>
    <p:sldId id="1161" r:id="rId68"/>
    <p:sldId id="1356" r:id="rId69"/>
    <p:sldId id="1589" r:id="rId70"/>
    <p:sldId id="1590" r:id="rId71"/>
    <p:sldId id="1299" r:id="rId72"/>
    <p:sldId id="1591" r:id="rId73"/>
    <p:sldId id="1592" r:id="rId74"/>
    <p:sldId id="1593" r:id="rId75"/>
    <p:sldId id="1594" r:id="rId76"/>
    <p:sldId id="1595" r:id="rId77"/>
    <p:sldId id="1596" r:id="rId78"/>
    <p:sldId id="1597" r:id="rId79"/>
    <p:sldId id="1598" r:id="rId80"/>
    <p:sldId id="1599" r:id="rId81"/>
    <p:sldId id="1163" r:id="rId82"/>
    <p:sldId id="1600" r:id="rId83"/>
    <p:sldId id="1601" r:id="rId84"/>
    <p:sldId id="1602" r:id="rId85"/>
    <p:sldId id="1603" r:id="rId86"/>
    <p:sldId id="1606" r:id="rId87"/>
    <p:sldId id="1607" r:id="rId88"/>
    <p:sldId id="1608" r:id="rId89"/>
    <p:sldId id="1609" r:id="rId90"/>
    <p:sldId id="1610" r:id="rId91"/>
    <p:sldId id="1611" r:id="rId92"/>
    <p:sldId id="1562" r:id="rId93"/>
    <p:sldId id="1416" r:id="rId94"/>
    <p:sldId id="1417" r:id="rId95"/>
  </p:sldIdLst>
  <p:sldSz cx="12190095" cy="6859270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8" autoAdjust="0"/>
    <p:restoredTop sz="95974" autoAdjust="0"/>
  </p:normalViewPr>
  <p:slideViewPr>
    <p:cSldViewPr showGuides="1">
      <p:cViewPr varScale="1">
        <p:scale>
          <a:sx n="77" d="100"/>
          <a:sy n="77" d="100"/>
        </p:scale>
        <p:origin x="114" y="516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tableStyles" Target="tableStyles.xml"/><Relationship Id="rId98" Type="http://schemas.openxmlformats.org/officeDocument/2006/relationships/viewProps" Target="viewProps.xml"/><Relationship Id="rId97" Type="http://schemas.openxmlformats.org/officeDocument/2006/relationships/presProps" Target="presProps.xml"/><Relationship Id="rId96" Type="http://schemas.openxmlformats.org/officeDocument/2006/relationships/handoutMaster" Target="handoutMasters/handoutMaster1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0" Type="http://schemas.openxmlformats.org/officeDocument/2006/relationships/commentAuthors" Target="commentAuthor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1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7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DOM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（下）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198662" y="234967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节点操作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，能够完成节点的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添加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移除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复制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331778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事件的进阶操作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，能够完成事件的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监听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移除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425245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熟悉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事件流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，能够说明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事件捕获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事件冒泡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的区别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198662" y="234967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，能够使用事件对象进行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331778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鼠标事件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，能够使用鼠标事件对象进行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鼠标操作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425245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键盘事件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，能够使用键盘事件对象进行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键盘操作</a:t>
              </a:r>
              <a:endPara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198662" y="234967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元素偏移量操作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offset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系列属性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元素偏移量操作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331778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元素可视区域操作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client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系列属性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元素可视区域操作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425245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元素滚动操作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scroll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系列属性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进行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元素滚动操作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4" y="2781722"/>
            <a:ext cx="10269847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已经能够通过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的方式实现简单的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页面交互效果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，但是仅仅掌握这些内容还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无法满足复杂的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开发需求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讲解，主要包括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的进阶内容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事件进阶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等。通过本章的学习，读者能够实现更加复杂的页面交互效果。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19265" y="2582524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483304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565698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节点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操作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461651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进阶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108578" y="4392560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014130" y="4370906"/>
            <a:ext cx="5142331" cy="613062"/>
            <a:chOff x="4315150" y="2341731"/>
            <a:chExt cx="3857250" cy="540057"/>
          </a:xfrm>
        </p:grpSpPr>
        <p:sp>
          <p:nvSpPr>
            <p:cNvPr id="43" name="矩形 42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对象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19265" y="2582524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483304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565698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鼠标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461651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键盘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事件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108578" y="4392560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7.6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014130" y="4370906"/>
            <a:ext cx="5142331" cy="613062"/>
            <a:chOff x="4315150" y="2341731"/>
            <a:chExt cx="3857250" cy="540057"/>
          </a:xfrm>
        </p:grpSpPr>
        <p:sp>
          <p:nvSpPr>
            <p:cNvPr id="43" name="矩形 42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元素位置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操作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节点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节点的获取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节点、父节点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兄弟节点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3690" y="1197546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4534" y="1989634"/>
            <a:ext cx="1016524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，它是文档树的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，其他节点可通过获取子节点的方式进行获取。例如，获取首个子节点、获取最后一个子节点等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获取的节点不存在时，获取结果为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: 圆角 38"/>
          <p:cNvSpPr/>
          <p:nvPr/>
        </p:nvSpPr>
        <p:spPr>
          <a:xfrm>
            <a:off x="1088721" y="5105756"/>
            <a:ext cx="10263069" cy="13483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" name="流程图: 资料带 10"/>
          <p:cNvSpPr/>
          <p:nvPr/>
        </p:nvSpPr>
        <p:spPr>
          <a:xfrm>
            <a:off x="889733" y="486995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75740" y="5299298"/>
            <a:ext cx="9296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childrenNodes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属性存在浏览器兼容问题，在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6~IE 8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中不可以获取文本节点，在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9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及以上版本和主流浏览器中则可以获取文本节点。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6114" y="909514"/>
            <a:ext cx="4288353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获取子节点的常用属性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894216" y="1485578"/>
          <a:ext cx="8978044" cy="342586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450228"/>
                <a:gridCol w="5527816"/>
              </a:tblGrid>
              <a:tr h="45920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59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firstChild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获取当前节点的首个子节点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59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lastChild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获取当前节点的最后一个子节点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firstElementChild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获取当前节点的首个子元素节点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738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lastElementChild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获取当前节点的最后一个子元素节点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children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获取当前节点的所有子元素节点集合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4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childrenNodes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获取当前节点的所有子节点集合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获取父节点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4790" y="1664024"/>
            <a:ext cx="101649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parentNode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可以获取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，若没有父节点，则获取结果为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获取父节点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80485" y="2732557"/>
            <a:ext cx="8433600" cy="358213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&lt;h1&gt;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&lt;span class="child"&gt;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获取父节点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&lt;/span&gt;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&lt;/h1&gt;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child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('.child');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child.parentNode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span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父节点，即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h1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3690" y="1701602"/>
            <a:ext cx="74888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中，常用的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获取兄弟节点的属性有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兄弟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774726" y="2349674"/>
          <a:ext cx="8928992" cy="266429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826711"/>
                <a:gridCol w="5102281"/>
              </a:tblGrid>
              <a:tr h="499718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971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previousSibling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获取当前节点的上一个兄弟节点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971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nextSibling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获取当前节点的下一个兄弟节点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110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previousElementSibling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获取当前元素节点的上一个兄弟元素节点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94037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nextElementSibling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获取当前元素节点的下一个兄弟元素节点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143690" y="5229994"/>
            <a:ext cx="10572643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获取的节点不存在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时，获取结果为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以上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个属性存在浏览器兼容问题，在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IE9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以下版本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中不支持使用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节点的创建与添加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创建节点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添加节点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683423" y="1985403"/>
            <a:ext cx="6380335" cy="2596520"/>
            <a:chOff x="4899446" y="1985402"/>
            <a:chExt cx="6740375" cy="3417567"/>
          </a:xfrm>
        </p:grpSpPr>
        <p:sp>
          <p:nvSpPr>
            <p:cNvPr id="9" name="圆角矩形标注 11"/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/>
            <p:cNvSpPr>
              <a:spLocks noChangeArrowheads="1"/>
            </p:cNvSpPr>
            <p:nvPr/>
          </p:nvSpPr>
          <p:spPr bwMode="auto">
            <a:xfrm>
              <a:off x="5418004" y="2148420"/>
              <a:ext cx="5703258" cy="315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实际开发中，有时需要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创建一个新节点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添加到文档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中。例如，在某个搜索引擎网站中进行搜索后，搜索框下方的搜索历史记录列表中会增加一个新历史记录，这个新历史记录可以通过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创建并添加节点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917626"/>
            <a:ext cx="101360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创建元素节点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createElement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方法，由于该方法创建的节点是页面中原本不存在的，所以这种方式也称为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动态创建节点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方法创建节点时，只需将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作为参数传入即可，语法格式如下。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26854" y="4224437"/>
            <a:ext cx="634536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document.createElement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('tagName');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8311" y="5146254"/>
            <a:ext cx="51812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tagName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表示标签名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90750" y="2854115"/>
            <a:ext cx="843360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 = document.createElement('div');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console.log(div);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638" y="4365898"/>
            <a:ext cx="78668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示例代码通过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方法创建了一个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1957886"/>
            <a:ext cx="609282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下面通过代码演示如何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创建并添加节点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7350" y="2133650"/>
            <a:ext cx="100904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appendChild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insertBefore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，这两个方法都由父节点的对象调用，关于这两个方法的具体说明如下。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appendChild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：将一个节点添加到父节点的所有子节点的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末尾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insertBefore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：将一个节点添加到父节点中的指定子节点的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。该方法需要接收两个参数，第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个参数表示要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添加的节点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父节点中的指定子节点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节点的移除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removeChild()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移除节点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214886" y="3033165"/>
            <a:ext cx="467845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node.removeChild(child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1800" y="4221882"/>
            <a:ext cx="8704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child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中需要移除的子节点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1533791"/>
            <a:ext cx="98480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实际开发中，有时需要移除节点，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removeChild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一个父节点的指定子节点移除。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82638" y="1023913"/>
            <a:ext cx="1000911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通过代码演示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removeChild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方法实现单击按钮后移除子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的效果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2086" y="1695709"/>
            <a:ext cx="8433600" cy="454239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个子元素节点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('button');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btn.onclick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ul.removeChild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ul.children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[1]);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简易留言板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搭建页面结构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2061642"/>
            <a:ext cx="95649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简易留言板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组成。展示区由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无序列表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搭建而成，用于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展示发布的留言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，默认情况下展示区的内容为空；发布区由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组成，用于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发布留言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。通过单击“发布”按钮可以将文本域中的留言内容发布到展示区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86" y="1413570"/>
            <a:ext cx="5901938" cy="4440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143690" y="1115504"/>
            <a:ext cx="480750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实现单击“发布”按钮发表留言的功能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875148"/>
            <a:ext cx="100640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textarea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元素，并为获取的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注册单击事件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，然后在对应的事件处理函数中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，将文本域中的文本设置为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元素节点的元素内容，最后将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元素节点添加到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元素的子节点列表中。为了提高用户体验，当用户单击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“发布”按钮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后，如果文本域中的内容为空，需要弹出一个内容为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“您没有输入内容”的警告框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82638" y="1160980"/>
            <a:ext cx="1022513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在文本域中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编辑两条留言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单击“发布”按钮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，发送留言的运行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926" y="1917626"/>
            <a:ext cx="5685914" cy="42783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143690" y="1115504"/>
            <a:ext cx="300730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实现删除留言的功能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701602"/>
            <a:ext cx="10136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首先为展示区中的留言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添加“删除”按钮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，将按钮的类名设置为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，内容为删除，然后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注册单击事件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，实现单击按钮后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删除该按钮的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94936" y="2925738"/>
            <a:ext cx="8433600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document.createElement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('button');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button.className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'remove';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button.innerHTML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button.onclick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ul.removeChild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this.parentNode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li.appendChild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(button);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43691" y="981522"/>
            <a:ext cx="10064083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在文本域中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编辑两条留言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单击“发布”按钮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，然后单击第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条留言中的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“删除”按钮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。删除留言的运行结果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7.1.4  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简易留言板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010" y="2205928"/>
            <a:ext cx="5419444" cy="40778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节点的复制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cloneNode()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方法复制节点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884551"/>
            <a:chOff x="4899446" y="1985402"/>
            <a:chExt cx="6740375" cy="3417567"/>
          </a:xfrm>
        </p:grpSpPr>
        <p:sp>
          <p:nvSpPr>
            <p:cNvPr id="24" name="圆角矩形标注 11"/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/>
            <p:cNvSpPr>
              <a:spLocks noChangeArrowheads="1"/>
            </p:cNvSpPr>
            <p:nvPr/>
          </p:nvSpPr>
          <p:spPr bwMode="auto">
            <a:xfrm>
              <a:off x="5250079" y="2272055"/>
              <a:ext cx="6039108" cy="284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在实际开发中，有时会需要用到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多个相同的节点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，虽然使用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连续创建相同节点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的方式也能够实现，但是该方式的实现过程非常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烦琐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，会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增加代码量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，为此，可以使用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提供的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cloneNode()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方法复制节点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。</a:t>
              </a:r>
              <a:endPara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</p:grp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10630" y="1291960"/>
            <a:ext cx="872163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cloneNode()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方法复制节点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7.1.5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复制节点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74926" y="2395611"/>
            <a:ext cx="440373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node.cloneNode(deep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3468489"/>
            <a:ext cx="104411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在上述示例代码中，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被复制的节点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cloneNode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方法被调用后会返回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节点对象的副本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deep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参数为可选参数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，默认值为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只复制节点本身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，不复制节点内部的子节点，如果设置为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复制节点本身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节点内部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的子节点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进阶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717826"/>
            <a:ext cx="542956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事件的监听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308487"/>
            <a:chOff x="4899446" y="1985402"/>
            <a:chExt cx="6740375" cy="3417567"/>
          </a:xfrm>
        </p:grpSpPr>
        <p:sp>
          <p:nvSpPr>
            <p:cNvPr id="24" name="圆角矩形标注 11"/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/>
            <p:cNvSpPr>
              <a:spLocks noChangeArrowheads="1"/>
            </p:cNvSpPr>
            <p:nvPr/>
          </p:nvSpPr>
          <p:spPr bwMode="auto">
            <a:xfrm>
              <a:off x="5250079" y="2272056"/>
              <a:ext cx="6071071" cy="2870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的方式注册事件时，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一个事件类型只能注册一个事件处理函数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，而通过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事件监听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的方式注册事件时，可以给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一个事件类型注册多个事件处理函数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82638" y="1378823"/>
            <a:ext cx="10297144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监听存在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浏览器兼容问题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，在早期版本的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6~IE 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）中，事件监听的语法格式如下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14886" y="2642976"/>
            <a:ext cx="605733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element.attachEvent(type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callback);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2798" y="3789834"/>
            <a:ext cx="100929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attachEvent()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方法可以为对象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添加事件监听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，该方法中的第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表示为对象注册的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，带有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前缀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onclick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callback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82638" y="1220395"/>
            <a:ext cx="1029714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新版浏览器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9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及之后的版本、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Firefox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）中，事件监听的语法格式如下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38446" y="2390695"/>
            <a:ext cx="799288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element.addEventListener(type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callback, [capture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3429794"/>
            <a:ext cx="101360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addEventListener()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方法可以为对象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添加事件监听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，该方法的第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表示为对象注册的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不带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前缀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callback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capture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是可选参数，默认值为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事件冒泡阶段完成事件处理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，将其设置为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在事件捕获阶段完成事件处理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12903" y="2421682"/>
            <a:ext cx="65090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事件监听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的方式添加的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具有触发顺序，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浏览器的类型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也会影响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触发顺序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33650"/>
            <a:ext cx="6768752" cy="172819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事件监听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911418"/>
            <a:ext cx="1044116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下面以在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中进行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事件监听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为例，演示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addEventListener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方法的使用，示例代码如下。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06774" y="1557586"/>
            <a:ext cx="8433600" cy="521950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id="t"&gt;test&lt;/div&gt;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document.getElementById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('t');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个事件处理函数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('click', function 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console.log('one');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个事件处理函数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('click', function 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console.log('two');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709119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的移除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452343" cy="3012322"/>
            <a:chOff x="4899446" y="1985402"/>
            <a:chExt cx="6740375" cy="3432236"/>
          </a:xfrm>
        </p:grpSpPr>
        <p:sp>
          <p:nvSpPr>
            <p:cNvPr id="9" name="圆角矩形标注 11"/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/>
            <p:cNvSpPr>
              <a:spLocks noChangeArrowheads="1"/>
            </p:cNvSpPr>
            <p:nvPr/>
          </p:nvSpPr>
          <p:spPr bwMode="auto">
            <a:xfrm>
              <a:off x="5308240" y="2156312"/>
              <a:ext cx="6090553" cy="3261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实际开发中，有时需要对页面中的事件进行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。例如，页面中领取优惠券的按钮，限定每个用户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只能领取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张优惠券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当单击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大于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时，领取优惠券的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按钮不再生效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，此时就可以将领取优惠券的按钮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。不同方式注册的事件移除方式不同，并且需要考虑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兼容性问题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43691" y="1123319"/>
            <a:ext cx="8514392" cy="43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移除通过事件属性的方式注册的事件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，语法格式如下。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38922" y="1910510"/>
            <a:ext cx="531980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element.onclick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null;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1981" y="2585960"/>
            <a:ext cx="83212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的属性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即可移除事件。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1981" y="3332542"/>
            <a:ext cx="616736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移除通过事件监听的方式注册的事件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，语法格式如下。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51981" y="4009927"/>
            <a:ext cx="10153128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element.detachEvent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(type, callback);         	  //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适用于早期版本的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element.removeEventListener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(type, callback);   //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适用于新版的浏览器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4646" y="5217082"/>
            <a:ext cx="105131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要移除的事件类型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callback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，与注册事件的处理函数相同。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957780"/>
            <a:ext cx="86682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事件移除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90750" y="1519833"/>
            <a:ext cx="8433600" cy="507831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id="t"&gt;test&lt;/div&gt;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obj = document.getElementById('t');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定义事件处理函数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function test() {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console.log('test');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obj.addEventListener('click', test);		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事件监听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obj.removeEventListener('click', test);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事件移除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DOM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事件流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说明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事件流的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个阶段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6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611415" y="1985403"/>
            <a:ext cx="6596359" cy="2105216"/>
            <a:chOff x="4899446" y="1985402"/>
            <a:chExt cx="6740375" cy="3987250"/>
          </a:xfrm>
        </p:grpSpPr>
        <p:sp>
          <p:nvSpPr>
            <p:cNvPr id="9" name="圆角矩形标注 11"/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/>
            <p:cNvSpPr>
              <a:spLocks noChangeArrowheads="1"/>
            </p:cNvSpPr>
            <p:nvPr/>
          </p:nvSpPr>
          <p:spPr bwMode="auto">
            <a:xfrm>
              <a:off x="5180005" y="2300228"/>
              <a:ext cx="6459814" cy="3672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事件发生时，事件会在发生事件的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元素节点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树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之间按照特定的顺序进行传播，这个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事件传播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的过程就是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事件流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4871070" y="2349674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事件捕获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。事件捕获由网景公司的团队提出，指的是事件流传播的顺序应该是从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树的根节点一直到发生事件的节点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由微软公司的团队提出，指的是事件流传播的顺序应该是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从发生事件的节点到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树的根节点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8" name="Shape 2015"/>
          <p:cNvSpPr/>
          <p:nvPr/>
        </p:nvSpPr>
        <p:spPr>
          <a:xfrm>
            <a:off x="4583038" y="2133650"/>
            <a:ext cx="676875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43691" y="1413570"/>
            <a:ext cx="10064083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W3C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对网景公司和微软公司提出的方案进行了中和处理，将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个阶段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事件捕获阶段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：事件从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节点自上而下向目标节点传播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的阶段。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事件目标阶段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：事件流到达目标节点后，运行相应的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事件驱动程序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的阶段。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事件冒泡阶段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：事件从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目标节点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自下而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向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节点传播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的阶段。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43691" y="1125538"/>
            <a:ext cx="10352115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事件发生后，浏览器首先进行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事件捕获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，但不会对事件进行处理，然后进入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事件目标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阶段，运行目标节点的事件驱动程序，最后进入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阶段，逐级对事件进行处理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为例，展示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事件流的具体过程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	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03424" y="3213770"/>
          <a:ext cx="5832648" cy="2762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" name="Visio" r:id="rId1" imgW="3693160" imgH="1765935" progId="Visio.Drawing.15">
                  <p:embed/>
                </p:oleObj>
              </mc:Choice>
              <mc:Fallback>
                <p:oleObj name="Visio" r:id="rId1" imgW="3693160" imgH="176593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424" y="3213770"/>
                        <a:ext cx="5832648" cy="2762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事件对象的获取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2"/>
            <a:ext cx="6092303" cy="2380495"/>
            <a:chOff x="4899446" y="1985401"/>
            <a:chExt cx="6158090" cy="3417567"/>
          </a:xfrm>
        </p:grpSpPr>
        <p:sp>
          <p:nvSpPr>
            <p:cNvPr id="9" name="圆角矩形标注 11"/>
            <p:cNvSpPr/>
            <p:nvPr/>
          </p:nvSpPr>
          <p:spPr bwMode="auto">
            <a:xfrm rot="5400000">
              <a:off x="6269707" y="615140"/>
              <a:ext cx="3417567" cy="61580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/>
            <p:cNvSpPr>
              <a:spLocks noChangeArrowheads="1"/>
            </p:cNvSpPr>
            <p:nvPr/>
          </p:nvSpPr>
          <p:spPr bwMode="auto">
            <a:xfrm>
              <a:off x="5180006" y="2300228"/>
              <a:ext cx="5731959" cy="2792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不同的浏览器中，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获取事件对象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的方式并不相同。在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早期版本的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IE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中，只能通过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获取事件对象；在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新版的浏览器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事件处理函数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即可获取事件对象。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17684" y="1237924"/>
            <a:ext cx="8514392" cy="43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早期版本的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浏览器获取事件对象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6854" y="1919732"/>
            <a:ext cx="633670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window.event;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77233" y="2864965"/>
            <a:ext cx="609282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新版的浏览器获取事件对象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26854" y="3486789"/>
            <a:ext cx="633670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元素对象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(event) {};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88870" y="4262501"/>
            <a:ext cx="100909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上述语法格式中，当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事件被触发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时会产生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将其以参数的形式传给事件处理函数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，所以在事件处理函数中需要使用一个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形参接收事件对象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，参数名称可以自定义。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10630" y="1016964"/>
            <a:ext cx="85143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30060" y="1845618"/>
            <a:ext cx="8784976" cy="470898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 id="btn"&gt;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btn = document.getElementById('btn');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btn.onclick = function (e)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var event = e || window.event;    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获取事件对象的兼容处理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console.log(event);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事件对象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常用属性和方法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的常用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054646" y="981522"/>
            <a:ext cx="10297144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事件发生后，通过事件对象的属性和方法可以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获取触发事件的对象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等信息，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事件对象的常用属性和方法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752042" y="2236399"/>
          <a:ext cx="8519629" cy="395181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40583"/>
                <a:gridCol w="3039523"/>
                <a:gridCol w="3039523"/>
              </a:tblGrid>
              <a:tr h="44749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r>
                        <a:rPr lang="en-US" altLang="zh-CN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兼容浏览器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7499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target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获取触发事件的对象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新版浏览器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7499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srcElement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获取触发事件的对象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早期版本的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浏览器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11428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type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获取事件的类型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所有浏览器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63606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stopPropagation()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阻止事件冒泡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新版浏览器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11428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cancelBubble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阻止事件冒泡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早期版本的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浏览器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11428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preventDefault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阻止默认事件（默认行为）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新版浏览器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11428"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returnValue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阻止默认事件（默认行为）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早期版本的</a:t>
                      </a: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</a:t>
                      </a: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浏览器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获取触发事件的对象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79082" y="2337477"/>
            <a:ext cx="597666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在事件处理函数的内部可以使用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获取当前触发事件的对象，除了这种方式，还可以使用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target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获取（早期版本的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浏览器中使用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srcElement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获取）。通常，这两种方式返回的对象是同一个对象。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8" name="Shape 2015"/>
          <p:cNvSpPr/>
          <p:nvPr/>
        </p:nvSpPr>
        <p:spPr>
          <a:xfrm>
            <a:off x="4583038" y="2133650"/>
            <a:ext cx="676875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27667" y="946973"/>
            <a:ext cx="9920067" cy="538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target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属性获取触发事件的对象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71276" y="1609366"/>
            <a:ext cx="7632848" cy="485017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div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document.getElementsByTagName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('div')[0];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获取事件对象和触发事件的对象，并完成兼容处理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div.onclick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(e)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e = e ||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window.event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target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e.target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e.srcElement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console.log(target);   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console.log(this);     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阻止元素的默认行为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59102" y="2379655"/>
            <a:ext cx="5616624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中，有些元素自身拥有一些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默认的行为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&lt;a&gt;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创建的链接被单击时，浏览器会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自动跳转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属性设置的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地址；单击表单的提交按钮后，浏览器会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自动将表单数据提交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到指定的服务器处理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10" name="Shape 2015"/>
          <p:cNvSpPr/>
          <p:nvPr/>
        </p:nvSpPr>
        <p:spPr>
          <a:xfrm>
            <a:off x="4583038" y="2133650"/>
            <a:ext cx="676875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485578"/>
            <a:ext cx="103691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，有时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阻止元素的默认行为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中，可以使用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 false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元素的默认行为，也可以使用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preventDefault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: 圆角 38"/>
          <p:cNvSpPr/>
          <p:nvPr/>
        </p:nvSpPr>
        <p:spPr>
          <a:xfrm>
            <a:off x="1359715" y="3597423"/>
            <a:ext cx="9759015" cy="17045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7" name="流程图: 资料带 6"/>
          <p:cNvSpPr/>
          <p:nvPr/>
        </p:nvSpPr>
        <p:spPr>
          <a:xfrm>
            <a:off x="1160727" y="342979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19960" y="3704272"/>
            <a:ext cx="91987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只有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cancelable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属性设置为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才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可以使用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preventDefault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方法实现阻止元素的默认行为。在早期版本的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浏览器中不支持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preventDefault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方法，可以将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returnValue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属性设置为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实现阻止元素的默认行为。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09206" y="981522"/>
            <a:ext cx="8514392" cy="40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&lt;a&gt;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标签的默认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行为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53384" y="1459940"/>
            <a:ext cx="7758246" cy="485017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="test.html"&gt;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&lt;/a&gt;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('a');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a.onclick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(e)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if 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window.event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window.event.returnValue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false;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	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早期版本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} else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 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e.preventDefault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	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新版浏览器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394019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阻止事件冒泡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349674"/>
            <a:ext cx="10064084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stopPropagation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阻止事件冒泡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早期版本的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中可以使用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cancelBubble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阻止事件冒泡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事件委托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59102" y="2349674"/>
            <a:ext cx="576064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日常生活中，为了提升快递的派送效率，快递员会把快递存放到相关代收机构，然后让客户自行领取，这种处理方式称为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委托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事件委托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是指当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事件被触发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需要做的事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委托给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父元素处理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17" name="Shape 2015"/>
          <p:cNvSpPr/>
          <p:nvPr/>
        </p:nvSpPr>
        <p:spPr>
          <a:xfrm>
            <a:off x="4583038" y="2133650"/>
            <a:ext cx="676875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690" y="1115504"/>
            <a:ext cx="29352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事件委托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205658"/>
            <a:ext cx="1006408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事件委托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（或称为事件代理）的原理是将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子节点对应的事件注册给父节点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事件冒泡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的原理影响到每个子节点。事件委托的优势如下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当一个父节点中所有子节点的事件处理函数相同时，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不必为每个子节点注册事件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当父节点中的子节点需要动态地增加时，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不必为新增加的子节点注册事件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82638" y="979035"/>
            <a:ext cx="8514392" cy="40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事件委托的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82838" y="1485578"/>
            <a:ext cx="5670014" cy="486248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星期一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星期四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星期五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ul.addEventListener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('click', function (e)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e.target.style.backgroundColor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'grey';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464116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事件对象的常用属性和方法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鼠标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鼠标事件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使用鼠标事件对象进行鼠标操作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961213"/>
            <a:ext cx="102080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在实际开发中，经常会用到</a:t>
            </a:r>
            <a:r>
              <a:rPr lang="zh-CN" altLang="zh-CN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鼠标事件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，例如，使用鼠标拖曳状态框，调整显示位置；鼠标指针滑过时，切换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Tab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栏显示的内容等。下面列举</a:t>
            </a:r>
            <a:r>
              <a:rPr lang="zh-CN" altLang="zh-CN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常用的鼠标事件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，如下表所示。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071276" y="2072675"/>
          <a:ext cx="8352928" cy="428852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95738"/>
                <a:gridCol w="6057190"/>
              </a:tblGrid>
              <a:tr h="38577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事件名称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事件触发时机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57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click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当单击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时触发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57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dblclick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当双击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时触发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mouseover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当鼠标指针移入时触发（当前元素与其子元素都触发）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858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</a:t>
                      </a:r>
                      <a:r>
                        <a:rPr lang="en-US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ouseout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当鼠标指针移出时触发（当前元素与其子元素都触发）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mouseenter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当鼠标指针移入时触发（子元素不触发）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mouseleave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当鼠标指针移出时触发（子元素不触发）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mousedown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当按任意鼠标按键时触发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mouseup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当释放任意鼠标按键时触发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08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mousemove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在元素内当鼠标指针移动时持续触发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82638" y="913888"/>
            <a:ext cx="6080189" cy="43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鼠标事件的使用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66814" y="1413570"/>
            <a:ext cx="7109429" cy="51706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document.querySelectorAll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for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0;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trs.length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onmouseover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this.className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onmouseout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this.className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09" y="1607820"/>
            <a:ext cx="2980667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14539" y="1761975"/>
            <a:ext cx="3038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禁用右键菜单和选中文本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26347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84652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43691" y="2724957"/>
            <a:ext cx="100640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项目开发中，有时需要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禁用右键菜单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选中文本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中，打开右键菜单时会触发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contextmenu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，选中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文本时会触发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selectstart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，在事件处理函数中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阻止默认行为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实现禁用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2980" y="2253859"/>
            <a:ext cx="10368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contextmenu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主要控制何时显示上下文菜单，用于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取消默认的上下文菜单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0598" y="1682645"/>
            <a:ext cx="2667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9240" algn="just">
              <a:spcAft>
                <a:spcPts val="0"/>
              </a:spcAft>
            </a:pP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右键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30710" y="3486789"/>
            <a:ext cx="8784976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document.addEventListener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contextmenu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function (e)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e.preventDefault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2638" y="2253859"/>
            <a:ext cx="102080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selectstart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在鼠标开始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选择文字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时触发，如果禁止鼠标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事件的默认行为，示例代码如下。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常用的鼠标事件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1825" y="1680394"/>
            <a:ext cx="2667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9240" algn="just">
              <a:spcAft>
                <a:spcPts val="0"/>
              </a:spcAft>
            </a:pP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）禁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用选中文本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30710" y="3486789"/>
            <a:ext cx="8784976" cy="142295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document.addEventListener('selectstart', function (e)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e.preventDefault();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灵活应用常用的鼠标事件属性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鼠标事件对象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045979"/>
            <a:ext cx="102971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在项目开发过程中，经常会使用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获取当前鼠标指针的位置信息。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常用的鼠标事件属性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702718" y="2205658"/>
          <a:ext cx="9332366" cy="354352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96541"/>
                <a:gridCol w="7835825"/>
              </a:tblGrid>
              <a:tr h="46091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6091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clientX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鼠标指针位于浏览器页面当前窗口可视区的水平坐标（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6091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clientY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鼠标指针位于浏览器页面当前窗口可视区的垂直坐标（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Y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676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pageX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鼠标指针位于文档的水平坐标（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轴坐标），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 6~IE 8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不兼容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8050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pageY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鼠标指针位于文档的垂直坐标（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Y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轴坐标），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IE 6~IE 8</a:t>
                      </a: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不兼容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676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screenX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鼠标指针位于屏幕的水平坐标（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X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676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screenY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鼠标指针位于屏幕的垂直坐标（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Y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轴坐标）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鼠标事件对象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1" y="1269554"/>
            <a:ext cx="100640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6~IE 8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浏览器不兼容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。因此，在项目开发时需要对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6~IE 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兼容处理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鼠标事件对象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691" y="2637706"/>
            <a:ext cx="10496131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event.pageX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event.clientX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document.body.scrollLeft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document.documentElement.scrollLeft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pageY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event.pageY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event.clientY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document.body.scrollTop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document.documentElement.scrollTop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图片跟随鼠标指针移动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523954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图片跟随鼠标指针移动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51776" y="2061642"/>
            <a:ext cx="1004214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案例要求实现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图片跟随鼠标指针移动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的效果。在实现该效果的过程中，需要使用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鼠标移动事件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mousemove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，每次鼠标移动时，都会获得最新的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坐标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作为图片的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top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left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就可以实现图片的移动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523954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图片跟随鼠标指针移动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5200" y="3711156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下拉菜单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523954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拉菜单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270670" y="1845618"/>
            <a:ext cx="957706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在实际开发中，为了使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页面信息分类明确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层次清晰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，经常会开发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下拉菜单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的功能，下拉菜单在网站中的应用也非常广泛，例如，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鼠标指针经过下拉菜单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当前下拉框中的内容，并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其他下拉菜单内容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0" y="266995"/>
            <a:ext cx="523954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拉菜单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320520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常用的键盘事件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使用键盘事件对象进行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键盘操作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常用的键盘事件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910630" y="1349893"/>
            <a:ext cx="105131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实际开发中，经常会用到键盘事件，例如，使用键盘上的数字按键输入数字；使用键盘上的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删除内容等。下面列举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常用的键盘事件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常用的键盘事件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43184" y="2853730"/>
          <a:ext cx="9721080" cy="244827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676048"/>
                <a:gridCol w="8045032"/>
              </a:tblGrid>
              <a:tr h="601801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事件名称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事件触发时机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233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keypress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按键盘按键时触发（“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Shift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”“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Fn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”“</a:t>
                      </a:r>
                      <a:r>
                        <a:rPr 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Caps Lock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等非字符键除外）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keydown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按键盘按键时触发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keyup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键盘按键弹起时触发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4799062" y="2159224"/>
            <a:ext cx="640871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键盘事件触发后，通过事件对象的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keyCode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可以获取键码，从而确定用户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按键。需要注意的是，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keypress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获得的键码是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ASCII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keydown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keyup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事件获得的键码是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keypress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区分字母大小写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keydown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keyup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不区分字母大小写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常用的键盘事件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6" name="Shape 2015"/>
          <p:cNvSpPr/>
          <p:nvPr/>
        </p:nvSpPr>
        <p:spPr>
          <a:xfrm>
            <a:off x="4583038" y="1989634"/>
            <a:ext cx="6768752" cy="324036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28213" y="1413570"/>
            <a:ext cx="8640960" cy="38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介绍一些常见的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和代表的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48~57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横排数字键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0~9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65~90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字母键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A~Z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Enter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27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Esc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Space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。即空格键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虚拟键码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37~40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方向键左（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）、上（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）、右（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）、下（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常用的键盘事件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键盘事件对象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灵活应用键盘事件对象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006533" y="2472494"/>
            <a:ext cx="5879747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也有相应的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键盘事件对象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KeyBoardEvent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，该对象是与键盘事件相关的一系列信息的集合。根据键盘事件对象中的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keyCode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可以得到相应的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ASCII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，从而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判断用户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哪个按键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6" y="1727891"/>
            <a:ext cx="3715858" cy="4006159"/>
          </a:xfrm>
          <a:prstGeom prst="rect">
            <a:avLst/>
          </a:prstGeom>
        </p:spPr>
      </p:pic>
      <p:sp>
        <p:nvSpPr>
          <p:cNvPr id="18" name="Shape 2015"/>
          <p:cNvSpPr/>
          <p:nvPr/>
        </p:nvSpPr>
        <p:spPr>
          <a:xfrm>
            <a:off x="4583038" y="2205658"/>
            <a:ext cx="6768752" cy="2503439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054646" y="891515"/>
            <a:ext cx="10225136" cy="95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通过代码进行演示。要求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检测用户是否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按了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键盘上的“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，如果用户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”键，就把光标定位到文本框内，示例代码如下。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38822" y="1917626"/>
            <a:ext cx="7056784" cy="46628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&lt;input type="text"&gt;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search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('input');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document.addEventListener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keyup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function (e)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if 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e.keyCode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=== 65)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search.focus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57805" y="1037414"/>
            <a:ext cx="864855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代码，在浏览器中进行测试，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页面中的文本框效果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键盘事件对象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996" y="1701602"/>
            <a:ext cx="4824536" cy="18146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70670" y="3739892"/>
            <a:ext cx="91450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上图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空的文本框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按下键盘上的“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后的运行结果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图所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996" y="4379546"/>
            <a:ext cx="5052498" cy="18975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文本框提示信息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文本框提示信息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1126654" y="1515194"/>
            <a:ext cx="10153128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现实生活中，网上购物已经十分普遍，我们经常会使用快递单号查询功能查看商品的物流信息状态。一些网站为了让用户看清楚输入的内容，会在用户输入快递单号时，在文本框的上方显示一个提示框，将用户输入的快递单号放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下面将通过案例演示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文本框提示信息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，本案例要求当用户在文本框中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输入快递单号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时，文本框的上方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显示一个提示框，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放大快递单号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没有输入快递单号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隐藏自动放大的快递单号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文本框提示信息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4141312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位置</a:t>
            </a: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26"/>
          <p:cNvSpPr/>
          <p:nvPr/>
        </p:nvSpPr>
        <p:spPr>
          <a:xfrm>
            <a:off x="1198880" y="1810385"/>
            <a:ext cx="9794240" cy="363563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/>
          <p:cNvSpPr txBox="1"/>
          <p:nvPr/>
        </p:nvSpPr>
        <p:spPr>
          <a:xfrm>
            <a:off x="1595500" y="2349674"/>
            <a:ext cx="9001000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讲解，首先讲解了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；然后讲解了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事件进阶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，其中，事件进阶包括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事件监听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事件移除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，事件对象包括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获取事件对象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事件对象的常用属性和方法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；最后讲解了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鼠标事件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键盘事件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元素位置操作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，在元素位置操作中，主要讲解了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元素偏移量操作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元素可视区操作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元素滚动操作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读者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认识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，并运用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相关知识编写一些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交互性强的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12706</Words>
  <Application>WPS 演示</Application>
  <PresentationFormat>自定义</PresentationFormat>
  <Paragraphs>921</Paragraphs>
  <Slides>91</Slides>
  <Notes>92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13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U.S. 101</vt:lpstr>
      <vt:lpstr>Segoe Print</vt:lpstr>
      <vt:lpstr>Roboto</vt:lpstr>
      <vt:lpstr>Times New Roman</vt:lpstr>
      <vt:lpstr>Open Sans Light</vt:lpstr>
      <vt:lpstr>字魂105号-简雅黑</vt:lpstr>
      <vt:lpstr>Arial Unicode MS</vt:lpstr>
      <vt:lpstr>思源黑体 CN Regular</vt:lpstr>
      <vt:lpstr>Symbol</vt:lpstr>
      <vt:lpstr>Yu Gothic UI Semibold</vt:lpstr>
      <vt:lpstr>webwppDefTheme</vt:lpstr>
      <vt:lpstr>Office 主题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华敏敏</cp:lastModifiedBy>
  <cp:revision>5485</cp:revision>
  <dcterms:created xsi:type="dcterms:W3CDTF">2020-11-09T06:56:00Z</dcterms:created>
  <dcterms:modified xsi:type="dcterms:W3CDTF">2024-12-05T12:54:59Z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83C3C9DFF82E46749DD13D37D1810225_13</vt:lpwstr>
  </property>
</Properties>
</file>