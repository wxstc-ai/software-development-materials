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</p:sldMasterIdLst>
  <p:notesMasterIdLst>
    <p:notesMasterId r:id="rId83"/>
  </p:notesMasterIdLst>
  <p:handoutMasterIdLst>
    <p:handoutMasterId r:id="rId84"/>
  </p:handoutMasterIdLst>
  <p:sldIdLst>
    <p:sldId id="325" r:id="rId3"/>
    <p:sldId id="1129" r:id="rId4"/>
    <p:sldId id="1641" r:id="rId5"/>
    <p:sldId id="328" r:id="rId6"/>
    <p:sldId id="1146" r:id="rId7"/>
    <p:sldId id="309" r:id="rId8"/>
    <p:sldId id="1059" r:id="rId9"/>
    <p:sldId id="1125" r:id="rId10"/>
    <p:sldId id="1423" r:id="rId11"/>
    <p:sldId id="1642" r:id="rId12"/>
    <p:sldId id="1643" r:id="rId13"/>
    <p:sldId id="1644" r:id="rId14"/>
    <p:sldId id="1645" r:id="rId15"/>
    <p:sldId id="1646" r:id="rId16"/>
    <p:sldId id="1647" r:id="rId17"/>
    <p:sldId id="1648" r:id="rId18"/>
    <p:sldId id="1649" r:id="rId19"/>
    <p:sldId id="1650" r:id="rId20"/>
    <p:sldId id="1651" r:id="rId21"/>
    <p:sldId id="1652" r:id="rId22"/>
    <p:sldId id="1653" r:id="rId23"/>
    <p:sldId id="1654" r:id="rId24"/>
    <p:sldId id="1655" r:id="rId25"/>
    <p:sldId id="1656" r:id="rId26"/>
    <p:sldId id="1657" r:id="rId27"/>
    <p:sldId id="1658" r:id="rId28"/>
    <p:sldId id="1659" r:id="rId29"/>
    <p:sldId id="1492" r:id="rId30"/>
    <p:sldId id="1424" r:id="rId31"/>
    <p:sldId id="1497" r:id="rId32"/>
    <p:sldId id="1598" r:id="rId33"/>
    <p:sldId id="1600" r:id="rId34"/>
    <p:sldId id="1427" r:id="rId35"/>
    <p:sldId id="1304" r:id="rId36"/>
    <p:sldId id="1660" r:id="rId37"/>
    <p:sldId id="1661" r:id="rId38"/>
    <p:sldId id="1574" r:id="rId39"/>
    <p:sldId id="1662" r:id="rId40"/>
    <p:sldId id="1663" r:id="rId41"/>
    <p:sldId id="1664" r:id="rId42"/>
    <p:sldId id="1665" r:id="rId43"/>
    <p:sldId id="1666" r:id="rId44"/>
    <p:sldId id="1667" r:id="rId45"/>
    <p:sldId id="1608" r:id="rId46"/>
    <p:sldId id="1588" r:id="rId47"/>
    <p:sldId id="1668" r:id="rId48"/>
    <p:sldId id="1669" r:id="rId49"/>
    <p:sldId id="1670" r:id="rId50"/>
    <p:sldId id="1671" r:id="rId51"/>
    <p:sldId id="1672" r:id="rId52"/>
    <p:sldId id="1673" r:id="rId53"/>
    <p:sldId id="1674" r:id="rId54"/>
    <p:sldId id="1493" r:id="rId55"/>
    <p:sldId id="1501" r:id="rId56"/>
    <p:sldId id="1618" r:id="rId57"/>
    <p:sldId id="1675" r:id="rId58"/>
    <p:sldId id="1623" r:id="rId59"/>
    <p:sldId id="1161" r:id="rId60"/>
    <p:sldId id="1590" r:id="rId61"/>
    <p:sldId id="1622" r:id="rId62"/>
    <p:sldId id="1677" r:id="rId63"/>
    <p:sldId id="1678" r:id="rId64"/>
    <p:sldId id="1679" r:id="rId65"/>
    <p:sldId id="1680" r:id="rId66"/>
    <p:sldId id="1681" r:id="rId67"/>
    <p:sldId id="1682" r:id="rId68"/>
    <p:sldId id="1163" r:id="rId69"/>
    <p:sldId id="1383" r:id="rId70"/>
    <p:sldId id="1593" r:id="rId71"/>
    <p:sldId id="1683" r:id="rId72"/>
    <p:sldId id="1684" r:id="rId73"/>
    <p:sldId id="1685" r:id="rId74"/>
    <p:sldId id="1686" r:id="rId75"/>
    <p:sldId id="1687" r:id="rId76"/>
    <p:sldId id="1688" r:id="rId77"/>
    <p:sldId id="1689" r:id="rId78"/>
    <p:sldId id="1690" r:id="rId79"/>
    <p:sldId id="1691" r:id="rId80"/>
    <p:sldId id="1416" r:id="rId81"/>
    <p:sldId id="1417" r:id="rId82"/>
  </p:sldIdLst>
  <p:sldSz cx="12190413" cy="6859588"/>
  <p:notesSz cx="6858000" cy="9144000"/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1" userDrawn="1">
          <p15:clr>
            <a:srgbClr val="A4A3A4"/>
          </p15:clr>
        </p15:guide>
        <p15:guide id="2" pos="301" userDrawn="1">
          <p15:clr>
            <a:srgbClr val="A4A3A4"/>
          </p15:clr>
        </p15:guide>
        <p15:guide id="3" pos="64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zq" initials="lzq" lastIdx="3" clrIdx="0">
    <p:extLst>
      <p:ext uri="{19B8F6BF-5375-455C-9EA6-DF929625EA0E}">
        <p15:presenceInfo xmlns:p15="http://schemas.microsoft.com/office/powerpoint/2012/main" userId="f3b653b8ea518c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69B2"/>
    <a:srgbClr val="595959"/>
    <a:srgbClr val="FFFFFF"/>
    <a:srgbClr val="1369B3"/>
    <a:srgbClr val="71A5D1"/>
    <a:srgbClr val="F2F2F2"/>
    <a:srgbClr val="EBAD13"/>
    <a:srgbClr val="BBBBBB"/>
    <a:srgbClr val="FAFAFA"/>
    <a:srgbClr val="006B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18" autoAdjust="0"/>
    <p:restoredTop sz="95974" autoAdjust="0"/>
  </p:normalViewPr>
  <p:slideViewPr>
    <p:cSldViewPr>
      <p:cViewPr varScale="1">
        <p:scale>
          <a:sx n="77" d="100"/>
          <a:sy n="77" d="100"/>
        </p:scale>
        <p:origin x="114" y="516"/>
      </p:cViewPr>
      <p:guideLst>
        <p:guide orient="horz" pos="4321"/>
        <p:guide pos="301"/>
        <p:guide pos="64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handoutMaster" Target="handoutMasters/handoutMaster1.xml"/><Relationship Id="rId89" Type="http://schemas.openxmlformats.org/officeDocument/2006/relationships/tableStyles" Target="tableStyle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commentAuthors" Target="commentAuthor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notesMaster" Target="notesMasters/notesMaster1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viewProps" Target="viewProps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3633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41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428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0561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998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122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7812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687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5514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783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9818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4253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4284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22457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6001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3367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47515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29875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15598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2904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1802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8504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009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3110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4999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878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720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2787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2164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4063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0156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49998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882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539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5940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699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2F652BD-78F8-4263-B0C9-1157D4F9FB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1137BB1-9F5B-4D4F-9A56-B2F02308C4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2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D30E425-C7EA-45F0-85AD-6C51CB843BA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2024/4/19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566815" y="2637706"/>
            <a:ext cx="7272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5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9</a:t>
            </a:r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章 </a:t>
            </a:r>
            <a:r>
              <a:rPr lang="en-US" altLang="zh-CN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jQuery</a:t>
            </a:r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（</a:t>
            </a:r>
            <a:r>
              <a:rPr lang="zh-CN" altLang="en-US" sz="5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上</a:t>
            </a:r>
            <a:r>
              <a:rPr lang="zh-CN" altLang="en-US" sz="54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思源黑体 CN Medium" panose="020B0600000000000000" pitchFamily="34" charset="-122"/>
              </a:rPr>
              <a:t>）</a:t>
            </a:r>
            <a:endParaRPr lang="en-US" altLang="zh-CN" sz="5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2494807" y="4005858"/>
            <a:ext cx="7416824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《JavaScript+jQuery</a:t>
            </a:r>
            <a:r>
              <a:rPr lang="zh-CN" altLang="en-US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交互式</a:t>
            </a:r>
            <a:r>
              <a:rPr lang="en-US" altLang="zh-CN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24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前端开发（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版）</a:t>
            </a:r>
            <a:r>
              <a:rPr lang="en-US" altLang="zh-CN" sz="24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》</a:t>
            </a:r>
            <a:endParaRPr lang="zh-CN" altLang="en-US" sz="24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198662" y="2133650"/>
            <a:ext cx="9721080" cy="688075"/>
            <a:chOff x="978872" y="1800500"/>
            <a:chExt cx="5471124" cy="515937"/>
          </a:xfrm>
        </p:grpSpPr>
        <p:sp>
          <p:nvSpPr>
            <p:cNvPr id="14" name="Pentagon 3"/>
            <p:cNvSpPr/>
            <p:nvPr/>
          </p:nvSpPr>
          <p:spPr bwMode="auto">
            <a:xfrm>
              <a:off x="978872" y="1800500"/>
              <a:ext cx="5471124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了解</a:t>
              </a:r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什么是</a:t>
              </a:r>
              <a:r>
                <a:rPr lang="en-US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jQuery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描述</a:t>
              </a:r>
              <a:r>
                <a:rPr lang="en-US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jQuery</a:t>
              </a:r>
              <a:r>
                <a:rPr lang="zh-CN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</a:t>
              </a:r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特点</a:t>
              </a:r>
              <a:endPara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16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98662" y="3103872"/>
            <a:ext cx="9709797" cy="685961"/>
            <a:chOff x="978872" y="2570436"/>
            <a:chExt cx="5437064" cy="514351"/>
          </a:xfrm>
        </p:grpSpPr>
        <p:sp>
          <p:nvSpPr>
            <p:cNvPr id="18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掌握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jQuery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的下载和引入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，能够独立完成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jQuery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下载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并且能够使用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两种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方式</a:t>
              </a:r>
              <a:endPara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  <a:p>
              <a:pPr lvl="0"/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 </a:t>
              </a:r>
              <a:r>
                <a:rPr lang="en-US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     </a:t>
              </a:r>
              <a:r>
                <a:rPr lang="zh-CN" altLang="zh-CN" sz="2000" dirty="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引入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jQuery</a:t>
              </a:r>
              <a:endPara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19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198662" y="4071982"/>
            <a:ext cx="9698457" cy="688077"/>
            <a:chOff x="978872" y="3338787"/>
            <a:chExt cx="5437064" cy="515938"/>
          </a:xfrm>
        </p:grpSpPr>
        <p:sp>
          <p:nvSpPr>
            <p:cNvPr id="21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jQuery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的简单使用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，能够使用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jQuery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实现简单的页面效果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2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198662" y="5006653"/>
            <a:ext cx="9709797" cy="685961"/>
            <a:chOff x="978872" y="2570436"/>
            <a:chExt cx="5437064" cy="514351"/>
          </a:xfrm>
        </p:grpSpPr>
        <p:sp>
          <p:nvSpPr>
            <p:cNvPr id="23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熟悉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jQuery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对象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，能够区别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jQuery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对象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和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DOM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对象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939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"/>
          <p:cNvSpPr txBox="1"/>
          <p:nvPr/>
        </p:nvSpPr>
        <p:spPr>
          <a:xfrm>
            <a:off x="815308" y="572758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1198662" y="2133650"/>
            <a:ext cx="9937105" cy="688075"/>
            <a:chOff x="978872" y="1800500"/>
            <a:chExt cx="5592705" cy="515937"/>
          </a:xfrm>
        </p:grpSpPr>
        <p:sp>
          <p:nvSpPr>
            <p:cNvPr id="14" name="Pentagon 3"/>
            <p:cNvSpPr/>
            <p:nvPr/>
          </p:nvSpPr>
          <p:spPr bwMode="auto">
            <a:xfrm>
              <a:off x="978872" y="1800500"/>
              <a:ext cx="5592705" cy="515937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掌握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jQuery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选择器的使用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，能够根据不同场景使用不同的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jQuery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选择器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获取元素</a:t>
              </a:r>
            </a:p>
          </p:txBody>
        </p:sp>
        <p:sp>
          <p:nvSpPr>
            <p:cNvPr id="16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98662" y="3103872"/>
            <a:ext cx="9937105" cy="685961"/>
            <a:chOff x="978872" y="2570436"/>
            <a:chExt cx="5437064" cy="514351"/>
          </a:xfrm>
        </p:grpSpPr>
        <p:sp>
          <p:nvSpPr>
            <p:cNvPr id="18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掌握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jQuery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内容操作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，能够灵活应用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jQuery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中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操作元素内容的方法</a:t>
              </a:r>
            </a:p>
          </p:txBody>
        </p:sp>
        <p:sp>
          <p:nvSpPr>
            <p:cNvPr id="19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198662" y="4071982"/>
            <a:ext cx="9937105" cy="688077"/>
            <a:chOff x="978872" y="3338787"/>
            <a:chExt cx="5437064" cy="515938"/>
          </a:xfrm>
        </p:grpSpPr>
        <p:sp>
          <p:nvSpPr>
            <p:cNvPr id="21" name="Pentagon 6"/>
            <p:cNvSpPr/>
            <p:nvPr/>
          </p:nvSpPr>
          <p:spPr bwMode="auto">
            <a:xfrm>
              <a:off x="978872" y="3338787"/>
              <a:ext cx="5437064" cy="515938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 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jQuery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样式操作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，能够根据不同场景使用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jQuery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实现元素的样式操作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2" name="MH_Others_1"/>
            <p:cNvSpPr/>
            <p:nvPr/>
          </p:nvSpPr>
          <p:spPr bwMode="auto">
            <a:xfrm>
              <a:off x="985222" y="3338787"/>
              <a:ext cx="82550" cy="515938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198662" y="5006653"/>
            <a:ext cx="9937105" cy="685961"/>
            <a:chOff x="978872" y="2570436"/>
            <a:chExt cx="5437064" cy="514351"/>
          </a:xfrm>
        </p:grpSpPr>
        <p:sp>
          <p:nvSpPr>
            <p:cNvPr id="23" name="Pentagon 5"/>
            <p:cNvSpPr/>
            <p:nvPr/>
          </p:nvSpPr>
          <p:spPr bwMode="auto">
            <a:xfrm>
              <a:off x="978872" y="2570436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     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jQuery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属性操作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，能够灵活应用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prop()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方法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、</a:t>
              </a:r>
              <a:r>
                <a:rPr lang="en-US" altLang="zh-CN" sz="2000" dirty="0" err="1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attr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()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方法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和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data()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方法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操作</a:t>
              </a:r>
              <a:endPara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 </a:t>
              </a:r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    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元素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的属性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24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0375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54646" y="2421682"/>
            <a:ext cx="10081120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提供了许多简化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事件处理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动画效果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等常见任务的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。通过使用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，可以快速地开发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交互性更强的网页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应用程序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减少冗余的代码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浏览器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兼容问题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。因此，学习和掌握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具有重要的价值。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的知识内容较多，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的上半部分内容进行讲解。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3119265" y="1939805"/>
            <a:ext cx="1192190" cy="613062"/>
            <a:chOff x="2215144" y="982844"/>
            <a:chExt cx="1244730" cy="842780"/>
          </a:xfrm>
        </p:grpSpPr>
        <p:sp>
          <p:nvSpPr>
            <p:cNvPr id="22" name="平行四边形 21"/>
            <p:cNvSpPr/>
            <p:nvPr/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文本框 9"/>
            <p:cNvSpPr txBox="1"/>
            <p:nvPr/>
          </p:nvSpPr>
          <p:spPr>
            <a:xfrm>
              <a:off x="2393075" y="1005670"/>
              <a:ext cx="1066799" cy="8038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9.1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3119265" y="2807120"/>
            <a:ext cx="1192190" cy="618406"/>
            <a:chOff x="2215144" y="2026500"/>
            <a:chExt cx="1244730" cy="850129"/>
          </a:xfrm>
        </p:grpSpPr>
        <p:sp>
          <p:nvSpPr>
            <p:cNvPr id="25" name="平行四边形 24"/>
            <p:cNvSpPr/>
            <p:nvPr/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6" name="文本框 10"/>
            <p:cNvSpPr txBox="1"/>
            <p:nvPr/>
          </p:nvSpPr>
          <p:spPr>
            <a:xfrm>
              <a:off x="2393075" y="2026500"/>
              <a:ext cx="1066799" cy="8038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9.2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3119265" y="3707900"/>
            <a:ext cx="1192190" cy="614525"/>
            <a:chOff x="2215144" y="3084852"/>
            <a:chExt cx="1244730" cy="844793"/>
          </a:xfrm>
        </p:grpSpPr>
        <p:sp>
          <p:nvSpPr>
            <p:cNvPr id="28" name="平行四边形 27"/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9" name="文本框 11"/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9.3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024817" y="1917626"/>
            <a:ext cx="5142331" cy="613062"/>
            <a:chOff x="4315150" y="953426"/>
            <a:chExt cx="3857250" cy="540057"/>
          </a:xfrm>
        </p:grpSpPr>
        <p:sp>
          <p:nvSpPr>
            <p:cNvPr id="31" name="矩形 30"/>
            <p:cNvSpPr/>
            <p:nvPr/>
          </p:nvSpPr>
          <p:spPr>
            <a:xfrm>
              <a:off x="4830201" y="1057390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zh-CN" altLang="en-US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初</a:t>
              </a:r>
              <a:r>
                <a:rPr lang="zh-CN" altLang="en-US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识</a:t>
              </a:r>
              <a:r>
                <a:rPr lang="en-US" altLang="zh-CN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jQuery</a:t>
              </a:r>
              <a:endPara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平行四边形 31"/>
            <p:cNvSpPr/>
            <p:nvPr/>
          </p:nvSpPr>
          <p:spPr>
            <a:xfrm>
              <a:off x="4315150" y="953426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024817" y="2790294"/>
            <a:ext cx="5142331" cy="613062"/>
            <a:chOff x="4315150" y="1647579"/>
            <a:chExt cx="3857250" cy="540057"/>
          </a:xfrm>
        </p:grpSpPr>
        <p:sp>
          <p:nvSpPr>
            <p:cNvPr id="34" name="矩形 33"/>
            <p:cNvSpPr/>
            <p:nvPr/>
          </p:nvSpPr>
          <p:spPr>
            <a:xfrm>
              <a:off x="4830201" y="1751543"/>
              <a:ext cx="2827147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jQuery</a:t>
              </a:r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选择</a:t>
              </a:r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器</a:t>
              </a:r>
              <a:endPara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35" name="平行四边形 34"/>
            <p:cNvSpPr/>
            <p:nvPr/>
          </p:nvSpPr>
          <p:spPr>
            <a:xfrm>
              <a:off x="4315150" y="1647579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024817" y="3686247"/>
            <a:ext cx="5142331" cy="613062"/>
            <a:chOff x="4315150" y="2341731"/>
            <a:chExt cx="3857250" cy="540057"/>
          </a:xfrm>
        </p:grpSpPr>
        <p:sp>
          <p:nvSpPr>
            <p:cNvPr id="37" name="矩形 36"/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jQuery</a:t>
              </a:r>
              <a:r>
                <a:rPr lang="zh-CN" altLang="en-US" sz="2000" smtClean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内容操作</a:t>
              </a:r>
              <a:endPara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8" name="平行四边形 37"/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B376FFE-0A38-421F-8A6D-2DEDEBD8EEF3}"/>
              </a:ext>
            </a:extLst>
          </p:cNvPr>
          <p:cNvGrpSpPr/>
          <p:nvPr/>
        </p:nvGrpSpPr>
        <p:grpSpPr>
          <a:xfrm>
            <a:off x="3108578" y="4617156"/>
            <a:ext cx="1192190" cy="614525"/>
            <a:chOff x="2215144" y="3084852"/>
            <a:chExt cx="1244730" cy="844793"/>
          </a:xfrm>
        </p:grpSpPr>
        <p:sp>
          <p:nvSpPr>
            <p:cNvPr id="40" name="平行四边形 39">
              <a:extLst>
                <a:ext uri="{FF2B5EF4-FFF2-40B4-BE49-F238E27FC236}">
                  <a16:creationId xmlns:a16="http://schemas.microsoft.com/office/drawing/2014/main" id="{388C74B8-A6C9-434C-9F0F-CD30735A046E}"/>
                </a:ext>
              </a:extLst>
            </p:cNvPr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1" name="文本框 11">
              <a:extLst>
                <a:ext uri="{FF2B5EF4-FFF2-40B4-BE49-F238E27FC236}">
                  <a16:creationId xmlns:a16="http://schemas.microsoft.com/office/drawing/2014/main" id="{C9AEB00F-783C-4F0C-ABD8-86838E547BFB}"/>
                </a:ext>
              </a:extLst>
            </p:cNvPr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9.4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332EB411-C9AC-44C7-A5C7-EDF08E27D459}"/>
              </a:ext>
            </a:extLst>
          </p:cNvPr>
          <p:cNvGrpSpPr/>
          <p:nvPr/>
        </p:nvGrpSpPr>
        <p:grpSpPr>
          <a:xfrm>
            <a:off x="4014130" y="4595502"/>
            <a:ext cx="5142331" cy="613062"/>
            <a:chOff x="4315150" y="2341731"/>
            <a:chExt cx="3857250" cy="540057"/>
          </a:xfrm>
        </p:grpSpPr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EB4C37FC-9E76-4047-8F7E-664EC06978D2}"/>
                </a:ext>
              </a:extLst>
            </p:cNvPr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jQuery</a:t>
              </a:r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样式操作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44" name="平行四边形 43">
              <a:extLst>
                <a:ext uri="{FF2B5EF4-FFF2-40B4-BE49-F238E27FC236}">
                  <a16:creationId xmlns:a16="http://schemas.microsoft.com/office/drawing/2014/main" id="{C1AC45FF-1323-43E6-81E4-96785288BE31}"/>
                </a:ext>
              </a:extLst>
            </p:cNvPr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CB376FFE-0A38-421F-8A6D-2DEDEBD8EEF3}"/>
              </a:ext>
            </a:extLst>
          </p:cNvPr>
          <p:cNvGrpSpPr/>
          <p:nvPr/>
        </p:nvGrpSpPr>
        <p:grpSpPr>
          <a:xfrm>
            <a:off x="3071659" y="5539680"/>
            <a:ext cx="1192190" cy="614525"/>
            <a:chOff x="2215144" y="3084852"/>
            <a:chExt cx="1244730" cy="844793"/>
          </a:xfrm>
        </p:grpSpPr>
        <p:sp>
          <p:nvSpPr>
            <p:cNvPr id="46" name="平行四边形 45">
              <a:extLst>
                <a:ext uri="{FF2B5EF4-FFF2-40B4-BE49-F238E27FC236}">
                  <a16:creationId xmlns:a16="http://schemas.microsoft.com/office/drawing/2014/main" id="{388C74B8-A6C9-434C-9F0F-CD30735A046E}"/>
                </a:ext>
              </a:extLst>
            </p:cNvPr>
            <p:cNvSpPr/>
            <p:nvPr/>
          </p:nvSpPr>
          <p:spPr>
            <a:xfrm>
              <a:off x="2215144" y="3084852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7" name="文本框 11">
              <a:extLst>
                <a:ext uri="{FF2B5EF4-FFF2-40B4-BE49-F238E27FC236}">
                  <a16:creationId xmlns:a16="http://schemas.microsoft.com/office/drawing/2014/main" id="{C9AEB00F-783C-4F0C-ABD8-86838E547BFB}"/>
                </a:ext>
              </a:extLst>
            </p:cNvPr>
            <p:cNvSpPr txBox="1"/>
            <p:nvPr/>
          </p:nvSpPr>
          <p:spPr>
            <a:xfrm>
              <a:off x="2393075" y="3125750"/>
              <a:ext cx="1066799" cy="803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9.5</a:t>
              </a:r>
              <a:endParaRPr lang="zh-CN" altLang="en-US" sz="3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32EB411-C9AC-44C7-A5C7-EDF08E27D459}"/>
              </a:ext>
            </a:extLst>
          </p:cNvPr>
          <p:cNvGrpSpPr/>
          <p:nvPr/>
        </p:nvGrpSpPr>
        <p:grpSpPr>
          <a:xfrm>
            <a:off x="3977211" y="5518026"/>
            <a:ext cx="5142331" cy="613062"/>
            <a:chOff x="4315150" y="2341731"/>
            <a:chExt cx="3857250" cy="540057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EB4C37FC-9E76-4047-8F7E-664EC06978D2}"/>
                </a:ext>
              </a:extLst>
            </p:cNvPr>
            <p:cNvSpPr/>
            <p:nvPr/>
          </p:nvSpPr>
          <p:spPr>
            <a:xfrm>
              <a:off x="4830201" y="2445695"/>
              <a:ext cx="2827146" cy="332129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lstStyle/>
            <a:p>
              <a:r>
                <a:rPr lang="en-US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jQuery</a:t>
              </a:r>
              <a:r>
                <a:rPr lang="zh-CN" altLang="en-US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rPr>
                <a:t>属性操作</a:t>
              </a:r>
              <a:endPara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50" name="平行四边形 49">
              <a:extLst>
                <a:ext uri="{FF2B5EF4-FFF2-40B4-BE49-F238E27FC236}">
                  <a16:creationId xmlns:a16="http://schemas.microsoft.com/office/drawing/2014/main" id="{C1AC45FF-1323-43E6-81E4-96785288BE31}"/>
                </a:ext>
              </a:extLst>
            </p:cNvPr>
            <p:cNvSpPr/>
            <p:nvPr/>
          </p:nvSpPr>
          <p:spPr>
            <a:xfrm>
              <a:off x="4315150" y="2341731"/>
              <a:ext cx="3857250" cy="540057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74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>
              <a:buClrTx/>
              <a:buSzTx/>
              <a:buFontTx/>
            </a:pPr>
            <a:r>
              <a:rPr lang="zh-CN" altLang="en-US" sz="48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初识</a:t>
            </a:r>
            <a:r>
              <a:rPr lang="en-US" altLang="zh-CN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endParaRPr lang="zh-CN" altLang="en-US" sz="4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.1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709119"/>
            <a:ext cx="542956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了解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什么是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，能够描述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的特点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0711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8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606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组合 8"/>
          <p:cNvGrpSpPr/>
          <p:nvPr/>
        </p:nvGrpSpPr>
        <p:grpSpPr>
          <a:xfrm>
            <a:off x="4655046" y="1985403"/>
            <a:ext cx="6380335" cy="1804431"/>
            <a:chOff x="4899445" y="1985402"/>
            <a:chExt cx="6740375" cy="4570191"/>
          </a:xfrm>
        </p:grpSpPr>
        <p:sp>
          <p:nvSpPr>
            <p:cNvPr id="10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5984537" y="900310"/>
              <a:ext cx="4570191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1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825" y="2449117"/>
              <a:ext cx="6085711" cy="37417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jQuery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是一款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快速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简洁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开源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轻量级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JavaScript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库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，它的设计宗旨是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“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write less, do more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”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（使用更少的代码，做更多的事情）</a:t>
              </a: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  <a:endPara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369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70670" y="1404552"/>
            <a:ext cx="77768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具有以下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个特点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4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270670" y="2205658"/>
            <a:ext cx="712879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可读性强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Clr>
                <a:srgbClr val="595959"/>
              </a:buClr>
              <a:buFont typeface="Wingdings" panose="05000000000000000000" pitchFamily="2" charset="2"/>
              <a:buChar char="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语法简洁易懂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文档丰富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支持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 1~CSS 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支持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事件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动画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Ajax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跨浏览器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，支持的浏览器包括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Firefox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Chrome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等。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扩展性强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插件丰富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，可以通过插件扩展更多功能。</a:t>
            </a:r>
          </a:p>
        </p:txBody>
      </p:sp>
    </p:spTree>
    <p:extLst>
      <p:ext uri="{BB962C8B-B14F-4D97-AF65-F5344CB8AC3E}">
        <p14:creationId xmlns:p14="http://schemas.microsoft.com/office/powerpoint/2010/main" val="4052804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43691" y="1701602"/>
            <a:ext cx="1000911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目前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系列的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版本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，分别是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 1.x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 2.x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 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3.x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系列的版本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它们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的区别在于，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 1.x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系列的版本保持了对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早期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版本的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的支持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 2.x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系列的版本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不兼容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 6~ IE 8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，从而更加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轻量化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 3.x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系列的版本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不兼容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IE 6~ IE 8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此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系列的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版本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增加了一些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，并对一些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进行了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优化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改进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9.1.1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什么是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3677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508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的下载和引入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，能够独立完成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下载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并且能够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使用两种方式引入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下载和引入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6791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055102"/>
            <a:ext cx="8856984" cy="530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学习使用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之前，需要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下载和引入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，具体操作步骤如下。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下载和引入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56710" y="1532534"/>
            <a:ext cx="712672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circleNumDbPlain"/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Chrome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浏览器中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访问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的下载页面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图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918" y="2112328"/>
            <a:ext cx="4968552" cy="423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333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下载和引入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7810" y="1125538"/>
            <a:ext cx="991193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ea"/>
              <a:buAutoNum type="circleNumDbPlain" startAt="2"/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的下载页面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，单击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 3.6.4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”的“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minified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链接，弹出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Code Integration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对话框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，如下图所示。</a:t>
            </a:r>
            <a:endParaRPr lang="zh-CN" altLang="en-US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734" y="2516373"/>
            <a:ext cx="8628571" cy="246666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30683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下载和引入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7810" y="1214982"/>
            <a:ext cx="10271971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Font typeface="+mj-ea"/>
              <a:buAutoNum type="circleNumDbPlain" startAt="3"/>
            </a:pP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引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入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。引入方式有两种，第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种方式是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Code Integration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对话框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整个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&lt;script&gt;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标签的代码复制到页面文件中使用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。整个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标签的具体代码如下。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143691" y="2709714"/>
            <a:ext cx="9831769" cy="147732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script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src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="https://code.jquery.com/jquery-3.6.4.min.js" integrity="sha256-oP6HI9z1XaZNBrJURtCoUT5SUnxFr8s3BzRl+cbzUq8="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crossorigin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="anonymous"&gt;&lt;/script&gt;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1889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9.1.2  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下载和引入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7810" y="1354927"/>
            <a:ext cx="1070401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种方式是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复制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Code Integration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对话框中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的地址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https://code.jquery.com/jquery-3.6.4.min.js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在浏览器中访问该地址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，将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jquery-3.6.4.min.js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文件保存到计算中，然后在程序中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手动引入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。引入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422798" y="3164289"/>
            <a:ext cx="6696744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script src="jquery-3.6.4.min.js"&gt;&lt;/script&gt;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26759" y="4050321"/>
            <a:ext cx="84249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351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上述示例代码表示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引入当前目录下的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jQuery-3.6.4.min.js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9372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的简单使用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实现简单的页面效果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9.1.3	jQuery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的简单使用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3746066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2678" y="1773610"/>
            <a:ext cx="5429568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时可以分为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个步骤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，具体如下。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9.1.3	jQuery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的简单使用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14686" y="2709714"/>
            <a:ext cx="6092825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Font typeface="宋体" panose="02010600030101010101" pitchFamily="2" charset="-122"/>
              <a:buAutoNum type="circleNumDbPlain"/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在程序中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引入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文件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Font typeface="宋体" panose="02010600030101010101" pitchFamily="2" charset="-122"/>
              <a:buAutoNum type="circleNumDbPlain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获取需要操作的元素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  <a:p>
            <a:pPr marL="342900" lvl="0" indent="-342900" algn="just">
              <a:lnSpc>
                <a:spcPct val="150000"/>
              </a:lnSpc>
              <a:spcAft>
                <a:spcPts val="0"/>
              </a:spcAft>
              <a:buClr>
                <a:schemeClr val="tx1">
                  <a:lumMod val="50000"/>
                  <a:lumOff val="50000"/>
                </a:schemeClr>
              </a:buClr>
              <a:buFont typeface="宋体" panose="02010600030101010101" pitchFamily="2" charset="-122"/>
              <a:buAutoNum type="circleNumDbPlain"/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调用操作方法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，例如调用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hide()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方法将元素隐藏。</a:t>
            </a:r>
          </a:p>
        </p:txBody>
      </p:sp>
    </p:spTree>
    <p:extLst>
      <p:ext uri="{BB962C8B-B14F-4D97-AF65-F5344CB8AC3E}">
        <p14:creationId xmlns:p14="http://schemas.microsoft.com/office/powerpoint/2010/main" val="1195011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0630" y="1067636"/>
            <a:ext cx="10369152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的简单使用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，首先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定义一个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&lt;div&gt;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将元素在页面中隐藏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9.1.3	jQuery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的简单使用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200570" y="2205658"/>
            <a:ext cx="7789272" cy="424731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head&gt;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 src="jquery-3.6.4.min.js"&gt;&lt;/script&gt;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&lt;/head&gt;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&lt;body&gt;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&lt;div&gt;Hello jQuery&lt;/div&gt;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$('div').hide();    		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隐藏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33942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熟悉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区别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对象和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9.1.4	jQuery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3083772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54646" y="1269554"/>
            <a:ext cx="1022513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页面中引入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后，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全局作用域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下会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新增两个变量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，分别是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，这两个变量引用的是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同一个对象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该对象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称为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顶级对象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。为了方便书写，通常使用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变量的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574926" y="3069754"/>
            <a:ext cx="5184576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变量的使用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$('div').hide();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jQuery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变量的使用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jQuery('div').hide();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9.1.4	jQuery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8261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4899446" y="1985403"/>
            <a:ext cx="6380335" cy="2740535"/>
            <a:chOff x="4899445" y="1985402"/>
            <a:chExt cx="6740375" cy="4570191"/>
          </a:xfrm>
        </p:grpSpPr>
        <p:sp>
          <p:nvSpPr>
            <p:cNvPr id="9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5984537" y="900310"/>
              <a:ext cx="4570191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0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825" y="2243197"/>
              <a:ext cx="6085711" cy="40034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jQuery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顶级对象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类似构造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函数，用于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创建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jQuery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实例对象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（简称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jQuery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对象），但它不需要使用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new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关键字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，它的内部会自动进行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实例化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en-US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然后它会</a:t>
              </a: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返回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实例化后的对象。</a:t>
              </a:r>
              <a:r>
                <a:rPr lang="en-US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jQuery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对象的本质是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jQuery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顶级对象对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DOM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对象包装后产生的对象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9.1.4	jQuery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6537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9.1.4	jQuery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2638" y="877301"/>
            <a:ext cx="1051316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的形式存储，它可以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包装一个或多个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。下面通过代码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对比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74726" y="1997185"/>
            <a:ext cx="8433600" cy="46138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18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&lt;div&gt;Hello jQuery&lt;/div&gt;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jQuery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var div1 = $('div');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console.log(div1);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// DOM</a:t>
            </a:r>
            <a:r>
              <a:rPr lang="zh-CN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var div2 = document.getElementsByTagName('div');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console.log(div2);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50843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9.1.4	jQuery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1255172"/>
            <a:ext cx="905597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前面的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示例代码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运行后，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对象的输出结果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886" y="2133650"/>
            <a:ext cx="6120680" cy="3394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66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96" y="1607165"/>
            <a:ext cx="3715858" cy="4006159"/>
          </a:xfrm>
          <a:prstGeom prst="rect">
            <a:avLst/>
          </a:prstGeom>
        </p:spPr>
      </p:pic>
      <p:sp>
        <p:nvSpPr>
          <p:cNvPr id="9" name="Shape 2015"/>
          <p:cNvSpPr/>
          <p:nvPr/>
        </p:nvSpPr>
        <p:spPr>
          <a:xfrm>
            <a:off x="4583038" y="2133649"/>
            <a:ext cx="6768752" cy="3087345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943078" y="2277666"/>
            <a:ext cx="61206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实际开发中，经常会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对象之间进行转换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，由于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对象比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对象更复杂，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对象的一些属性和方法在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对象中没有封装，所以使用这些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时需要把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对象转化为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对象。另外，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对象也可以转换为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9.1.4	jQuery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1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9.1.4	jQuery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43690" y="1115504"/>
            <a:ext cx="4159428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对象转换为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38622" y="2096075"/>
            <a:ext cx="972108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68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对象转换为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有两种实现方式，第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种实现方式的语法格式如下。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570594" y="2977907"/>
            <a:ext cx="4824536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索引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8622" y="3871115"/>
            <a:ext cx="4202432" cy="4996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7368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种实现方式的语法格式如下。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570594" y="4709949"/>
            <a:ext cx="4824536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.get(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索引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41066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9.1.4	jQuery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86694" y="1485578"/>
            <a:ext cx="80648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685"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对象转换为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的示例代码如下。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766062" y="2388931"/>
            <a:ext cx="8433600" cy="1015663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div1 = $('div')[0];	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种实现方式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div2 = $('div').get(0);		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种实现方式</a:t>
            </a:r>
          </a:p>
        </p:txBody>
      </p:sp>
      <p:sp>
        <p:nvSpPr>
          <p:cNvPr id="4" name="矩形 3"/>
          <p:cNvSpPr/>
          <p:nvPr/>
        </p:nvSpPr>
        <p:spPr>
          <a:xfrm>
            <a:off x="1630710" y="3854291"/>
            <a:ext cx="75608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上述示例代码分别使用两种方式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对象转换为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对象转换为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对象后就可以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方式操作元素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199845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9.1.4	jQuery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对象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43690" y="1115504"/>
            <a:ext cx="4159428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对象转换为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en-US" sz="20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66614" y="1887638"/>
            <a:ext cx="806489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68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转换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语法格式如下。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4222998" y="2691904"/>
            <a:ext cx="3096344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$(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66614" y="3429794"/>
            <a:ext cx="604582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73685"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DOM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对象转换为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对象的示例代码如下。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678636" y="4050377"/>
            <a:ext cx="8433600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 div = document.getElementByTagName('div')[0];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DOM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对象转换成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对象</a:t>
            </a: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 = $(div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856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</a:t>
            </a:r>
            <a:r>
              <a:rPr lang="zh-CN" altLang="en-US" sz="48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器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898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基本选择器的使用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灵活应用基本选择器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获取元素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基本选择器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</p:spTree>
    <p:extLst>
      <p:ext uri="{BB962C8B-B14F-4D97-AF65-F5344CB8AC3E}">
        <p14:creationId xmlns:p14="http://schemas.microsoft.com/office/powerpoint/2010/main" val="182987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341562"/>
            <a:ext cx="1015312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提供了类似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的机制，使用选择器可以很方便地获取元素，使用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选择器获取元素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的语法格式如下。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4258870" y="2873963"/>
            <a:ext cx="2812644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$(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selector)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基本选择器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54646" y="3789834"/>
            <a:ext cx="47382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上述语法格式中，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selector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表示选择器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2129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699" y="1196984"/>
            <a:ext cx="856895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列举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中常用的基本选择器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所示。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707440"/>
              </p:ext>
            </p:extLst>
          </p:nvPr>
        </p:nvGraphicFramePr>
        <p:xfrm>
          <a:off x="1148766" y="2133650"/>
          <a:ext cx="9770977" cy="3581537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938048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3714585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  <a:gridCol w="4118344">
                  <a:extLst>
                    <a:ext uri="{9D8B030D-6E8A-4147-A177-3AD203B41FA5}">
                      <a16:colId xmlns:a16="http://schemas.microsoft.com/office/drawing/2014/main" val="2665701428"/>
                    </a:ext>
                  </a:extLst>
                </a:gridCol>
              </a:tblGrid>
              <a:tr h="567901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选择器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功能描述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示例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27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#id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获取指定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id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$('#btn')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id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为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btn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53827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*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匹配所有元素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$('*')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获取页面中的所有元素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53827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.class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获取同一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class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$('.tab')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获取所有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class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为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tab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53827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element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获取相同标签名的所有元素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$('div')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获取所有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div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894180"/>
                  </a:ext>
                </a:extLst>
              </a:tr>
              <a:tr h="8074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selector1, selector2,…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同时获取多个元素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$('</a:t>
                      </a:r>
                      <a:r>
                        <a:rPr lang="en-US" sz="20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div,p,li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')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同时获取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div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元素、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元素和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li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4180688"/>
                  </a:ext>
                </a:extLst>
              </a:tr>
            </a:tbl>
          </a:graphicData>
        </a:graphic>
      </p:graphicFrame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基本选择器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33282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485578"/>
            <a:ext cx="1058517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通过代码进行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演示。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214886" y="2277666"/>
            <a:ext cx="5476940" cy="193899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 class="fruit"&gt;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苹果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&lt;/div&gt;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console.log($('.fruit'));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.2.1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基本选择器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7541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9.2.2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层次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层次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选择器的使用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灵活应用层次选择器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获取元素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1727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4899447" y="1985403"/>
            <a:ext cx="6092303" cy="2722523"/>
            <a:chOff x="4899446" y="1985402"/>
            <a:chExt cx="6740375" cy="3417567"/>
          </a:xfrm>
        </p:grpSpPr>
        <p:sp>
          <p:nvSpPr>
            <p:cNvPr id="24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5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599" y="2233125"/>
              <a:ext cx="5887883" cy="3013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实际开发中，当需要获取某个元素的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子元素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后代元素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兄弟元素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时，可以使用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jQuery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层次选择器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。在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jQuery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中可以通过一些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指定符号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（如“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&gt;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”、空格、“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”和“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~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”）完成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多层次元素之间的获取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9.2.2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层次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4827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197546"/>
            <a:ext cx="676875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列举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中常用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层次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401206"/>
              </p:ext>
            </p:extLst>
          </p:nvPr>
        </p:nvGraphicFramePr>
        <p:xfrm>
          <a:off x="1116418" y="1989634"/>
          <a:ext cx="10009112" cy="3473241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278497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3204347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  <a:gridCol w="4526268">
                  <a:extLst>
                    <a:ext uri="{9D8B030D-6E8A-4147-A177-3AD203B41FA5}">
                      <a16:colId xmlns:a16="http://schemas.microsoft.com/office/drawing/2014/main" val="2665701428"/>
                    </a:ext>
                  </a:extLst>
                </a:gridCol>
              </a:tblGrid>
              <a:tr h="567899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选择器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功能描述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示例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27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parent &gt; child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获取所有子元素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$('</a:t>
                      </a:r>
                      <a:r>
                        <a:rPr lang="en-US" sz="20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ul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 &gt; li')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</a:t>
                      </a:r>
                      <a:r>
                        <a:rPr lang="en-US" sz="20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ul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元素下的所有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li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子元素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53827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selector selector1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获取所有后代元素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$('</a:t>
                      </a:r>
                      <a:r>
                        <a:rPr lang="en-US" sz="20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ul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 li')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</a:t>
                      </a:r>
                      <a:r>
                        <a:rPr lang="en-US" sz="2000" b="0" kern="1200" dirty="0" err="1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ul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元素下的所有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li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后代元素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53827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prev + next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获取后面紧邻的兄弟元素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$('div + .title')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div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元素后面紧邻的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class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为</a:t>
                      </a: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title</a:t>
                      </a: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的兄弟元素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53827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prev ~ siblings</a:t>
                      </a:r>
                      <a:endParaRPr lang="zh-CN" sz="2000" b="0" kern="120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b="0" kern="120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获取后面的所有兄弟元素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$('.bar ~ li')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class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为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bar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的元素后的所有</a:t>
                      </a:r>
                      <a:r>
                        <a:rPr lang="en-US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li</a:t>
                      </a:r>
                      <a:r>
                        <a:rPr lang="zh-CN" sz="2000" b="0" kern="12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兄弟元素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894180"/>
                  </a:ext>
                </a:extLst>
              </a:tr>
            </a:tbl>
          </a:graphicData>
        </a:graphic>
      </p:graphicFrame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9.2.2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层次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7303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182175"/>
            <a:ext cx="10585176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通过代码进行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演示。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2602818" y="1989634"/>
            <a:ext cx="7344816" cy="332398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&lt;li&gt;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&lt;/li&gt;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console.log($('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li'));	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9.2.2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层次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9822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9.2.3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筛选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筛选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选择器的使用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灵活应用筛选选择器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获取元素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0471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4899447" y="1985402"/>
            <a:ext cx="5156199" cy="2524512"/>
            <a:chOff x="4899446" y="1985401"/>
            <a:chExt cx="5704692" cy="3169005"/>
          </a:xfrm>
        </p:grpSpPr>
        <p:sp>
          <p:nvSpPr>
            <p:cNvPr id="24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167289" y="717558"/>
              <a:ext cx="3169005" cy="5704692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5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599" y="2358836"/>
              <a:ext cx="4931868" cy="24340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实际开发中，若需要对获取到的元素进行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筛选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，例如获取指定选择器中的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第一个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或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最后一个元素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，就可以使用</a:t>
              </a:r>
              <a:r>
                <a:rPr lang="en-US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jQuery</a:t>
              </a:r>
              <a:r>
                <a:rPr lang="zh-CN" altLang="zh-CN" sz="2000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的筛选选择器</a:t>
              </a:r>
              <a:r>
                <a:rPr lang="zh-CN" altLang="zh-CN" sz="20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完成。</a:t>
              </a:r>
            </a:p>
          </p:txBody>
        </p:sp>
      </p:grp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9.2.3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筛选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7464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943673"/>
            <a:ext cx="8568952" cy="489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列举</a:t>
            </a:r>
            <a:r>
              <a:rPr lang="en-US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中常用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en-US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筛选</a:t>
            </a:r>
            <a:r>
              <a:rPr lang="zh-CN" altLang="zh-CN" sz="18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</a:t>
            </a:r>
            <a:r>
              <a:rPr lang="zh-CN" altLang="zh-CN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器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，具体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</a:t>
            </a:r>
            <a:r>
              <a:rPr lang="zh-CN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所示。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616488"/>
              </p:ext>
            </p:extLst>
          </p:nvPr>
        </p:nvGraphicFramePr>
        <p:xfrm>
          <a:off x="1126654" y="1557586"/>
          <a:ext cx="10081120" cy="440050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484816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4519380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  <a:gridCol w="4076924">
                  <a:extLst>
                    <a:ext uri="{9D8B030D-6E8A-4147-A177-3AD203B41FA5}">
                      <a16:colId xmlns:a16="http://schemas.microsoft.com/office/drawing/2014/main" val="2665701428"/>
                    </a:ext>
                  </a:extLst>
                </a:gridCol>
              </a:tblGrid>
              <a:tr h="516129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选择器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功能描述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示例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007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:first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获取指定选择器中的第一个元素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$('li:first')</a:t>
                      </a:r>
                      <a:r>
                        <a:rPr lang="zh-CN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获取第一个</a:t>
                      </a:r>
                      <a:r>
                        <a:rPr lang="en-US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li</a:t>
                      </a:r>
                      <a:r>
                        <a:rPr lang="zh-CN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:last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获取指定选择器中的最后一个元素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$('li:last')</a:t>
                      </a:r>
                      <a:r>
                        <a:rPr lang="zh-CN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获取最后一个</a:t>
                      </a:r>
                      <a:r>
                        <a:rPr lang="en-US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li</a:t>
                      </a:r>
                      <a:r>
                        <a:rPr lang="zh-CN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:eq(index)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获取索引等于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index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的元素</a:t>
                      </a:r>
                      <a:r>
                        <a:rPr lang="zh-CN" alt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（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索引从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0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开始</a:t>
                      </a:r>
                      <a:r>
                        <a:rPr lang="zh-CN" alt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）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$('</a:t>
                      </a:r>
                      <a:r>
                        <a:rPr lang="en-US" sz="18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li:eq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(2)')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获取索引为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2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的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li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:gt(index)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获取索引大于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index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的元素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$('</a:t>
                      </a:r>
                      <a:r>
                        <a:rPr lang="en-US" sz="18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li:gt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(3)')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获取索引大于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3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的所有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li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894180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:</a:t>
                      </a:r>
                      <a:r>
                        <a:rPr lang="en-US" sz="18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lt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(index)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获取索引小于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index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的元素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$('</a:t>
                      </a:r>
                      <a:r>
                        <a:rPr lang="en-US" sz="18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li:lt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(3)')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获取索引小于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3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的所有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li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873026"/>
                  </a:ext>
                </a:extLst>
              </a:tr>
              <a:tr h="5440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:even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获取索引为偶数的元素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$('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li:even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')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获取索引为偶数的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li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20943"/>
                  </a:ext>
                </a:extLst>
              </a:tr>
            </a:tbl>
          </a:graphicData>
        </a:graphic>
      </p:graphicFrame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9.2.3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筛选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9851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670" y="780122"/>
            <a:ext cx="2016224" cy="489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&gt;&gt;</a:t>
            </a:r>
            <a:r>
              <a:rPr lang="zh-CN" altLang="en-US" sz="18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续上一页表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9.2.3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筛选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3249433"/>
              </p:ext>
            </p:extLst>
          </p:nvPr>
        </p:nvGraphicFramePr>
        <p:xfrm>
          <a:off x="1342678" y="1197546"/>
          <a:ext cx="9721081" cy="5567559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808573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4144647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  <a:gridCol w="3767861">
                  <a:extLst>
                    <a:ext uri="{9D8B030D-6E8A-4147-A177-3AD203B41FA5}">
                      <a16:colId xmlns:a16="http://schemas.microsoft.com/office/drawing/2014/main" val="2665701428"/>
                    </a:ext>
                  </a:extLst>
                </a:gridCol>
              </a:tblGrid>
              <a:tr h="401343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选择器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功能描述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示例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936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:odd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获取索引为奇数的元素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$('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li:odd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')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获取索引为奇数的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li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714049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:not(seletor)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获取除指定的选择器之外的其他元素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$('</a:t>
                      </a:r>
                      <a:r>
                        <a:rPr lang="en-US" sz="18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li:not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</a:t>
                      </a:r>
                      <a:r>
                        <a:rPr lang="en-US" sz="18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li:eq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(3))</a:t>
                      </a:r>
                      <a:r>
                        <a:rPr lang="en-US" alt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'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)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获取除索引为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3</a:t>
                      </a:r>
                      <a:r>
                        <a:rPr lang="zh-CN" alt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的</a:t>
                      </a:r>
                      <a:r>
                        <a:rPr lang="en-US" alt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li</a:t>
                      </a:r>
                      <a:r>
                        <a:rPr lang="zh-CN" alt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之外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的所有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li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714049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:focus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获取当前获得焦点的元素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$('input:focus')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获取当前获得焦点的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input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714049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:animated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获取所有正在运行动画效果的元素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$('</a:t>
                      </a:r>
                      <a:r>
                        <a:rPr lang="en-US" sz="18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div:animated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')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获取当前正在运行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动画</a:t>
                      </a:r>
                      <a:r>
                        <a:rPr lang="zh-CN" alt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效果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的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div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894180"/>
                  </a:ext>
                </a:extLst>
              </a:tr>
              <a:tr h="1071074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:target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选择由文档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URL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的格式化识别码表示的目标元素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若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URL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为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http://localhost/#foo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，则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$('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div:target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')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将获取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id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为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foo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的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div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873026"/>
                  </a:ext>
                </a:extLst>
              </a:tr>
              <a:tr h="714049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:contains(text)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获取内容包含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text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的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$(</a:t>
                      </a:r>
                      <a:r>
                        <a:rPr lang="en-US" alt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'</a:t>
                      </a:r>
                      <a:r>
                        <a:rPr lang="en-US" sz="18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li:contains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</a:t>
                      </a:r>
                      <a:r>
                        <a:rPr lang="en-US" sz="18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js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)</a:t>
                      </a:r>
                      <a:r>
                        <a:rPr lang="en-US" alt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'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)</a:t>
                      </a:r>
                      <a:r>
                        <a:rPr lang="zh-CN" alt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获取内容中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包含</a:t>
                      </a:r>
                      <a:r>
                        <a:rPr lang="en-US" sz="18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js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的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li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20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4184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56899"/>
              </p:ext>
            </p:extLst>
          </p:nvPr>
        </p:nvGraphicFramePr>
        <p:xfrm>
          <a:off x="1270670" y="1566759"/>
          <a:ext cx="9937104" cy="4455323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3977186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  <a:gridCol w="4159718">
                  <a:extLst>
                    <a:ext uri="{9D8B030D-6E8A-4147-A177-3AD203B41FA5}">
                      <a16:colId xmlns:a16="http://schemas.microsoft.com/office/drawing/2014/main" val="2665701428"/>
                    </a:ext>
                  </a:extLst>
                </a:gridCol>
              </a:tblGrid>
              <a:tr h="57818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选择器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功能描述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示例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781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:empty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获取内容为空的元素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$('li:empty')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获取内容为空的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li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805948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:has(selector)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获取内容包含指定选择器的元素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$("li:has('a')")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获取内容中包含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a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元素的所有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li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805948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:parent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获取带有子元素或包含文本的元素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$('li:parent')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获取带有子元素或包含文本的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li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682781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:hidden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获取所有隐藏元素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$('li:hidden')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获取所有隐藏的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li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894180"/>
                  </a:ext>
                </a:extLst>
              </a:tr>
              <a:tr h="682781">
                <a:tc>
                  <a:txBody>
                    <a:bodyPr/>
                    <a:lstStyle/>
                    <a:p>
                      <a:pPr marL="0" algn="ctr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:visible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获取所有可见元素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$('</a:t>
                      </a:r>
                      <a:r>
                        <a:rPr lang="en-US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li:visible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')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获取所有可见的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li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873026"/>
                  </a:ext>
                </a:extLst>
              </a:tr>
            </a:tbl>
          </a:graphicData>
        </a:graphic>
      </p:graphicFrame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9.2.3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筛选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8662" y="1062703"/>
            <a:ext cx="208823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&gt;&gt;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续上一页表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88032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039583"/>
            <a:ext cx="10801200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通过代码进行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演示。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016864" y="1821286"/>
            <a:ext cx="6732748" cy="424731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&lt;li&gt;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元素，索引为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0&lt;/li&gt;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&lt;li&gt;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元素，索引为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1&lt;/li&gt;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&lt;li&gt;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元素，索引为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2&lt;/li&gt;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$('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li:first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').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('color', 'red');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$('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ul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li:eq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(2)').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('color', 'blue');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9.2.3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筛选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73484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1388" y="1264638"/>
            <a:ext cx="8361592" cy="584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前面的示例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运行后，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使用了筛选选择器的输出结果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9.2.3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筛选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2798" y="2340966"/>
            <a:ext cx="6610854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055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0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9.2.4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其他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掌握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其他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rPr>
              <a:t>选择器的使用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灵活应用其他选择器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获取元素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7479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38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组合 22"/>
          <p:cNvGrpSpPr/>
          <p:nvPr/>
        </p:nvGrpSpPr>
        <p:grpSpPr>
          <a:xfrm>
            <a:off x="4899447" y="1985403"/>
            <a:ext cx="6668367" cy="2236479"/>
            <a:chOff x="4899446" y="1985402"/>
            <a:chExt cx="6740375" cy="3417567"/>
          </a:xfrm>
        </p:grpSpPr>
        <p:sp>
          <p:nvSpPr>
            <p:cNvPr id="24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25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7023" y="2189694"/>
              <a:ext cx="5908870" cy="29629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  <a:r>
                <a:rPr lang="en-US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jQuery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中，选择器的种类非常多，除了前面介绍的基本选择器、层次选择器和筛选选择器外，在开发中还可能会用到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其他选择器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属性选择器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子元素选择器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表单选择器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9.2.4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其他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7676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43690" y="909514"/>
            <a:ext cx="1927180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属性选择器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38622" y="1341562"/>
            <a:ext cx="10513168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68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中提供了根据元素的属性获取指定元素的选择器，即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属性选择器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7368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的属性选择器如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下表所示。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9.2.4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其他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42426"/>
              </p:ext>
            </p:extLst>
          </p:nvPr>
        </p:nvGraphicFramePr>
        <p:xfrm>
          <a:off x="1158103" y="2386060"/>
          <a:ext cx="10009112" cy="419763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784570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3801911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  <a:gridCol w="4422631">
                  <a:extLst>
                    <a:ext uri="{9D8B030D-6E8A-4147-A177-3AD203B41FA5}">
                      <a16:colId xmlns:a16="http://schemas.microsoft.com/office/drawing/2014/main" val="2665701428"/>
                    </a:ext>
                  </a:extLst>
                </a:gridCol>
              </a:tblGrid>
              <a:tr h="540034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选择器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功能描述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示例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980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[attr]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获取具有指定属性的元素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$('div[class]')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获取含有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class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属性的所有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div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72980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[attr=value]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获取属性值等于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value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$('div[class=current]')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class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属性值等于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current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的所有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div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80571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[attr!=value]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获取属性值不等于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value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$('div[class!=current]')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class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属性值不等于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current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的所有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div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72980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[attr^=value]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获取属性值以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value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开始的元素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$('div[class^=box]')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class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属性值以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box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开始的所有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div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894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845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10630" y="837506"/>
            <a:ext cx="237626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68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&gt;&gt;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续上一页表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9.2.4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其他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68440"/>
              </p:ext>
            </p:extLst>
          </p:nvPr>
        </p:nvGraphicFramePr>
        <p:xfrm>
          <a:off x="1198662" y="1341563"/>
          <a:ext cx="9793087" cy="526454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988070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3629670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  <a:gridCol w="4175347">
                  <a:extLst>
                    <a:ext uri="{9D8B030D-6E8A-4147-A177-3AD203B41FA5}">
                      <a16:colId xmlns:a16="http://schemas.microsoft.com/office/drawing/2014/main" val="2665701428"/>
                    </a:ext>
                  </a:extLst>
                </a:gridCol>
              </a:tblGrid>
              <a:tr h="553608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选择器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功能描述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示例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983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[attr$=value]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获取属性值以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value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结尾的元素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$('div[class$=er]') 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class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属性值以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er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结尾的所有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div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82983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[attr*=value]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获取属性值包含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value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$("div[class*='-']")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class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属性值中含有“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-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”符号的所有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div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151053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[attr~=value]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获取属性值包含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value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或以空格分隔并包含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value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$("div[class~='box']")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class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属性值等于“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box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”或通过空格分隔并含有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box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div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元素，如“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 box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”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124474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[attr1] [attr2]…</a:t>
                      </a:r>
                      <a:endParaRPr 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获取同时拥有多个属性的元素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$("input[id][name$='</a:t>
                      </a:r>
                      <a:r>
                        <a:rPr lang="en-US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usr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']")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获取同时含有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id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属性和属性值以</a:t>
                      </a:r>
                      <a:r>
                        <a:rPr lang="en-US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usr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结尾的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name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属性的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input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</a:t>
                      </a: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894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856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43690" y="1115504"/>
            <a:ext cx="221521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子元素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10630" y="1629594"/>
            <a:ext cx="1029714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68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开发过程中，若需要通过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子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元素，可以使用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子元素选择器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。常用的子元素选择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9.2.4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其他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7610045"/>
              </p:ext>
            </p:extLst>
          </p:nvPr>
        </p:nvGraphicFramePr>
        <p:xfrm>
          <a:off x="1198662" y="2637706"/>
          <a:ext cx="10009112" cy="364784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327700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3258781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  <a:gridCol w="4422631">
                  <a:extLst>
                    <a:ext uri="{9D8B030D-6E8A-4147-A177-3AD203B41FA5}">
                      <a16:colId xmlns:a16="http://schemas.microsoft.com/office/drawing/2014/main" val="2665701428"/>
                    </a:ext>
                  </a:extLst>
                </a:gridCol>
              </a:tblGrid>
              <a:tr h="44017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dirty="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选择器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功能描述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示例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80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:nth-child(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数字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/even/odd/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公式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按数字、奇数、偶数或公式获取元素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$('ul li:nth-child(3)')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获取所有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ul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中的第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li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61410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:first-child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获取第一个子元素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</a:t>
                      </a:r>
                      <a:r>
                        <a:rPr lang="en-US" sz="18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ul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li:first-child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')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获取所有</a:t>
                      </a:r>
                      <a:r>
                        <a:rPr lang="en-US" sz="18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ul</a:t>
                      </a:r>
                      <a:r>
                        <a:rPr lang="zh-CN" alt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第一个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li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55269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:last-child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获取最后一子元素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</a:t>
                      </a:r>
                      <a:r>
                        <a:rPr lang="en-US" alt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'</a:t>
                      </a:r>
                      <a:r>
                        <a:rPr lang="en-US" sz="18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ul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sz="18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li:last-child</a:t>
                      </a:r>
                      <a:r>
                        <a:rPr lang="en-US" alt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'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获取所有</a:t>
                      </a:r>
                      <a:r>
                        <a:rPr lang="en-US" sz="18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ul</a:t>
                      </a:r>
                      <a:r>
                        <a:rPr lang="zh-CN" alt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最后一个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li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61410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:only-child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如果当前元素是父元素唯一的子元素，则获取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$('ul li:only-child')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如果当前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li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元素是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ul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唯一的子元素，则获取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894180"/>
                  </a:ext>
                </a:extLst>
              </a:tr>
              <a:tr h="7018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:nth-last-child(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数字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/even/odd/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公式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按指定条件获取相同父元素中的子元素，计数从最后一个元素开始到第一个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ul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li:nth-last-child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(2)') 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获取所有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ul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中的最后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li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419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1943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9.2.4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其他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36153"/>
              </p:ext>
            </p:extLst>
          </p:nvPr>
        </p:nvGraphicFramePr>
        <p:xfrm>
          <a:off x="1054646" y="1463512"/>
          <a:ext cx="10153128" cy="496645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361192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3687480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  <a:gridCol w="4104456">
                  <a:extLst>
                    <a:ext uri="{9D8B030D-6E8A-4147-A177-3AD203B41FA5}">
                      <a16:colId xmlns:a16="http://schemas.microsoft.com/office/drawing/2014/main" val="2665701428"/>
                    </a:ext>
                  </a:extLst>
                </a:gridCol>
              </a:tblGrid>
              <a:tr h="44017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选择器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功能描述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示例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809"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:nth-of-type(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数字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/even/odd/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公式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按指定条件获取相同父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</a:t>
                      </a:r>
                      <a:r>
                        <a:rPr lang="zh-CN" alt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同类子元素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</a:t>
                      </a:r>
                      <a:r>
                        <a:rPr lang="en-US" sz="18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span:nth-of-type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(2)</a:t>
                      </a:r>
                      <a:r>
                        <a:rPr lang="en-US" alt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'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span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类型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</a:t>
                      </a:r>
                      <a:r>
                        <a:rPr lang="zh-CN" alt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中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第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个子元素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614105"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:first-of-type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获取同类元素中的第一个子元素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$('span:first-of-type')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span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类型元素中的第一个子元素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552695"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:last-of-type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获取同类元素中的最后一个子元素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span:last-of-type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')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span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类型元素中的最后一个子元素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614105"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:only-of-type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获取没有兄弟元素的同类子元素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</a:t>
                      </a:r>
                      <a:r>
                        <a:rPr lang="en-US" alt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'</a:t>
                      </a:r>
                      <a:r>
                        <a:rPr lang="en-US" sz="18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span:only-of-type</a:t>
                      </a:r>
                      <a:r>
                        <a:rPr lang="en-US" alt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'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获取没有兄弟元素的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span</a:t>
                      </a:r>
                      <a:r>
                        <a:rPr lang="zh-CN" alt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类型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子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894180"/>
                  </a:ext>
                </a:extLst>
              </a:tr>
              <a:tr h="701844"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:nth-last-of-type(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数字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/even/odd/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公式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按指定条件获取相同父元素下的同类子元素，计数从最后一个元素开始到第一个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2192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span:nth-last-of-type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(2)')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span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类型的最后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个子元素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419771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766614" y="909514"/>
            <a:ext cx="223224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68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&gt;&gt;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续上一页表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593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43690" y="1115504"/>
            <a:ext cx="2215212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0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表单选择器</a:t>
            </a:r>
            <a:endParaRPr lang="zh-CN" altLang="en-US" sz="20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66614" y="1765649"/>
            <a:ext cx="1058517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685" algn="just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在开发过程中，若需要对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进行操作，可以使用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表单选择器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获取表单元素。常用的表单选择器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如下表所示。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9.2.4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其他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42236"/>
              </p:ext>
            </p:extLst>
          </p:nvPr>
        </p:nvGraphicFramePr>
        <p:xfrm>
          <a:off x="1486694" y="2927401"/>
          <a:ext cx="9577064" cy="352672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3689154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  <a:gridCol w="4231726">
                  <a:extLst>
                    <a:ext uri="{9D8B030D-6E8A-4147-A177-3AD203B41FA5}">
                      <a16:colId xmlns:a16="http://schemas.microsoft.com/office/drawing/2014/main" val="2665701428"/>
                    </a:ext>
                  </a:extLst>
                </a:gridCol>
              </a:tblGrid>
              <a:tr h="440170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选择器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功能描述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18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示例</a:t>
                      </a:r>
                      <a:endParaRPr lang="zh-CN" sz="18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809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:input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获取页面中的所有表单元素，包括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select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元素以及</a:t>
                      </a: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textarea</a:t>
                      </a: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</a:t>
                      </a:r>
                      <a:r>
                        <a:rPr lang="en-US" sz="18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input:input</a:t>
                      </a:r>
                      <a:r>
                        <a:rPr lang="en-US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')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获取页面中的所有表单元素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61410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:text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获取所有的文本框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</a:t>
                      </a:r>
                      <a:r>
                        <a:rPr lang="en-US" alt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'</a:t>
                      </a:r>
                      <a:r>
                        <a:rPr lang="en-US" sz="18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input:text</a:t>
                      </a:r>
                      <a:r>
                        <a:rPr lang="en-US" alt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'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所有</a:t>
                      </a:r>
                      <a:r>
                        <a:rPr lang="zh-CN" alt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文本框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55269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:password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获取所有的密码框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</a:t>
                      </a:r>
                      <a:r>
                        <a:rPr lang="en-US" sz="18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input:password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')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所有</a:t>
                      </a:r>
                      <a:r>
                        <a:rPr lang="zh-CN" alt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密码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框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61410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:radio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获取所有的单选按钮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</a:t>
                      </a:r>
                      <a:r>
                        <a:rPr lang="en-US" sz="18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input:radio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')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所有</a:t>
                      </a:r>
                      <a:r>
                        <a:rPr lang="zh-CN" alt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单选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按钮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894180"/>
                  </a:ext>
                </a:extLst>
              </a:tr>
              <a:tr h="70184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:checkbox</a:t>
                      </a:r>
                      <a:endParaRPr lang="zh-CN" sz="18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获取所有的复选框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</a:t>
                      </a:r>
                      <a:r>
                        <a:rPr lang="en-US" sz="18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input:checkbox</a:t>
                      </a:r>
                      <a:r>
                        <a:rPr 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')</a:t>
                      </a:r>
                      <a:r>
                        <a:rPr lang="zh-CN" sz="18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所有</a:t>
                      </a:r>
                      <a:r>
                        <a:rPr lang="zh-CN" altLang="en-US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</a:t>
                      </a:r>
                      <a:r>
                        <a:rPr lang="zh-CN" sz="18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复选框</a:t>
                      </a:r>
                      <a:endParaRPr lang="zh-CN" sz="18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419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279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9.2.4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其他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10369"/>
              </p:ext>
            </p:extLst>
          </p:nvPr>
        </p:nvGraphicFramePr>
        <p:xfrm>
          <a:off x="1054645" y="1701602"/>
          <a:ext cx="9937105" cy="3844053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4752528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  <a:gridCol w="3816425">
                  <a:extLst>
                    <a:ext uri="{9D8B030D-6E8A-4147-A177-3AD203B41FA5}">
                      <a16:colId xmlns:a16="http://schemas.microsoft.com/office/drawing/2014/main" val="2665701428"/>
                    </a:ext>
                  </a:extLst>
                </a:gridCol>
              </a:tblGrid>
              <a:tr h="44017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选择器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功能描述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示例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809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:submit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获取提交按钮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$('input:submit')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获取提交按钮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61410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:reset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获取重置按钮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$('input:reset')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获取重置按钮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55269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:image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获取图像域，即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&lt;input type="image"&gt;</a:t>
                      </a:r>
                      <a:endParaRPr 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$('input:image')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获取图像域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61410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:button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获取所有按钮，包括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&lt;button&gt;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和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&lt;input type="button"&gt;</a:t>
                      </a:r>
                      <a:endParaRPr 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$('input:button')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获取所有按钮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894180"/>
                  </a:ext>
                </a:extLst>
              </a:tr>
              <a:tr h="70184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:file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获取文件域，即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&lt;input type="file"&gt;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</a:t>
                      </a:r>
                      <a:r>
                        <a:rPr lang="en-US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input:file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')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获取文件域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419771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711642" y="1147604"/>
            <a:ext cx="223224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68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&gt;&gt;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续上一页表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4659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9.2.4	</a:t>
            </a:r>
            <a:r>
              <a:rPr lang="zh-CN" altLang="en-US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其他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选择器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748712"/>
              </p:ext>
            </p:extLst>
          </p:nvPr>
        </p:nvGraphicFramePr>
        <p:xfrm>
          <a:off x="910630" y="1581292"/>
          <a:ext cx="10513168" cy="4549814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543892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3822970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  <a:gridCol w="5146306">
                  <a:extLst>
                    <a:ext uri="{9D8B030D-6E8A-4147-A177-3AD203B41FA5}">
                      <a16:colId xmlns:a16="http://schemas.microsoft.com/office/drawing/2014/main" val="2665701428"/>
                    </a:ext>
                  </a:extLst>
                </a:gridCol>
              </a:tblGrid>
              <a:tr h="436980"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选择器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功能描述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示例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82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:hidden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获取表单隐藏项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$('input:hidden')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获取表单隐藏项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69246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:enabled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获取所有可用表单元素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$('input:enabled')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获取所有可用表单元素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:disabled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获取所有不可用表单元素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</a:t>
                      </a:r>
                      <a:r>
                        <a:rPr lang="en-US" sz="2000" kern="1200" dirty="0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'</a:t>
                      </a:r>
                      <a:r>
                        <a:rPr lang="en-US" sz="20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input:di</a:t>
                      </a:r>
                      <a:r>
                        <a:rPr lang="en-US" altLang="zh-CN" sz="20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</a:t>
                      </a:r>
                      <a:r>
                        <a:rPr lang="en-US" sz="2000" kern="1200" dirty="0" err="1" smtClean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abled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')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获取所有不可用表单元素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1210848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:checked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获取所有选中的表单元素，主要针对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radio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元素和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checkbox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$(':checked')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获取所有被选中的表单元素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894180"/>
                  </a:ext>
                </a:extLst>
              </a:tr>
              <a:tr h="87396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:selected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获取所有选中的表单元素，主要针对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select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$('selected')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获取所有选中的表单元素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419771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694606" y="1022408"/>
            <a:ext cx="237626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68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&gt;&gt;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续上一页表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9666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4789384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r>
              <a:rPr lang="zh-CN" altLang="en-US" sz="4800" b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内容操作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.3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1619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内容操作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，能够灵活应用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中操作元素内容的方法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  jQuery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内容操作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13333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  jQuery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内容操作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7" name="Picture 7" descr="总结小人">
            <a:extLst>
              <a:ext uri="{FF2B5EF4-FFF2-40B4-BE49-F238E27FC236}">
                <a16:creationId xmlns:a16="http://schemas.microsoft.com/office/drawing/2014/main" id="{B6DA8452-0BB1-4A92-968E-A043641C5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574" y="773081"/>
            <a:ext cx="4077405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组合 9"/>
          <p:cNvGrpSpPr/>
          <p:nvPr/>
        </p:nvGrpSpPr>
        <p:grpSpPr>
          <a:xfrm>
            <a:off x="4367014" y="1985402"/>
            <a:ext cx="6668367" cy="3067074"/>
            <a:chOff x="4899446" y="1985402"/>
            <a:chExt cx="6740375" cy="3417567"/>
          </a:xfrm>
        </p:grpSpPr>
        <p:sp>
          <p:nvSpPr>
            <p:cNvPr id="11" name="圆角矩形标注 11">
              <a:extLst>
                <a:ext uri="{FF2B5EF4-FFF2-40B4-BE49-F238E27FC236}">
                  <a16:creationId xmlns:a16="http://schemas.microsoft.com/office/drawing/2014/main" id="{06575A5B-724F-4573-9E80-68A788A2FC82}"/>
                </a:ext>
              </a:extLst>
            </p:cNvPr>
            <p:cNvSpPr/>
            <p:nvPr/>
          </p:nvSpPr>
          <p:spPr bwMode="auto">
            <a:xfrm rot="5400000">
              <a:off x="6560850" y="323998"/>
              <a:ext cx="3417567" cy="6740375"/>
            </a:xfrm>
            <a:prstGeom prst="wedgeRoundRectCallout">
              <a:avLst/>
            </a:prstGeom>
            <a:noFill/>
            <a:ln w="2857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buFont typeface="Arial" panose="020B0604020202020204" pitchFamily="34" charset="0"/>
                <a:buNone/>
                <a:defRPr/>
              </a:pPr>
              <a:endParaRPr lang="zh-CN" altLang="en-US"/>
            </a:p>
          </p:txBody>
        </p:sp>
        <p:sp>
          <p:nvSpPr>
            <p:cNvPr id="12" name="矩形 5">
              <a:extLst>
                <a:ext uri="{FF2B5EF4-FFF2-40B4-BE49-F238E27FC236}">
                  <a16:creationId xmlns:a16="http://schemas.microsoft.com/office/drawing/2014/main" id="{8C22BF7A-4BC1-4144-9B36-68D1715B1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7023" y="2189694"/>
              <a:ext cx="5836084" cy="3189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en-US" altLang="zh-CN" sz="200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jQuery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提供了多个方法用于操作元素的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文本内容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。在网页开发中，若需要获取或设置元素的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，可以使用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html()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方法实现；若需要获取或设置元素的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文本内容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，可以使用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text()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方法实现；若需要获取或设置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表单元素的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value</a:t>
              </a:r>
              <a:r>
                <a:rPr lang="zh-CN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值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，可以使用</a:t>
              </a:r>
              <a:r>
                <a:rPr lang="en-US" altLang="zh-CN" sz="200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val()</a:t>
              </a:r>
              <a:r>
                <a:rPr lang="zh-CN" altLang="zh-CN" sz="200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方法实现。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416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2598" y="909514"/>
            <a:ext cx="792088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685"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下面列举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中元素内容操作的方法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489910"/>
              </p:ext>
            </p:extLst>
          </p:nvPr>
        </p:nvGraphicFramePr>
        <p:xfrm>
          <a:off x="910629" y="1557586"/>
          <a:ext cx="10369153" cy="4752528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2304257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5760640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665701428"/>
                    </a:ext>
                  </a:extLst>
                </a:gridCol>
              </a:tblGrid>
              <a:tr h="516129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选择器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功能描述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示例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00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html()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获取第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个匹配元素的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HTML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内容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html()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html(</a:t>
                      </a:r>
                      <a:r>
                        <a:rPr lang="en-US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htmlString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  <a:endParaRPr 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设置所有匹配元素的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HTML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内容为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htmlString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html(</a:t>
                      </a:r>
                      <a:r>
                        <a:rPr lang="en-US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htmlString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)</a:t>
                      </a:r>
                      <a:endParaRPr 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text()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获取所有匹配元素包含的文本内容组合起来的文本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text()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text(text)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设置所有匹配元素的文本内容为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text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text(text)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894180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val()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获取表单元素的</a:t>
                      </a: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value</a:t>
                      </a: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值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val()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851878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val(value)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设置表单元素的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value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值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val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(value)</a:t>
                      </a:r>
                      <a:endParaRPr 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42415"/>
                  </a:ext>
                </a:extLst>
              </a:tr>
            </a:tbl>
          </a:graphicData>
        </a:graphic>
      </p:graphicFrame>
      <p:sp>
        <p:nvSpPr>
          <p:cNvPr id="7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  jQuery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内容操作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6199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44" y="1607165"/>
            <a:ext cx="3715858" cy="4006159"/>
          </a:xfrm>
          <a:prstGeom prst="rect">
            <a:avLst/>
          </a:prstGeom>
        </p:spPr>
      </p:pic>
      <p:sp>
        <p:nvSpPr>
          <p:cNvPr id="9" name="Shape 2015"/>
          <p:cNvSpPr/>
          <p:nvPr/>
        </p:nvSpPr>
        <p:spPr>
          <a:xfrm>
            <a:off x="5015086" y="2133649"/>
            <a:ext cx="5544616" cy="2448273"/>
          </a:xfrm>
          <a:prstGeom prst="roundRect">
            <a:avLst>
              <a:gd name="adj" fmla="val 6918"/>
            </a:avLst>
          </a:prstGeom>
          <a:noFill/>
          <a:ln w="12700">
            <a:solidFill>
              <a:srgbClr val="A6AAA9"/>
            </a:solidFill>
            <a:miter lim="400000"/>
          </a:ln>
        </p:spPr>
        <p:txBody>
          <a:bodyPr lIns="19051" tIns="19051" rIns="19051" bIns="19051" anchor="ctr"/>
          <a:lstStyle/>
          <a:p>
            <a:pPr lvl="0"/>
            <a:endParaRPr sz="1735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375126" y="2358673"/>
            <a:ext cx="46085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需要获取内容的元素是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select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val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方法的返回结果是一个包含所选值的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；当需要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为表单元素设置选中情况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时，可以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val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方法传递数组参数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6" name="Title 1"/>
          <p:cNvSpPr txBox="1"/>
          <p:nvPr/>
        </p:nvSpPr>
        <p:spPr>
          <a:xfrm>
            <a:off x="1143691" y="266995"/>
            <a:ext cx="3895536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9.3  jQuery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内容操作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90086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6733001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样式操作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7561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63859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css()</a:t>
            </a:r>
            <a:r>
              <a:rPr lang="zh-CN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的使用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css()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方法操作元素的样式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0" y="266995"/>
            <a:ext cx="459988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	css()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方法操作元素的样式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27700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0" y="266995"/>
            <a:ext cx="459988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	css()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方法操作元素的样式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2638" y="1345728"/>
            <a:ext cx="9865096" cy="961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提供的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获取元素的样式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设置元素的样式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方法的具体用法和说明如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下表所示。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806739"/>
              </p:ext>
            </p:extLst>
          </p:nvPr>
        </p:nvGraphicFramePr>
        <p:xfrm>
          <a:off x="1111186" y="2637706"/>
          <a:ext cx="9736547" cy="2493819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543860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6192687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475898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方法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09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css(propertyName)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获取第一个匹配元素的样式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55642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css(propertyName,value)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为所有匹配的元素设置样式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50078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css(properties)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将一个键值对形式的对象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properties</a:t>
                      </a: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设置为所有匹配元素的样式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1488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0" y="266995"/>
            <a:ext cx="459988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	css()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方法操作元素的样式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2638" y="1485578"/>
            <a:ext cx="1044116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 err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中：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err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propertyName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是一个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样式属性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名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value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样式属性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properties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样式对象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，如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 color: 'red' }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需要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注意的是，当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方法接收对象作为参数时，如果属性名由两个单词组成，需要将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属性名中的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去掉，并将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个单词首字母大写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，例如，设置元素的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backgroud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-color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样式属性时，需要将属性名修改为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backgroudColor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39699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690" y="1845618"/>
            <a:ext cx="10208100" cy="1969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通过代码演示如何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方法操作元素的样式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首先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定义一个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&lt;div&gt;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，并设置其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宽度为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100px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高度为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100px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，背景颜色为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blue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css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将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宽度设置为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200px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高度为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200px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，背景颜色为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pink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1" name="Title 1"/>
          <p:cNvSpPr txBox="1"/>
          <p:nvPr/>
        </p:nvSpPr>
        <p:spPr>
          <a:xfrm>
            <a:off x="1143690" y="266995"/>
            <a:ext cx="459988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.4.1	css()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方法操作元素的样式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75520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0" y="266995"/>
            <a:ext cx="459988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操作元素样式类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638598" cy="99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操作元素样式类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灵活应用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操作元素样式类的方法</a:t>
            </a:r>
            <a:endParaRPr lang="zh-CN" altLang="en-US" sz="20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985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1143690" y="266995"/>
            <a:ext cx="459988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操作元素样式类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4646" y="1341562"/>
            <a:ext cx="10081120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网页开发中不仅可以使用类操作元素的样式，即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class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还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操作元素样式类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。下面列举操作元素样式类的方法，具体如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下表所示。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字魂58号-创中黑" panose="00000500000000000000" pitchFamily="2" charset="-122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2D9E032-3ACE-4053-B5BF-09A503F76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781955"/>
              </p:ext>
            </p:extLst>
          </p:nvPr>
        </p:nvGraphicFramePr>
        <p:xfrm>
          <a:off x="1358976" y="2781722"/>
          <a:ext cx="9472459" cy="2080202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701514">
                  <a:extLst>
                    <a:ext uri="{9D8B030D-6E8A-4147-A177-3AD203B41FA5}">
                      <a16:colId xmlns:a16="http://schemas.microsoft.com/office/drawing/2014/main" val="3909776539"/>
                    </a:ext>
                  </a:extLst>
                </a:gridCol>
                <a:gridCol w="5770945">
                  <a:extLst>
                    <a:ext uri="{9D8B030D-6E8A-4147-A177-3AD203B41FA5}">
                      <a16:colId xmlns:a16="http://schemas.microsoft.com/office/drawing/2014/main" val="1945888999"/>
                    </a:ext>
                  </a:extLst>
                </a:gridCol>
              </a:tblGrid>
              <a:tr h="475898"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用法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127000" algn="ctr">
                        <a:spcAft>
                          <a:spcPts val="0"/>
                        </a:spcAft>
                      </a:pPr>
                      <a:r>
                        <a:rPr lang="zh-CN" altLang="en-US" sz="2000" b="1" kern="1200" smtClean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zh-CN" sz="2000" b="1" kern="12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096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addClass(className)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为每个匹配的元素追加指定类名的样式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78534"/>
                  </a:ext>
                </a:extLst>
              </a:tr>
              <a:tr h="55642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removeClass(className)</a:t>
                      </a:r>
                      <a:endParaRPr lang="zh-CN" sz="2000" kern="120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从所有匹配的元素中删除全部或者指定的类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45817"/>
                  </a:ext>
                </a:extLst>
              </a:tr>
              <a:tr h="500783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toggleClass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(</a:t>
                      </a:r>
                      <a:r>
                        <a:rPr lang="en-US" sz="2000" kern="1200" dirty="0" err="1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className</a:t>
                      </a:r>
                      <a:r>
                        <a:rPr lang="en-US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)</a:t>
                      </a:r>
                      <a:endParaRPr lang="zh-CN" sz="2000" kern="120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2000" kern="120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</a:rPr>
                        <a:t>判断指定类是否存在，存在则删除，不存在则添加</a:t>
                      </a: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0076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7879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38" y="1413570"/>
            <a:ext cx="10352116" cy="2893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通过代码进行演示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首先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&lt;div&gt;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，这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类分别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first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second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third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再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addClass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添加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first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second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，然后使用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removeClass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删除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标签中的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first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类，最后使用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toggleClass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判断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&lt;div&gt;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标签中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是否存在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third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，若存在则删除该类，否则添加该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5" name="Title 1"/>
          <p:cNvSpPr txBox="1"/>
          <p:nvPr/>
        </p:nvSpPr>
        <p:spPr>
          <a:xfrm>
            <a:off x="1143690" y="266995"/>
            <a:ext cx="459988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操作元素样式类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2914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 txBox="1"/>
          <p:nvPr/>
        </p:nvSpPr>
        <p:spPr>
          <a:xfrm>
            <a:off x="1143690" y="266995"/>
            <a:ext cx="459988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9.4.2	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操作元素样式类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134766" y="1197546"/>
            <a:ext cx="7056784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元素样式的运行结果</a:t>
            </a: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如下图所示。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611" y="1989634"/>
            <a:ext cx="6908939" cy="386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475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3970118" y="3014256"/>
            <a:ext cx="5005408" cy="830997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4800" b="1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jQuery</a:t>
            </a:r>
            <a:r>
              <a:rPr lang="zh-CN" altLang="en-US" sz="4800" b="1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属性操作</a:t>
            </a:r>
            <a:endParaRPr lang="zh-CN" altLang="en-US" sz="4800" b="1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48"/>
          <p:cNvSpPr txBox="1"/>
          <p:nvPr/>
        </p:nvSpPr>
        <p:spPr>
          <a:xfrm>
            <a:off x="1626870" y="2809240"/>
            <a:ext cx="1734820" cy="1106805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altLang="zh-CN" sz="6600" b="1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</a:t>
            </a:r>
            <a:r>
              <a:rPr lang="en-US" altLang="en-GB" sz="6600" b="1" smtClean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.5</a:t>
            </a:r>
            <a:endParaRPr lang="en-US" altLang="en-GB" sz="6600" b="1" dirty="0">
              <a:solidFill>
                <a:srgbClr val="FAFAF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58905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prop()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方法的使用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应用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prop()</a:t>
            </a:r>
            <a:r>
              <a:rPr lang="zh-CN" altLang="en-US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操作元素的属性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0" y="266995"/>
            <a:ext cx="459988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9.5.1	prop()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484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0" y="266995"/>
            <a:ext cx="459988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9.5.1	prop()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43690" y="1245109"/>
            <a:ext cx="763284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prop()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获取或设置元素的属性值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，该方法的语法格式如下。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46734" y="2436646"/>
            <a:ext cx="8433600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$(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selector).prop(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propertyName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value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43690" y="3573810"/>
            <a:ext cx="1035211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上述语法格式中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selector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propertyName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value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。如果只传递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propertyName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参数，则表示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获取对应元素的属性值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；如果传递了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value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参数，表示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设置对应元素的属性值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17926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0" y="266995"/>
            <a:ext cx="459988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9.5.1	prop()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2638" y="1282760"/>
            <a:ext cx="1008112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通过代码进行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演示。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486694" y="2061642"/>
            <a:ext cx="9041336" cy="332398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&lt;a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href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="http://localhost" title="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与时俱进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"&gt;&lt;/a&gt;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console.log($('a').prop('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href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'));  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http://localhost/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$('a').prop('title',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实事求是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61551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/>
          <p:nvPr/>
        </p:nvSpPr>
        <p:spPr>
          <a:xfrm>
            <a:off x="1143690" y="266995"/>
            <a:ext cx="459988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9.5.1	prop()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02718" y="1074848"/>
            <a:ext cx="829799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下面演示如何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prop()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方法获取表单元素的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checked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值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46734" y="1917626"/>
            <a:ext cx="8433600" cy="424731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&lt;label for="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myCheckbox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"&gt;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选择：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&lt;input type="checkbox" id="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myCheckbox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" checked&gt;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&lt;/label&gt;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isChecked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$('#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myCheckbox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').prop('checked');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isChecked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72217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attr()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方法的使用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应用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attr()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获取或设置标签的属性值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0" y="266995"/>
            <a:ext cx="459988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9.5.2	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attr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()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89879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17616" y="1272685"/>
            <a:ext cx="994614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attr</a:t>
            </a:r>
            <a:r>
              <a:rPr lang="en-US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获取或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</a:t>
            </a:r>
            <a:r>
              <a:rPr lang="zh-CN" altLang="en-US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标签</a:t>
            </a:r>
            <a:r>
              <a:rPr lang="zh-CN" alt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属性值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例如，给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div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元素添加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index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属性，保存元素的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索引。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attr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方法的语法格式如下。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905644" y="2737142"/>
            <a:ext cx="8433600" cy="499624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$(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selector).attr(propertyName, value)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17616" y="3752666"/>
            <a:ext cx="994614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语法格式中，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selector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propertyName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value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属性值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。如果只传递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propertyName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参数，则表示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获取对应标签的属性值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；如果传递了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value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参数，表示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设置对应标签的属性值</a:t>
            </a:r>
            <a:r>
              <a:rPr lang="zh-CN" altLang="zh-CN" dirty="0"/>
              <a:t>。</a:t>
            </a:r>
          </a:p>
        </p:txBody>
      </p:sp>
      <p:sp>
        <p:nvSpPr>
          <p:cNvPr id="6" name="Title 1"/>
          <p:cNvSpPr txBox="1"/>
          <p:nvPr/>
        </p:nvSpPr>
        <p:spPr>
          <a:xfrm>
            <a:off x="1143690" y="266995"/>
            <a:ext cx="459988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9.5.2	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attr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()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67720" y="5561227"/>
            <a:ext cx="872163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只传递</a:t>
            </a:r>
            <a:r>
              <a:rPr lang="en-US" altLang="zh-CN" sz="2000" dirty="0" err="1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propertyName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，则表示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获取对应元素的属性值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13265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54646" y="1003588"/>
            <a:ext cx="963203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下面通过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代码进行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演示。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143690" y="1663719"/>
            <a:ext cx="9848060" cy="424731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 index="1" data-index="2"&gt;div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&lt;/div&gt;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console.log($('div').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attr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('index'));        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console.log($('div').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attr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('data-index'));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$('div').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attr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('index', 3);	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     	       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index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的属性值为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$('div').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attr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('data-index', 4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);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	         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data-index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的属性值为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4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143690" y="266995"/>
            <a:ext cx="459988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9.5.2	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attr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()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0798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1574172E-A3D8-43AB-9E82-549DB9FB48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215515"/>
            <a:ext cx="2797810" cy="3898265"/>
          </a:xfrm>
          <a:prstGeom prst="rect">
            <a:avLst/>
          </a:prstGeom>
        </p:spPr>
      </p:pic>
      <p:sp>
        <p:nvSpPr>
          <p:cNvPr id="12" name="TextBox 35">
            <a:extLst>
              <a:ext uri="{FF2B5EF4-FFF2-40B4-BE49-F238E27FC236}">
                <a16:creationId xmlns:a16="http://schemas.microsoft.com/office/drawing/2014/main" id="{88A2767E-6F2C-4E24-978D-C8C7F5710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5200" y="3636000"/>
            <a:ext cx="5429568" cy="104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掌握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data()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方法的使用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，能够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应用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data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en-US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en-US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获取或设置</a:t>
            </a:r>
            <a:r>
              <a:rPr lang="zh-CN" altLang="en-US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</a:t>
            </a:r>
            <a:endParaRPr lang="zh-CN" altLang="zh-CN" sz="200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17D419-9079-4D1F-99BA-23638A3FE48F}"/>
              </a:ext>
            </a:extLst>
          </p:cNvPr>
          <p:cNvGrpSpPr/>
          <p:nvPr/>
        </p:nvGrpSpPr>
        <p:grpSpPr>
          <a:xfrm>
            <a:off x="5379720" y="3816752"/>
            <a:ext cx="405130" cy="405130"/>
            <a:chOff x="8881" y="4685"/>
            <a:chExt cx="638" cy="638"/>
          </a:xfrm>
        </p:grpSpPr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7644041C-FD8B-4B62-94FA-4226E308886B}"/>
                </a:ext>
              </a:extLst>
            </p:cNvPr>
            <p:cNvSpPr/>
            <p:nvPr/>
          </p:nvSpPr>
          <p:spPr>
            <a:xfrm>
              <a:off x="8881" y="4685"/>
              <a:ext cx="638" cy="638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457E5-245E-48A8-8165-3C32BA3775C2}"/>
                </a:ext>
              </a:extLst>
            </p:cNvPr>
            <p:cNvSpPr/>
            <p:nvPr/>
          </p:nvSpPr>
          <p:spPr>
            <a:xfrm>
              <a:off x="8946" y="4750"/>
              <a:ext cx="508" cy="50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" name="椭圆形标注 12">
            <a:extLst>
              <a:ext uri="{FF2B5EF4-FFF2-40B4-BE49-F238E27FC236}">
                <a16:creationId xmlns:a16="http://schemas.microsoft.com/office/drawing/2014/main" id="{7B390C9A-D5FF-47D1-B4B4-0199AF6B48D8}"/>
              </a:ext>
            </a:extLst>
          </p:cNvPr>
          <p:cNvSpPr/>
          <p:nvPr/>
        </p:nvSpPr>
        <p:spPr>
          <a:xfrm>
            <a:off x="2968625" y="1560195"/>
            <a:ext cx="2071370" cy="1493520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</a:p>
        </p:txBody>
      </p:sp>
      <p:sp>
        <p:nvSpPr>
          <p:cNvPr id="17" name="TextBox 35">
            <a:extLst>
              <a:ext uri="{FF2B5EF4-FFF2-40B4-BE49-F238E27FC236}">
                <a16:creationId xmlns:a16="http://schemas.microsoft.com/office/drawing/2014/main" id="{D9A8924D-E4E3-41DB-9F07-89CCE28E2F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7390" y="1638300"/>
            <a:ext cx="160655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</a:p>
        </p:txBody>
      </p:sp>
      <p:sp>
        <p:nvSpPr>
          <p:cNvPr id="13" name="Title 1"/>
          <p:cNvSpPr txBox="1"/>
          <p:nvPr/>
        </p:nvSpPr>
        <p:spPr>
          <a:xfrm>
            <a:off x="1143690" y="266995"/>
            <a:ext cx="459988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9.5.3	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data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()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537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1396576"/>
            <a:ext cx="841094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data</a:t>
            </a:r>
            <a:r>
              <a:rPr lang="en-US" altLang="zh-CN" sz="200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用于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在指定的元素上获取或设置数据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，该方法的语法格式如下。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3443632" y="2466609"/>
            <a:ext cx="5374267" cy="553998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$(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selector).data(name, value)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03054" y="3536642"/>
            <a:ext cx="1034873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上述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语法格式中，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selector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选择器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数据名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value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数据值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20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只传递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name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参数，则表示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获取对应元素上的数据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；如果传递了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value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参数，表示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设置对应元素上的数据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7" name="Title 1"/>
          <p:cNvSpPr txBox="1"/>
          <p:nvPr/>
        </p:nvSpPr>
        <p:spPr>
          <a:xfrm>
            <a:off x="1143690" y="266995"/>
            <a:ext cx="459988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9.5.3	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data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()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67668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1197546"/>
            <a:ext cx="893733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通过代码进行</a:t>
            </a: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演示。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007690" y="1989634"/>
            <a:ext cx="10009112" cy="3323987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&lt;div&gt;div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&lt;/div&gt;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$('div').data('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userName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', '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小智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');       	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设置数据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console.log($('div').data('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userName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'));	</a:t>
            </a:r>
            <a:r>
              <a:rPr lang="en-US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获取数据，输出结果为：小智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266995"/>
            <a:ext cx="459988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9.5.3	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data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()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38003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2638" y="1315026"/>
            <a:ext cx="1022513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data()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不仅可以在指定的元素上获取或设置数据，而且可以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读取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HTML5</a:t>
            </a:r>
            <a:r>
              <a:rPr lang="zh-CN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自定义属性</a:t>
            </a:r>
            <a:r>
              <a:rPr lang="en-US" altLang="zh-CN" sz="20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data-index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，示例代码如下</a:t>
            </a:r>
            <a:r>
              <a:rPr lang="zh-CN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D7E020-D0A4-47DE-BE0C-F3967B274E91}"/>
              </a:ext>
            </a:extLst>
          </p:cNvPr>
          <p:cNvSpPr txBox="1"/>
          <p:nvPr/>
        </p:nvSpPr>
        <p:spPr>
          <a:xfrm>
            <a:off x="1878406" y="2709714"/>
            <a:ext cx="8433600" cy="2862322"/>
          </a:xfrm>
          <a:prstGeom prst="rect">
            <a:avLst/>
          </a:prstGeom>
          <a:solidFill>
            <a:srgbClr val="F2F2F2"/>
          </a:solidFill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body&gt;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&lt;div index="1" data-index="2"&gt;div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元素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&lt;/div&gt;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  console.log($('div').data('index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'));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     // </a:t>
            </a:r>
            <a:r>
              <a:rPr lang="zh-CN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输出结果为：</a:t>
            </a: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  &lt;/script&gt;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zh-CN" sz="20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&lt;/body&gt;</a:t>
            </a:r>
            <a:endParaRPr lang="zh-CN" altLang="zh-CN" sz="20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143690" y="266995"/>
            <a:ext cx="459988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ClrTx/>
              <a:buSzTx/>
              <a:buFontTx/>
            </a:pP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9.5.3	</a:t>
            </a:r>
            <a:r>
              <a:rPr lang="en-US" altLang="zh-CN" sz="24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data</a:t>
            </a:r>
            <a:r>
              <a:rPr lang="en-US" altLang="zh-CN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()</a:t>
            </a:r>
            <a:r>
              <a:rPr lang="zh-CN" altLang="en-US" sz="24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18843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73F6908-92E7-4A91-863C-1B36143E8DCD}"/>
              </a:ext>
            </a:extLst>
          </p:cNvPr>
          <p:cNvSpPr txBox="1"/>
          <p:nvPr/>
        </p:nvSpPr>
        <p:spPr>
          <a:xfrm>
            <a:off x="1143691" y="333449"/>
            <a:ext cx="4807500" cy="439631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</a:p>
        </p:txBody>
      </p:sp>
      <p:sp>
        <p:nvSpPr>
          <p:cNvPr id="4" name="圆角矩形 26">
            <a:extLst>
              <a:ext uri="{FF2B5EF4-FFF2-40B4-BE49-F238E27FC236}">
                <a16:creationId xmlns:a16="http://schemas.microsoft.com/office/drawing/2014/main" id="{FB40132D-FEA4-4137-839F-407CBE609B3F}"/>
              </a:ext>
            </a:extLst>
          </p:cNvPr>
          <p:cNvSpPr/>
          <p:nvPr/>
        </p:nvSpPr>
        <p:spPr>
          <a:xfrm>
            <a:off x="1198880" y="1810385"/>
            <a:ext cx="9794240" cy="3419609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5" name="TextBox 38">
            <a:extLst>
              <a:ext uri="{FF2B5EF4-FFF2-40B4-BE49-F238E27FC236}">
                <a16:creationId xmlns:a16="http://schemas.microsoft.com/office/drawing/2014/main" id="{814CCD3C-575E-4C15-89E6-3D4FA5A051F1}"/>
              </a:ext>
            </a:extLst>
          </p:cNvPr>
          <p:cNvSpPr txBox="1"/>
          <p:nvPr/>
        </p:nvSpPr>
        <p:spPr>
          <a:xfrm>
            <a:off x="1627172" y="2517644"/>
            <a:ext cx="9004538" cy="23083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本章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主要对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的上半部分内容进行讲解，首先讲解了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什么是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下载和引入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的简单使用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对象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，然后讲解了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，包括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基本选择器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层次选择器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筛选选择器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其他选择器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，最后讲解了</a:t>
            </a:r>
            <a:r>
              <a:rPr lang="en-US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内容操作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样式操作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属性操作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。通过本章的学习，读者能够运用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jQuery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开发常见的</a:t>
            </a:r>
            <a:r>
              <a:rPr lang="zh-CN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网页交互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功能。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2D02CBD-122C-4126-9C27-9F5A42D82327}"/>
              </a:ext>
            </a:extLst>
          </p:cNvPr>
          <p:cNvSpPr/>
          <p:nvPr/>
        </p:nvSpPr>
        <p:spPr>
          <a:xfrm>
            <a:off x="442023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48D732B-AEB5-4AF0-80CB-E49986E102F7}"/>
              </a:ext>
            </a:extLst>
          </p:cNvPr>
          <p:cNvSpPr/>
          <p:nvPr/>
        </p:nvSpPr>
        <p:spPr>
          <a:xfrm>
            <a:off x="513905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章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B0611DBD-A63B-4039-A64B-C5315892C467}"/>
              </a:ext>
            </a:extLst>
          </p:cNvPr>
          <p:cNvSpPr/>
          <p:nvPr/>
        </p:nvSpPr>
        <p:spPr>
          <a:xfrm>
            <a:off x="585787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CAB7274-D61E-48A3-90F6-2DA430D6E3B7}"/>
              </a:ext>
            </a:extLst>
          </p:cNvPr>
          <p:cNvSpPr/>
          <p:nvPr/>
        </p:nvSpPr>
        <p:spPr>
          <a:xfrm>
            <a:off x="6576695" y="1401445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结</a:t>
            </a:r>
          </a:p>
        </p:txBody>
      </p:sp>
    </p:spTree>
    <p:extLst>
      <p:ext uri="{BB962C8B-B14F-4D97-AF65-F5344CB8AC3E}">
        <p14:creationId xmlns:p14="http://schemas.microsoft.com/office/powerpoint/2010/main" val="418751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488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14862</TotalTime>
  <Words>5474</Words>
  <Application>Microsoft Office PowerPoint</Application>
  <PresentationFormat>自定义</PresentationFormat>
  <Paragraphs>627</Paragraphs>
  <Slides>80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80</vt:i4>
      </vt:variant>
    </vt:vector>
  </HeadingPairs>
  <TitlesOfParts>
    <vt:vector size="91" baseType="lpstr">
      <vt:lpstr>Source Han Sans K Bold</vt:lpstr>
      <vt:lpstr>思源黑体 CN Medium</vt:lpstr>
      <vt:lpstr>宋体</vt:lpstr>
      <vt:lpstr>微软雅黑</vt:lpstr>
      <vt:lpstr>字魂105号-简雅黑</vt:lpstr>
      <vt:lpstr>字魂58号-创中黑</vt:lpstr>
      <vt:lpstr>Arial</vt:lpstr>
      <vt:lpstr>Calibri</vt:lpstr>
      <vt:lpstr>Wingdings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hd</cp:lastModifiedBy>
  <cp:revision>5655</cp:revision>
  <dcterms:created xsi:type="dcterms:W3CDTF">2020-11-09T06:56:00Z</dcterms:created>
  <dcterms:modified xsi:type="dcterms:W3CDTF">2024-04-19T08:35:17Z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2052-11.1.0.10072</vt:lpwstr>
  </property>
</Properties>
</file>