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06"/>
  </p:notesMasterIdLst>
  <p:handoutMasterIdLst>
    <p:handoutMasterId r:id="rId107"/>
  </p:handoutMasterIdLst>
  <p:sldIdLst>
    <p:sldId id="325" r:id="rId3"/>
    <p:sldId id="1129" r:id="rId4"/>
    <p:sldId id="1538" r:id="rId5"/>
    <p:sldId id="328" r:id="rId6"/>
    <p:sldId id="1146" r:id="rId7"/>
    <p:sldId id="309" r:id="rId8"/>
    <p:sldId id="1059" r:id="rId9"/>
    <p:sldId id="1125" r:id="rId10"/>
    <p:sldId id="1423" r:id="rId11"/>
    <p:sldId id="1539" r:id="rId12"/>
    <p:sldId id="1492" r:id="rId13"/>
    <p:sldId id="1419" r:id="rId14"/>
    <p:sldId id="1489" r:id="rId15"/>
    <p:sldId id="1540" r:id="rId16"/>
    <p:sldId id="1289" r:id="rId17"/>
    <p:sldId id="1541" r:id="rId18"/>
    <p:sldId id="1542" r:id="rId19"/>
    <p:sldId id="1543" r:id="rId20"/>
    <p:sldId id="1493" r:id="rId21"/>
    <p:sldId id="1424" r:id="rId22"/>
    <p:sldId id="1439" r:id="rId23"/>
    <p:sldId id="1304" r:id="rId24"/>
    <p:sldId id="1427" r:id="rId25"/>
    <p:sldId id="1497" r:id="rId26"/>
    <p:sldId id="1498" r:id="rId27"/>
    <p:sldId id="1544" r:id="rId28"/>
    <p:sldId id="1545" r:id="rId29"/>
    <p:sldId id="1277" r:id="rId30"/>
    <p:sldId id="1546" r:id="rId31"/>
    <p:sldId id="1499" r:id="rId32"/>
    <p:sldId id="1501" r:id="rId33"/>
    <p:sldId id="1547" r:id="rId34"/>
    <p:sldId id="1548" r:id="rId35"/>
    <p:sldId id="1550" r:id="rId36"/>
    <p:sldId id="1551" r:id="rId37"/>
    <p:sldId id="1553" r:id="rId38"/>
    <p:sldId id="1552" r:id="rId39"/>
    <p:sldId id="1549" r:id="rId40"/>
    <p:sldId id="1502" r:id="rId41"/>
    <p:sldId id="1554" r:id="rId42"/>
    <p:sldId id="1555" r:id="rId43"/>
    <p:sldId id="1556" r:id="rId44"/>
    <p:sldId id="1557" r:id="rId45"/>
    <p:sldId id="1161" r:id="rId46"/>
    <p:sldId id="1356" r:id="rId47"/>
    <p:sldId id="1462" r:id="rId48"/>
    <p:sldId id="1558" r:id="rId49"/>
    <p:sldId id="1465" r:id="rId50"/>
    <p:sldId id="1559" r:id="rId51"/>
    <p:sldId id="1383" r:id="rId52"/>
    <p:sldId id="1560" r:id="rId53"/>
    <p:sldId id="1561" r:id="rId54"/>
    <p:sldId id="1562" r:id="rId55"/>
    <p:sldId id="1163" r:id="rId56"/>
    <p:sldId id="1477" r:id="rId57"/>
    <p:sldId id="1563" r:id="rId58"/>
    <p:sldId id="1564" r:id="rId59"/>
    <p:sldId id="1565" r:id="rId60"/>
    <p:sldId id="1566" r:id="rId61"/>
    <p:sldId id="1532" r:id="rId62"/>
    <p:sldId id="1533" r:id="rId63"/>
    <p:sldId id="1567" r:id="rId64"/>
    <p:sldId id="1568" r:id="rId65"/>
    <p:sldId id="1536" r:id="rId66"/>
    <p:sldId id="1605" r:id="rId67"/>
    <p:sldId id="1569" r:id="rId68"/>
    <p:sldId id="1570" r:id="rId69"/>
    <p:sldId id="1606" r:id="rId70"/>
    <p:sldId id="1571" r:id="rId71"/>
    <p:sldId id="1572" r:id="rId72"/>
    <p:sldId id="1573" r:id="rId73"/>
    <p:sldId id="1574" r:id="rId74"/>
    <p:sldId id="1575" r:id="rId75"/>
    <p:sldId id="1576" r:id="rId76"/>
    <p:sldId id="1577" r:id="rId77"/>
    <p:sldId id="1578" r:id="rId78"/>
    <p:sldId id="1607" r:id="rId79"/>
    <p:sldId id="1608" r:id="rId80"/>
    <p:sldId id="1580" r:id="rId81"/>
    <p:sldId id="1581" r:id="rId82"/>
    <p:sldId id="1579" r:id="rId83"/>
    <p:sldId id="1582" r:id="rId84"/>
    <p:sldId id="1583" r:id="rId85"/>
    <p:sldId id="1584" r:id="rId86"/>
    <p:sldId id="1585" r:id="rId87"/>
    <p:sldId id="1586" r:id="rId88"/>
    <p:sldId id="1587" r:id="rId89"/>
    <p:sldId id="1588" r:id="rId90"/>
    <p:sldId id="1589" r:id="rId91"/>
    <p:sldId id="1590" r:id="rId92"/>
    <p:sldId id="1591" r:id="rId93"/>
    <p:sldId id="1592" r:id="rId94"/>
    <p:sldId id="1593" r:id="rId95"/>
    <p:sldId id="1595" r:id="rId96"/>
    <p:sldId id="1598" r:id="rId97"/>
    <p:sldId id="1596" r:id="rId98"/>
    <p:sldId id="1599" r:id="rId99"/>
    <p:sldId id="1601" r:id="rId100"/>
    <p:sldId id="1602" r:id="rId101"/>
    <p:sldId id="1603" r:id="rId102"/>
    <p:sldId id="1604" r:id="rId103"/>
    <p:sldId id="1416" r:id="rId104"/>
    <p:sldId id="1417" r:id="rId105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8" autoAdjust="0"/>
    <p:restoredTop sz="95974" autoAdjust="0"/>
  </p:normalViewPr>
  <p:slideViewPr>
    <p:cSldViewPr>
      <p:cViewPr varScale="1">
        <p:scale>
          <a:sx n="77" d="100"/>
          <a:sy n="77" d="100"/>
        </p:scale>
        <p:origin x="114" y="516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ableStyles" Target="tableStyles.xml"/><Relationship Id="rId16" Type="http://schemas.openxmlformats.org/officeDocument/2006/relationships/slide" Target="slides/slide14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commentAuthors" Target="commentAuthor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presProps" Target="presProp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657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90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520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99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80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50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155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369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253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791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018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7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326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349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9184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815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7309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65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0634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465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821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9612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937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522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1561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7597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2531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7837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5361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6938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9144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879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046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1774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6029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9938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0862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6819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3865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2527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012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56963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65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2829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8299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34606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5476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80321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34955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09861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3956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6447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34096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73585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9810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55168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62968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9626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45272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1851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97491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61507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42243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02473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81729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14288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2792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41401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DOM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（上）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270670" y="1989634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Web API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的概念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，能够阐述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Web API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的作用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70670" y="2959856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了解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什么是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，能够描述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中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文档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节点的关系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270670" y="3927966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获取元素的方法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，能够根据不同场景选择合适的方法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获取元素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70670" y="4862637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事件的概念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，能够描述事件的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3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个要素</a:t>
              </a: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270670" y="1989634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事件的注册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，能够为页面中的元素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注册事件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70670" y="2959856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操作元素内容的方法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，能够根据不同场景选择合适的方法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操作元素内容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270670" y="3927966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操作元素属性的方法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，能够根据不同场景选择合适的方法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操作元素属性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70670" y="4862637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操作元素样式的方法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，能够根据不同场景选择合适的方法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操作元素样式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192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646" y="2349674"/>
            <a:ext cx="10125832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1~5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章的学习，相信读者已经掌握了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的基础知识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。在实际开发过程中，若要实现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网页交互效果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，仅仅掌握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的基础知识是不够的，还需要进一步学习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主要学习使用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实现网页交互效果，由于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的知识内容较多，所以本章首先对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（上）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的基本知识进行讲解，关于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（下）和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的相关知识将在后续章节中讲解。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1939805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2812465"/>
            <a:ext cx="1192190" cy="613061"/>
            <a:chOff x="2215144" y="2033848"/>
            <a:chExt cx="1244730" cy="842781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4372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707900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1917626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Web API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简介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790294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DOM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简介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686247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获取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元素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21104" y="4617154"/>
            <a:ext cx="1192190" cy="613061"/>
            <a:chOff x="2215144" y="3084852"/>
            <a:chExt cx="1244730" cy="842781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0853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26656" y="4595502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事件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基础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35718" y="5539678"/>
            <a:ext cx="1192190" cy="613061"/>
            <a:chOff x="2215144" y="3084852"/>
            <a:chExt cx="1244730" cy="842781"/>
          </a:xfrm>
        </p:grpSpPr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0853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41270" y="5518026"/>
            <a:ext cx="5142331" cy="613062"/>
            <a:chOff x="4315150" y="2341731"/>
            <a:chExt cx="3857250" cy="540057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操作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元素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 API</a:t>
            </a: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11156"/>
            <a:ext cx="563894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的概念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，能够阐述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API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的作用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  Web API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6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611415" y="1985402"/>
            <a:ext cx="6668368" cy="2452504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7476" y="2292329"/>
              <a:ext cx="5901557" cy="2701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API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Application </a:t>
              </a:r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Program 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Interface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应用程序接口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）是软件系统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预先定义的接口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，用于软件系统不同组成部分的衔接。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Web API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Web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开发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中用到的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  Web API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62174"/>
            <a:ext cx="6768752" cy="292380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9062" y="2453364"/>
            <a:ext cx="633670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，开发一个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美颜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相机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手机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应用，该手机应用需要使用手机上的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摄像头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拍摄画面，手机的操作系统需要将访问摄像头的功能开放给手机应用，为此，手机操作系统提供了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摄像头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，手机应用通过摄像头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就可以获得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访问摄像头的功能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  Web API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280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8662" y="1341562"/>
            <a:ext cx="1022513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API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被封装成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，用于帮助开发者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实现某种功能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。开发人员无须访问对象源代码，也无须理解对象内部工作机制和细节，只需要掌握如何使用对象的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，在程序中，经常使用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输出一些信息，其中，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API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对象，用于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操作控制台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log()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在控制台输出信息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都包含一系列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，这些对象都属于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API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  Web API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757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DOM</a:t>
            </a: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9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，能够描述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节点的关系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  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01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5" y="1985404"/>
            <a:ext cx="6380335" cy="3244591"/>
            <a:chOff x="4899444" y="1985403"/>
            <a:chExt cx="6740375" cy="3566754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486255" y="398592"/>
              <a:ext cx="3566754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004" y="2189678"/>
              <a:ext cx="5765389" cy="3134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Document Object Model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，文档对象模型）是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W3C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组织制定的用于处理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HTML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文档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XML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文档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编程接口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。在网页开发中，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扮演着非常重要的角色，使用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操作元素的内容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样式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等，从而实现丰富多彩的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网页交互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效果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  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383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62174"/>
            <a:ext cx="6768752" cy="2419748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9062" y="2453364"/>
            <a:ext cx="63367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将整个文档视为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树形结构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，这个结构被称为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文档树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。页面中所有的内容在文档树中都是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），所有的节点都会被看作是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，这些对象都拥有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  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602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125538"/>
            <a:ext cx="10369152" cy="4501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有多种类型，常见的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解释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：代表页面中的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标签属于元素节点，通常称为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：代表页面中的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”中的“内容”属于文本节点。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注释节点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：代表页面中的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注释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&lt;!--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注释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--&gt;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”属于注释节点。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整个文档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文档类型节点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：代表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文档的类型定义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&lt;!DOCTYPE html&gt;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”属于文档类型节点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  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97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341562"/>
            <a:ext cx="103691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不同节点之间的关系可以用传统的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家族关系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进行描述，例如，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父子关系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兄弟关系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，通过这些关系可以将节点划分为不同层级，具体如下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某一节点的上级节点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某一节点的下级节点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兄弟节点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同一个父节点的两个子节点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整个文档的根节点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。根节点是文档树中唯一没有父节点的节点，所有其他节点都是根节点的后代。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  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443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053530"/>
            <a:ext cx="10441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一个节点的父节点、子节点或兄弟节点是元素节点，则可以将其称为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兄弟元素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对应的标签为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&lt;html&gt;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演示一个简单的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  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33" y="2530858"/>
            <a:ext cx="8188611" cy="385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4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485578"/>
            <a:ext cx="99371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节点对象有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个常用的属性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解释如下。</a:t>
            </a: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nodeType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获取数字表示的节点类型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注释节点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文档类型节点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>
              <a:lnSpc>
                <a:spcPct val="150000"/>
              </a:lnSpc>
            </a:pPr>
            <a:endParaRPr lang="zh-CN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nodeName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获取节点名称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>
              <a:lnSpc>
                <a:spcPct val="150000"/>
              </a:lnSpc>
            </a:pPr>
            <a:endParaRPr lang="zh-CN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nodeValue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获取节点值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，适用于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注释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节点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  DOM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837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1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getElementById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id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8298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62" y="1341562"/>
            <a:ext cx="972108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中，为元素设置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可以作为元素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设置唯一标识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getElementById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，该方法的语法格式如下。</a:t>
            </a:r>
          </a:p>
          <a:p>
            <a:pPr algn="just"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413227" y="2781722"/>
            <a:ext cx="529195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document.getElementById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(id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59715" y="3798309"/>
            <a:ext cx="93440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语法格式中，参数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。在调用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getElementById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方法后会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返回一个元素对象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，这个元素对象就是根据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目标元素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。若没有找到指定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元素，则返回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id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550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id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10078" y="943944"/>
            <a:ext cx="824226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getElementById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82086" y="1554125"/>
            <a:ext cx="6849424" cy="502939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&lt;ul&gt;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 id="menu"&gt;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家居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美妆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食品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&lt;/ul&gt;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属性获取元素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Obox = document.getElementById('menu');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console.log(Obox);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482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根据标签名获取元素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getElementsByTagName()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172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5613" y="1099988"/>
            <a:ext cx="10246177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实际开发中，有时需要获取多个元素，而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getElementById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一次只能获取一个元素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获取多个元素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时，操作比较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烦琐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。为此，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对象还提供了一种通过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获取元素的方法，即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getElementsByTagName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方法，该方法的语法格式如下。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638822" y="3044818"/>
            <a:ext cx="6845935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document.getElementsByTagName(name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3690" y="4077866"/>
            <a:ext cx="102080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getElementsByTagName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方法时，只需将标签名作为参数传入即可。由于具有相同标签名的元素可能有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，所以该方法的返回结果不是单个元素对象，而是一个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集合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129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790" y="909514"/>
            <a:ext cx="85143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getElementsByTagName()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8070" y="1568756"/>
            <a:ext cx="8433600" cy="502939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&lt;ul&gt;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家居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美妆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&lt;li&gt;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食品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&lt;/ul&gt;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根据标签名获取元素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document.getElementsByTagName('li');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console.log(list);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88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269554"/>
            <a:ext cx="10064083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注意的是，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getElementsByTagName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方法返回的集合与数组的使用方法类似，但是它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本质上并不是数组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。为了证明这一点，可以通过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代码的第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行代码下方添加如下代码进行验证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26006" y="3078507"/>
            <a:ext cx="8433600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console.log(Array.isArray(list));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4005858"/>
            <a:ext cx="99371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代码后，控制台输出的结果为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，说明调用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getElementsByTagName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方法后返回的结果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不是数组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。这种类似数组但不是数组的数据称为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类数组（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array-like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，类数组对象可以像数组一样通过索引访问元素，但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不能使用数组的方法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8819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414686" y="1917626"/>
            <a:ext cx="64807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注意的是，即使页面中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只有一个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getElementsByTagName()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方法返回的结果仍然是一个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集合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，如果页面中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没有该元素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那么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返回一个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空集合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。通过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getElementsByTagName()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方法获取到的集合是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动态集合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，当页面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增加标签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时，在该集合中也会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自动增加元素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8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2015"/>
          <p:cNvSpPr/>
          <p:nvPr/>
        </p:nvSpPr>
        <p:spPr>
          <a:xfrm>
            <a:off x="1016000" y="1750881"/>
            <a:ext cx="7233620" cy="3191081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629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name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getElementsByName()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885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183979"/>
            <a:ext cx="10280107" cy="1600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在实际开发中，经常需要编写表单页面的交互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此时就需要获取表单元素。表单元素通过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设置元素名称，为了通过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属性获取表单元素，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getElementsByName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方法，该方法的语法格式如下</a:t>
            </a:r>
            <a:r>
              <a:rPr lang="zh-CN" altLang="zh-CN" dirty="0"/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194158" y="3141762"/>
            <a:ext cx="5781368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document.getElementsByName(name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4083090"/>
            <a:ext cx="102801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方法时，只需将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属性值作为参数传入即可，由于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属性的值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不要求必须唯一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，多个元素可以有相同的名称，如表单中的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单选框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复选框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等，所以该方法的返回结果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不是单个元素对象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集合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name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855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8584" y="884953"/>
            <a:ext cx="867257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getElementsByName()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6.3.3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name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8070" y="1485578"/>
            <a:ext cx="8553086" cy="51706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&lt;p&gt;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请选择你最喜欢的水果（多选）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&lt;/p&gt;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&lt;input type="checkbox" name="fruit" value="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草莓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草莓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&lt;input type="checkbox" name="fruit" value="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雪梨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雪梨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&lt;input type="checkbox" name="fruit" value="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芒果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芒果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favoriteFruit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document.getElementsByName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('fruit');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favoriteFruit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favoriteFruit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[2]);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054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根据类名获取元素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getElementsByClassName()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33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183979"/>
            <a:ext cx="10424123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如果需要根据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获取元素，可以在页面中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为元素设置类名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对象提供的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getElementsByClassName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方法获取元素，该方法的语法格式如下。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672980" y="2641313"/>
            <a:ext cx="6645464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document.getElementsByClassName(names)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70670" y="3645818"/>
            <a:ext cx="95770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表示要匹配的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类名列表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，多个类名之间使用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空格分隔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需要说明的是，一些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旧版本的浏览器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6~IE 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不支持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getElementsByClassName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2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8584" y="884953"/>
            <a:ext cx="867257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getElementsByClassName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8070" y="1485578"/>
            <a:ext cx="8433600" cy="521950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 class="girl"&gt;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小花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 class="girl"&gt;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小红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 class="boy"&gt;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&lt;li class="boy"&gt;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girlStudent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document.getElementsByClassName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('girl');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boyStudent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document.getElementsByClassName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('boy');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girlStudent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boyStudent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994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6.3.5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选择器获取元素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querySelectorAll()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808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183979"/>
            <a:ext cx="10352115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中，还可以根据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对象提供了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querySelectorAll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方法获取目标元素，这两个方法的语法格式如下。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26006" y="2565698"/>
            <a:ext cx="8433600" cy="92333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document.querySelector(selectors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document.querySelectorAll(selectors)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3963831"/>
            <a:ext cx="103521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语法格式中，参数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的使用方式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querySelectorAll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方法的使用方式相似，只需将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选择器作为参数传入即可。这两个方法的区别是，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方法返回指定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第一个元素对象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querySelectorAll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方法返回指定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所有元素对象集合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6.3.5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659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342678" y="1952466"/>
            <a:ext cx="66247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querySelectorAll()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方法时，要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兼容问题，这两个方法从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9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才开始被完整支持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8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2015"/>
          <p:cNvSpPr/>
          <p:nvPr/>
        </p:nvSpPr>
        <p:spPr>
          <a:xfrm>
            <a:off x="1016000" y="1750881"/>
            <a:ext cx="7233620" cy="1822929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6.3.5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40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726" y="879322"/>
            <a:ext cx="860928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querySelectorAll()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6858" y="1444339"/>
            <a:ext cx="8433600" cy="526297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class="book"&gt;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西游记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class="book"&gt;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红楼梦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class="book"&gt;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三国演义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class="book"&gt;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水浒传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类名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book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firstBook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('.book'); 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firstBook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类名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book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的所有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allBook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document.querySelectorAll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('.book');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allBook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6.3.5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选择器获取元素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503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获取基本结构元素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灵活应用获取基本结构元素的属性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6.3.6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获取基本结构元素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918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6.3.6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获取基本结构元素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088240"/>
              </p:ext>
            </p:extLst>
          </p:nvPr>
        </p:nvGraphicFramePr>
        <p:xfrm>
          <a:off x="1918742" y="2634870"/>
          <a:ext cx="8640960" cy="259228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952690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4688270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document.documentElement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获取文档的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html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document.body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获取文档的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body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document.forms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获取文档中包含所有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form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元素的集合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document.images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获取文档中包含所有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image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元素的集合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0902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982638" y="1197546"/>
            <a:ext cx="99371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在实际开发中，若需要获取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基本结构元素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等），可以通过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对象的属性获取。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获取基本结构元素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</a:p>
        </p:txBody>
      </p:sp>
    </p:spTree>
    <p:extLst>
      <p:ext uri="{BB962C8B-B14F-4D97-AF65-F5344CB8AC3E}">
        <p14:creationId xmlns:p14="http://schemas.microsoft.com/office/powerpoint/2010/main" val="108267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6.3.6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获取基本结构元素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8584" y="1095541"/>
            <a:ext cx="867257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如何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获取文档中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元素和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8070" y="2002772"/>
            <a:ext cx="8433600" cy="373127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bodyEle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document.body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bodyEle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htmlEle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document.documentElement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htmlEle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481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6.3.6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获取基本结构元素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830" y="1341562"/>
            <a:ext cx="6840760" cy="49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1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09" y="1607820"/>
            <a:ext cx="3497691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20265" y="1758177"/>
            <a:ext cx="3270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获取或设置当前文档的标题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52385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4008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3691" y="2620849"/>
            <a:ext cx="98647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在实际开发中，当需要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获取或设置当前文档的标题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时，可以使用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document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对象提供的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title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126102" y="3933850"/>
            <a:ext cx="843360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console.log(document.title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获取标题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document.title =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新标题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 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6.3.6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获取基本结构元素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781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2012654" y="1429979"/>
            <a:ext cx="52765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获取当前文档的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标题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62758" y="2061642"/>
            <a:ext cx="8433600" cy="39022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&lt;!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DOCTYPE html&gt;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&lt;html&gt;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&lt;head&gt;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&lt;meta charset="UTF-8"&gt;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&lt;title&gt;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这是文档标题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&lt;/title&gt;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&lt;/head&gt;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document.title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&lt;/html&gt;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6.3.6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获取基本结构元素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0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</a:t>
            </a: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717826"/>
            <a:ext cx="563859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概念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描述事件的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个要素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事件概述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322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668367" cy="2812543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006" y="2300228"/>
              <a:ext cx="6168672" cy="2927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是指可以被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侦测到的行为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鼠标指针滑过某个区域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等，不同行为对应不同事件，并且每个事件都对应与其相关的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事件驱动程序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。事件驱动程序由开发人员编写，用于实现由该事件产生的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网页交互效果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事件概述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6437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62174"/>
            <a:ext cx="6768752" cy="2059708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9062" y="2453364"/>
            <a:ext cx="633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事件是一种“触发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响应”机制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，行为产生后，对应的事件就会被触发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事件驱动程序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就会被调用，从而使网页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并产生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交互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效果。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事件概述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476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事件概述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26862" y="1557586"/>
            <a:ext cx="102984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个要素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，分别是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事件驱动程序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，具体解释如下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承受事件的元素对象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。例如，在单击按钮的过程中，按钮就是事件源。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：使网页产生交互效果的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行为对应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事件种类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。例如，单击事件的事件类型为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click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事件驱动程序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：事件触发后为了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实现相应的网页交互效果而运行的代码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5525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846734" y="1952469"/>
            <a:ext cx="561662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若要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网页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交互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确定事件源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，事件源确定后就可以获取这个元素；然后需要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确定事件类型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，为获取的元素注册该类型的事件；最后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分析事件触发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后，实现相应网页交互效果的逻辑，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编写实现该逻辑的事件驱动程序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8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7906519" y="2103931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2015"/>
          <p:cNvSpPr/>
          <p:nvPr/>
        </p:nvSpPr>
        <p:spPr>
          <a:xfrm>
            <a:off x="1342678" y="1750884"/>
            <a:ext cx="6402886" cy="2831041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事件概述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69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723682"/>
            <a:ext cx="563859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事件的注册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页面中的元素注册事件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90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439021" y="1917626"/>
            <a:ext cx="6668367" cy="3247945"/>
            <a:chOff x="4870762" y="1914087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32166" y="252683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006" y="2124900"/>
              <a:ext cx="6168672" cy="30118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实际开发中，为了让元素在触发事件时运行特定的代码，需要为元素注册事件。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注册事件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又称为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绑定事件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可以为操作的元素对象注册事件。事件属性的命名方式为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on+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单击事件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的事件类型为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click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，对应的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事件属性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onclick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208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341562"/>
            <a:ext cx="8839947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有两种方式，一种是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在标签中注册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，另一种是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中注册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在标签中注册事件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1438" y="2542102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 onclick=""&gt;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0670" y="3155114"/>
            <a:ext cx="91117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上述示例代码中，在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onclick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的值中可以编写事件驱动程序。</a:t>
            </a:r>
          </a:p>
        </p:txBody>
      </p:sp>
      <p:sp>
        <p:nvSpPr>
          <p:cNvPr id="4" name="矩形 3"/>
          <p:cNvSpPr/>
          <p:nvPr/>
        </p:nvSpPr>
        <p:spPr>
          <a:xfrm>
            <a:off x="1270670" y="3863216"/>
            <a:ext cx="54695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中注册事件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4496621"/>
            <a:ext cx="8433600" cy="96128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事件属性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事件处理函数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element.onclick = function () {};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4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0" y="879541"/>
            <a:ext cx="10280107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通过代码演示如何进行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事件注册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。定义一个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，通过注册事件，实现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单击按钮元素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后弹出内容为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“事件注册”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的警告框，示例代码如下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20871" y="1989634"/>
            <a:ext cx="8433600" cy="46628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 id="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获取事件源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button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document.getElementById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为获取的元素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注册单击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button.onclick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alert('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事件注册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事件注册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494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320520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元素内容的方法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，能够根据不同场景选择合适的方法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操作元素内容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操作元素内容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59468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864476"/>
              </p:ext>
            </p:extLst>
          </p:nvPr>
        </p:nvGraphicFramePr>
        <p:xfrm>
          <a:off x="1342678" y="2637705"/>
          <a:ext cx="9825207" cy="302711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73847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7351360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55921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01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innerHTML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设置或获取元素开始标签和结束标签之间的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HTML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内容，返回结果包含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HTML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标签，并保留空格和换行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91301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innerText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设置或获取元素的文本内容，返回结果会去除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HTML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标签和多余的空格、换行，在</a:t>
                      </a:r>
                      <a:r>
                        <a:rPr lang="zh-CN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altLang="en-US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文本内容</a:t>
                      </a:r>
                      <a:r>
                        <a:rPr lang="zh-CN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时候会进行特殊字符转义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63910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textContent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设置或获取元素的文本内容，返回结果保留空格和换行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910629" y="966729"/>
            <a:ext cx="103691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实际开发中，当需要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修改页面中的内容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时，就需要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，例如，修改页面元素的文本内容，或动态生成页面内容等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操作元素内容的常用属性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操作元素内容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871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269554"/>
            <a:ext cx="1008112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innerHTML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获取的元素内容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innerText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获取的元素内容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textContent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innerText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属性相似，都可以用来设置或获取元素的文本内容，并且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去除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，但是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textContent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和获取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占位隐藏元素的文本内容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需要注意的是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8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及更早版本的浏览器不支持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textContent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，在使用时需要注意浏览器兼容问题。</a:t>
            </a:r>
          </a:p>
        </p:txBody>
      </p:sp>
      <p:pic>
        <p:nvPicPr>
          <p:cNvPr id="1025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054" y="5243503"/>
            <a:ext cx="2571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1451835" y="5088367"/>
            <a:ext cx="849694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小提示：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给元素的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visibility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样式属性设置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hidden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即可实现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占位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操作元素内容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679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698" y="1629594"/>
            <a:ext cx="1036915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搭建一个用于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展示商品种类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商品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状态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的表格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，商品种类分别是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过季旧款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当前热销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春季新品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，对应的商品状态分别是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已下架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热卖中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待上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然后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innerHTML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获取过季旧款对应的商品状态，并将过季旧款对应的商品状态修改为已上架；通过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innerText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获取当前热销的商品状态，通过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textContent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获取春季新品的商品状态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操作元素内容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103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操作元素内容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862" y="1269554"/>
            <a:ext cx="5904656" cy="506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6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元素属性的方法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，能够根据不同场景选择合适的方法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操作元素属性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248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668367" cy="2308487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006" y="2204872"/>
              <a:ext cx="6168672" cy="2889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实际开发中，仅仅通过操作元素内容并不能满足开发的需求，还需要学习如何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操作元素属性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DOM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可以操作元素的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property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attribute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data-*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551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43690" y="1115504"/>
            <a:ext cx="257525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property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133650"/>
            <a:ext cx="101360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property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，它并不是一个具体的属性名，而是指元素在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中作为对象拥有的属性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property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属性的操作，可以通过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元素对象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902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435636"/>
            <a:ext cx="97930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元素用于显示图片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。下面列举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元素中的常用属性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3827" y="981522"/>
            <a:ext cx="31486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zh-CN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元素的属性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51605"/>
              </p:ext>
            </p:extLst>
          </p:nvPr>
        </p:nvGraphicFramePr>
        <p:xfrm>
          <a:off x="1990750" y="2205658"/>
          <a:ext cx="8401693" cy="381642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796691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5605002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src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设置图片的路径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alt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设置图片加载失败时显示在网页上的替代文字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title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设置鼠标移到图片上时显示的提示文字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width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设置图片的宽度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height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设置图片的高度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sizes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设置图片的尺寸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389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40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831103"/>
            <a:ext cx="10225136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单击按钮操作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为例，演示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元素中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title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，实现单击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按钮时显示图片和图片对应的提示文字，示例代码如下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1935561"/>
            <a:ext cx="8433600" cy="470898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 id="vegetable"&gt;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蔬菜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 id="fruit"&gt;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&lt;/button&gt;&lt;br&gt;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&lt;img src="images/fruit.png" alt="" title="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属性获取元素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vegetable = document.getElementById('vegetable');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fruit = document.getElementById('fruit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   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选择器获取元素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img = document.querySelector('img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89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337" y="847841"/>
            <a:ext cx="830353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  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续上一页代码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61337" y="1379628"/>
            <a:ext cx="8433600" cy="51706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注册事件处理程序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vegetable.onclick = function 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img.src = 'images/vegetable.png';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img.title =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蔬菜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fruit.onclick = function ()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img.src = 'images/fruit.png';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img.title =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735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381632"/>
            <a:ext cx="97210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用户在表单中输入内容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列举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中的常用属性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5225" y="981522"/>
            <a:ext cx="33377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020726"/>
              </p:ext>
            </p:extLst>
          </p:nvPr>
        </p:nvGraphicFramePr>
        <p:xfrm>
          <a:off x="1558702" y="2637706"/>
          <a:ext cx="9427238" cy="32403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653087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7774151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type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altLang="en-US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文本</a:t>
                      </a:r>
                      <a:r>
                        <a:rPr lang="zh-CN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框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的类型，例如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text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checkbox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radio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submit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name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设置表单的名称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value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altLang="en-US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文本</a:t>
                      </a:r>
                      <a:r>
                        <a:rPr lang="zh-CN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框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的值，默认值为空字符串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checked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设置是否选中该元素，该属性仅在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type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checkbox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radio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时有效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disabled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设置表单元素是否被禁用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86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023351"/>
            <a:ext cx="10369152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input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元素中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disabled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，实现单击按钮时，通过获取文本框的值并将其修改为“被单击了！”来改变文本框的值，并在单击按钮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禁用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按钮，示例代码如下。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78406" y="2637706"/>
            <a:ext cx="8433600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&lt;button&gt;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搜索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&lt;/button&gt;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&lt;input type="text" value="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输入内容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选择器获取元素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btn = document.querySelector('button');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input = document.querySelector('input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686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718" y="1023351"/>
            <a:ext cx="9193626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  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续上一页代码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1629594"/>
            <a:ext cx="8433600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注册事件处理程序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btn.onclick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input.value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被单击了！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  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修改表单中值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this.disabled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true;        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指向事件函数的调用者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btn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35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43690" y="1115504"/>
            <a:ext cx="257525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961983"/>
            <a:ext cx="99920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，它是指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。下面详细讲解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属性的操作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30209" y="3132837"/>
            <a:ext cx="1882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82535" y="3702317"/>
            <a:ext cx="82809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通过元素对象的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setAttribute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，其语法格式如下。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92764" y="4581922"/>
            <a:ext cx="5693928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element.setAttribute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57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197546"/>
            <a:ext cx="82809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通过代码演示如何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270670" y="1989634"/>
            <a:ext cx="9004368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&lt;div&gt;&lt;/div&gt;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div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('div');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div.setAttribute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('flag', 3);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div.setAttribute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('id', 'book');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1164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10630" y="1064848"/>
            <a:ext cx="24482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）获取</a:t>
            </a:r>
            <a:r>
              <a:rPr lang="zh-CN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zh-CN" altLang="zh-CN" sz="2000" b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3682" y="1424888"/>
            <a:ext cx="82809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通过元素对象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etAttribute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其语法格式如下。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993566" y="1989634"/>
            <a:ext cx="5549912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element.getAttribute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82501" y="2587764"/>
            <a:ext cx="6092825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下面通过代码演示如何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获取属性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61148" y="3141762"/>
            <a:ext cx="8433600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id="demo1" index="1"&gt;&lt;/div&gt;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div = document.querySelector('div'); 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console.log(div.getAttribute('id'));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demo1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console.log(div.getAttribute('index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'));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939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10630" y="1049756"/>
            <a:ext cx="24482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）移除</a:t>
            </a:r>
            <a:r>
              <a:rPr lang="zh-CN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zh-CN" sz="2000" b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4646" y="1485578"/>
            <a:ext cx="82809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通过元素对象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remove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移除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其语法格式如下。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142878" y="2061642"/>
            <a:ext cx="5234393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element.removeAttribute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8582" y="2698389"/>
            <a:ext cx="547260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如何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移除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61148" y="3285778"/>
            <a:ext cx="8433600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id="demo2" index="2"&gt;&lt;/div&gt;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div = document.querySelector('div'); 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console.log(div.removeAttribute('id'));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console.log(div.removeAttribute('index'));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839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43690" y="1115504"/>
            <a:ext cx="257525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data-*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868562"/>
            <a:ext cx="100640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data-*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提供的一种新的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（通过“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”前缀来设置开发所需要的自定义属性，“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”可以自行命名）。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3952" y="3133438"/>
            <a:ext cx="26901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）设置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data-*</a:t>
            </a:r>
            <a:r>
              <a:rPr lang="zh-CN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zh-CN" sz="2000" b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01014" y="3756732"/>
            <a:ext cx="82809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的标签中可以直接为元素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data-*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05726" y="4338733"/>
            <a:ext cx="487149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 data-index="3"&gt;&lt;/div&gt;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39893" y="5074622"/>
            <a:ext cx="79341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在上述示例代码中，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属性前缀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是自定义的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1035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342678" y="1952466"/>
            <a:ext cx="662473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data-*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的方式有两种，第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种方式是通过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元素对象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.dataset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设置，也可以写为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元素对象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dataset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，如果属性名包含连字符“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则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采用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驼峰命名法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种方式是通过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setAttribute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方法设置。</a:t>
            </a:r>
          </a:p>
        </p:txBody>
      </p:sp>
      <p:pic>
        <p:nvPicPr>
          <p:cNvPr id="8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2015"/>
          <p:cNvSpPr/>
          <p:nvPr/>
        </p:nvSpPr>
        <p:spPr>
          <a:xfrm>
            <a:off x="1016000" y="1750881"/>
            <a:ext cx="7233620" cy="275903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405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342678" y="1269554"/>
            <a:ext cx="8280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通过两种方式演示如何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data-*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342678" y="1989634"/>
            <a:ext cx="8433600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div = document.querySelector('div');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div.dataset.index = '3';                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种方式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div.setAttribute('data-name',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  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种方式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682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1453" y="1485578"/>
            <a:ext cx="2952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）获取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data-*</a:t>
            </a:r>
            <a:r>
              <a:rPr lang="zh-CN" altLang="zh-CN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zh-CN" altLang="zh-CN" sz="2000" b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0670" y="2421682"/>
            <a:ext cx="96490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data-*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的方式有两种，第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种方式是通过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元素对象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dataset.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获取，也可以写为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元素对象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dataset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['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']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，如果属性名包含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连字符“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驼峰命名法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种方式是通过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getAttribute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方法获取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104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617029" y="1048946"/>
            <a:ext cx="828092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下面通过两种方式演示如何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data-*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1824436"/>
            <a:ext cx="9145016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getTime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="20" data-index="3" data-list-name="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"&gt;&lt;/div&gt;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div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('div');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种方式获取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div.dataset.index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div.dataset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['index']);   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div.dataset.listName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输出结果为：小智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div.dataset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listName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']);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023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630710" y="1413570"/>
            <a:ext cx="828092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&gt;&gt;  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续上一页代码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操作元素属性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86694" y="2061642"/>
            <a:ext cx="9145016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种方式获取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console.log(div.getAttribute('data-index'));	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console.log(div.getAttribute('data-list-name'));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输出结果为：小智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33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，能够根据不同场景选择合适的方法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144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668367" cy="3040087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905" y="2313955"/>
              <a:ext cx="6241458" cy="2698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前面的学习中，已经讲解了操作元素内容和元素属性的方式，为了实现更加完善的页面交互效果，还需要学习如何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操作元素样式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元素样式有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方式，分别是通过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style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操作元素样式、通过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className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操作元素样式和通过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classList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操作元素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981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43690" y="1115504"/>
            <a:ext cx="365537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属性操作元素样式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33424" y="1961983"/>
            <a:ext cx="94880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在实际开发中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中样式的交互效果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，可以通过操作元素对象的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实现，示例代码如下。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60634" y="3320069"/>
            <a:ext cx="843360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element.style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样式属性名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样式属性值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设置样式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element.style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样式属性名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获取样式</a:t>
            </a:r>
          </a:p>
        </p:txBody>
      </p:sp>
    </p:spTree>
    <p:extLst>
      <p:ext uri="{BB962C8B-B14F-4D97-AF65-F5344CB8AC3E}">
        <p14:creationId xmlns:p14="http://schemas.microsoft.com/office/powerpoint/2010/main" val="152243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46734" y="1068354"/>
            <a:ext cx="82806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列举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的样式属性名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132546"/>
              </p:ext>
            </p:extLst>
          </p:nvPr>
        </p:nvGraphicFramePr>
        <p:xfrm>
          <a:off x="1990747" y="1917626"/>
          <a:ext cx="8280633" cy="439248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375383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4905250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样式属性名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background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设置或获取元素的背景属性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backgroundColor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设置或获取元素的背景颜色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display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设置或获取元素的显示类型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fontSize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设置或获取元素的字体大小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width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设置或获取元素的宽度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005396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height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设置或获取元素的高度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left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设置或获取定位元素的左部位置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5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2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02718" y="1125538"/>
            <a:ext cx="82806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&gt;&gt;  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续上一页表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536866"/>
              </p:ext>
            </p:extLst>
          </p:nvPr>
        </p:nvGraphicFramePr>
        <p:xfrm>
          <a:off x="1702718" y="1845618"/>
          <a:ext cx="8401693" cy="381642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001380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5400313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样式属性名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listStyleType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设置或获取列表项标记的类型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overflow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设置或获取如何处理呈现在元素框外面的内容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textAlign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设置或获取文本的水平对齐方式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textDecoration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设置或获取文本的修饰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textIndent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设置或获取文本第一行的缩进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transform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向元素应用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2D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3D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转换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5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08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837506"/>
            <a:ext cx="82806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下面通过代码演示如何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元素对象添加样式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547258" y="1375091"/>
            <a:ext cx="6500276" cy="383181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id="box"&gt;&lt;/div&gt;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document.querySelector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('#box');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ele.style.width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'100px';</a:t>
            </a:r>
            <a:endParaRPr lang="zh-CN" altLang="zh-CN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ele.style.height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'100px';</a:t>
            </a:r>
            <a:endParaRPr lang="zh-CN" altLang="zh-CN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ele.style.transform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'rotate(7deg)';</a:t>
            </a:r>
            <a:endParaRPr lang="zh-CN" altLang="zh-CN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4646" y="5226219"/>
            <a:ext cx="979308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效果相当于在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中添加如下样式。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62758" y="5806058"/>
            <a:ext cx="7753241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#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box {width: 100px; height: 100px; transform: rotate(7deg);}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948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43690" y="1115504"/>
            <a:ext cx="437545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属性操作元素样式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205658"/>
            <a:ext cx="984806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实际开发中，当需要为元素对象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设置多种样式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时，若通过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实现，就需要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编写多行“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element.style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'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样式属性值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形式的代码，此种方式非常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烦琐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能够方便快捷地实现为元素对象设置多种样式，可以通过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操作元素样式，设置该属性相当于设置元素对应标签的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3936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269554"/>
            <a:ext cx="96320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将元素对象的样式写在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为元素设置样式，然后通过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属性更改元素的类名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，实现元素样式的更改。操作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属性的示例代码如下。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42908" y="3200339"/>
            <a:ext cx="8433600" cy="96128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element.className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类名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设置类名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console.log(element.className);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获取类名</a:t>
            </a:r>
          </a:p>
        </p:txBody>
      </p:sp>
    </p:spTree>
    <p:extLst>
      <p:ext uri="{BB962C8B-B14F-4D97-AF65-F5344CB8AC3E}">
        <p14:creationId xmlns:p14="http://schemas.microsoft.com/office/powerpoint/2010/main" val="6124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43054" y="983361"/>
            <a:ext cx="86409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通过代码演示如何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属性更改元素的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1701602"/>
            <a:ext cx="8433600" cy="465460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style&gt;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.target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width: 200px;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height: 200px;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border: 1px solid black;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font-size: 10px;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text-align: center;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line-height: 200px;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&lt;/style&gt;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870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46734" y="1057962"/>
            <a:ext cx="864096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className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属性更改元素类名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82801" y="1774765"/>
            <a:ext cx="8433600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class="box"&gt;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更改元素的样式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box = document.querySelector('.box');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为获取到的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元素设置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className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box.className = 'target';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885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43690" y="1115504"/>
            <a:ext cx="437545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属性操作元素样式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133650"/>
            <a:ext cx="999207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实际开发中，对于元素中类的操作还可以使用元素对象的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，在使用该属性时，需要注意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浏览器的兼容问题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 10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开始才被支持，且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 10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属性不能对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SVG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Scalable Vector Graphics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，可缩放矢量图形）元素进行操作。</a:t>
            </a:r>
          </a:p>
        </p:txBody>
      </p:sp>
    </p:spTree>
    <p:extLst>
      <p:ext uri="{BB962C8B-B14F-4D97-AF65-F5344CB8AC3E}">
        <p14:creationId xmlns:p14="http://schemas.microsoft.com/office/powerpoint/2010/main" val="201298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70670" y="1485578"/>
            <a:ext cx="93610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可以对元素中的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移除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等操作。通过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属性获取类名的示例代码如下。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4025007" y="2900767"/>
            <a:ext cx="3852365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element.classList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2678" y="3854291"/>
            <a:ext cx="90730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属性返回一个对象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一个类数组对象，对象中的每一项对应一个类名，通过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数组索引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访问类名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1982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053530"/>
            <a:ext cx="91888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对象还可以通过一系列属性和方法对元素的类名进行设置和移除。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classList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对象常用的属性和方法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829650"/>
              </p:ext>
            </p:extLst>
          </p:nvPr>
        </p:nvGraphicFramePr>
        <p:xfrm>
          <a:off x="1342678" y="2205658"/>
          <a:ext cx="10225136" cy="403244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6984776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</a:tblGrid>
              <a:tr h="45920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属性和方法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作用</a:t>
                      </a:r>
                      <a:endParaRPr lang="zh-CN" altLang="zh-CN" sz="20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20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length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获取类名的数量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45920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add(class1,class2…)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为元素添加一个或多个类名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remove(class1,class2…)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移除元素的一个或多个类名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108044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toggle(class,true|false)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为元素切换类名，第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个参数是可选参数，设为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表示添加，设为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表示移除，若不设置表示有则移除，没有则添加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27871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contains(class)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判断元素中指定的类名是否存在，返回布尔值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51880"/>
                  </a:ext>
                </a:extLst>
              </a:tr>
              <a:tr h="52480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item(index)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获取元素中索引对应的类名，索引从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开始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58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68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操作元素的综合应用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503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654" y="1790771"/>
            <a:ext cx="10280108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一些网站输入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登录密码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时，会发现用户输入的密码是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的（显示为小黑点），通过单击文本框右侧的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“眼睛”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图片就可以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使密码显示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为了提升用户体验，可以使用两张不同状态的“眼睛”图片充当按钮，图片中的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“眼睛”睁开时显示密码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闭合时隐藏密码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。默认情况下，输入的密码是隐藏的，图片中的“眼睛”是闭合状态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43690" y="1115504"/>
            <a:ext cx="264726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显示隐藏密码明文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654" y="4855078"/>
            <a:ext cx="1015312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要想实现密码显示和隐藏的页面，首先通过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img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&lt;input&gt;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等标签搭建密码框结构，然后通过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密码框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的切换，并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切换对应的“眼睛”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97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05" y="1053530"/>
            <a:ext cx="5411864" cy="172522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05" y="3008298"/>
            <a:ext cx="5489336" cy="1749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05" y="4941961"/>
            <a:ext cx="5489336" cy="174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5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961983"/>
            <a:ext cx="10153128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案例要求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单击文本框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的提示文字，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单击文本框之外的区域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的提示文字。</a:t>
            </a:r>
          </a:p>
          <a:p>
            <a:pPr algn="just"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文本框焦点事件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onfocus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失去焦点事件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onblur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，在获取焦点时，需要判断表单中的内容是否为默认文字，如果是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默认文字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清空表单内容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失去焦点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判断表单内容是否为空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，如果为空，则表单里边的内容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改为默认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43690" y="1115504"/>
            <a:ext cx="279127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显示隐藏文本框内容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96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822" y="1341562"/>
            <a:ext cx="6747716" cy="21602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822" y="3717826"/>
            <a:ext cx="6747716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961983"/>
            <a:ext cx="10369152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实际开发中，为了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提高网页的界面设计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用户的使用体验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，可以实现在多个选项之间进行切换时，保持只有一个选项处于选中状态，其他选项处于未选中状态的交互效果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，在页面中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单击某个按钮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改变按钮背景颜色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其他按钮保持默认样式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43690" y="1197546"/>
            <a:ext cx="307930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高亮显示被单击的按钮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4219798"/>
            <a:ext cx="1008112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案例要求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在页面中设置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用户单击某个按钮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高亮显示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被单击的按钮，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其他按钮保持默认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592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782" y="1269554"/>
            <a:ext cx="6237180" cy="219407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782" y="3789834"/>
            <a:ext cx="6237180" cy="219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4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2205658"/>
            <a:ext cx="10280108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实际开发中，当表格中有多个单元格时，可以在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鼠标指针经过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时为当前行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添加背景颜色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，使表格内容一目了然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鼠标指针经过事件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onmouseover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鼠标指针离开事件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onmouseout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实现鼠标指针经过时背景变色的案例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43690" y="1115504"/>
            <a:ext cx="343934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鼠标指针经过时背景变色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733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50" y="1485578"/>
            <a:ext cx="7791379" cy="343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6.5.4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操作元素的综合应用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638" y="1053530"/>
            <a:ext cx="102251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前面运行结果的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展示了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编号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01~03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的商品信息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，并且这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行商品信息均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没有背景颜色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鼠标指针经过编号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02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的商品信息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时的运行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758" y="2277666"/>
            <a:ext cx="8317735" cy="366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9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63563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489622"/>
            <a:ext cx="9001000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主要对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（上）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讲解，首先讲解了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 API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的概念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，然后讲解了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事件基础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，最后讲解了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元素内容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样式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操作。其中，获取元素主要讲解了根据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标签名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类名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CSS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获取元素以及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获取基本结构元素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，事件基础主要讲解了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事件的概念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事件的注册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读者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完成一些基本的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页面交互效果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14091</TotalTime>
  <Words>7455</Words>
  <Application>Microsoft Office PowerPoint</Application>
  <PresentationFormat>自定义</PresentationFormat>
  <Paragraphs>719</Paragraphs>
  <Slides>103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103</vt:i4>
      </vt:variant>
    </vt:vector>
  </HeadingPairs>
  <TitlesOfParts>
    <vt:vector size="116" baseType="lpstr">
      <vt:lpstr>Source Han Sans K Bold</vt:lpstr>
      <vt:lpstr>思源黑体 CN Medium</vt:lpstr>
      <vt:lpstr>思源黑体 CN Regular</vt:lpstr>
      <vt:lpstr>宋体</vt:lpstr>
      <vt:lpstr>Microsoft YaHei</vt:lpstr>
      <vt:lpstr>Microsoft YaHei</vt:lpstr>
      <vt:lpstr>字魂105号-简雅黑</vt:lpstr>
      <vt:lpstr>字魂58号-创中黑</vt:lpstr>
      <vt:lpstr>Arial</vt:lpstr>
      <vt:lpstr>Calibri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5516</cp:revision>
  <dcterms:created xsi:type="dcterms:W3CDTF">2020-11-09T06:56:00Z</dcterms:created>
  <dcterms:modified xsi:type="dcterms:W3CDTF">2024-04-19T05:24:06Z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