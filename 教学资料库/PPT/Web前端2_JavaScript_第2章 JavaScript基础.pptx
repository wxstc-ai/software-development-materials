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176"/>
  </p:notesMasterIdLst>
  <p:handoutMasterIdLst>
    <p:handoutMasterId r:id="rId177"/>
  </p:handoutMasterIdLst>
  <p:sldIdLst>
    <p:sldId id="325" r:id="rId3"/>
    <p:sldId id="1129" r:id="rId4"/>
    <p:sldId id="1418" r:id="rId5"/>
    <p:sldId id="328" r:id="rId6"/>
    <p:sldId id="1146" r:id="rId7"/>
    <p:sldId id="309" r:id="rId8"/>
    <p:sldId id="1059" r:id="rId9"/>
    <p:sldId id="1125" r:id="rId10"/>
    <p:sldId id="1289" r:id="rId11"/>
    <p:sldId id="1488" r:id="rId12"/>
    <p:sldId id="1489" r:id="rId13"/>
    <p:sldId id="1419" r:id="rId14"/>
    <p:sldId id="1420" r:id="rId15"/>
    <p:sldId id="1490" r:id="rId16"/>
    <p:sldId id="1491" r:id="rId17"/>
    <p:sldId id="1492" r:id="rId18"/>
    <p:sldId id="1493" r:id="rId19"/>
    <p:sldId id="1494" r:id="rId20"/>
    <p:sldId id="1495" r:id="rId21"/>
    <p:sldId id="1496" r:id="rId22"/>
    <p:sldId id="1497" r:id="rId23"/>
    <p:sldId id="1498" r:id="rId24"/>
    <p:sldId id="1499" r:id="rId25"/>
    <p:sldId id="1500" r:id="rId26"/>
    <p:sldId id="1501" r:id="rId27"/>
    <p:sldId id="1502" r:id="rId28"/>
    <p:sldId id="1503" r:id="rId29"/>
    <p:sldId id="1504" r:id="rId30"/>
    <p:sldId id="1505" r:id="rId31"/>
    <p:sldId id="1506" r:id="rId32"/>
    <p:sldId id="1507" r:id="rId33"/>
    <p:sldId id="1508" r:id="rId34"/>
    <p:sldId id="1161" r:id="rId35"/>
    <p:sldId id="1277" r:id="rId36"/>
    <p:sldId id="1298" r:id="rId37"/>
    <p:sldId id="1509" r:id="rId38"/>
    <p:sldId id="1510" r:id="rId39"/>
    <p:sldId id="1511" r:id="rId40"/>
    <p:sldId id="1512" r:id="rId41"/>
    <p:sldId id="1614" r:id="rId42"/>
    <p:sldId id="1513" r:id="rId43"/>
    <p:sldId id="1514" r:id="rId44"/>
    <p:sldId id="1515" r:id="rId45"/>
    <p:sldId id="1430" r:id="rId46"/>
    <p:sldId id="1299" r:id="rId47"/>
    <p:sldId id="1516" r:id="rId48"/>
    <p:sldId id="1615" r:id="rId49"/>
    <p:sldId id="1278" r:id="rId50"/>
    <p:sldId id="1304" r:id="rId51"/>
    <p:sldId id="1517" r:id="rId52"/>
    <p:sldId id="1437" r:id="rId53"/>
    <p:sldId id="1279" r:id="rId54"/>
    <p:sldId id="1518" r:id="rId55"/>
    <p:sldId id="1440" r:id="rId56"/>
    <p:sldId id="1519" r:id="rId57"/>
    <p:sldId id="1520" r:id="rId58"/>
    <p:sldId id="1521" r:id="rId59"/>
    <p:sldId id="1448" r:id="rId60"/>
    <p:sldId id="1286" r:id="rId61"/>
    <p:sldId id="1438" r:id="rId62"/>
    <p:sldId id="1439" r:id="rId63"/>
    <p:sldId id="1442" r:id="rId64"/>
    <p:sldId id="1522" r:id="rId65"/>
    <p:sldId id="1445" r:id="rId66"/>
    <p:sldId id="1523" r:id="rId67"/>
    <p:sldId id="1287" r:id="rId68"/>
    <p:sldId id="1449" r:id="rId69"/>
    <p:sldId id="1525" r:id="rId70"/>
    <p:sldId id="1526" r:id="rId71"/>
    <p:sldId id="1524" r:id="rId72"/>
    <p:sldId id="1527" r:id="rId73"/>
    <p:sldId id="1528" r:id="rId74"/>
    <p:sldId id="1356" r:id="rId75"/>
    <p:sldId id="1455" r:id="rId76"/>
    <p:sldId id="1529" r:id="rId77"/>
    <p:sldId id="1530" r:id="rId78"/>
    <p:sldId id="1458" r:id="rId79"/>
    <p:sldId id="1531" r:id="rId80"/>
    <p:sldId id="1532" r:id="rId81"/>
    <p:sldId id="1533" r:id="rId82"/>
    <p:sldId id="1534" r:id="rId83"/>
    <p:sldId id="1616" r:id="rId84"/>
    <p:sldId id="1535" r:id="rId85"/>
    <p:sldId id="1536" r:id="rId86"/>
    <p:sldId id="1537" r:id="rId87"/>
    <p:sldId id="1538" r:id="rId88"/>
    <p:sldId id="1539" r:id="rId89"/>
    <p:sldId id="1540" r:id="rId90"/>
    <p:sldId id="1541" r:id="rId91"/>
    <p:sldId id="1542" r:id="rId92"/>
    <p:sldId id="1543" r:id="rId93"/>
    <p:sldId id="1544" r:id="rId94"/>
    <p:sldId id="1545" r:id="rId95"/>
    <p:sldId id="1546" r:id="rId96"/>
    <p:sldId id="1547" r:id="rId97"/>
    <p:sldId id="1548" r:id="rId98"/>
    <p:sldId id="1549" r:id="rId99"/>
    <p:sldId id="1477" r:id="rId100"/>
    <p:sldId id="1481" r:id="rId101"/>
    <p:sldId id="1550" r:id="rId102"/>
    <p:sldId id="1163" r:id="rId103"/>
    <p:sldId id="1383" r:id="rId104"/>
    <p:sldId id="1459" r:id="rId105"/>
    <p:sldId id="1460" r:id="rId106"/>
    <p:sldId id="1551" r:id="rId107"/>
    <p:sldId id="1552" r:id="rId108"/>
    <p:sldId id="1553" r:id="rId109"/>
    <p:sldId id="1554" r:id="rId110"/>
    <p:sldId id="1555" r:id="rId111"/>
    <p:sldId id="1556" r:id="rId112"/>
    <p:sldId id="1557" r:id="rId113"/>
    <p:sldId id="1558" r:id="rId114"/>
    <p:sldId id="1559" r:id="rId115"/>
    <p:sldId id="1560" r:id="rId116"/>
    <p:sldId id="1561" r:id="rId117"/>
    <p:sldId id="1562" r:id="rId118"/>
    <p:sldId id="1563" r:id="rId119"/>
    <p:sldId id="1564" r:id="rId120"/>
    <p:sldId id="1461" r:id="rId121"/>
    <p:sldId id="1565" r:id="rId122"/>
    <p:sldId id="1486" r:id="rId123"/>
    <p:sldId id="1487" r:id="rId124"/>
    <p:sldId id="1480" r:id="rId125"/>
    <p:sldId id="1566" r:id="rId126"/>
    <p:sldId id="1567" r:id="rId127"/>
    <p:sldId id="1568" r:id="rId128"/>
    <p:sldId id="1569" r:id="rId129"/>
    <p:sldId id="1570" r:id="rId130"/>
    <p:sldId id="1571" r:id="rId131"/>
    <p:sldId id="1572" r:id="rId132"/>
    <p:sldId id="1573" r:id="rId133"/>
    <p:sldId id="1574" r:id="rId134"/>
    <p:sldId id="1575" r:id="rId135"/>
    <p:sldId id="1576" r:id="rId136"/>
    <p:sldId id="1577" r:id="rId137"/>
    <p:sldId id="1578" r:id="rId138"/>
    <p:sldId id="1579" r:id="rId139"/>
    <p:sldId id="1580" r:id="rId140"/>
    <p:sldId id="1581" r:id="rId141"/>
    <p:sldId id="1582" r:id="rId142"/>
    <p:sldId id="1583" r:id="rId143"/>
    <p:sldId id="1584" r:id="rId144"/>
    <p:sldId id="1585" r:id="rId145"/>
    <p:sldId id="1586" r:id="rId146"/>
    <p:sldId id="1587" r:id="rId147"/>
    <p:sldId id="1617" r:id="rId148"/>
    <p:sldId id="1588" r:id="rId149"/>
    <p:sldId id="1589" r:id="rId150"/>
    <p:sldId id="1590" r:id="rId151"/>
    <p:sldId id="1591" r:id="rId152"/>
    <p:sldId id="1592" r:id="rId153"/>
    <p:sldId id="1593" r:id="rId154"/>
    <p:sldId id="1594" r:id="rId155"/>
    <p:sldId id="1595" r:id="rId156"/>
    <p:sldId id="1596" r:id="rId157"/>
    <p:sldId id="1597" r:id="rId158"/>
    <p:sldId id="1598" r:id="rId159"/>
    <p:sldId id="1599" r:id="rId160"/>
    <p:sldId id="1600" r:id="rId161"/>
    <p:sldId id="1601" r:id="rId162"/>
    <p:sldId id="1602" r:id="rId163"/>
    <p:sldId id="1603" r:id="rId164"/>
    <p:sldId id="1604" r:id="rId165"/>
    <p:sldId id="1605" r:id="rId166"/>
    <p:sldId id="1606" r:id="rId167"/>
    <p:sldId id="1607" r:id="rId168"/>
    <p:sldId id="1608" r:id="rId169"/>
    <p:sldId id="1609" r:id="rId170"/>
    <p:sldId id="1613" r:id="rId171"/>
    <p:sldId id="1611" r:id="rId172"/>
    <p:sldId id="1612" r:id="rId173"/>
    <p:sldId id="1416" r:id="rId174"/>
    <p:sldId id="1417" r:id="rId175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1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0"/>
    <a:srgbClr val="595959"/>
    <a:srgbClr val="1369B2"/>
    <a:srgbClr val="FFFFFF"/>
    <a:srgbClr val="1369B3"/>
    <a:srgbClr val="71A5D1"/>
    <a:srgbClr val="F2F2F2"/>
    <a:srgbClr val="EBAD13"/>
    <a:srgbClr val="BBBBBB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38" autoAdjust="0"/>
    <p:restoredTop sz="96379" autoAdjust="0"/>
  </p:normalViewPr>
  <p:slideViewPr>
    <p:cSldViewPr>
      <p:cViewPr varScale="1">
        <p:scale>
          <a:sx n="91" d="100"/>
          <a:sy n="91" d="100"/>
        </p:scale>
        <p:origin x="108" y="276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theme" Target="theme/theme1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tableStyles" Target="tableStyles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77" Type="http://schemas.openxmlformats.org/officeDocument/2006/relationships/handoutMaster" Target="handoutMasters/handoutMaster1.xml"/><Relationship Id="rId172" Type="http://schemas.openxmlformats.org/officeDocument/2006/relationships/slide" Target="slides/slide170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commentAuthors" Target="commentAuthor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presProps" Target="pres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viewProps" Target="viewProps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192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520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791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271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196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582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686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1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789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51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267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6651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592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1384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8034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65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8770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1907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4001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5144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8828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8186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266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1475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522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198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6363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660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8811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2229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3934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6911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1896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7439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9376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3630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0451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8206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060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31338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8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201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595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1669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15803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549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4102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3843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06280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69878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4126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09566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3167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89533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37675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8478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13569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82970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15785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66756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5094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84588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52922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32396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9456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44619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09375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84966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1880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74875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49935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9668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23371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97494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18068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37210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0027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4502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18284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15598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70701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28575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57885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43212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69061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74339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34089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03167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94064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25824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65878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.bin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0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4.bin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0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0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0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0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0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0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0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0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0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0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0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2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JavaScript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基础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2281433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数据类型的分类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描述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中的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基本数据类型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复杂数据类型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3251655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常用的基本数据类型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根据实际需求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定义基本数据类型的变量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4219765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数据类型转换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根据实际需求将数据转换为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布尔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型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数字型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数据</a:t>
              </a:r>
              <a:endPara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字符串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型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数据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509317" y="5229994"/>
            <a:ext cx="9698457" cy="688079"/>
            <a:chOff x="978872" y="3338786"/>
            <a:chExt cx="5437064" cy="515939"/>
          </a:xfrm>
        </p:grpSpPr>
        <p:sp>
          <p:nvSpPr>
            <p:cNvPr id="23" name="Pentagon 6"/>
            <p:cNvSpPr/>
            <p:nvPr/>
          </p:nvSpPr>
          <p:spPr bwMode="auto">
            <a:xfrm>
              <a:off x="978872" y="3338786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运算符的使用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，能够灵活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运用运算符完成运算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2281433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选择结构语句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，能够根据实际需求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选择合适的选择结构语句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3251655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循环结构语句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，能够根据实际需求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选择合适的循环结构语句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4219765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跳转语句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，能够灵活运用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continue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或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break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完成程序中的流程跳转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25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4" y="2324124"/>
            <a:ext cx="10269847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作为一门编程语言，在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前端开发领域中扮演着至关重要的角色。作为一名初学者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，掌握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是十分必要的。只有掌握了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基础，才能更好地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理解和编写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，为后续的学习奠定坚实的基础。本章将对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基础进行讲解，包括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流程控制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2298158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3165473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4066253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2275979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数据类型</a:t>
              </a: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3148647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数据类型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转换</a:t>
              </a: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4044600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运算符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975509"/>
            <a:ext cx="1192190" cy="614525"/>
            <a:chOff x="2215144" y="3084852"/>
            <a:chExt cx="1244730" cy="844793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953855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流程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控制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数据类型的分类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，能够描述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中的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基本数据类型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复杂数据类型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269554"/>
            <a:ext cx="105851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中，数据类型可以分为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基本数据类型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（或称为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复杂数据类型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（或称为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引用类型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中的数据类型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分类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785631"/>
              </p:ext>
            </p:extLst>
          </p:nvPr>
        </p:nvGraphicFramePr>
        <p:xfrm>
          <a:off x="2926854" y="2133650"/>
          <a:ext cx="6048375" cy="388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0" name="Visio" r:id="rId3" imgW="2847957" imgH="1810036" progId="Visio.Drawing.15">
                  <p:embed/>
                </p:oleObj>
              </mc:Choice>
              <mc:Fallback>
                <p:oleObj name="Visio" r:id="rId3" imgW="2847957" imgH="1810036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854" y="2133650"/>
                        <a:ext cx="6048375" cy="3884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26654" y="1917626"/>
            <a:ext cx="6967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说明的是，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正则表达式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都属于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，所以复杂数据类型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只列出了对象型。复杂数据类型的使用较难，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了解，具体会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章中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详细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讲解。</a:t>
            </a:r>
          </a:p>
        </p:txBody>
      </p:sp>
      <p:pic>
        <p:nvPicPr>
          <p:cNvPr id="7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2015"/>
          <p:cNvSpPr/>
          <p:nvPr/>
        </p:nvSpPr>
        <p:spPr>
          <a:xfrm>
            <a:off x="1016000" y="1750881"/>
            <a:ext cx="7167438" cy="232698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97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0" y="1607820"/>
            <a:ext cx="4145762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27052" y="1743045"/>
            <a:ext cx="4391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强类型语言和弱类型语言的区别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83238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558905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71712" y="2677130"/>
            <a:ext cx="1030807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强类型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语言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是指一种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强制类型定义的语言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，当某个变量被定义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数据类型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如果不进行强制转换，则该变量的数据类型不会改变，常见的强类型语言有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C++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弱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类型语言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是指一种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弱类型定义的语言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，变量可以在运行时被赋予不同数据类型的数据，变量的数据类型是由其值来确定的。常见的弱类型语言有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PHP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等。</a:t>
            </a: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477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342678" y="1602514"/>
            <a:ext cx="7686372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通过代码比较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强类型语言和弱类型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语言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数据类型分类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86694" y="2360357"/>
            <a:ext cx="9344004" cy="216982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强类型语言（以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语言为例）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age = 24;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整型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弱类型语言（以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语言为例）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age = 24;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数字型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= 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abc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  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将一个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赋值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给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，此时变量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变成了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字符串型</a:t>
            </a:r>
          </a:p>
        </p:txBody>
      </p:sp>
      <p:sp>
        <p:nvSpPr>
          <p:cNvPr id="4" name="矩形 3"/>
          <p:cNvSpPr/>
          <p:nvPr/>
        </p:nvSpPr>
        <p:spPr>
          <a:xfrm>
            <a:off x="1455659" y="4941962"/>
            <a:ext cx="80470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由上述代码可知，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变量的数据类型取决于被赋予的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的类型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984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常用的基本数据类型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根据实际需求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定义基本数据类型的变量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40201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7" y="1985403"/>
            <a:ext cx="6596359" cy="2092464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4109" y="2508371"/>
              <a:ext cx="5897812" cy="241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中，常用的基本数据类型有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布尔型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数字型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字符串型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空型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未定义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型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整型和符号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型不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1763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1" y="1115504"/>
            <a:ext cx="156714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布尔型</a:t>
            </a:r>
          </a:p>
        </p:txBody>
      </p:sp>
      <p:sp>
        <p:nvSpPr>
          <p:cNvPr id="2" name="矩形 1"/>
          <p:cNvSpPr/>
          <p:nvPr/>
        </p:nvSpPr>
        <p:spPr>
          <a:xfrm>
            <a:off x="1143691" y="2133650"/>
            <a:ext cx="100091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布尔型数据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有两个值，分别是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true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（真）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（假）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。布尔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用于表示程序中的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逻辑判断结果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，其中，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事件成功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条件成立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的情况，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事件失败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条件不成立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的情况。例如，判断数字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是否大于数字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，其结果用布尔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558701" y="4435202"/>
            <a:ext cx="9594101" cy="10828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4" name="流程图: 资料带 13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1359713" y="414987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18742" y="4511362"/>
            <a:ext cx="919998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sz="2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由于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中严格区分大小写，所以只有当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全部为小写时才表示布尔型数据。</a:t>
            </a:r>
          </a:p>
        </p:txBody>
      </p:sp>
    </p:spTree>
    <p:extLst>
      <p:ext uri="{BB962C8B-B14F-4D97-AF65-F5344CB8AC3E}">
        <p14:creationId xmlns:p14="http://schemas.microsoft.com/office/powerpoint/2010/main" val="183343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341562"/>
            <a:ext cx="97108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通过代码演示布尔型的使用，首先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声明两个变量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分别赋值为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7476" y="2853730"/>
            <a:ext cx="8845990" cy="96128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result01 = true;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result02 = false;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4233586"/>
            <a:ext cx="984805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行代码声明变量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result01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并赋值为布尔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行代码声明变量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result02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并赋值为布尔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401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1" y="1115504"/>
            <a:ext cx="156714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58395" y="2417360"/>
            <a:ext cx="61926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中的数字型数据可以分为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浮点数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（表示小数），在数字前面添加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，添加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，通常情况下省略“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”。</a:t>
            </a:r>
          </a:p>
        </p:txBody>
      </p:sp>
      <p:sp>
        <p:nvSpPr>
          <p:cNvPr id="6" name="Shape 2015"/>
          <p:cNvSpPr/>
          <p:nvPr/>
        </p:nvSpPr>
        <p:spPr>
          <a:xfrm>
            <a:off x="4943078" y="2162174"/>
            <a:ext cx="6408712" cy="198770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56774" y="1325318"/>
            <a:ext cx="14231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b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b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b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zh-CN" sz="2000" b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整数</a:t>
            </a:r>
            <a:endParaRPr lang="zh-CN" altLang="zh-CN" sz="2000" b="1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2277665"/>
            <a:ext cx="1035211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通常使用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十进制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表示整数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此外还可以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八进制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十六进制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十进制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由数字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0~9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，使用规则是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逢十进一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二进制数由数字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，使用规则是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逢二进一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八进制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由数字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0~7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，使用规则是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逢八进一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十六进制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0~9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以及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字母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A~F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，不区分大小写，使用规则是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逢十六进一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8823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1319736"/>
            <a:ext cx="104411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整数的使用，首先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，然后分别给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变量赋值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八进制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十进制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十六进制的整数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63089" y="2637706"/>
            <a:ext cx="8936241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 = 0b11010;		//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二进制表示的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26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oct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0o32;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八进制表示的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26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26;			//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十进制数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26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hex = 0x1a;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十六进制表示的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26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4646" y="4869954"/>
            <a:ext cx="102971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上述示例代码中，以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0b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开始的数字表示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二进制数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，以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0o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开始的数字表示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八进制数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，以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0x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开始的数字表示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十六进制数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。其中，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不区分大小写。另外，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还允许用以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开始的数字表示八进制数，但不推荐。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98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1320" y="2205658"/>
            <a:ext cx="1038448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浮点数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可以使用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标准格式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记数法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格式是指数学中小数的写法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1.10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科学记数法格式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是指将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数字表示成一个数与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次幂相乘的形式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，在程序中使用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后面跟一个数字的方式表示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次幂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2.15E3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2.15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en-US" altLang="zh-CN" sz="2000" baseline="30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9443" y="1343988"/>
            <a:ext cx="16905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b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b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000" b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2000" b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浮点</a:t>
            </a:r>
            <a:r>
              <a:rPr lang="zh-CN" altLang="zh-CN" sz="2000" b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</a:t>
            </a:r>
            <a:endParaRPr lang="zh-CN" altLang="zh-CN" sz="2000" b="1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20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341562"/>
            <a:ext cx="103691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浮点数的使用，首先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，然后分别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使用标准格式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科学记数法格式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浮点数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62758" y="2565698"/>
            <a:ext cx="8208912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使用标准格式表示浮点数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fNum01 = -3.12;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fNum02 = 3.12;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使用科学记数法格式表示浮点数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fNum03 = 3.14E5;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fNum04 = 7.35E-5;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8786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0" y="1607820"/>
            <a:ext cx="524124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27051" y="1743045"/>
            <a:ext cx="54929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数字型数据中的最大值、最小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正数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值和特殊值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480212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67911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71712" y="2853730"/>
            <a:ext cx="107291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中，当需要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取值范围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，可以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MAX_VALUE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MIN_VALUE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由于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MAX_VALUE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MIN_VALUE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Number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对象的静态属性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所以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需要通过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Number.MAX_VALUE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Number.MIN_VALUE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的方式进行访问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034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51083" y="1701602"/>
            <a:ext cx="90471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如下代码可以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数据的最大值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正数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951083" y="2510938"/>
            <a:ext cx="10657184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Number.MAX_VALUE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1.7976931348623157e+308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Number.MIN_VALUE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5e-324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7682" y="3933850"/>
            <a:ext cx="105128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在上述代码中，第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行代码使用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Number.MAX_VALUE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获取了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数字型数据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行代码使用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Number.MIN_VALUE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获取了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数字型数据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正数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7719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51090" y="2070641"/>
            <a:ext cx="619268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个特殊值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，分别是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Infinity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（无穷大）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-Infinity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（无穷小）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 a Number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，非数字）。在计算中，当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计算结果超出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了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可表示的数字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时，会返回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Infinity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；当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计算结果超出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了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可表示的数字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时，会返回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-Infinity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；如果进行了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非法的运算操作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会返回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hape 2015"/>
          <p:cNvSpPr/>
          <p:nvPr/>
        </p:nvSpPr>
        <p:spPr>
          <a:xfrm>
            <a:off x="4943078" y="2040446"/>
            <a:ext cx="6408712" cy="3384376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6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228184" y="1714001"/>
            <a:ext cx="957599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个特殊值的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情况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234250" y="2637705"/>
            <a:ext cx="9664161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console.log(Number.MAX_VALUE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* 2); 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Infinity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console.log(-Number.MAX_VALUE * 2);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-Infinity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console.log('abc' - 2); 	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NaN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4484739"/>
            <a:ext cx="96741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在上述代码中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行代码使用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值乘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，输出结果为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Infinity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行代码使用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相反数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乘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，输出结果为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-Infinity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行代码使用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减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，输出结果为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6834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1630614"/>
            <a:ext cx="101360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是指计算中用于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表示文本的一系列字符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中使用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单引号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双引号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反引号（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`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标注字符串。下面通过代码演示字符串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的使用。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79149" y="2681002"/>
            <a:ext cx="9664161" cy="383181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使用单引号标注字符串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 = '';      		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表示空字符串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str1 = '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书籍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      	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表示字符串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书籍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使用双引号标注字符串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b = "";          		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表示空字符串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str2 = 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书籍是人类进步的阶梯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";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表示字符串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书籍是人类进步的阶梯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使用反引号标注字符串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 = ``;		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表示空字符串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str3 = `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读万卷书 行万里路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`;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表示字符串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读万卷书 行万里路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1" y="1115504"/>
            <a:ext cx="156714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929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929115"/>
            <a:ext cx="79928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字符串中，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单引号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双引号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反引号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嵌套使用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342676" y="1485578"/>
            <a:ext cx="9664161" cy="507831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单引号中嵌套双引号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fruit01 = '"apple"banana'; 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"apple"banana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双引号中嵌套单引号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fruit02 = "'pear'blueberry";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'pear'blueberry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单引号中嵌套反引号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food01 = '`noodles`rice';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`noodles`rice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双引号中嵌套反引号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food02 = "`fish`meat";	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`fish`meat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反引号中嵌套单引号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color01 = `'pink'red`;	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'pink'red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反引号中嵌套双引号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color02 = `"black"white`;	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"black"white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259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26680" y="1500094"/>
            <a:ext cx="95050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在单引号中使用单引号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在双引号中使用双引号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，或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在反引号中使用反引号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，则需要使用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对单引号、双引号或反引号进行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转义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，具体如下。</a:t>
            </a:r>
          </a:p>
        </p:txBody>
      </p:sp>
      <p:sp>
        <p:nvSpPr>
          <p:cNvPr id="3" name="矩形 2"/>
          <p:cNvSpPr/>
          <p:nvPr/>
        </p:nvSpPr>
        <p:spPr>
          <a:xfrm>
            <a:off x="1270670" y="2796238"/>
            <a:ext cx="82809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\'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：单引号。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\"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：双引号。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\`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：反引号</a:t>
            </a:r>
            <a:r>
              <a:rPr lang="zh-CN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2096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352204"/>
            <a:ext cx="871296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单引号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双引号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反引号嵌套使用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情况。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342678" y="2205658"/>
            <a:ext cx="9664161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单引号中嵌套单引号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speak = 'I\'m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		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I'm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双引号中嵌套双引号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boyName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"\"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\"";	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反引号中嵌套反引号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girlName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`\`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小丽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\``;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字符串内容为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小丽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886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453782"/>
            <a:ext cx="10297144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是由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若干个字符组成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字符的数量就是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串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长度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中可以使用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length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属性获取整个字符串的长度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3062203"/>
            <a:ext cx="9133939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'I like running';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str.length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14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243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1321" y="1867839"/>
            <a:ext cx="10240469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型表示声明的变量未指向任何对象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，它只有一个特殊的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null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通过代码演示数据类型为空型的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情况。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558702" y="3269701"/>
            <a:ext cx="9096689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= null;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console.log(age);	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74981" y="4725937"/>
            <a:ext cx="1003279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行代码声明了一个变量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，并赋值为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null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行代码用于在控制台中输出变量的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的值。</a:t>
            </a:r>
          </a:p>
        </p:txBody>
      </p:sp>
      <p:sp>
        <p:nvSpPr>
          <p:cNvPr id="7" name="矩形 6"/>
          <p:cNvSpPr/>
          <p:nvPr/>
        </p:nvSpPr>
        <p:spPr>
          <a:xfrm>
            <a:off x="1174981" y="1120072"/>
            <a:ext cx="1175809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660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972467"/>
            <a:ext cx="104411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未定义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型表示声明的变量还未被赋值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，此时变量的值为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undefined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，表示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未定义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。下面通过代码演示数据类型为未定义型的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情况。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63013" y="3311994"/>
            <a:ext cx="8868698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console.log(age);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74981" y="4675996"/>
            <a:ext cx="96149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在上述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由于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没有为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声明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的变量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，所以输出结果为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undefined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1174981" y="1120072"/>
            <a:ext cx="156714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未定义型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29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0" y="1607820"/>
            <a:ext cx="1985522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71039" y="1764434"/>
            <a:ext cx="1640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字面量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211892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6701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2510141"/>
            <a:ext cx="104408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字面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量是指源代码中的固定值的表示法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，使用字面量可以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在代码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某个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。在阅读代码时，通过观察字面量可以快速地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判断数据的类型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中常见的字面量如下。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常用的基本数据类型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3667374"/>
            <a:ext cx="9001000" cy="234628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字面量：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字符串字面量：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用户名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密码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布尔字面量：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数组字面量：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[1, 2, 3]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对象字面量：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{username: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password: 123456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49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转换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，能够根据实际需求将数据转换为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布尔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将数据转换为布尔型数据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885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6" y="1985402"/>
            <a:ext cx="6740375" cy="3417567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953" y="2304195"/>
              <a:ext cx="6113957" cy="2862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比较数据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判断时，经常需要将数据转换为布尔型数据。在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Boolean()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可以将给定的数据转换为布尔型数据，在转换时，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表示空值或否定的值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（包括空字符串、数字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NaN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null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undefined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会被转换为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false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其他的值会被转换为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true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将数据转换为布尔型数据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365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将数据转换为布尔型数据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4606" y="1284489"/>
            <a:ext cx="53296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9240" algn="just">
              <a:spcAft>
                <a:spcPts val="0"/>
              </a:spcAft>
            </a:pP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将数据转换为布尔型数据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的示例代码如下。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342678" y="2133650"/>
            <a:ext cx="9664161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console.log(Boolean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(''));	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console.log(Boolean(0));	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console.log(Boolean(NaN));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console.log(Boolean(null));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console.log(Boolean(undefined));	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console.log(Boolean('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console.log(Boolean(123456));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647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数据类型转换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根据实际需求将数据转换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数字型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54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7" y="1985402"/>
            <a:ext cx="6596359" cy="3028567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953" y="2304195"/>
              <a:ext cx="6199707" cy="2709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的开发过程中，有时候需要将数据转换为数字型数据进行计算。例如，将字符串型数据转换为数字型数据进行算术运算。将数据转换为数字型数据的方式有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种，分别是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parseInt()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parseFloat()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Number</a:t>
              </a: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()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445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1" y="2061642"/>
            <a:ext cx="88569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parseInt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将数据转换为数字型数据时，会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忽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数据的小数部分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返回数据的整数部分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558702" y="3550812"/>
            <a:ext cx="901284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console.log(parseInt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('100.56'));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74980" y="1120072"/>
            <a:ext cx="1751873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000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parseInt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387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2038908"/>
            <a:ext cx="10585176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需要注意的是，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parseInt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可以自动识别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十进制数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十六进制数字符串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例如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'0xF'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会被识别为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。但对于其他进制数字符串，则需要通过</a:t>
            </a:r>
            <a:r>
              <a:rPr lang="en-US" altLang="zh-CN" sz="20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parseInt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个参数设置进制才能正确识别，该参数的取值范围为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2~36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5" y="4531980"/>
            <a:ext cx="901284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parseInt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('20', 8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));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//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16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74980" y="1120072"/>
            <a:ext cx="1751873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000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parseInt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2977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62981" y="1820834"/>
            <a:ext cx="104328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2000" dirty="0" err="1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parseFloat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将数据转换为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数字型数据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将数据转换为数字型数据中的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浮点数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21379" y="3043935"/>
            <a:ext cx="8716027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console.log(parseFloat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('100.56'));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100.56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console.log(parseFloat('314e-2'));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3.14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4365898"/>
            <a:ext cx="102080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上述示例代码中，第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行代码将字符串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'100.56'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转换为数字型数据，控制台中的输出结果为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100.56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行代码将字符串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'314e-2'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转换为数据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3.14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74980" y="1120072"/>
            <a:ext cx="196789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2.parseFloat()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06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945" y="1848943"/>
            <a:ext cx="705678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Number()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将数据转换为数字型数据的示例代码如下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2813383"/>
            <a:ext cx="900100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console.log(Number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('100.56'));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100.56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console.log(Number('100.abc'));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NaN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99259" y="4286339"/>
            <a:ext cx="102965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上述示例代码中，第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行代码将字符串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'100.56'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转换为数字型数据，控制台中的输出结果为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100.56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行代码将字符串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'100.abc'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转换为数字型数据，控制台中的输出结果为</a:t>
            </a:r>
            <a:r>
              <a:rPr lang="en-US" altLang="zh-CN" sz="2000" dirty="0" err="1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74980" y="1120072"/>
            <a:ext cx="1751873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3.Number()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774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052968"/>
            <a:ext cx="616104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不同类型数据转换为数字型数据的结果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836793"/>
              </p:ext>
            </p:extLst>
          </p:nvPr>
        </p:nvGraphicFramePr>
        <p:xfrm>
          <a:off x="1342678" y="1773610"/>
          <a:ext cx="9560027" cy="449329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27177">
                  <a:extLst>
                    <a:ext uri="{9D8B030D-6E8A-4147-A177-3AD203B41FA5}">
                      <a16:colId xmlns:a16="http://schemas.microsoft.com/office/drawing/2014/main" val="394377544"/>
                    </a:ext>
                  </a:extLst>
                </a:gridCol>
                <a:gridCol w="2363544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2785205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  <a:gridCol w="2484101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6166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待转换数据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altLang="zh-CN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parseInt()</a:t>
                      </a: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转换结果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parseFloat()</a:t>
                      </a: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转换结果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US" altLang="zh-CN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Number()</a:t>
                      </a: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转换结果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纯数字字符串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对应的数字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对应的数字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对应的数字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非</a:t>
                      </a:r>
                      <a:r>
                        <a:rPr lang="zh-CN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纯数字字符串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34737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空字符串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null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undefined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09021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52939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NaN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155931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944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87094" y="2110239"/>
            <a:ext cx="612068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转换纯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，会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忽略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前面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，如字符串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"0333"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会被转换为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333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如果字符串前后有空格，则这些空格会被忽略。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开头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有正号“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”或负号“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被当成正数或负数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'-333'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会被转换为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-333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9" name="Shape 2015"/>
          <p:cNvSpPr/>
          <p:nvPr/>
        </p:nvSpPr>
        <p:spPr>
          <a:xfrm>
            <a:off x="4943078" y="1967205"/>
            <a:ext cx="6408712" cy="268672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61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09" y="1607820"/>
            <a:ext cx="4577811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62758" y="1773610"/>
            <a:ext cx="4700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isNaN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()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判断一个值是否为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NaN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15286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002985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00514" y="2797886"/>
            <a:ext cx="100352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想要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判断一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个值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2000" dirty="0" err="1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可以使用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isNaN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进行判断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isNaN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在接收一个值后会将该值隐式转换为数字。如果转换结果为</a:t>
            </a:r>
            <a:r>
              <a:rPr lang="en-US" altLang="zh-CN" sz="2000" dirty="0" err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，那么</a:t>
            </a:r>
            <a:r>
              <a:rPr lang="en-US" altLang="zh-CN" sz="2000" dirty="0" err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isNaN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将返回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；否则，返回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false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441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1821691"/>
            <a:ext cx="631050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en-US" altLang="zh-CN" sz="2000" dirty="0" err="1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isNaN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72933" y="2888943"/>
            <a:ext cx="8830785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isNaN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)); 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isNaN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abc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4293890"/>
            <a:ext cx="99920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在上述代码中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由于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是数字，所以输出结果为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false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由于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</a:t>
            </a:r>
            <a:r>
              <a:rPr lang="en-US" altLang="zh-CN" sz="2000" dirty="0" err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不能转换为数字的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字符串，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即转换结果为</a:t>
            </a:r>
            <a:r>
              <a:rPr lang="en-US" altLang="zh-CN" sz="2000" dirty="0" err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所以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输出结果为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60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87094" y="2161051"/>
            <a:ext cx="61206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需要注意的是，</a:t>
            </a:r>
            <a:r>
              <a:rPr lang="en-US" altLang="zh-CN" sz="2000" dirty="0" err="1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isNaN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只能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判断一个值是否为</a:t>
            </a:r>
            <a:r>
              <a:rPr lang="en-US" altLang="zh-CN" sz="2000" dirty="0" err="1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NaN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，而不能判断一个值是否为有效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数字。如果需要判断一个值是否为数字，可以使用</a:t>
            </a:r>
            <a:r>
              <a:rPr lang="en-US" altLang="zh-CN" sz="2000" dirty="0" err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typeof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运算符，详见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2.3.8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小节。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2015"/>
          <p:cNvSpPr/>
          <p:nvPr/>
        </p:nvSpPr>
        <p:spPr>
          <a:xfrm>
            <a:off x="4943078" y="1967205"/>
            <a:ext cx="6408712" cy="232668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1143691" y="266995"/>
            <a:ext cx="4277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将数据转换为数字型数据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</p:spTree>
    <p:extLst>
      <p:ext uri="{BB962C8B-B14F-4D97-AF65-F5344CB8AC3E}">
        <p14:creationId xmlns:p14="http://schemas.microsoft.com/office/powerpoint/2010/main" val="204789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数据类型转换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根据实际需求将数据转换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459988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将数据转换为字符串型数据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446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5">
            <a:extLst>
              <a:ext uri="{FF2B5EF4-FFF2-40B4-BE49-F238E27FC236}">
                <a16:creationId xmlns:a16="http://schemas.microsoft.com/office/drawing/2014/main" id="{8C22BF7A-4BC1-4144-9B36-68D1715B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38" y="1629594"/>
            <a:ext cx="10513168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toString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为字符串型数据，它们的区别是，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将任意类型的数据转换为字符串型数据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toString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将除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undefined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之外的数据转换为字符串型数据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toString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对数字进行数据类型的转换时，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参数将数字转换为指定进制的字符串。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459988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将数据转换为字符串型数据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82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459988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将数据转换为字符串型数据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4606" y="1529146"/>
            <a:ext cx="58426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9240" algn="just"/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将数据转换为字符串型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558702" y="2349674"/>
            <a:ext cx="9016089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num01 = 23;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num02 = 46;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console.log(String(num01));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console.log(num01.toString());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console.log(num02.toString(2));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101110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4213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764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算术运算符的使用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应用算术运算符完成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算术运算符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6719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622" y="1182175"/>
            <a:ext cx="1044116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算术运算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对两个数字或变量进行算术运算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，与数学中的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加、减、乘、除运算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类似。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中常用的算术运算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符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627201"/>
              </p:ext>
            </p:extLst>
          </p:nvPr>
        </p:nvGraphicFramePr>
        <p:xfrm>
          <a:off x="1630710" y="2493690"/>
          <a:ext cx="9145017" cy="344267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28193">
                  <a:extLst>
                    <a:ext uri="{9D8B030D-6E8A-4147-A177-3AD203B41FA5}">
                      <a16:colId xmlns:a16="http://schemas.microsoft.com/office/drawing/2014/main" val="394377544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6166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运算符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结果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加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3+3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6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减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6-3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乘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3*5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15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除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8/2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4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40902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%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取模（取余）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5%7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5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5293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**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幂运算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4**2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16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155931"/>
                  </a:ext>
                </a:extLst>
              </a:tr>
              <a:tr h="288032">
                <a:tc rowSpan="2"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++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自增（前置）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a=2;b=++a;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3; b = 3;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14745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自增（后置）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a=2;b=a++;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3; b = 2;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184255"/>
                  </a:ext>
                </a:extLst>
              </a:tr>
              <a:tr h="288032">
                <a:tc rowSpan="2"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--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自减（前置）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a=2;b=--a;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1; b = 1;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946914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自减（后置）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a=2;b=a--;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1; b = 2;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478969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算术运算符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213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1413570"/>
            <a:ext cx="107291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增和自减运算可以快速对变量的值进行递增或递减运算，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自增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自减运算符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可以放在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也可以放在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变量后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自增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放在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前置自增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前置自减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）；当自增（或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放在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变量后面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后置自增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后置自减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置和后置的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在于，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返回的是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计算后的结果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返回的是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计算前的结果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算术运算符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878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877835"/>
            <a:ext cx="688781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演示自增和自减运算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算术运算符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02718" y="1413570"/>
            <a:ext cx="9304121" cy="51706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2, b = 2, c = 3, d = 3;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自增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console.log(++a);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console.log(b++);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console.log(b);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自减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console.log(--c);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console.log(c);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console.log(d--);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console.log(d);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763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269554"/>
            <a:ext cx="688781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算术运算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符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在实际应用过程中还需要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注意以下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算术运算符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1797" y="2133650"/>
            <a:ext cx="87849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进行四则混合运算时，运算顺序要遵循数学中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“先乘除后加减”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的原则。例如，运行“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result = 2+8-3*2/2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result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 startAt="2"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取模运算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运算结果的正负取决于被模数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%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左边的数）的正负，与模数（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%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右边的数）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的正负无关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。例如，运行“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 = (-8) % 7, b = 8 % (-7)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8347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算术运算符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8622" y="1557586"/>
            <a:ext cx="107291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尽量避免使用浮点数进行运算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，有时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的精度可能导致结果产生偏差。例如，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0.1 + 0.2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正常的计算结果应该是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的计算结果却是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0.30000000000000004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。此时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参与运算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浮点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转换为整数，计算后再转换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浮点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即可。例如，将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0.2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分别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乘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，相加后再除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，即可得到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0.3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 algn="just">
              <a:lnSpc>
                <a:spcPct val="150000"/>
              </a:lnSpc>
              <a:buClr>
                <a:schemeClr val="tx1">
                  <a:lumMod val="65000"/>
                  <a:lumOff val="35000"/>
                </a:schemeClr>
              </a:buClr>
              <a:buFont typeface="+mj-ea"/>
              <a:buAutoNum type="circleNumDbPlain" startAt="4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”和“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”在运算符中还可以表示正数或负数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(+2.1) + (-1.1)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的计算结果为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7727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1" y="1607820"/>
            <a:ext cx="164084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34766" y="1743045"/>
            <a:ext cx="1640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表达式</a:t>
            </a:r>
          </a:p>
        </p:txBody>
      </p:sp>
      <p:sp>
        <p:nvSpPr>
          <p:cNvPr id="14" name="矩形 13"/>
          <p:cNvSpPr/>
          <p:nvPr/>
        </p:nvSpPr>
        <p:spPr>
          <a:xfrm>
            <a:off x="3911878" y="1607925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99577" y="1607925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10630" y="2421682"/>
            <a:ext cx="107288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表达式是一组代码的集合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，每个表达式的运行结果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个值。变量和各种类型的数据都可以用于构成表达式。一个简单的表达式可以是一个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字面量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，下面列举一些常见的表达式。</a:t>
            </a:r>
          </a:p>
        </p:txBody>
      </p:sp>
      <p:sp>
        <p:nvSpPr>
          <p:cNvPr id="2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算术运算符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79633" y="3501802"/>
            <a:ext cx="9664161" cy="300082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3 + 3;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将表达式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 + 3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赋值给变量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7;	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将表达式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的值赋值给变量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age = 23 +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将表达式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23 +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30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赋值给变量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35;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将表达式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35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35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赋值给变量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console.log(age);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将表达式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的值作为参数传给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alert(prompt('a'));	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将表达式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prompt('a')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的值作为参数传给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alert()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alert(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parseInt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(prompt('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')) + 1);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由简单的表达式组合成的复杂表达式</a:t>
            </a:r>
          </a:p>
        </p:txBody>
      </p:sp>
    </p:spTree>
    <p:extLst>
      <p:ext uri="{BB962C8B-B14F-4D97-AF65-F5344CB8AC3E}">
        <p14:creationId xmlns:p14="http://schemas.microsoft.com/office/powerpoint/2010/main" val="122948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字符串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应用字符串运算符完成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397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组合 11"/>
          <p:cNvGrpSpPr/>
          <p:nvPr/>
        </p:nvGrpSpPr>
        <p:grpSpPr>
          <a:xfrm>
            <a:off x="4899447" y="1985403"/>
            <a:ext cx="6092303" cy="2092463"/>
            <a:chOff x="4899446" y="1985402"/>
            <a:chExt cx="6740375" cy="3417567"/>
          </a:xfrm>
        </p:grpSpPr>
        <p:sp>
          <p:nvSpPr>
            <p:cNvPr id="13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4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6390" y="2462748"/>
              <a:ext cx="6003527" cy="2412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含有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运算符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表达式的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操作数至少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个为字符串时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，“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”表示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字符串运算符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，用于实现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字符串的拼接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396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19828" y="1301979"/>
            <a:ext cx="10231961" cy="1731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通过代码演示字符串运算符的使用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9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两个变量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个变量存放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用户名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个变量存放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性别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男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如果需要显示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，就需要将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拼接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3189377"/>
            <a:ext cx="8944081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username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sex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字符串拼接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username +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+ sex;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		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输出结果为“小智：男”</a:t>
            </a:r>
          </a:p>
        </p:txBody>
      </p:sp>
    </p:spTree>
    <p:extLst>
      <p:ext uri="{BB962C8B-B14F-4D97-AF65-F5344CB8AC3E}">
        <p14:creationId xmlns:p14="http://schemas.microsoft.com/office/powerpoint/2010/main" val="227550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84712" y="2068164"/>
            <a:ext cx="649507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值得一提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的是，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ECMAScript 6.0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中新增了使用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模板字符串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的方式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实现字符串的拼接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。模板字符串的写法是以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反引号（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`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）开头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以反引号（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`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）结尾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。在使用模板字符串时，首先定义需要拼接的字符串变量，然后将字符串变量写到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${}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的大括号中。</a:t>
            </a:r>
          </a:p>
        </p:txBody>
      </p:sp>
      <p:sp>
        <p:nvSpPr>
          <p:cNvPr id="9" name="Shape 2015"/>
          <p:cNvSpPr/>
          <p:nvPr/>
        </p:nvSpPr>
        <p:spPr>
          <a:xfrm>
            <a:off x="4655046" y="1845618"/>
            <a:ext cx="6722982" cy="280831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74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38527" y="1360547"/>
            <a:ext cx="538071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使用模板字符串拼接字符串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05115" y="2349898"/>
            <a:ext cx="8869225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username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sex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男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使用模板字符串实现字符串拼接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console.log(`${username}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${sex}`);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输出结果为“小智：男”</a:t>
            </a:r>
          </a:p>
        </p:txBody>
      </p:sp>
      <p:sp>
        <p:nvSpPr>
          <p:cNvPr id="2" name="矩形 1"/>
          <p:cNvSpPr/>
          <p:nvPr/>
        </p:nvSpPr>
        <p:spPr>
          <a:xfrm>
            <a:off x="1143691" y="4738679"/>
            <a:ext cx="99920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在上述示例代码中，第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行代码使用模板字符串的方式拼接变量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username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8536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1" y="1607820"/>
            <a:ext cx="1640840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34766" y="1757446"/>
            <a:ext cx="1640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隐式转换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80177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55176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脚下留心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2781722"/>
            <a:ext cx="10512826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中，当操作的数据类型不符合预期时，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会按照既定的规则进行自动类型转换，这种方式称为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隐式转换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，具体转换规则参考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2.2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例如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，当判断某个值是否为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false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会被隐式转换为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会被隐式转换为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false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的隐式转换虽然降低了程序的严谨性，但也带来了便利，使开发人员不必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处理繁琐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的类型转换工作。在实际开发中，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应注意隐式转换可能带来的问题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，以免程序出现意想不到的结果。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697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字符串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485578"/>
            <a:ext cx="84969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通过代码演示如何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使用隐式转换实现数据类型的转换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548327" y="2133650"/>
            <a:ext cx="9093757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通过隐式转换将数据转换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console.log('13' - 0);          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console.log('13' * 1);          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console.log('13' / 1);          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通过隐式转换将数据转换为字符串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console.log(13 + '');           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console.log(true + '');         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console.log(null + '');         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console.log(undefined + '');    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脚下留心</a:t>
            </a:r>
            <a:endParaRPr 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222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30" y="2231474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赋值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应用赋值运算符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完成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</a:t>
            </a:r>
            <a:endParaRPr lang="en-US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256475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赋值运算符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98947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929728"/>
            <a:ext cx="10369152" cy="95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赋值运算符用于将运算符右边的值赋给左边的变量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。在变量的初始化过程中，就使用了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最基本的赋值运算符“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中常用的赋值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557328"/>
              </p:ext>
            </p:extLst>
          </p:nvPr>
        </p:nvGraphicFramePr>
        <p:xfrm>
          <a:off x="1396019" y="1981740"/>
          <a:ext cx="9685520" cy="455090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42803">
                  <a:extLst>
                    <a:ext uri="{9D8B030D-6E8A-4147-A177-3AD203B41FA5}">
                      <a16:colId xmlns:a16="http://schemas.microsoft.com/office/drawing/2014/main" val="394377544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  <a:gridCol w="2898101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运算符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结果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34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赋值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1, b = 2;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1, b = 2;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288032">
                <a:tc rowSpan="2"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加并赋值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1, b = 2; a += b;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3, b = 2;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字符串拼接并赋值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'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abc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'; a += '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def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';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'</a:t>
                      </a:r>
                      <a:r>
                        <a:rPr lang="en-US" sz="18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abcdef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';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减并赋值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4, b = 3; a -= b;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1, b = 3;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83595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乘并赋值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4, b = 3; a *= b;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12, b = 3;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15593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除并赋值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4, b = 2; a /= b;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2, b = 2;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8743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%=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取模并赋值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4, b = 3; a %= b;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=1, b = 3;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73191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**=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幂运算并赋值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4; a ** = 2;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16;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0599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&lt;&lt;=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左移位并赋值</a:t>
                      </a:r>
                      <a:endParaRPr lang="zh-CN" altLang="zh-CN" sz="1800" b="0" kern="1200" dirty="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9, b = 2; a &lt;&lt;= b;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36, b = 2;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72028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&gt;&gt;=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右移位并赋值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-9, b = 2; a &gt;&gt;= b;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-3, b = 2;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47853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&gt;&gt;&gt;=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无符号右移位并赋值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-9, b = 2; a &gt;&gt;&gt;= b;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1073741821, b = 2;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90428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&amp;=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按位与并赋值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3, b = 9; a &amp;= b;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1, b = 9;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65328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^=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按位异或并赋值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3, b = 9; a ^= b;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10, b = 9;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8274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|=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按位或并赋值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3, b = 9; a |= b;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= 11, b = 9;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541273"/>
                  </a:ext>
                </a:extLst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256475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赋值运算符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280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96153" y="954662"/>
            <a:ext cx="646720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赋值运算符的使用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示例代码如下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782838" y="1571573"/>
            <a:ext cx="5976664" cy="473854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5;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+= 3;                     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相当于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a + 3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            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-= 4;                     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相当于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a - 4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            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*= 2;                     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相当于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a * 2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            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/= 2;                     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相当于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a / 2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            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%= 2;                    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相当于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a % 2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            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**= 2;                    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相当于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a ** 2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            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256475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赋值运算符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892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30" y="2231474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比较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应用比较运算符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完成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</a:t>
            </a:r>
            <a:endParaRPr lang="en-US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256475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比较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79323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256475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比较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4899447" y="1985403"/>
            <a:ext cx="6236319" cy="2380495"/>
            <a:chOff x="4899446" y="1985402"/>
            <a:chExt cx="6740375" cy="3417567"/>
          </a:xfrm>
        </p:grpSpPr>
        <p:sp>
          <p:nvSpPr>
            <p:cNvPr id="10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1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7956" y="2309112"/>
              <a:ext cx="6168381" cy="2783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在访问电商网站的过程中，经常会在首页看到销量高的商品。在实际开发中，开发人员可以通过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比较商品的销量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销量高的产品放到首页进行展示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850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703" y="938435"/>
            <a:ext cx="10479095" cy="95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比较运算符用于对两个数据进行比较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，比较返回的结果是</a:t>
            </a:r>
            <a:r>
              <a:rPr lang="zh-CN" altLang="zh-CN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布尔型数据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</a:t>
            </a:r>
            <a:r>
              <a:rPr lang="en-US" altLang="zh-CN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18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。下面列举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中常用的比较运算符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440243"/>
              </p:ext>
            </p:extLst>
          </p:nvPr>
        </p:nvGraphicFramePr>
        <p:xfrm>
          <a:off x="1872068" y="2114514"/>
          <a:ext cx="9184405" cy="286591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638778">
                  <a:extLst>
                    <a:ext uri="{9D8B030D-6E8A-4147-A177-3AD203B41FA5}">
                      <a16:colId xmlns:a16="http://schemas.microsoft.com/office/drawing/2014/main" val="394377544"/>
                    </a:ext>
                  </a:extLst>
                </a:gridCol>
                <a:gridCol w="2253320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3038987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  <a:gridCol w="225332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6166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运算符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结果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大于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 &gt; 2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73191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&lt;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小于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 &lt; 2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0599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大于或等于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 &gt;= 2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72028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&lt;=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小于或等于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 &lt;= 2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47853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等于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 == 2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90428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!=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不等于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 != 2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653286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===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全等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 === 3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8274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!==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不全等</a:t>
                      </a:r>
                      <a:endParaRPr lang="zh-CN" altLang="zh-CN" sz="1800" b="0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3 !== 3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541273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256475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比较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143691" y="5251332"/>
            <a:ext cx="10009112" cy="134681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9" name="流程图: 资料带 8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944703" y="5085978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88204" y="5255807"/>
            <a:ext cx="9271252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==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”和“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!=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”在比较不同类型的数据时，首先会自动将要进行比较的数据类型转换为相同的数据类型，</a:t>
            </a:r>
            <a:r>
              <a:rPr lang="zh-CN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然后进行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比较。运算符“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===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”和“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!==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 在比较不同类型的数据时，不会进行数据类型的转换。</a:t>
            </a:r>
          </a:p>
        </p:txBody>
      </p:sp>
    </p:spTree>
    <p:extLst>
      <p:ext uri="{BB962C8B-B14F-4D97-AF65-F5344CB8AC3E}">
        <p14:creationId xmlns:p14="http://schemas.microsoft.com/office/powerpoint/2010/main" val="116298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284378"/>
            <a:ext cx="62646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86694" y="2205658"/>
            <a:ext cx="9073008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console.log(13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 12); 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console.log(13 &lt; 12); 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console.log(13 &gt;= 12); 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console.log(13 &lt;= 12); 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console.log(13 == '13'); 	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console.log(13 != 12); 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console.log(13 === '13');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256475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比较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819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逻辑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应用逻辑运算符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完成运算</a:t>
            </a:r>
            <a:endParaRPr lang="en-US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322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164311" cy="2524511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4911" y="2381726"/>
              <a:ext cx="5929443" cy="2624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开发中，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有时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只有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个条件同时成立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时才会执行后续的代码，例如，只有用户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输入有效的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用户名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和密码，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才能登录成功。在程序中，如果要实现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条件的判断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，可以使用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逻辑运算符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685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196984"/>
            <a:ext cx="616104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中常用的逻辑运算符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8545"/>
              </p:ext>
            </p:extLst>
          </p:nvPr>
        </p:nvGraphicFramePr>
        <p:xfrm>
          <a:off x="1176637" y="2205658"/>
          <a:ext cx="10031137" cy="303054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326433">
                  <a:extLst>
                    <a:ext uri="{9D8B030D-6E8A-4147-A177-3AD203B41FA5}">
                      <a16:colId xmlns:a16="http://schemas.microsoft.com/office/drawing/2014/main" val="394377544"/>
                    </a:ext>
                  </a:extLst>
                </a:gridCol>
                <a:gridCol w="994823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1575137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  <a:gridCol w="6134744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6166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运算符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altLang="zh-CN" sz="18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结果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90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&amp;&amp;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&amp;&amp; b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如果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，则结果为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的值；如果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，则结果为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||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或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|| b</a:t>
                      </a:r>
                      <a:endParaRPr lang="zh-CN" sz="18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如果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，则结果为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的值；如果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，则结果为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56166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!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非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!a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如果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，则结果为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；如果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false</a:t>
                      </a:r>
                      <a:r>
                        <a:rPr lang="zh-CN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，则结果为</a:t>
                      </a:r>
                      <a:r>
                        <a:rPr lang="en-US" sz="18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true</a:t>
                      </a:r>
                      <a:endParaRPr lang="zh-CN" sz="18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398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10630" y="778066"/>
            <a:ext cx="626469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137662" y="1248350"/>
            <a:ext cx="7629952" cy="549381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逻辑“与”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console.log(100 &amp;&amp; 200);	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200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console.log(0 &amp;&amp; 123);              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console.log(3 &gt; 2 &amp;&amp; 4 &gt; 3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console.log(2 &lt; 1 &amp;&amp; 3 &gt; 1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逻辑“或”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console.log(100 || 200);          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console.log(0 || 123);              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123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console.log(3 &gt; 2 || 4 &lt; 3);	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console.log(2 &lt; 1 || 3 &lt; 1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逻辑“非”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console.log(!(2 &gt; 1));	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console.log(!(2 &lt; 1));	 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302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38622" y="1269554"/>
            <a:ext cx="105851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使用逻辑运算符时，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左到右的顺序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在运算时可能会出现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“短路”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的情况。“短路”是指如果通过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逻辑运算符左边的表达式能够确定最终值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，则不运算逻辑运算符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右边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具体说明如下。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622" y="3189377"/>
            <a:ext cx="1101722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&amp;&amp;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连接两个表达式，语法为“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左边表达式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&amp;&amp; 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右边表达式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”。如果左边表达式的值为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，则结果为右边表达式的值；如果左边表达式的值为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，则结果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左边表达式的值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0" algn="just">
              <a:lnSpc>
                <a:spcPct val="150000"/>
              </a:lnSpc>
              <a:spcAft>
                <a:spcPts val="0"/>
              </a:spcAft>
            </a:pP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||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连接两个表达式，语法为“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左边表达式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|| 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右边表达式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”。如果左边表达式的值为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，则结果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左边表达式的值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如果左边表达式的值为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，则结果为右边表达式的值。</a:t>
            </a:r>
          </a:p>
        </p:txBody>
      </p:sp>
    </p:spTree>
    <p:extLst>
      <p:ext uri="{BB962C8B-B14F-4D97-AF65-F5344CB8AC3E}">
        <p14:creationId xmlns:p14="http://schemas.microsoft.com/office/powerpoint/2010/main" val="42151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18643" y="1275561"/>
            <a:ext cx="669674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出现“短路”的情况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494806" y="2298721"/>
            <a:ext cx="7128792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 = 1;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 &amp;&amp; a++;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&amp;&amp;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短路情况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 || a++;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||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短路情况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console.log(a);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逻辑运算符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555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三元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应用三元运算符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完成运算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三元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046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164311" cy="2524511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4911" y="2381726"/>
              <a:ext cx="5929443" cy="2624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元运算符包括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，用于组成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三元表达式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。三元表达式用于根据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条件表达式的值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决定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”后面的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表达式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被运行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还是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”后面的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表达式被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三元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2436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3691" y="1514917"/>
            <a:ext cx="352839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元运算符的语法格式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如下。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2490571"/>
            <a:ext cx="8712968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?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: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三元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70358" y="3494251"/>
            <a:ext cx="99654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上述语法格式中，如果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，则返回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的运行结果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；如果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36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168733"/>
            <a:ext cx="618354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下面通过代码演示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三元运算符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的使用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2071373"/>
            <a:ext cx="8712968" cy="142295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= prompt('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请输入您的年龄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status = age &gt;= 18 ?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已成年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: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未成年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document.write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(status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三元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3795058"/>
            <a:ext cx="104241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上述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用户输入的年龄判断用户是已成年还是未成年。如果用户输入的年龄是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，则首先运行条件表达式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&gt;= 18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，因为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的值是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13 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18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，所以条件表达式的值为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，此时就会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未成年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给变量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status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，最后在页面中输出的结果为“未成年”。同理，如果用户输入的年龄是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18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，则页面中输出的结果为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“已成年”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6129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位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应用位运算符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完成运算</a:t>
            </a:r>
            <a:endParaRPr lang="en-US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2.3.7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76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5">
            <a:extLst>
              <a:ext uri="{FF2B5EF4-FFF2-40B4-BE49-F238E27FC236}">
                <a16:creationId xmlns:a16="http://schemas.microsoft.com/office/drawing/2014/main" id="{8C22BF7A-4BC1-4144-9B36-68D1715B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630" y="1216020"/>
            <a:ext cx="1044116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对数据进行二进制运算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。在运算时，位运算符会将参与运算的操作数视为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由二进制数（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）组成的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位的串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，十进制数字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用二进制表示为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00000000 00000000 00000000 00001001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，可以简写为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。位运算符在运算时，会将二进制的每一位进行运算。</a:t>
            </a:r>
          </a:p>
        </p:txBody>
      </p:sp>
      <p:sp>
        <p:nvSpPr>
          <p:cNvPr id="12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2.3.7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630710" y="4529691"/>
            <a:ext cx="9145016" cy="12065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4" name="流程图: 资料带 13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1503729" y="4293890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79034" y="4643815"/>
            <a:ext cx="86959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中位运算符仅能对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数字型数据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进行运算。在对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型数据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位运算之前，程序会将所有的操作数转换为二进制数，然后逐位运算。</a:t>
            </a:r>
          </a:p>
        </p:txBody>
      </p:sp>
    </p:spTree>
    <p:extLst>
      <p:ext uri="{BB962C8B-B14F-4D97-AF65-F5344CB8AC3E}">
        <p14:creationId xmlns:p14="http://schemas.microsoft.com/office/powerpoint/2010/main" val="354482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794226"/>
            <a:ext cx="6161048" cy="48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18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中常用的位运算符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670639"/>
              </p:ext>
            </p:extLst>
          </p:nvPr>
        </p:nvGraphicFramePr>
        <p:xfrm>
          <a:off x="1342678" y="1283908"/>
          <a:ext cx="10050786" cy="555448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304543">
                  <a:extLst>
                    <a:ext uri="{9D8B030D-6E8A-4147-A177-3AD203B41FA5}">
                      <a16:colId xmlns:a16="http://schemas.microsoft.com/office/drawing/2014/main" val="394377544"/>
                    </a:ext>
                  </a:extLst>
                </a:gridCol>
                <a:gridCol w="1313685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1367878">
                  <a:extLst>
                    <a:ext uri="{9D8B030D-6E8A-4147-A177-3AD203B41FA5}">
                      <a16:colId xmlns:a16="http://schemas.microsoft.com/office/drawing/2014/main" val="1978645940"/>
                    </a:ext>
                  </a:extLst>
                </a:gridCol>
                <a:gridCol w="606468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33842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运算符</a:t>
                      </a:r>
                      <a:endParaRPr lang="zh-CN" sz="16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zh-CN" sz="16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altLang="zh-CN" sz="1600" b="1" kern="1200" smtClean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6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6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&amp;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按位“与”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&amp; b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将操作数进行按位“与”运算，如果两个二进制位都是</a:t>
                      </a: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，则该位的运算结果为</a:t>
                      </a: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，否则为</a:t>
                      </a: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6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|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按位“或”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| b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将操作数进行按位“或”运算，如果二进制位上有一个值是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，则该位的运算结果就是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，否则为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~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按位“非”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~ a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将操作数进行按位“非”运算，如果二进制位为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，则按位“非”的结果为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；如果二进制位为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，则按位“非”的结果为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^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按位“异或”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^ b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将操作数进行按位“异或”运算，如果二进制位相同，则按位“异或”的结果为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，否则为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371564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&lt;&lt; 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左移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&lt;&lt; b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将操作数的二进制位按照指定位数向左移动，运算时，右边的空位补</a:t>
                      </a: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，左边移走的部分舍去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470140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&gt;&gt; 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右移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&gt;&gt; b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将操作数的二进制位按照指定位数向右移动，运算时，左边的空位根据原数的符号位补</a:t>
                      </a: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zh-CN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或者</a:t>
                      </a: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1</a:t>
                      </a:r>
                      <a:r>
                        <a:rPr lang="zh-CN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，原来是负数就补</a:t>
                      </a: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，是正数就补</a:t>
                      </a: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6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153309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&gt;&gt;&gt; </a:t>
                      </a:r>
                      <a:endParaRPr lang="zh-CN" sz="16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无符号右移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6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a &gt;&gt;&gt; b</a:t>
                      </a:r>
                      <a:endParaRPr lang="zh-CN" sz="16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将操作数的二进制位按照指定位数向右移动，不考虑原数正负，运算时，左边的空位补</a:t>
                      </a:r>
                      <a:r>
                        <a:rPr lang="en-US" sz="16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sz="16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328382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2.3.7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661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278428"/>
            <a:ext cx="6408712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位运算符的使用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342678" y="2277666"/>
            <a:ext cx="9649072" cy="326961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console.log(15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&amp; 9);        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（相当于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1111 &amp; 1001 = 1001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console.log(15 | 9);          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15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（相当于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1111 | 1001 = 1111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console.log(~15);         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-16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（相当于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~1111 = -10000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console.log(15 ^ 9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（相当于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1111 ^ 1001 = 110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console.log(9 &lt;&lt; 2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36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（相当于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1001 &lt;&lt; 2 = 100100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console.log(9 &gt;&gt; 2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（相当于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1001 &gt;&gt; 2 = 10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console.log(19 &gt;&gt;&gt; 2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（相当于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10011 &gt;&gt;&gt; 2 = 100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2.3.7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992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数据类型检测运算符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的使用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应用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typeof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运算符完成数据类型检测</a:t>
            </a:r>
            <a:endParaRPr lang="en-US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2.3.8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数据类型检测运算符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576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164311" cy="2524511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4911" y="2381726"/>
              <a:ext cx="6098698" cy="2624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进行数学计算时，需要确保参与运算的数据是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数字型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否则会产生错误的计算结果。因此，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需要在运算前检测数据的类型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中，可以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typeof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运算符进行数据类型的检测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2.3.8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数据类型检测运算符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103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26961" y="1260021"/>
            <a:ext cx="69127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运算符以字符串形式返回检测结果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，语法格式如下。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03500" y="2205658"/>
            <a:ext cx="8711262" cy="188461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种语法格式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需要进行数据类型检测的数据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种语法格式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typeof(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需要进行数据类型检测的数据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2.3.8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数据类型检测运算符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57116" y="4481915"/>
            <a:ext cx="99066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在上述语法格式中，第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种语法格式只能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检测单个操作数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；第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种语法格式可以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对表达式进行检测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9940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452036"/>
            <a:ext cx="8208912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运算符检测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数据类型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02718" y="2421682"/>
            <a:ext cx="8961702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console.log(typeof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23);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number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console.log(typeof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水果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string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console.log(typeof false);	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boolean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console.log(typeof null);	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object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console.log(typeof undefined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undefined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2.3.8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数据类型检测运算符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129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3690" y="1074516"/>
            <a:ext cx="96320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此外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还可以很方便地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检测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的数据类型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49678" y="1892999"/>
            <a:ext cx="9126048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password = prompt('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请输入您的密码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console.log(password);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password);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2.3.8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数据类型检测运算符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3459909"/>
            <a:ext cx="101360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值得一提的是，在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是一个一元运算符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</a:t>
            </a:r>
            <a:r>
              <a:rPr lang="en-US" altLang="zh-CN" sz="2000" dirty="0" err="1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typeof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放在一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操作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之前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则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可以是任意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的数据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其返回结果是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。使用比较运算符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==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返回的检测结果是否符合预期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，示例代码如下。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49678" y="5054006"/>
            <a:ext cx="9126048" cy="142295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password = '123456';	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console.log(typeof password == 'string');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true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console.log(typeof password == 'number');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false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492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运算符的优先级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说出优先级最高的运算符</a:t>
            </a:r>
            <a:endParaRPr lang="en-US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2.3.9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运算符优先级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662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9" y="1985404"/>
            <a:ext cx="6308327" cy="2965738"/>
            <a:chOff x="4899448" y="1985404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2" y="324000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922" y="2310989"/>
              <a:ext cx="6039425" cy="2766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日常生活中，我们经常会在车站、港口、机场等场所看到“军人依法优先”的标示牌，表示军人在出行过程中享有优先的权利，彰显了国家和社会对军人职业的尊崇。在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运算符也遵循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先后顺序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，这种顺序称作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运算符优先级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2.3.9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运算符优先级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95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944144"/>
            <a:ext cx="616104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中的运算符优先级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181537"/>
              </p:ext>
            </p:extLst>
          </p:nvPr>
        </p:nvGraphicFramePr>
        <p:xfrm>
          <a:off x="1342678" y="1557586"/>
          <a:ext cx="9114682" cy="506233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570066">
                  <a:extLst>
                    <a:ext uri="{9D8B030D-6E8A-4147-A177-3AD203B41FA5}">
                      <a16:colId xmlns:a16="http://schemas.microsoft.com/office/drawing/2014/main" val="394377544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9033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结合方向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运算符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new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除外）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.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[]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new(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有参数，无结合性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右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new(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无参数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++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（后置）、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--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（后置）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371564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右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! 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~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（负数）、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（正数）、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++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（前置）、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--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（前置）、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typeof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void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delete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470140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右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**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153309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%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328382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92981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&lt;&lt;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&gt;&gt;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&gt;&gt;&gt;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480338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2.3.9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运算符优先级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81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440" y="989565"/>
            <a:ext cx="212337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448897"/>
              </p:ext>
            </p:extLst>
          </p:nvPr>
        </p:nvGraphicFramePr>
        <p:xfrm>
          <a:off x="1630710" y="1673797"/>
          <a:ext cx="9217024" cy="464547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394377544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9033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结合方向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运算符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&lt;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&lt;=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&gt;=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</a:t>
                      </a:r>
                      <a:r>
                        <a:rPr lang="zh-CN" altLang="en-US" sz="2000" b="0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altLang="zh-CN" sz="2000" b="0" kern="1200" dirty="0" err="1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instanceof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050570"/>
                  </a:ext>
                </a:extLst>
              </a:tr>
              <a:tr h="452622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!=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===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!==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&amp;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29868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^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470362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|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371564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&amp;&amp;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470140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||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153309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右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?: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328382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右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+=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-=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%=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&lt;&lt;=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&gt;&gt;=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&gt;&gt;&gt;=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&amp;=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^=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|=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92981"/>
                  </a:ext>
                </a:extLst>
              </a:tr>
              <a:tr h="377185">
                <a:tc>
                  <a:txBody>
                    <a:bodyPr/>
                    <a:lstStyle/>
                    <a:p>
                      <a:pPr marL="0" indent="1270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左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,</a:t>
                      </a:r>
                      <a:endParaRPr lang="zh-CN" sz="2000" b="0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480338"/>
                  </a:ext>
                </a:extLst>
              </a:tr>
            </a:tbl>
          </a:graphicData>
        </a:graphic>
      </p:graphicFrame>
      <p:sp>
        <p:nvSpPr>
          <p:cNvPr id="6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2.3.9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运算符优先级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3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84712" y="2151070"/>
            <a:ext cx="64230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的运算符中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小括号“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”的优先级最高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，在进行运算时首先计算小括号内的表达式。如果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表达式中有多个小括号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则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内层小括号的优先级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最高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9" name="Shape 2015"/>
          <p:cNvSpPr/>
          <p:nvPr/>
        </p:nvSpPr>
        <p:spPr>
          <a:xfrm>
            <a:off x="4655046" y="1845618"/>
            <a:ext cx="6722982" cy="208823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2.3.9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运算符优先级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069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519463"/>
            <a:ext cx="9033711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未加小括号的表达式和加小括号的表达式的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顺序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72563" y="2432633"/>
            <a:ext cx="9033711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console.log(3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+ 4 * 5);              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console.log((3 + 4) * 5);            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35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371024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2.3.9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运算符优先级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71066" y="3861842"/>
            <a:ext cx="100367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表达式中有多种运算符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时，可根据需要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为表达式添加小括号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，这样可以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使代码更清楚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，并且可以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避免错误的发生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268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计算圆的周长和面积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639167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2.3.10【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计算圆的周长和面积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59468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773610"/>
            <a:ext cx="10369152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本案例要求运用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的知识，实现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计算圆的周长和面积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。其中，计算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圆的周长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的公式为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，计算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圆的面积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的公式为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</a:t>
            </a:r>
            <a:r>
              <a:rPr lang="en-US" altLang="zh-CN" sz="2000" baseline="30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公式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圆周率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，在代码中使用圆周率的近似值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3.14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圆的半径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。下面根据公式编写代码实现计算圆的周长和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639167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2.3.10【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计算圆的周长和面积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326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0" y="266995"/>
            <a:ext cx="639167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2.3.10【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计算圆的周长和面积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06" y="1917626"/>
            <a:ext cx="6766457" cy="331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5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3349224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流程</a:t>
            </a: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控制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选择结构语句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，能够根据实际需求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选择合适的选择结构语句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236319" cy="2524511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144" y="2038916"/>
              <a:ext cx="6090553" cy="3249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提供了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选择结构语句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（或称为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条件判断语句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）来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实现程序的选择结构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。选择结构语句是指根据语句中的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进行判断，进而运行与条件相对应的代码。常用的选择结构语句有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if…else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if…else if…else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switch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444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35278" y="1859364"/>
            <a:ext cx="675202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单分支语句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149513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if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74926" y="2794982"/>
            <a:ext cx="4519776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0670" y="4653930"/>
            <a:ext cx="100091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上述语法格式中，条件表达式的值是一个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，当该值为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运行大括号“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”中的代码段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，否则不进行任何处理。如果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代码段中只有一条语句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可以省略大括号“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0231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32596" y="1125538"/>
            <a:ext cx="36004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语句的运行流程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996" y="1917626"/>
            <a:ext cx="2230331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8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1437943"/>
            <a:ext cx="103691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，实现只有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当年龄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输出“已成年”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，否则不输出任何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2925738"/>
            <a:ext cx="9090874" cy="188461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= 23;               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声明变量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并赋值为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23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(age &gt;= 18)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 console.log('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已成年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    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在控制台输出“已成年”</a:t>
            </a: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254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865406"/>
            <a:ext cx="60486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双分支语句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192718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f…else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926854" y="2665250"/>
            <a:ext cx="4824536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1143690" y="5286449"/>
            <a:ext cx="1042412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上述语法格式中，当条件表达式的值为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运行代码段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；当条件表达式的值为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运行代码段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015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2448" y="1104358"/>
            <a:ext cx="43204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f…else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的运行流程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926" y="1989634"/>
            <a:ext cx="4968552" cy="431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9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125538"/>
            <a:ext cx="103691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年龄大于等于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“已成年”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否则输出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“未成年”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46699" y="2493658"/>
            <a:ext cx="9041030" cy="280794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= 17;               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声明变量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并赋值为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17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(age &gt;= 18)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console.log('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已成年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     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&gt;= 18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时在控制台输出“已成年”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未成年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     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 &lt; 18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时在控制台输出“未成年”</a:t>
            </a: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721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635790"/>
            <a:ext cx="102801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多分支语句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，是指有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多个条件的语句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，可针对不同情况进行不同的处理，具体语法格式如下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279127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if…else if…else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4439022" y="2277666"/>
            <a:ext cx="4496949" cy="415498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if (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…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else if (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段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n+1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612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1791608"/>
            <a:ext cx="105851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 if…else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语法格式中，当条件表达式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时，运行代码段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；当条件表达式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时，继续判断条件表达式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的值，当条件表达式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时，运行代码段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，以此类推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所有表达式的值都为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运行最后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中的代码段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，如果最后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直接结束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912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1053530"/>
            <a:ext cx="518457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 if…else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的运行流程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822" y="1773610"/>
            <a:ext cx="7645122" cy="447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3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994296"/>
            <a:ext cx="97930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通过代码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 if…else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语句的使用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，实现对学生考试成绩按分数进行等级的划分：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90~100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分为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80~90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分为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良好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70~80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分为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中等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60~70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分为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分为不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1989634"/>
            <a:ext cx="8136904" cy="45243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 = 78;	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声明变量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并赋值为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78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 (score &gt;= 90)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优秀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 &gt;= 90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时在控制台输出“优秀”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if (score &gt;= 80)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良好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 &gt;= 80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时在控制台输出“良好”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if (score &gt;= 70)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中等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 &gt;= 70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时在控制台输出“中等”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if (score &gt;= 60)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 &gt;= 60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时在控制台输出“及格”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else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不及格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 &lt; 60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时在控制台输出“不及格”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820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2421682"/>
            <a:ext cx="101360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多分支语句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，该语句与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 if…else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语句类似，区别是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语句只能针对某个表达式的值做出判断，从而决定运行哪一段代码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if…else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使代码更加清晰简洁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便于阅读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192718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switch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393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883715"/>
            <a:ext cx="424246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具体语法格式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430910" y="1437713"/>
            <a:ext cx="5256584" cy="517064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switch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case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break;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case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break;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…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default: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代码段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238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485578"/>
            <a:ext cx="10432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语句的语法格式中，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首先计算表达式的值，然后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将表达式的值和每个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的值进行比较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不同时会自动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表达式的值和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的值相等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后对应的代码段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语句时跳出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，如果省略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继续运行下一个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后面的代码段。如果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表达式的值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不相等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default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后面的代码段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说明的是，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default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，可以根据实际需要进行设置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781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983358"/>
            <a:ext cx="43924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语句的运行流程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690" y="1537356"/>
            <a:ext cx="4228771" cy="49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0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845618"/>
            <a:ext cx="10280107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判断变量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week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week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1~6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时，输出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星期一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星期六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week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时，输出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星期日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没有与变量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week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的值相等的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值，则输出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“输入错误，请重新输入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259899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341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查询蔬菜的价格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查询蔬菜的价格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30655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2"/>
            <a:ext cx="6380335" cy="3010615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1967" y="2034461"/>
              <a:ext cx="6090554" cy="324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日常生活中，我们去超市购买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蔬菜，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结账时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售货员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通过查询蔬菜的价格来计算总价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。例如，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蔬菜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称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，当售货员输入“芹菜”时，查询芹菜的价格；输入“黄瓜”时，查询黄瓜的价格。下面将通过一个案例演示使用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switch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语句实现查询蔬菜的价格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查询蔬菜的价格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231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701602"/>
            <a:ext cx="10369152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案例要求定义一个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售货员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输入的蔬菜名称的变量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vegetable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switch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语句实现查询对应蔬菜的价格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售货员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蔬菜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，控制台会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输出对应的蔬菜价格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芹菜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的价格是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3.2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/kg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黄瓜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的价格是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2.5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/kg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莲藕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的价格是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9.0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/kg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土豆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的价格是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1.2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/kg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输入的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蔬菜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名称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，则输出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“没有此蔬菜”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查询蔬菜的价格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045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查询蔬菜的价格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1701602"/>
            <a:ext cx="6912769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2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循环结构语句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，能够根据实际需求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选择合适的循环结构语句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212833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2"/>
            <a:ext cx="6380335" cy="3010615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1967" y="2034461"/>
              <a:ext cx="6090554" cy="3249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是为了在程序中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反复运行某个功能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而设置的一种程序结构，它用于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实现一段代码的重复运行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。例如，连续输出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1~100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的整数，如果不使用循环结构，则需要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编写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次输出代码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才能实现，而使用循环结构，仅使用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几行代码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就能让程序自动输出。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763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75126" y="2068164"/>
            <a:ext cx="46948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中，提供了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种循环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while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do…while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2015"/>
          <p:cNvSpPr/>
          <p:nvPr/>
        </p:nvSpPr>
        <p:spPr>
          <a:xfrm>
            <a:off x="5087094" y="1845618"/>
            <a:ext cx="5112568" cy="2448272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212" y="1607165"/>
            <a:ext cx="3715858" cy="4006159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287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4701" y="1827723"/>
            <a:ext cx="83647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程序开发中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通常用于循环次数已知的情况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156714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for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722725" y="2572039"/>
            <a:ext cx="726429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初始化变量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循环体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4701" y="4288947"/>
            <a:ext cx="1038110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：初始化一个用于作为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计数器的变量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，通常使用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声明一个变量并赋初始值。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：决定循环</a:t>
            </a:r>
            <a:r>
              <a:rPr lang="zh-CN" altLang="zh-CN" sz="2000" dirty="0">
                <a:solidFill>
                  <a:srgbClr val="005A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zh-CN" sz="2000" dirty="0" smtClean="0">
                <a:solidFill>
                  <a:srgbClr val="005A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操作表达式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：通常用于对计数器变量进行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运行的代码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8474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990218"/>
            <a:ext cx="381642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的运行流程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305432"/>
              </p:ext>
            </p:extLst>
          </p:nvPr>
        </p:nvGraphicFramePr>
        <p:xfrm>
          <a:off x="4093253" y="1544216"/>
          <a:ext cx="2880320" cy="4963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01" name="Visio" r:id="rId4" imgW="2286192" imgH="3934010" progId="Visio.Drawing.15">
                  <p:embed/>
                </p:oleObj>
              </mc:Choice>
              <mc:Fallback>
                <p:oleObj name="Visio" r:id="rId4" imgW="2286192" imgH="393401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3253" y="1544216"/>
                        <a:ext cx="2880320" cy="49639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40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1269554"/>
            <a:ext cx="1051316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在控制台中输出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2565698"/>
            <a:ext cx="8789048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100;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  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1 2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6, …, 100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9737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267446"/>
            <a:ext cx="44644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运行流程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8754" y="2292195"/>
            <a:ext cx="102081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 100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进入第③步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结束循环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运行循环体，通过“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输出变量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 100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和第②步相同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。只要满足“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 100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，就会一直循环。当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的值加到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时，判断结果为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0907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982787"/>
            <a:ext cx="10136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语句可以相互转换，都能够实现循环。在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无法确定循环次数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的情况下，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语句更适合用于实现循环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while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192718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while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02918" y="3238053"/>
            <a:ext cx="5184576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while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循环体</a:t>
            </a: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0670" y="4954984"/>
            <a:ext cx="96490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循环运行循环体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，直到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才结束循环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9575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39785" y="1118276"/>
            <a:ext cx="424847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的运行流程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878863"/>
              </p:ext>
            </p:extLst>
          </p:nvPr>
        </p:nvGraphicFramePr>
        <p:xfrm>
          <a:off x="3934966" y="1706994"/>
          <a:ext cx="3744416" cy="4825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80" name="Visio" r:id="rId4" imgW="2171556" imgH="2809733" progId="Visio.Drawing.15">
                  <p:embed/>
                </p:oleObj>
              </mc:Choice>
              <mc:Fallback>
                <p:oleObj name="Visio" r:id="rId4" imgW="2171556" imgH="2809733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966" y="1706994"/>
                        <a:ext cx="3744416" cy="48256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819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961" y="1356386"/>
            <a:ext cx="81369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语句实现在控制台中输出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998862" y="2493689"/>
            <a:ext cx="6408712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 = 1; 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while (i &lt;= 100)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console.log(i);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i++;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811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1341562"/>
            <a:ext cx="907300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实现在控制台中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2277666"/>
            <a:ext cx="100640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 100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进入第③步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结束循环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运行循环体，通过“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输出变量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”，将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 100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和第②步相同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。只要满足“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 100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一直循环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的值加到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判断结果为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609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8622" y="1941372"/>
            <a:ext cx="108732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do…while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语句和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语句类似，其区别在于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语句是先判断条件表达式的值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，再根据条件表达式的值决定是否运行循环体，而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do…while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语句会无条件地运行一次循环体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判断条件表达式的值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，根据条件表达式的值决定是否继续运行循环体。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do…while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228722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do…while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4006974" y="3728032"/>
            <a:ext cx="4536504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循环体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while (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102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043053"/>
            <a:ext cx="46085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o…while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的运行流程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599564"/>
              </p:ext>
            </p:extLst>
          </p:nvPr>
        </p:nvGraphicFramePr>
        <p:xfrm>
          <a:off x="4006974" y="1845618"/>
          <a:ext cx="2772821" cy="4594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72" name="Visio" r:id="rId4" imgW="1571541" imgH="2609750" progId="Visio.Drawing.15">
                  <p:embed/>
                </p:oleObj>
              </mc:Choice>
              <mc:Fallback>
                <p:oleObj name="Visio" r:id="rId4" imgW="1571541" imgH="2609750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974" y="1845618"/>
                        <a:ext cx="2772821" cy="45943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982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197546"/>
            <a:ext cx="100811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do…while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语句的使用。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do…while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语句实现在控制台中输出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34866" y="2632653"/>
            <a:ext cx="5976664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++;  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while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100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609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485578"/>
            <a:ext cx="94880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do…while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实现在控制台中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运行流程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2349674"/>
            <a:ext cx="1035211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运行循环体，通过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console.log(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输出变量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&lt;= 100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继续运行第②步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。只要条件表达式的值为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一直循环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的值加到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时结束循环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677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0" y="1607820"/>
            <a:ext cx="1698902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78782" y="1757808"/>
            <a:ext cx="146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断点调试</a:t>
            </a: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15038" y="2853730"/>
            <a:ext cx="1026474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程序开发中，使用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断点调试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可以帮助开发者更好地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观察程序的运行过程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。断点调试是指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在程序的某一行设置一个断点进行调试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在进行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断点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调试时，程序运行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到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设置了断点的某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就会停住，然后就可以控制代码一步一步地运行，在这个过程中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可以看到每个变量当前的值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34966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22665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50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1463014"/>
            <a:ext cx="100807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Chrome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浏览器的开发者工具中可以进行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断点调试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。按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F12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键启动开发者工具后，切换到“</a:t>
            </a:r>
            <a:r>
              <a:rPr lang="en-US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Sources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面板</a:t>
            </a:r>
            <a:r>
              <a:rPr lang="zh-CN" altLang="zh-CN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00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如下图所示。</a:t>
            </a:r>
            <a:endParaRPr lang="en-US" altLang="zh-CN" sz="200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100" y="2579416"/>
            <a:ext cx="5528537" cy="397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19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980" y="1485578"/>
            <a:ext cx="104408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在网页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源代码中，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单击某一行代码前面的行号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，即可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添加断点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再次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单击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取消断点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。例如，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语句添加断点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如下图所示。</a:t>
            </a: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1143690" y="266995"/>
            <a:ext cx="595962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循环结构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86" y="2501241"/>
            <a:ext cx="5472608" cy="396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2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语句的使用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45649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05360" y="1814170"/>
            <a:ext cx="959835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语句可以重复运行相同代码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，例如，重复运行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257525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重复运行相同代码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122639" y="2504723"/>
            <a:ext cx="6996903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10;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重要的事情说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99876" y="4057141"/>
            <a:ext cx="950384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让用户输入循环的次数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073427" y="4714782"/>
            <a:ext cx="7046115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 = prompt('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请输入次数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(var i = 1; i &lt;= num; i++)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console.log(`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重要的事情说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${num}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750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734893"/>
            <a:ext cx="102081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循环中可以使用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语句进行判断，根据变量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的不同值，进行不同的处理。例如，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判断当前循环进行到第几次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257525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重复运行不同代码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791356" y="2861281"/>
            <a:ext cx="6912768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(var i = 1; i &lt;= 100; i++)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if (i == 1)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当前是第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 else if (i == 100)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 console.log('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当前是第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959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838067"/>
            <a:ext cx="103691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语句的循环体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值都会加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的值进行累加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对所有整数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求和结果除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4303444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所有整数的和与平均值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98662" y="3447792"/>
            <a:ext cx="10153128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sum = 0;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100;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sum +=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console.log('1~100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所有整数的和为：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+ sum);    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5050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console.log('1~100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所有整数的平均值为：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+ (sum / 100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));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50.5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880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8166" y="2205658"/>
            <a:ext cx="10017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所有整数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偶数的和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奇数的和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有两种常见的方式，第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种方式是首先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在循环中判断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计数器变量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是偶数还是奇数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even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奇数的累加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552758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所有整数中偶数的和与奇数的和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051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1115504"/>
            <a:ext cx="552758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所有整数中偶数的和与奇数的和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53173" y="1773610"/>
            <a:ext cx="10153128" cy="466281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even = 0;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odd = 0;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100;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if (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% 2 == 0) {				    // 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是奇数还是偶数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even +=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 else {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odd +=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console.log('1~100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所有整数中偶数的和为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 even);	    // 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2550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1~100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所有整数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中奇数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的和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 odd);	    // 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2500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613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104358"/>
            <a:ext cx="727280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种方式是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的初始值和每次循环的增长量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1989633"/>
            <a:ext cx="8718555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even = 0;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(var i = 2; i &lt;= 100; i += 2) {     		// i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开始每次加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even += i;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odd = 0;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(var i = 1; i &lt;= 100; i += 2) {     		// i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开始每次加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odd += i;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console.log('1~100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所有整数中偶数的和为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+ even);  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2550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console.log('1~100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所有整数中奇数的和为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 + odd);   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2500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821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869580"/>
            <a:ext cx="1035211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学习前面的算术运算符可知，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运算符可以计算一个数除以另一个数的余数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余数为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这个数可以被另一个数整除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23575" y="3100611"/>
            <a:ext cx="8792345" cy="326961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result = 0;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(var i = 1; i &lt;= 100; i++)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if (i % 5 == 0)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 result += i;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console.log(result);  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1050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552758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所有整数中能被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整除的整数之和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339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757066"/>
            <a:ext cx="101360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可以很方便地按照某个规律来生成字符串。例如，在页面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中弹出一个输入框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，提示用户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输入星星的个数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，程序会根据用户输入的数字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自动生成对应数量的星星字符串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638822" y="3310594"/>
            <a:ext cx="7712225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prompt('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请输入星星的个数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'';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☆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503244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自动生成字符串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743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0" y="1607820"/>
            <a:ext cx="2936984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92139" y="1757808"/>
            <a:ext cx="2994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记录</a:t>
            </a:r>
            <a:r>
              <a:rPr lang="en-US" altLang="zh-CN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for</a:t>
            </a:r>
            <a:r>
              <a:rPr lang="zh-CN" altLang="en-US" sz="20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语句的运行流程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88130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75829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431722" y="2504248"/>
            <a:ext cx="97760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的使用非常灵活，为了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帮助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大家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更好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地理解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语句，下面通过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写代码演示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语句的运行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】for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语句的使用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3655588"/>
            <a:ext cx="8867549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 = '';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i = 4;        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控制循环的次数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(str += '1'; i-- &amp;&amp; (str += '2'); str += '4-')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str += '3';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console.log(str);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1234-234-234-234-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670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700168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循环嵌套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99538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308327" cy="2020456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1967" y="2034462"/>
              <a:ext cx="5776216" cy="3279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嵌套是指在一个循环语句中再定义一个循环语句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for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while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do…while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中都可以进行嵌套，并且它们之间可以互相嵌套。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360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1354670"/>
            <a:ext cx="79928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语句循环嵌套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进行演示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1" y="2265256"/>
            <a:ext cx="8890263" cy="188461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初始化变量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for (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初始化变量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条件表达式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操作表达式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4581922"/>
            <a:ext cx="992006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上述语法格式中，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内层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位于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循环的循环体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中，内层循环的运行顺序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语句的运行顺序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外层循环每运行一次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，内层循环运行全部次数。</a:t>
            </a:r>
          </a:p>
        </p:txBody>
      </p:sp>
    </p:spTree>
    <p:extLst>
      <p:ext uri="{BB962C8B-B14F-4D97-AF65-F5344CB8AC3E}">
        <p14:creationId xmlns:p14="http://schemas.microsoft.com/office/powerpoint/2010/main" val="39293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2349674"/>
            <a:ext cx="99920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列的星星图案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使用内层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循环输出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一行中的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个星星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使用外层循环将内层循环重复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在每次内层循环结束后添加一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，这样就可以得到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星星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309349"/>
            <a:ext cx="343934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生成指定行列的星星图案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402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90" y="1773610"/>
            <a:ext cx="6838095" cy="4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1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1692" y="2205657"/>
            <a:ext cx="10208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生成星星构成的三角形图案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在外层循环中使用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语句控制行数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内层循环中使用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语句控制每行的星星个数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星星个数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不相同，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内层循环中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的初始值会随着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的改变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而改变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11692" y="1237341"/>
            <a:ext cx="3583364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生成星星构成的三角形图案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592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846" y="1485578"/>
            <a:ext cx="6304762" cy="4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5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09410" y="2096482"/>
            <a:ext cx="102423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嵌套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九九乘法表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是非常典型的案例。如果想要生成九九乘法表，则可以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在外层循环使用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语句控制行数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共循环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内层循环使用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语句控制每行的乘法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，每一行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和行数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250003"/>
            <a:ext cx="228722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生成九九乘法表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833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2.4.5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循环嵌套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758" y="1629594"/>
            <a:ext cx="7632848" cy="37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7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，能够灵活运用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完成程序中的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流程跳转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69922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380335" cy="2638254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1967" y="2196342"/>
              <a:ext cx="5781425" cy="3109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语句运行后，会根据设置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好的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决定是否继续循环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在循环运行过程中，如果需要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跳出本次循环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跳出整个循环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，就需要用到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跳转语句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中常用的跳转语句有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continue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break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4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943078" y="2250265"/>
            <a:ext cx="62646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语句、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do…while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语句的循环体中使用，用于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立即跳出本次循环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语句后面的代码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，继续下一次循环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28722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continue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Shape 2015"/>
          <p:cNvSpPr/>
          <p:nvPr/>
        </p:nvSpPr>
        <p:spPr>
          <a:xfrm>
            <a:off x="4655046" y="2061642"/>
            <a:ext cx="6722982" cy="1872208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1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379951"/>
            <a:ext cx="104411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，小智在吃桃子，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一共有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个桃子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，吃到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桃子时，小智发现里面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有虫子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扔掉第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个桃子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继续吃剩下的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个桃子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。下面通过代码演示小智扔掉第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个桃子，继续吃剩下的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个桃子的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21264" y="3069754"/>
            <a:ext cx="8963907" cy="280794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(var i = 1; i &lt;= 6; i++)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 if (i == 2)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 continue;                          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跳出本次循环，直接跳到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i++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 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 console.log(`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小智吃完了第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${i}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个桃子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497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06" y="1629594"/>
            <a:ext cx="6518243" cy="37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6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99062" y="2273890"/>
            <a:ext cx="64349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do…while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立即跳出整个循环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，也就是将循环结束。</a:t>
            </a:r>
            <a:endParaRPr lang="en-US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28722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break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Shape 2015"/>
          <p:cNvSpPr/>
          <p:nvPr/>
        </p:nvSpPr>
        <p:spPr>
          <a:xfrm>
            <a:off x="4655046" y="1989634"/>
            <a:ext cx="6722982" cy="1512168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1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1271939"/>
            <a:ext cx="105851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，小智在吃桃子，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一共有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个桃子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，吃到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桃子时，小智发现里面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虫子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扔掉了有虫子的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桃子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并且不再吃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剩下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的桃子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演示小智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吃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桃子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0750" y="2757902"/>
            <a:ext cx="8819890" cy="280794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(var i = 1; i &lt;= 6; i++)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if (i == 4)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break;                         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跳出整个循环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console.log(`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小智吃完了第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${i}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个桃子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756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774" y="1701602"/>
            <a:ext cx="7134522" cy="336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3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0" y="1557586"/>
            <a:ext cx="97760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还可以用于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跳转到指定的标签语句处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循环嵌套中的多层跳转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语句前，需要先为语句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。为语句添加标签的语法格式如下。</a:t>
            </a:r>
          </a:p>
        </p:txBody>
      </p:sp>
      <p:sp>
        <p:nvSpPr>
          <p:cNvPr id="1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0750" y="3267829"/>
            <a:ext cx="8482206" cy="96128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label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statement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427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1335696"/>
            <a:ext cx="876794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为语句添加标签后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语句跳转到指定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63264" y="2318371"/>
            <a:ext cx="8305142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break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label;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43690" y="3322102"/>
            <a:ext cx="10136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在上述语法格式中，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表示标签名称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任意合法的标识符，如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等；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statement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表示对应的语句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、变量的声明等。</a:t>
            </a:r>
          </a:p>
        </p:txBody>
      </p:sp>
      <p:sp>
        <p:nvSpPr>
          <p:cNvPr id="8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774726" y="4878999"/>
            <a:ext cx="8784977" cy="9163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9" name="流程图: 资料带 8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1575738" y="4643197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51297" y="5060163"/>
            <a:ext cx="725577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语句必须在使用之前定义，否则会出现找不到标签的情况</a:t>
            </a:r>
            <a:r>
              <a:rPr lang="zh-CN" altLang="zh-CN" sz="2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057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1986" y="1217903"/>
            <a:ext cx="597666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标签语句的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2162349"/>
            <a:ext cx="9035914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outerloop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(var i = 0; i &lt; 10; i++)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for (var j = 0; j &lt; 1; j++)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if (i == 5)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break outerloop;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 console.log('i = ' + i + ', j = ' + j);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057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266995"/>
            <a:ext cx="4447459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2.4.6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跳转语句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1557586"/>
            <a:ext cx="7022546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63563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704873"/>
            <a:ext cx="9001000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主要对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JavaScript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讲解，首先讲解了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数据类型转换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，然后讲解了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运算符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流程控制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。其中，流程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读者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跳转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通过本章的学习，读者能够掌握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的基础知识，并能够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编写简单的程序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14545</TotalTime>
  <Words>13397</Words>
  <Application>Microsoft Office PowerPoint</Application>
  <PresentationFormat>自定义</PresentationFormat>
  <Paragraphs>1258</Paragraphs>
  <Slides>173</Slides>
  <Notes>102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173</vt:i4>
      </vt:variant>
    </vt:vector>
  </HeadingPairs>
  <TitlesOfParts>
    <vt:vector size="189" baseType="lpstr">
      <vt:lpstr>Source Han Sans K Bold</vt:lpstr>
      <vt:lpstr>思源黑体 CN Medium</vt:lpstr>
      <vt:lpstr>思源黑体 CN Regular</vt:lpstr>
      <vt:lpstr>宋体</vt:lpstr>
      <vt:lpstr>微软雅黑</vt:lpstr>
      <vt:lpstr>微软雅黑</vt:lpstr>
      <vt:lpstr>字魂105号-简雅黑</vt:lpstr>
      <vt:lpstr>字魂58号-创中黑</vt:lpstr>
      <vt:lpstr>Arial</vt:lpstr>
      <vt:lpstr>Calibri</vt:lpstr>
      <vt:lpstr>Symbol</vt:lpstr>
      <vt:lpstr>Times New Roman</vt:lpstr>
      <vt:lpstr>Wingdings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5740</cp:revision>
  <dcterms:created xsi:type="dcterms:W3CDTF">2020-11-09T06:56:00Z</dcterms:created>
  <dcterms:modified xsi:type="dcterms:W3CDTF">2024-07-16T06:54:34Z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