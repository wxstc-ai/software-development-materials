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45"/>
  </p:handoutMasterIdLst>
  <p:sldIdLst>
    <p:sldId id="325" r:id="rId4"/>
    <p:sldId id="1129" r:id="rId6"/>
    <p:sldId id="1538" r:id="rId7"/>
    <p:sldId id="328" r:id="rId8"/>
    <p:sldId id="1146" r:id="rId9"/>
    <p:sldId id="1598" r:id="rId10"/>
    <p:sldId id="309" r:id="rId11"/>
    <p:sldId id="1059" r:id="rId12"/>
    <p:sldId id="1125" r:id="rId13"/>
    <p:sldId id="1423" r:id="rId14"/>
    <p:sldId id="1289" r:id="rId15"/>
    <p:sldId id="1492" r:id="rId16"/>
    <p:sldId id="1540" r:id="rId17"/>
    <p:sldId id="1543" r:id="rId18"/>
    <p:sldId id="1541" r:id="rId19"/>
    <p:sldId id="1450" r:id="rId20"/>
    <p:sldId id="1562" r:id="rId21"/>
    <p:sldId id="1599" r:id="rId22"/>
    <p:sldId id="1600" r:id="rId23"/>
    <p:sldId id="1702" r:id="rId24"/>
    <p:sldId id="1548" r:id="rId25"/>
    <p:sldId id="1549" r:id="rId26"/>
    <p:sldId id="1550" r:id="rId27"/>
    <p:sldId id="1601" r:id="rId28"/>
    <p:sldId id="1602" r:id="rId29"/>
    <p:sldId id="1603" r:id="rId30"/>
    <p:sldId id="1439" r:id="rId31"/>
    <p:sldId id="1697" r:id="rId32"/>
    <p:sldId id="1604" r:id="rId33"/>
    <p:sldId id="1299" r:id="rId34"/>
    <p:sldId id="1698" r:id="rId35"/>
    <p:sldId id="1699" r:id="rId36"/>
    <p:sldId id="1424" r:id="rId37"/>
    <p:sldId id="1489" r:id="rId38"/>
    <p:sldId id="1605" r:id="rId39"/>
    <p:sldId id="1606" r:id="rId40"/>
    <p:sldId id="1607" r:id="rId41"/>
    <p:sldId id="1608" r:id="rId42"/>
    <p:sldId id="1609" r:id="rId43"/>
    <p:sldId id="1610" r:id="rId44"/>
    <p:sldId id="1493" r:id="rId45"/>
    <p:sldId id="1501" r:id="rId46"/>
    <p:sldId id="1582" r:id="rId47"/>
    <p:sldId id="1611" r:id="rId48"/>
    <p:sldId id="1612" r:id="rId49"/>
    <p:sldId id="1161" r:id="rId50"/>
    <p:sldId id="1279" r:id="rId51"/>
    <p:sldId id="1593" r:id="rId52"/>
    <p:sldId id="1613" r:id="rId53"/>
    <p:sldId id="1614" r:id="rId54"/>
    <p:sldId id="1615" r:id="rId55"/>
    <p:sldId id="1616" r:id="rId56"/>
    <p:sldId id="1617" r:id="rId57"/>
    <p:sldId id="1356" r:id="rId58"/>
    <p:sldId id="1618" r:id="rId59"/>
    <p:sldId id="1619" r:id="rId60"/>
    <p:sldId id="1590" r:id="rId61"/>
    <p:sldId id="1620" r:id="rId62"/>
    <p:sldId id="1621" r:id="rId63"/>
    <p:sldId id="1622" r:id="rId64"/>
    <p:sldId id="1623" r:id="rId65"/>
    <p:sldId id="1163" r:id="rId66"/>
    <p:sldId id="1383" r:id="rId67"/>
    <p:sldId id="1624" r:id="rId68"/>
    <p:sldId id="1625" r:id="rId69"/>
    <p:sldId id="1626" r:id="rId70"/>
    <p:sldId id="1627" r:id="rId71"/>
    <p:sldId id="1628" r:id="rId72"/>
    <p:sldId id="1629" r:id="rId73"/>
    <p:sldId id="1630" r:id="rId74"/>
    <p:sldId id="1577" r:id="rId75"/>
    <p:sldId id="1631" r:id="rId76"/>
    <p:sldId id="1632" r:id="rId77"/>
    <p:sldId id="1633" r:id="rId78"/>
    <p:sldId id="1634" r:id="rId79"/>
    <p:sldId id="1635" r:id="rId80"/>
    <p:sldId id="1636" r:id="rId81"/>
    <p:sldId id="1637" r:id="rId82"/>
    <p:sldId id="1638" r:id="rId83"/>
    <p:sldId id="1639" r:id="rId84"/>
    <p:sldId id="1640" r:id="rId85"/>
    <p:sldId id="1641" r:id="rId86"/>
    <p:sldId id="1644" r:id="rId87"/>
    <p:sldId id="1647" r:id="rId88"/>
    <p:sldId id="1648" r:id="rId89"/>
    <p:sldId id="1649" r:id="rId90"/>
    <p:sldId id="1650" r:id="rId91"/>
    <p:sldId id="1651" r:id="rId92"/>
    <p:sldId id="1652" r:id="rId93"/>
    <p:sldId id="1653" r:id="rId94"/>
    <p:sldId id="1701" r:id="rId95"/>
    <p:sldId id="1654" r:id="rId96"/>
    <p:sldId id="1655" r:id="rId97"/>
    <p:sldId id="1656" r:id="rId98"/>
    <p:sldId id="1657" r:id="rId99"/>
    <p:sldId id="1658" r:id="rId100"/>
    <p:sldId id="1659" r:id="rId101"/>
    <p:sldId id="1660" r:id="rId102"/>
    <p:sldId id="1661" r:id="rId103"/>
    <p:sldId id="1662" r:id="rId104"/>
    <p:sldId id="1663" r:id="rId105"/>
    <p:sldId id="1664" r:id="rId106"/>
    <p:sldId id="1665" r:id="rId107"/>
    <p:sldId id="1666" r:id="rId108"/>
    <p:sldId id="1667" r:id="rId109"/>
    <p:sldId id="1668" r:id="rId110"/>
    <p:sldId id="1669" r:id="rId111"/>
    <p:sldId id="1670" r:id="rId112"/>
    <p:sldId id="1671" r:id="rId113"/>
    <p:sldId id="1642" r:id="rId114"/>
    <p:sldId id="1645" r:id="rId115"/>
    <p:sldId id="1672" r:id="rId116"/>
    <p:sldId id="1673" r:id="rId117"/>
    <p:sldId id="1674" r:id="rId118"/>
    <p:sldId id="1675" r:id="rId119"/>
    <p:sldId id="1676" r:id="rId120"/>
    <p:sldId id="1677" r:id="rId121"/>
    <p:sldId id="1678" r:id="rId122"/>
    <p:sldId id="1679" r:id="rId123"/>
    <p:sldId id="1680" r:id="rId124"/>
    <p:sldId id="1681" r:id="rId125"/>
    <p:sldId id="1682" r:id="rId126"/>
    <p:sldId id="1683" r:id="rId127"/>
    <p:sldId id="1684" r:id="rId128"/>
    <p:sldId id="1685" r:id="rId129"/>
    <p:sldId id="1686" r:id="rId130"/>
    <p:sldId id="1687" r:id="rId131"/>
    <p:sldId id="1688" r:id="rId132"/>
    <p:sldId id="1689" r:id="rId133"/>
    <p:sldId id="1690" r:id="rId134"/>
    <p:sldId id="1643" r:id="rId135"/>
    <p:sldId id="1646" r:id="rId136"/>
    <p:sldId id="1691" r:id="rId137"/>
    <p:sldId id="1692" r:id="rId138"/>
    <p:sldId id="1693" r:id="rId139"/>
    <p:sldId id="1694" r:id="rId140"/>
    <p:sldId id="1695" r:id="rId141"/>
    <p:sldId id="1696" r:id="rId142"/>
    <p:sldId id="1416" r:id="rId143"/>
    <p:sldId id="1417" r:id="rId144"/>
  </p:sldIdLst>
  <p:sldSz cx="12190095" cy="6859270"/>
  <p:notesSz cx="6858000" cy="9144000"/>
  <p:custDataLst>
    <p:tags r:id="rId15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1" userDrawn="1">
          <p15:clr>
            <a:srgbClr val="A4A3A4"/>
          </p15:clr>
        </p15:guide>
        <p15:guide id="2" pos="301" userDrawn="1">
          <p15:clr>
            <a:srgbClr val="A4A3A4"/>
          </p15:clr>
        </p15:guide>
        <p15:guide id="3" pos="64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zq" initials="lzq"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FFFF"/>
    <a:srgbClr val="1369B3"/>
    <a:srgbClr val="71A5D1"/>
    <a:srgbClr val="F2F2F2"/>
    <a:srgbClr val="EBAD13"/>
    <a:srgbClr val="BBBBBB"/>
    <a:srgbClr val="FAFAFA"/>
    <a:srgbClr val="006B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01" autoAdjust="0"/>
    <p:restoredTop sz="95974" autoAdjust="0"/>
  </p:normalViewPr>
  <p:slideViewPr>
    <p:cSldViewPr showGuides="1">
      <p:cViewPr varScale="1">
        <p:scale>
          <a:sx n="75" d="100"/>
          <a:sy n="75" d="100"/>
        </p:scale>
        <p:origin x="72" y="540"/>
      </p:cViewPr>
      <p:guideLst>
        <p:guide orient="horz" pos="4321"/>
        <p:guide pos="301"/>
        <p:guide pos="6425"/>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0" Type="http://schemas.openxmlformats.org/officeDocument/2006/relationships/tags" Target="tags/tag1.xml"/><Relationship Id="rId15" Type="http://schemas.openxmlformats.org/officeDocument/2006/relationships/slide" Target="slides/slide11.xml"/><Relationship Id="rId149" Type="http://schemas.openxmlformats.org/officeDocument/2006/relationships/commentAuthors" Target="commentAuthors.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handoutMaster" Target="handoutMasters/handoutMaster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16" name="图片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66815" y="2637706"/>
            <a:ext cx="7272808" cy="923330"/>
          </a:xfrm>
          <a:prstGeom prst="rect">
            <a:avLst/>
          </a:prstGeom>
          <a:noFill/>
        </p:spPr>
        <p:txBody>
          <a:bodyPr wrap="square" rtlCol="0">
            <a:spAutoFit/>
          </a:bodyPr>
          <a:lstStyle/>
          <a:p>
            <a:pPr algn="ctr"/>
            <a:r>
              <a:rPr lang="zh-CN" altLang="en-US" sz="540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第</a:t>
            </a:r>
            <a:r>
              <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5</a:t>
            </a:r>
            <a:r>
              <a:rPr lang="zh-CN" altLang="en-US" sz="540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rPr>
              <a:t>章 对象</a:t>
            </a:r>
            <a:endParaRPr lang="en-US" altLang="zh-CN" sz="54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思源黑体 CN Medium" panose="020B0600000000000000" pitchFamily="34" charset="-122"/>
            </a:endParaRPr>
          </a:p>
        </p:txBody>
      </p:sp>
      <p:sp>
        <p:nvSpPr>
          <p:cNvPr id="6" name="Rectangle 4"/>
          <p:cNvSpPr txBox="1">
            <a:spLocks noChangeArrowheads="1"/>
          </p:cNvSpPr>
          <p:nvPr/>
        </p:nvSpPr>
        <p:spPr>
          <a:xfrm>
            <a:off x="2494807" y="4005858"/>
            <a:ext cx="7416824"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《JavaScript+jQuery</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交互式</a:t>
            </a:r>
            <a:r>
              <a:rPr lang="en-US" altLang="zh-CN" sz="2400" smtClean="0">
                <a:solidFill>
                  <a:srgbClr val="595959"/>
                </a:solidFill>
                <a:latin typeface="微软雅黑" panose="020B0503020204020204" pitchFamily="34" charset="-122"/>
                <a:ea typeface="微软雅黑" panose="020B0503020204020204" pitchFamily="34" charset="-122"/>
                <a:cs typeface="+mn-ea"/>
                <a:sym typeface="+mn-lt"/>
              </a:rPr>
              <a:t>Web</a:t>
            </a:r>
            <a:r>
              <a:rPr lang="zh-CN" altLang="en-US" sz="2400" smtClean="0">
                <a:solidFill>
                  <a:srgbClr val="595959"/>
                </a:solidFill>
                <a:latin typeface="微软雅黑" panose="020B0503020204020204" pitchFamily="34" charset="-122"/>
                <a:ea typeface="微软雅黑" panose="020B0503020204020204" pitchFamily="34" charset="-122"/>
                <a:cs typeface="+mn-ea"/>
                <a:sym typeface="+mn-lt"/>
              </a:rPr>
              <a:t>前端开发（</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481958" y="2061642"/>
            <a:ext cx="9721080" cy="688075"/>
            <a:chOff x="978872" y="1800500"/>
            <a:chExt cx="5471124" cy="515937"/>
          </a:xfrm>
        </p:grpSpPr>
        <p:sp>
          <p:nvSpPr>
            <p:cNvPr id="14"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zh-CN" sz="2000">
                  <a:solidFill>
                    <a:srgbClr val="1369B2"/>
                  </a:solidFill>
                  <a:latin typeface="微软雅黑" panose="020B0503020204020204" pitchFamily="34" charset="-122"/>
                  <a:ea typeface="微软雅黑" panose="020B0503020204020204" pitchFamily="34" charset="-122"/>
                  <a:cs typeface="+mn-ea"/>
                </a:rPr>
                <a:t>什么是对象</a:t>
              </a:r>
              <a:r>
                <a:rPr lang="zh-CN" altLang="zh-CN" sz="2000">
                  <a:solidFill>
                    <a:srgbClr val="595959"/>
                  </a:solidFill>
                  <a:latin typeface="微软雅黑" panose="020B0503020204020204" pitchFamily="34" charset="-122"/>
                  <a:ea typeface="微软雅黑" panose="020B0503020204020204" pitchFamily="34" charset="-122"/>
                  <a:cs typeface="+mn-ea"/>
                </a:rPr>
                <a:t>，能够阐述</a:t>
              </a:r>
              <a:r>
                <a:rPr lang="en-US" altLang="zh-CN" sz="2000">
                  <a:solidFill>
                    <a:srgbClr val="595959"/>
                  </a:solidFill>
                  <a:latin typeface="微软雅黑" panose="020B0503020204020204" pitchFamily="34" charset="-122"/>
                  <a:ea typeface="微软雅黑" panose="020B0503020204020204" pitchFamily="34" charset="-122"/>
                  <a:cs typeface="+mn-ea"/>
                </a:rPr>
                <a:t>JavaScript</a:t>
              </a:r>
              <a:r>
                <a:rPr lang="zh-CN" altLang="zh-CN" sz="2000">
                  <a:solidFill>
                    <a:srgbClr val="595959"/>
                  </a:solidFill>
                  <a:latin typeface="微软雅黑" panose="020B0503020204020204" pitchFamily="34" charset="-122"/>
                  <a:ea typeface="微软雅黑" panose="020B0503020204020204" pitchFamily="34" charset="-122"/>
                  <a:cs typeface="+mn-ea"/>
                </a:rPr>
                <a:t>中</a:t>
              </a:r>
              <a:r>
                <a:rPr lang="zh-CN" altLang="zh-CN" sz="2000">
                  <a:solidFill>
                    <a:srgbClr val="1369B2"/>
                  </a:solidFill>
                  <a:latin typeface="微软雅黑" panose="020B0503020204020204" pitchFamily="34" charset="-122"/>
                  <a:ea typeface="微软雅黑" panose="020B0503020204020204" pitchFamily="34" charset="-122"/>
                  <a:cs typeface="+mn-ea"/>
                </a:rPr>
                <a:t>对象的概念</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sp>
          <p:nvSpPr>
            <p:cNvPr id="16"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7" name="组合 16"/>
          <p:cNvGrpSpPr/>
          <p:nvPr/>
        </p:nvGrpSpPr>
        <p:grpSpPr>
          <a:xfrm>
            <a:off x="1481958" y="3031864"/>
            <a:ext cx="9709797" cy="685961"/>
            <a:chOff x="978872" y="2570436"/>
            <a:chExt cx="5437064" cy="514351"/>
          </a:xfrm>
        </p:grpSpPr>
        <p:sp>
          <p:nvSpPr>
            <p:cNvPr id="18"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zh-CN"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a:solidFill>
                    <a:srgbClr val="1369B2"/>
                  </a:solidFill>
                  <a:latin typeface="微软雅黑" panose="020B0503020204020204" pitchFamily="34" charset="-122"/>
                  <a:ea typeface="微软雅黑" panose="020B0503020204020204" pitchFamily="34" charset="-122"/>
                  <a:cs typeface="+mn-ea"/>
                </a:rPr>
                <a:t>对象的创建方式</a:t>
              </a:r>
              <a:r>
                <a:rPr lang="zh-CN" altLang="zh-CN" sz="2000">
                  <a:solidFill>
                    <a:srgbClr val="595959"/>
                  </a:solidFill>
                  <a:latin typeface="微软雅黑" panose="020B0503020204020204" pitchFamily="34" charset="-122"/>
                  <a:ea typeface="微软雅黑" panose="020B0503020204020204" pitchFamily="34" charset="-122"/>
                  <a:cs typeface="+mn-ea"/>
                </a:rPr>
                <a:t>，能够灵活应用</a:t>
              </a:r>
              <a:r>
                <a:rPr lang="en-US" altLang="zh-CN" sz="2000">
                  <a:solidFill>
                    <a:srgbClr val="1369B2"/>
                  </a:solidFill>
                  <a:latin typeface="微软雅黑" panose="020B0503020204020204" pitchFamily="34" charset="-122"/>
                  <a:ea typeface="微软雅黑" panose="020B0503020204020204" pitchFamily="34" charset="-122"/>
                  <a:cs typeface="+mn-ea"/>
                </a:rPr>
                <a:t>3</a:t>
              </a:r>
              <a:r>
                <a:rPr lang="zh-CN" altLang="zh-CN" sz="2000">
                  <a:solidFill>
                    <a:srgbClr val="1369B2"/>
                  </a:solidFill>
                  <a:latin typeface="微软雅黑" panose="020B0503020204020204" pitchFamily="34" charset="-122"/>
                  <a:ea typeface="微软雅黑" panose="020B0503020204020204" pitchFamily="34" charset="-122"/>
                  <a:cs typeface="+mn-ea"/>
                </a:rPr>
                <a:t>种方式创建对象</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sp>
          <p:nvSpPr>
            <p:cNvPr id="19"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481958" y="3999974"/>
            <a:ext cx="9698457" cy="688077"/>
            <a:chOff x="978872" y="3338787"/>
            <a:chExt cx="5437064" cy="515938"/>
          </a:xfrm>
        </p:grpSpPr>
        <p:sp>
          <p:nvSpPr>
            <p:cNvPr id="21"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a:solidFill>
                    <a:srgbClr val="1369B2"/>
                  </a:solidFill>
                  <a:latin typeface="微软雅黑" panose="020B0503020204020204" pitchFamily="34" charset="-122"/>
                  <a:ea typeface="微软雅黑" panose="020B0503020204020204" pitchFamily="34" charset="-122"/>
                  <a:cs typeface="+mn-ea"/>
                </a:rPr>
                <a:t>对象的遍历</a:t>
              </a:r>
              <a:r>
                <a:rPr lang="zh-CN" altLang="zh-CN" sz="2000">
                  <a:solidFill>
                    <a:srgbClr val="595959"/>
                  </a:solidFill>
                  <a:latin typeface="微软雅黑" panose="020B0503020204020204" pitchFamily="34" charset="-122"/>
                  <a:ea typeface="微软雅黑" panose="020B0503020204020204" pitchFamily="34" charset="-122"/>
                  <a:cs typeface="+mn-ea"/>
                </a:rPr>
                <a:t>，能够遍历对象的</a:t>
              </a:r>
              <a:r>
                <a:rPr lang="zh-CN" altLang="zh-CN" sz="2000">
                  <a:solidFill>
                    <a:srgbClr val="1369B2"/>
                  </a:solidFill>
                  <a:latin typeface="微软雅黑" panose="020B0503020204020204" pitchFamily="34" charset="-122"/>
                  <a:ea typeface="微软雅黑" panose="020B0503020204020204" pitchFamily="34" charset="-122"/>
                  <a:cs typeface="+mn-ea"/>
                </a:rPr>
                <a:t>属性</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方法</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sp>
          <p:nvSpPr>
            <p:cNvPr id="22"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5" name="组合 14"/>
          <p:cNvGrpSpPr/>
          <p:nvPr/>
        </p:nvGrpSpPr>
        <p:grpSpPr>
          <a:xfrm>
            <a:off x="1481958" y="4934645"/>
            <a:ext cx="9709797" cy="685961"/>
            <a:chOff x="978872" y="2570436"/>
            <a:chExt cx="5437064" cy="514351"/>
          </a:xfrm>
        </p:grpSpPr>
        <p:sp>
          <p:nvSpPr>
            <p:cNvPr id="23"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dirty="0">
                  <a:solidFill>
                    <a:srgbClr val="1369B2"/>
                  </a:solidFill>
                  <a:latin typeface="微软雅黑" panose="020B0503020204020204" pitchFamily="34" charset="-122"/>
                  <a:ea typeface="微软雅黑" panose="020B0503020204020204" pitchFamily="34" charset="-122"/>
                  <a:cs typeface="+mn-ea"/>
                </a:rPr>
                <a:t>Math</a:t>
              </a:r>
              <a:r>
                <a:rPr lang="zh-CN" altLang="zh-CN" sz="2000" dirty="0">
                  <a:solidFill>
                    <a:srgbClr val="1369B2"/>
                  </a:solidFill>
                  <a:latin typeface="微软雅黑" panose="020B0503020204020204" pitchFamily="34" charset="-122"/>
                  <a:ea typeface="微软雅黑" panose="020B0503020204020204" pitchFamily="34" charset="-122"/>
                  <a:cs typeface="+mn-ea"/>
                </a:rPr>
                <a:t>对象的使用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，能够使用</a:t>
              </a:r>
              <a:r>
                <a:rPr lang="en-US" altLang="zh-CN" sz="2000" dirty="0">
                  <a:solidFill>
                    <a:srgbClr val="595959"/>
                  </a:solidFill>
                  <a:latin typeface="微软雅黑" panose="020B0503020204020204" pitchFamily="34" charset="-122"/>
                  <a:ea typeface="微软雅黑" panose="020B0503020204020204" pitchFamily="34" charset="-122"/>
                  <a:cs typeface="+mn-ea"/>
                </a:rPr>
                <a:t>Math</a:t>
              </a:r>
              <a:r>
                <a:rPr lang="zh-CN" altLang="zh-CN" sz="2000" dirty="0">
                  <a:solidFill>
                    <a:srgbClr val="595959"/>
                  </a:solidFill>
                  <a:latin typeface="微软雅黑" panose="020B0503020204020204" pitchFamily="34" charset="-122"/>
                  <a:ea typeface="微软雅黑" panose="020B0503020204020204" pitchFamily="34" charset="-122"/>
                  <a:cs typeface="+mn-ea"/>
                </a:rPr>
                <a:t>对象的常用</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实现有关</a:t>
              </a:r>
              <a:r>
                <a:rPr lang="zh-CN" altLang="zh-CN" sz="2000" dirty="0">
                  <a:solidFill>
                    <a:srgbClr val="1369B2"/>
                  </a:solidFill>
                  <a:latin typeface="微软雅黑" panose="020B0503020204020204" pitchFamily="34" charset="-122"/>
                  <a:ea typeface="微软雅黑" panose="020B0503020204020204" pitchFamily="34" charset="-122"/>
                  <a:cs typeface="+mn-ea"/>
                </a:rPr>
                <a:t>数学</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的</a:t>
              </a:r>
              <a:endParaRPr lang="en-US" altLang="zh-CN" sz="2000" dirty="0" smtClean="0">
                <a:solidFill>
                  <a:srgbClr val="1369B2"/>
                </a:solidFill>
                <a:latin typeface="微软雅黑" panose="020B0503020204020204" pitchFamily="34" charset="-122"/>
                <a:ea typeface="微软雅黑" panose="020B0503020204020204" pitchFamily="34" charset="-122"/>
                <a:cs typeface="+mn-ea"/>
              </a:endParaRPr>
            </a:p>
            <a:p>
              <a:pPr>
                <a:lnSpc>
                  <a:spcPct val="120000"/>
                </a:lnSpc>
                <a:defRPr/>
              </a:pP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运算</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3" name="组合 12"/>
          <p:cNvGrpSpPr/>
          <p:nvPr/>
        </p:nvGrpSpPr>
        <p:grpSpPr>
          <a:xfrm>
            <a:off x="1481958" y="2061642"/>
            <a:ext cx="9721080" cy="688075"/>
            <a:chOff x="978872" y="1800500"/>
            <a:chExt cx="5471124" cy="515937"/>
          </a:xfrm>
        </p:grpSpPr>
        <p:sp>
          <p:nvSpPr>
            <p:cNvPr id="14" name="Pentagon 3"/>
            <p:cNvSpPr/>
            <p:nvPr/>
          </p:nvSpPr>
          <p:spPr bwMode="auto">
            <a:xfrm>
              <a:off x="978872" y="1800500"/>
              <a:ext cx="5471124" cy="515937"/>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掌握</a:t>
              </a:r>
              <a:r>
                <a:rPr lang="zh-CN" altLang="zh-CN" sz="2000">
                  <a:solidFill>
                    <a:srgbClr val="1369B2"/>
                  </a:solidFill>
                  <a:latin typeface="微软雅黑" panose="020B0503020204020204" pitchFamily="34" charset="-122"/>
                  <a:ea typeface="微软雅黑" panose="020B0503020204020204" pitchFamily="34" charset="-122"/>
                  <a:cs typeface="+mn-ea"/>
                </a:rPr>
                <a:t>日期对象的使用</a:t>
              </a:r>
              <a:r>
                <a:rPr lang="zh-CN" altLang="zh-CN" sz="2000">
                  <a:solidFill>
                    <a:srgbClr val="595959"/>
                  </a:solidFill>
                  <a:latin typeface="微软雅黑" panose="020B0503020204020204" pitchFamily="34" charset="-122"/>
                  <a:ea typeface="微软雅黑" panose="020B0503020204020204" pitchFamily="34" charset="-122"/>
                  <a:cs typeface="+mn-ea"/>
                </a:rPr>
                <a:t>，能够使用日期对象的常用方法处理</a:t>
              </a:r>
              <a:r>
                <a:rPr lang="zh-CN" altLang="zh-CN" sz="2000">
                  <a:solidFill>
                    <a:srgbClr val="1369B2"/>
                  </a:solidFill>
                  <a:latin typeface="微软雅黑" panose="020B0503020204020204" pitchFamily="34" charset="-122"/>
                  <a:ea typeface="微软雅黑" panose="020B0503020204020204" pitchFamily="34" charset="-122"/>
                  <a:cs typeface="+mn-ea"/>
                </a:rPr>
                <a:t>日期</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时间</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sp>
          <p:nvSpPr>
            <p:cNvPr id="16"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7" name="组合 16"/>
          <p:cNvGrpSpPr/>
          <p:nvPr/>
        </p:nvGrpSpPr>
        <p:grpSpPr>
          <a:xfrm>
            <a:off x="1481958" y="3031864"/>
            <a:ext cx="9709797" cy="685961"/>
            <a:chOff x="978872" y="2570436"/>
            <a:chExt cx="5437064" cy="514351"/>
          </a:xfrm>
        </p:grpSpPr>
        <p:sp>
          <p:nvSpPr>
            <p:cNvPr id="18"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a:solidFill>
                    <a:srgbClr val="1369B2"/>
                  </a:solidFill>
                  <a:latin typeface="微软雅黑" panose="020B0503020204020204" pitchFamily="34" charset="-122"/>
                  <a:ea typeface="微软雅黑" panose="020B0503020204020204" pitchFamily="34" charset="-122"/>
                  <a:cs typeface="+mn-ea"/>
                </a:rPr>
                <a:t>数组对象的使用</a:t>
              </a:r>
              <a:r>
                <a:rPr lang="zh-CN" altLang="zh-CN" sz="2000">
                  <a:solidFill>
                    <a:srgbClr val="595959"/>
                  </a:solidFill>
                  <a:latin typeface="微软雅黑" panose="020B0503020204020204" pitchFamily="34" charset="-122"/>
                  <a:ea typeface="微软雅黑" panose="020B0503020204020204" pitchFamily="34" charset="-122"/>
                  <a:cs typeface="+mn-ea"/>
                </a:rPr>
                <a:t>，能够使用数组对象的常用方法</a:t>
              </a:r>
              <a:r>
                <a:rPr lang="zh-CN" altLang="zh-CN" sz="2000">
                  <a:solidFill>
                    <a:srgbClr val="1369B2"/>
                  </a:solidFill>
                  <a:latin typeface="微软雅黑" panose="020B0503020204020204" pitchFamily="34" charset="-122"/>
                  <a:ea typeface="微软雅黑" panose="020B0503020204020204" pitchFamily="34" charset="-122"/>
                  <a:cs typeface="+mn-ea"/>
                </a:rPr>
                <a:t>对数组进行操作</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9"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0" name="组合 19"/>
          <p:cNvGrpSpPr/>
          <p:nvPr/>
        </p:nvGrpSpPr>
        <p:grpSpPr>
          <a:xfrm>
            <a:off x="1481958" y="3999974"/>
            <a:ext cx="9698457" cy="688077"/>
            <a:chOff x="978872" y="3338787"/>
            <a:chExt cx="5437064" cy="515938"/>
          </a:xfrm>
        </p:grpSpPr>
        <p:sp>
          <p:nvSpPr>
            <p:cNvPr id="21" name="Pentagon 6"/>
            <p:cNvSpPr/>
            <p:nvPr/>
          </p:nvSpPr>
          <p:spPr bwMode="auto">
            <a:xfrm>
              <a:off x="978872" y="3338787"/>
              <a:ext cx="5437064" cy="515938"/>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zh-CN" sz="2000">
                  <a:solidFill>
                    <a:srgbClr val="1369B2"/>
                  </a:solidFill>
                  <a:latin typeface="微软雅黑" panose="020B0503020204020204" pitchFamily="34" charset="-122"/>
                  <a:ea typeface="微软雅黑" panose="020B0503020204020204" pitchFamily="34" charset="-122"/>
                  <a:cs typeface="+mn-ea"/>
                </a:rPr>
                <a:t>字符串对象的使用</a:t>
              </a:r>
              <a:r>
                <a:rPr lang="zh-CN" altLang="zh-CN" sz="2000">
                  <a:solidFill>
                    <a:srgbClr val="595959"/>
                  </a:solidFill>
                  <a:latin typeface="微软雅黑" panose="020B0503020204020204" pitchFamily="34" charset="-122"/>
                  <a:ea typeface="微软雅黑" panose="020B0503020204020204" pitchFamily="34" charset="-122"/>
                  <a:cs typeface="+mn-ea"/>
                </a:rPr>
                <a:t>，能够使用字符串对象的常用方法</a:t>
              </a:r>
              <a:r>
                <a:rPr lang="zh-CN" altLang="zh-CN" sz="2000">
                  <a:solidFill>
                    <a:srgbClr val="1369B2"/>
                  </a:solidFill>
                  <a:latin typeface="微软雅黑" panose="020B0503020204020204" pitchFamily="34" charset="-122"/>
                  <a:ea typeface="微软雅黑" panose="020B0503020204020204" pitchFamily="34" charset="-122"/>
                  <a:cs typeface="+mn-ea"/>
                </a:rPr>
                <a:t>处理字符串</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2" name="MH_Others_1"/>
            <p:cNvSpPr/>
            <p:nvPr/>
          </p:nvSpPr>
          <p:spPr bwMode="auto">
            <a:xfrm>
              <a:off x="985222" y="3338787"/>
              <a:ext cx="82550" cy="515938"/>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5" name="组合 14"/>
          <p:cNvGrpSpPr/>
          <p:nvPr/>
        </p:nvGrpSpPr>
        <p:grpSpPr>
          <a:xfrm>
            <a:off x="1481958" y="4934645"/>
            <a:ext cx="9709797" cy="685961"/>
            <a:chOff x="978872" y="2570436"/>
            <a:chExt cx="5437064" cy="514351"/>
          </a:xfrm>
        </p:grpSpPr>
        <p:sp>
          <p:nvSpPr>
            <p:cNvPr id="23" name="Pentagon 5"/>
            <p:cNvSpPr/>
            <p:nvPr/>
          </p:nvSpPr>
          <p:spPr bwMode="auto">
            <a:xfrm>
              <a:off x="978872" y="2570436"/>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200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en-US" altLang="zh-CN" sz="2000">
                  <a:solidFill>
                    <a:srgbClr val="1369B2"/>
                  </a:solidFill>
                  <a:latin typeface="微软雅黑" panose="020B0503020204020204" pitchFamily="34" charset="-122"/>
                  <a:ea typeface="微软雅黑" panose="020B0503020204020204" pitchFamily="34" charset="-122"/>
                  <a:cs typeface="+mn-ea"/>
                </a:rPr>
                <a:t>MDN Web</a:t>
              </a:r>
              <a:r>
                <a:rPr lang="zh-CN" altLang="zh-CN" sz="2000">
                  <a:solidFill>
                    <a:srgbClr val="1369B2"/>
                  </a:solidFill>
                  <a:latin typeface="微软雅黑" panose="020B0503020204020204" pitchFamily="34" charset="-122"/>
                  <a:ea typeface="微软雅黑" panose="020B0503020204020204" pitchFamily="34" charset="-122"/>
                  <a:cs typeface="+mn-ea"/>
                </a:rPr>
                <a:t>文档的查阅方式</a:t>
              </a:r>
              <a:r>
                <a:rPr lang="zh-CN" altLang="zh-CN" sz="2000">
                  <a:solidFill>
                    <a:srgbClr val="595959"/>
                  </a:solidFill>
                  <a:latin typeface="微软雅黑" panose="020B0503020204020204" pitchFamily="34" charset="-122"/>
                  <a:ea typeface="微软雅黑" panose="020B0503020204020204" pitchFamily="34" charset="-122"/>
                  <a:cs typeface="+mn-ea"/>
                </a:rPr>
                <a:t>，能够在</a:t>
              </a:r>
              <a:r>
                <a:rPr lang="en-US" altLang="zh-CN" sz="2000">
                  <a:solidFill>
                    <a:srgbClr val="595959"/>
                  </a:solidFill>
                  <a:latin typeface="微软雅黑" panose="020B0503020204020204" pitchFamily="34" charset="-122"/>
                  <a:ea typeface="微软雅黑" panose="020B0503020204020204" pitchFamily="34" charset="-122"/>
                  <a:cs typeface="+mn-ea"/>
                </a:rPr>
                <a:t>MDN Web</a:t>
              </a:r>
              <a:r>
                <a:rPr lang="zh-CN" altLang="zh-CN" sz="2000">
                  <a:solidFill>
                    <a:srgbClr val="595959"/>
                  </a:solidFill>
                  <a:latin typeface="微软雅黑" panose="020B0503020204020204" pitchFamily="34" charset="-122"/>
                  <a:ea typeface="微软雅黑" panose="020B0503020204020204" pitchFamily="34" charset="-122"/>
                  <a:cs typeface="+mn-ea"/>
                </a:rPr>
                <a:t>文档中</a:t>
              </a:r>
              <a:r>
                <a:rPr lang="zh-CN" altLang="zh-CN" sz="2000">
                  <a:solidFill>
                    <a:srgbClr val="1369B2"/>
                  </a:solidFill>
                  <a:latin typeface="微软雅黑" panose="020B0503020204020204" pitchFamily="34" charset="-122"/>
                  <a:ea typeface="微软雅黑" panose="020B0503020204020204" pitchFamily="34" charset="-122"/>
                  <a:cs typeface="+mn-ea"/>
                </a:rPr>
                <a:t>查询对象</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2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646" y="2493690"/>
            <a:ext cx="1008112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在</a:t>
            </a:r>
            <a:r>
              <a:rPr lang="zh-CN" altLang="zh-CN" sz="2000">
                <a:solidFill>
                  <a:srgbClr val="595959"/>
                </a:solidFill>
                <a:latin typeface="微软雅黑" panose="020B0503020204020204" pitchFamily="34" charset="-122"/>
                <a:ea typeface="微软雅黑" panose="020B0503020204020204" pitchFamily="34" charset="-122"/>
              </a:rPr>
              <a:t>日常生活中，</a:t>
            </a:r>
            <a:r>
              <a:rPr lang="zh-CN" altLang="zh-CN" sz="2000">
                <a:solidFill>
                  <a:srgbClr val="1369B2"/>
                </a:solidFill>
                <a:latin typeface="微软雅黑" panose="020B0503020204020204" pitchFamily="34" charset="-122"/>
                <a:ea typeface="微软雅黑" panose="020B0503020204020204" pitchFamily="34" charset="-122"/>
              </a:rPr>
              <a:t>对象</a:t>
            </a:r>
            <a:r>
              <a:rPr lang="zh-CN" altLang="zh-CN" sz="2000">
                <a:solidFill>
                  <a:srgbClr val="595959"/>
                </a:solidFill>
                <a:latin typeface="微软雅黑" panose="020B0503020204020204" pitchFamily="34" charset="-122"/>
                <a:ea typeface="微软雅黑" panose="020B0503020204020204" pitchFamily="34" charset="-122"/>
              </a:rPr>
              <a:t>通常是指</a:t>
            </a:r>
            <a:r>
              <a:rPr lang="zh-CN" altLang="zh-CN" sz="2000">
                <a:solidFill>
                  <a:srgbClr val="1369B2"/>
                </a:solidFill>
                <a:latin typeface="微软雅黑" panose="020B0503020204020204" pitchFamily="34" charset="-122"/>
                <a:ea typeface="微软雅黑" panose="020B0503020204020204" pitchFamily="34" charset="-122"/>
              </a:rPr>
              <a:t>具体的事物</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zh-CN" sz="2000">
                <a:solidFill>
                  <a:srgbClr val="1369B2"/>
                </a:solidFill>
                <a:latin typeface="微软雅黑" panose="020B0503020204020204" pitchFamily="34" charset="-122"/>
                <a:ea typeface="微软雅黑" panose="020B0503020204020204" pitchFamily="34" charset="-122"/>
              </a:rPr>
              <a:t>桌子</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水杯</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计算机</a:t>
            </a:r>
            <a:r>
              <a:rPr lang="zh-CN" altLang="zh-CN" sz="2000">
                <a:solidFill>
                  <a:srgbClr val="595959"/>
                </a:solidFill>
                <a:latin typeface="微软雅黑" panose="020B0503020204020204" pitchFamily="34" charset="-122"/>
                <a:ea typeface="微软雅黑" panose="020B0503020204020204" pitchFamily="34" charset="-122"/>
              </a:rPr>
              <a:t>等</a:t>
            </a:r>
            <a:r>
              <a:rPr lang="zh-CN" altLang="zh-CN" sz="2000" smtClean="0">
                <a:solidFill>
                  <a:srgbClr val="595959"/>
                </a:solidFill>
                <a:latin typeface="微软雅黑" panose="020B0503020204020204" pitchFamily="34" charset="-122"/>
                <a:ea typeface="微软雅黑" panose="020B0503020204020204" pitchFamily="34" charset="-122"/>
              </a:rPr>
              <a:t>看得见</a:t>
            </a:r>
            <a:r>
              <a:rPr lang="zh-CN" altLang="en-US" sz="2000" smtClean="0">
                <a:solidFill>
                  <a:srgbClr val="595959"/>
                </a:solidFill>
                <a:latin typeface="微软雅黑" panose="020B0503020204020204" pitchFamily="34" charset="-122"/>
                <a:ea typeface="微软雅黑" panose="020B0503020204020204" pitchFamily="34" charset="-122"/>
              </a:rPr>
              <a:t>、</a:t>
            </a:r>
            <a:r>
              <a:rPr lang="zh-CN" altLang="zh-CN" sz="2000" smtClean="0">
                <a:solidFill>
                  <a:srgbClr val="595959"/>
                </a:solidFill>
                <a:latin typeface="微软雅黑" panose="020B0503020204020204" pitchFamily="34" charset="-122"/>
                <a:ea typeface="微软雅黑" panose="020B0503020204020204" pitchFamily="34" charset="-122"/>
              </a:rPr>
              <a:t>摸</a:t>
            </a:r>
            <a:r>
              <a:rPr lang="zh-CN" altLang="zh-CN" sz="2000">
                <a:solidFill>
                  <a:srgbClr val="595959"/>
                </a:solidFill>
                <a:latin typeface="微软雅黑" panose="020B0503020204020204" pitchFamily="34" charset="-122"/>
                <a:ea typeface="微软雅黑" panose="020B0503020204020204" pitchFamily="34" charset="-122"/>
              </a:rPr>
              <a:t>得着的实物。在</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中，也有对象的概念。</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中的对象属于</a:t>
            </a:r>
            <a:r>
              <a:rPr lang="zh-CN" altLang="zh-CN" sz="2000">
                <a:solidFill>
                  <a:srgbClr val="1369B2"/>
                </a:solidFill>
                <a:latin typeface="微软雅黑" panose="020B0503020204020204" pitchFamily="34" charset="-122"/>
                <a:ea typeface="微软雅黑" panose="020B0503020204020204" pitchFamily="34" charset="-122"/>
              </a:rPr>
              <a:t>复杂数据类型</a:t>
            </a:r>
            <a:r>
              <a:rPr lang="zh-CN" altLang="zh-CN" sz="2000">
                <a:solidFill>
                  <a:srgbClr val="595959"/>
                </a:solidFill>
                <a:latin typeface="微软雅黑" panose="020B0503020204020204" pitchFamily="34" charset="-122"/>
                <a:ea typeface="微软雅黑" panose="020B0503020204020204" pitchFamily="34" charset="-122"/>
              </a:rPr>
              <a:t>，使用对象可以方便地</a:t>
            </a:r>
            <a:r>
              <a:rPr lang="zh-CN" altLang="zh-CN" sz="2000">
                <a:solidFill>
                  <a:srgbClr val="1369B2"/>
                </a:solidFill>
                <a:latin typeface="微软雅黑" panose="020B0503020204020204" pitchFamily="34" charset="-122"/>
                <a:ea typeface="微软雅黑" panose="020B0503020204020204" pitchFamily="34" charset="-122"/>
              </a:rPr>
              <a:t>管理多个数据</a:t>
            </a:r>
            <a:r>
              <a:rPr lang="zh-CN" altLang="zh-CN" sz="2000">
                <a:solidFill>
                  <a:srgbClr val="595959"/>
                </a:solidFill>
                <a:latin typeface="微软雅黑" panose="020B0503020204020204" pitchFamily="34" charset="-122"/>
                <a:ea typeface="微软雅黑" panose="020B0503020204020204" pitchFamily="34" charset="-122"/>
              </a:rPr>
              <a:t>，例如，保存网站用户的姓名、年龄、电话号码等信息。相对于将数据保存为基本数据类型，将数据保存为对象不仅更加</a:t>
            </a:r>
            <a:r>
              <a:rPr lang="zh-CN" altLang="zh-CN" sz="2000">
                <a:solidFill>
                  <a:srgbClr val="1369B2"/>
                </a:solidFill>
                <a:latin typeface="微软雅黑" panose="020B0503020204020204" pitchFamily="34" charset="-122"/>
                <a:ea typeface="微软雅黑" panose="020B0503020204020204" pitchFamily="34" charset="-122"/>
              </a:rPr>
              <a:t>灵活</a:t>
            </a:r>
            <a:r>
              <a:rPr lang="zh-CN" altLang="zh-CN" sz="2000">
                <a:solidFill>
                  <a:srgbClr val="595959"/>
                </a:solidFill>
                <a:latin typeface="微软雅黑" panose="020B0503020204020204" pitchFamily="34" charset="-122"/>
                <a:ea typeface="微软雅黑" panose="020B0503020204020204" pitchFamily="34" charset="-122"/>
              </a:rPr>
              <a:t>，而且更易于</a:t>
            </a:r>
            <a:r>
              <a:rPr lang="zh-CN" altLang="zh-CN" sz="2000">
                <a:solidFill>
                  <a:srgbClr val="1369B2"/>
                </a:solidFill>
                <a:latin typeface="微软雅黑" panose="020B0503020204020204" pitchFamily="34" charset="-122"/>
                <a:ea typeface="微软雅黑" panose="020B0503020204020204" pitchFamily="34" charset="-122"/>
              </a:rPr>
              <a:t>区分各种数据</a:t>
            </a:r>
            <a:r>
              <a:rPr lang="zh-CN" altLang="zh-CN" sz="2000">
                <a:solidFill>
                  <a:srgbClr val="595959"/>
                </a:solidFill>
                <a:latin typeface="微软雅黑" panose="020B0503020204020204" pitchFamily="34" charset="-122"/>
                <a:ea typeface="微软雅黑" panose="020B0503020204020204" pitchFamily="34" charset="-122"/>
              </a:rPr>
              <a:t>。本章将对</a:t>
            </a:r>
            <a:r>
              <a:rPr lang="en-US" altLang="zh-CN" sz="2000">
                <a:solidFill>
                  <a:srgbClr val="1369B2"/>
                </a:solidFill>
                <a:latin typeface="微软雅黑" panose="020B0503020204020204" pitchFamily="34" charset="-122"/>
                <a:ea typeface="微软雅黑" panose="020B0503020204020204" pitchFamily="34" charset="-122"/>
              </a:rPr>
              <a:t>JavaScript</a:t>
            </a:r>
            <a:r>
              <a:rPr lang="zh-CN" altLang="zh-CN" sz="2000">
                <a:solidFill>
                  <a:srgbClr val="1369B2"/>
                </a:solidFill>
                <a:latin typeface="微软雅黑" panose="020B0503020204020204" pitchFamily="34" charset="-122"/>
                <a:ea typeface="微软雅黑" panose="020B0503020204020204" pitchFamily="34" charset="-122"/>
              </a:rPr>
              <a:t>中的对象</a:t>
            </a:r>
            <a:r>
              <a:rPr lang="zh-CN" altLang="zh-CN" sz="2000">
                <a:solidFill>
                  <a:srgbClr val="595959"/>
                </a:solidFill>
                <a:latin typeface="微软雅黑" panose="020B0503020204020204" pitchFamily="34" charset="-122"/>
                <a:ea typeface="微软雅黑" panose="020B0503020204020204" pitchFamily="34" charset="-122"/>
              </a:rPr>
              <a:t>进行详细</a:t>
            </a:r>
            <a:r>
              <a:rPr lang="zh-CN" altLang="zh-CN" sz="2000" smtClean="0">
                <a:solidFill>
                  <a:srgbClr val="595959"/>
                </a:solidFill>
                <a:latin typeface="微软雅黑" panose="020B0503020204020204" pitchFamily="34" charset="-122"/>
                <a:ea typeface="微软雅黑" panose="020B0503020204020204" pitchFamily="34" charset="-122"/>
              </a:rPr>
              <a:t>讲解</a:t>
            </a:r>
            <a:r>
              <a:rPr lang="zh-CN" altLang="en-US"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3119265" y="2298158"/>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3119265" y="3165473"/>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3896"/>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19265" y="4066253"/>
            <a:ext cx="1192190" cy="614525"/>
            <a:chOff x="2215144" y="3084852"/>
            <a:chExt cx="1244730" cy="844793"/>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4024817" y="2275979"/>
            <a:ext cx="5142331" cy="613062"/>
            <a:chOff x="4315150" y="953426"/>
            <a:chExt cx="3857250" cy="540057"/>
          </a:xfrm>
        </p:grpSpPr>
        <p:sp>
          <p:nvSpPr>
            <p:cNvPr id="31" name="矩形 30"/>
            <p:cNvSpPr/>
            <p:nvPr/>
          </p:nvSpPr>
          <p:spPr>
            <a:xfrm>
              <a:off x="4830201" y="1057390"/>
              <a:ext cx="2827147" cy="332129"/>
            </a:xfrm>
            <a:prstGeom prst="rect">
              <a:avLst/>
            </a:prstGeom>
            <a:ln w="15875">
              <a:noFill/>
            </a:ln>
          </p:spPr>
          <p:txBody>
            <a:bodyPr wrap="square" lIns="68580" tIns="34290" rIns="68580" bIns="34290">
              <a:spAutoFit/>
            </a:bodyPr>
            <a:lstStyle/>
            <a:p>
              <a:r>
                <a:rPr lang="zh-CN" altLang="en-US" sz="2000" smtClean="0">
                  <a:solidFill>
                    <a:srgbClr val="595959"/>
                  </a:solidFill>
                  <a:latin typeface="微软雅黑" panose="020B0503020204020204" pitchFamily="34" charset="-122"/>
                  <a:ea typeface="微软雅黑" panose="020B0503020204020204" pitchFamily="34" charset="-122"/>
                  <a:cs typeface="+mn-ea"/>
                  <a:sym typeface="+mn-lt"/>
                </a:rPr>
                <a:t>初识</a:t>
              </a:r>
              <a:r>
                <a:rPr lang="zh-CN" altLang="en-US" sz="2000">
                  <a:solidFill>
                    <a:srgbClr val="1369B2"/>
                  </a:solidFill>
                  <a:latin typeface="微软雅黑" panose="020B0503020204020204" pitchFamily="34" charset="-122"/>
                  <a:ea typeface="微软雅黑" panose="020B0503020204020204" pitchFamily="34" charset="-122"/>
                  <a:sym typeface="+mn-lt"/>
                </a:rPr>
                <a:t>对象</a:t>
              </a:r>
              <a:endParaRPr lang="zh-CN" altLang="en-US" sz="2000" dirty="0">
                <a:solidFill>
                  <a:srgbClr val="1369B2"/>
                </a:solidFill>
                <a:latin typeface="微软雅黑" panose="020B0503020204020204" pitchFamily="34" charset="-122"/>
                <a:ea typeface="微软雅黑" panose="020B0503020204020204" pitchFamily="34" charset="-122"/>
                <a:sym typeface="+mn-lt"/>
              </a:endParaRP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24817" y="3148647"/>
            <a:ext cx="5142331" cy="613062"/>
            <a:chOff x="4315150" y="1647579"/>
            <a:chExt cx="3857250" cy="540057"/>
          </a:xfrm>
        </p:grpSpPr>
        <p:sp>
          <p:nvSpPr>
            <p:cNvPr id="34" name="矩形 33"/>
            <p:cNvSpPr/>
            <p:nvPr/>
          </p:nvSpPr>
          <p:spPr>
            <a:xfrm>
              <a:off x="4830201" y="1751543"/>
              <a:ext cx="2827147" cy="332129"/>
            </a:xfrm>
            <a:prstGeom prst="rect">
              <a:avLst/>
            </a:prstGeom>
            <a:ln w="15875">
              <a:noFill/>
            </a:ln>
          </p:spPr>
          <p:txBody>
            <a:bodyPr wrap="square" lIns="68580" tIns="34290" rIns="68580" bIns="34290">
              <a:spAutoFit/>
            </a:bodyPr>
            <a:lstStyle/>
            <a:p>
              <a:r>
                <a:rPr lang="zh-CN" altLang="en-US" sz="2000" smtClean="0">
                  <a:solidFill>
                    <a:srgbClr val="595959"/>
                  </a:solidFill>
                  <a:latin typeface="微软雅黑" panose="020B0503020204020204" pitchFamily="34" charset="-122"/>
                  <a:ea typeface="微软雅黑" panose="020B0503020204020204" pitchFamily="34" charset="-122"/>
                  <a:cs typeface="+mn-ea"/>
                  <a:sym typeface="+mn-lt"/>
                </a:rPr>
                <a:t>对象的</a:t>
              </a:r>
              <a:r>
                <a:rPr lang="zh-CN" altLang="en-US" sz="2000">
                  <a:solidFill>
                    <a:srgbClr val="1369B2"/>
                  </a:solidFill>
                  <a:latin typeface="微软雅黑" panose="020B0503020204020204" pitchFamily="34" charset="-122"/>
                  <a:ea typeface="微软雅黑" panose="020B0503020204020204" pitchFamily="34" charset="-122"/>
                  <a:sym typeface="+mn-lt"/>
                </a:rPr>
                <a:t>创建</a:t>
              </a:r>
              <a:endParaRPr lang="zh-CN" altLang="en-US" sz="2000" dirty="0">
                <a:solidFill>
                  <a:srgbClr val="1369B2"/>
                </a:solidFill>
                <a:latin typeface="微软雅黑" panose="020B0503020204020204" pitchFamily="34" charset="-122"/>
                <a:ea typeface="微软雅黑" panose="020B0503020204020204" pitchFamily="34" charset="-122"/>
                <a:sym typeface="+mn-lt"/>
              </a:endParaRPr>
            </a:p>
          </p:txBody>
        </p:sp>
        <p:sp>
          <p:nvSpPr>
            <p:cNvPr id="35" name="平行四边形 3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24817" y="4044600"/>
            <a:ext cx="5142331" cy="613062"/>
            <a:chOff x="4315150" y="2341731"/>
            <a:chExt cx="3857250" cy="540057"/>
          </a:xfrm>
        </p:grpSpPr>
        <p:sp>
          <p:nvSpPr>
            <p:cNvPr id="37" name="矩形 36"/>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a:solidFill>
                    <a:srgbClr val="595959"/>
                  </a:solidFill>
                  <a:latin typeface="微软雅黑" panose="020B0503020204020204" pitchFamily="34" charset="-122"/>
                  <a:ea typeface="微软雅黑" panose="020B0503020204020204" pitchFamily="34" charset="-122"/>
                  <a:cs typeface="+mn-ea"/>
                  <a:sym typeface="+mn-lt"/>
                </a:rPr>
                <a:t>对象</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mn-lt"/>
                </a:rPr>
                <a:t>的</a:t>
              </a:r>
              <a:r>
                <a:rPr lang="zh-CN" altLang="en-US" sz="2000">
                  <a:solidFill>
                    <a:srgbClr val="1369B2"/>
                  </a:solidFill>
                  <a:latin typeface="微软雅黑" panose="020B0503020204020204" pitchFamily="34" charset="-122"/>
                  <a:ea typeface="微软雅黑" panose="020B0503020204020204" pitchFamily="34" charset="-122"/>
                  <a:sym typeface="+mn-lt"/>
                </a:rPr>
                <a:t>遍历</a:t>
              </a:r>
              <a:endParaRPr lang="zh-CN" altLang="en-US" sz="2000">
                <a:solidFill>
                  <a:srgbClr val="1369B2"/>
                </a:solidFill>
                <a:latin typeface="微软雅黑" panose="020B0503020204020204" pitchFamily="34" charset="-122"/>
                <a:ea typeface="微软雅黑" panose="020B0503020204020204" pitchFamily="34" charset="-122"/>
                <a:sym typeface="+mn-lt"/>
              </a:endParaRPr>
            </a:p>
          </p:txBody>
        </p:sp>
        <p:sp>
          <p:nvSpPr>
            <p:cNvPr id="38" name="平行四边形 3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3108578" y="4975509"/>
            <a:ext cx="1192190" cy="614525"/>
            <a:chOff x="2215144" y="3084852"/>
            <a:chExt cx="1244730" cy="844793"/>
          </a:xfrm>
        </p:grpSpPr>
        <p:sp>
          <p:nvSpPr>
            <p:cNvPr id="40" name="平行四边形 39"/>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4014130" y="4953855"/>
            <a:ext cx="5142331" cy="613062"/>
            <a:chOff x="4315150" y="2341731"/>
            <a:chExt cx="3857250" cy="540057"/>
          </a:xfrm>
        </p:grpSpPr>
        <p:sp>
          <p:nvSpPr>
            <p:cNvPr id="43" name="矩形 42"/>
            <p:cNvSpPr/>
            <p:nvPr/>
          </p:nvSpPr>
          <p:spPr>
            <a:xfrm>
              <a:off x="4830201" y="2445695"/>
              <a:ext cx="2827146" cy="332129"/>
            </a:xfrm>
            <a:prstGeom prst="rect">
              <a:avLst/>
            </a:prstGeom>
            <a:ln w="15875">
              <a:noFill/>
            </a:ln>
          </p:spPr>
          <p:txBody>
            <a:bodyPr wrap="square" lIns="68580" tIns="34290" rIns="68580" bIns="34290">
              <a:spAutoFit/>
            </a:bodyPr>
            <a:lstStyle/>
            <a:p>
              <a:r>
                <a:rPr lang="en-US" altLang="zh-CN" sz="2000">
                  <a:solidFill>
                    <a:srgbClr val="1369B2"/>
                  </a:solidFill>
                  <a:latin typeface="微软雅黑" panose="020B0503020204020204" pitchFamily="34" charset="-122"/>
                  <a:ea typeface="微软雅黑" panose="020B0503020204020204" pitchFamily="34" charset="-122"/>
                  <a:sym typeface="+mn-lt"/>
                </a:rPr>
                <a:t>Math</a:t>
              </a:r>
              <a:r>
                <a:rPr lang="zh-CN" altLang="en-US" sz="2000" smtClean="0">
                  <a:solidFill>
                    <a:srgbClr val="595959"/>
                  </a:solidFill>
                  <a:latin typeface="微软雅黑" panose="020B0503020204020204" pitchFamily="34" charset="-122"/>
                  <a:ea typeface="微软雅黑" panose="020B0503020204020204" pitchFamily="34" charset="-122"/>
                  <a:cs typeface="+mn-ea"/>
                  <a:sym typeface="+mn-lt"/>
                </a:rPr>
                <a:t>对象</a:t>
              </a:r>
              <a:endParaRPr lang="en-US" altLang="zh-CN" sz="2000" dirty="0">
                <a:solidFill>
                  <a:srgbClr val="1369B2"/>
                </a:solidFill>
                <a:latin typeface="微软雅黑" panose="020B0503020204020204" pitchFamily="34" charset="-122"/>
                <a:ea typeface="微软雅黑" panose="020B0503020204020204" pitchFamily="34" charset="-122"/>
                <a:sym typeface="+mn-lt"/>
              </a:endParaRPr>
            </a:p>
          </p:txBody>
        </p:sp>
        <p:sp>
          <p:nvSpPr>
            <p:cNvPr id="44" name="平行四边形 43"/>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1" name="组合 20"/>
          <p:cNvGrpSpPr/>
          <p:nvPr/>
        </p:nvGrpSpPr>
        <p:grpSpPr>
          <a:xfrm>
            <a:off x="3119265" y="2298158"/>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3119265" y="3165473"/>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3896"/>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19265" y="4066253"/>
            <a:ext cx="1192190" cy="614525"/>
            <a:chOff x="2215144" y="3084852"/>
            <a:chExt cx="1244730" cy="844793"/>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4024817" y="2275979"/>
            <a:ext cx="5142331" cy="613062"/>
            <a:chOff x="4315150" y="953426"/>
            <a:chExt cx="3857250" cy="540057"/>
          </a:xfrm>
        </p:grpSpPr>
        <p:sp>
          <p:nvSpPr>
            <p:cNvPr id="31" name="矩形 30"/>
            <p:cNvSpPr/>
            <p:nvPr/>
          </p:nvSpPr>
          <p:spPr>
            <a:xfrm>
              <a:off x="4830201" y="1057390"/>
              <a:ext cx="2827147" cy="332129"/>
            </a:xfrm>
            <a:prstGeom prst="rect">
              <a:avLst/>
            </a:prstGeom>
            <a:ln w="15875">
              <a:noFill/>
            </a:ln>
          </p:spPr>
          <p:txBody>
            <a:bodyPr wrap="square" lIns="68580" tIns="34290" rIns="68580" bIns="34290">
              <a:spAutoFit/>
            </a:bodyPr>
            <a:lstStyle/>
            <a:p>
              <a:r>
                <a:rPr lang="zh-CN" altLang="en-US" sz="2000" smtClean="0">
                  <a:solidFill>
                    <a:srgbClr val="1369B2"/>
                  </a:solidFill>
                  <a:latin typeface="微软雅黑" panose="020B0503020204020204" pitchFamily="34" charset="-122"/>
                  <a:ea typeface="微软雅黑" panose="020B0503020204020204" pitchFamily="34" charset="-122"/>
                  <a:sym typeface="+mn-lt"/>
                </a:rPr>
                <a:t>日期</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24817" y="3148647"/>
            <a:ext cx="5142331" cy="613062"/>
            <a:chOff x="4315150" y="1647579"/>
            <a:chExt cx="3857250" cy="540057"/>
          </a:xfrm>
        </p:grpSpPr>
        <p:sp>
          <p:nvSpPr>
            <p:cNvPr id="34" name="矩形 33"/>
            <p:cNvSpPr/>
            <p:nvPr/>
          </p:nvSpPr>
          <p:spPr>
            <a:xfrm>
              <a:off x="4830201" y="1751543"/>
              <a:ext cx="2827147" cy="332129"/>
            </a:xfrm>
            <a:prstGeom prst="rect">
              <a:avLst/>
            </a:prstGeom>
            <a:ln w="15875">
              <a:noFill/>
            </a:ln>
          </p:spPr>
          <p:txBody>
            <a:bodyPr wrap="square" lIns="68580" tIns="34290" rIns="68580" bIns="34290">
              <a:spAutoFit/>
            </a:bodyPr>
            <a:lstStyle/>
            <a:p>
              <a:r>
                <a:rPr lang="zh-CN" altLang="en-US" sz="2000">
                  <a:solidFill>
                    <a:srgbClr val="1369B2"/>
                  </a:solidFill>
                  <a:latin typeface="微软雅黑" panose="020B0503020204020204" pitchFamily="34" charset="-122"/>
                  <a:ea typeface="微软雅黑" panose="020B0503020204020204" pitchFamily="34" charset="-122"/>
                  <a:sym typeface="+mn-lt"/>
                </a:rPr>
                <a:t>数组</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24817" y="4044600"/>
            <a:ext cx="5142331" cy="613062"/>
            <a:chOff x="4315150" y="2341731"/>
            <a:chExt cx="3857250" cy="540057"/>
          </a:xfrm>
        </p:grpSpPr>
        <p:sp>
          <p:nvSpPr>
            <p:cNvPr id="37" name="矩形 36"/>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smtClean="0">
                  <a:solidFill>
                    <a:srgbClr val="1369B2"/>
                  </a:solidFill>
                  <a:latin typeface="微软雅黑" panose="020B0503020204020204" pitchFamily="34" charset="-122"/>
                  <a:ea typeface="微软雅黑" panose="020B0503020204020204" pitchFamily="34" charset="-122"/>
                  <a:sym typeface="+mn-lt"/>
                </a:rPr>
                <a:t>字符串</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对象</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8" name="平行四边形 3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3108578" y="4975509"/>
            <a:ext cx="1192190" cy="614525"/>
            <a:chOff x="2215144" y="3084852"/>
            <a:chExt cx="1244730" cy="844793"/>
          </a:xfrm>
        </p:grpSpPr>
        <p:sp>
          <p:nvSpPr>
            <p:cNvPr id="40" name="平行四边形 39"/>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5.8</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4014130" y="4953855"/>
            <a:ext cx="5142331" cy="613062"/>
            <a:chOff x="4315150" y="2341731"/>
            <a:chExt cx="3857250" cy="540057"/>
          </a:xfrm>
        </p:grpSpPr>
        <p:sp>
          <p:nvSpPr>
            <p:cNvPr id="43" name="矩形 42"/>
            <p:cNvSpPr/>
            <p:nvPr/>
          </p:nvSpPr>
          <p:spPr>
            <a:xfrm>
              <a:off x="4830201" y="2445695"/>
              <a:ext cx="2827146" cy="332129"/>
            </a:xfrm>
            <a:prstGeom prst="rect">
              <a:avLst/>
            </a:prstGeom>
            <a:ln w="15875">
              <a:noFill/>
            </a:ln>
          </p:spPr>
          <p:txBody>
            <a:bodyPr wrap="square" lIns="68580" tIns="34290" rIns="68580" bIns="34290">
              <a:spAutoFit/>
            </a:bodyPr>
            <a:lstStyle/>
            <a:p>
              <a:r>
                <a:rPr lang="zh-CN" altLang="en-US" sz="2000" smtClean="0">
                  <a:solidFill>
                    <a:srgbClr val="595959"/>
                  </a:solidFill>
                  <a:latin typeface="微软雅黑" panose="020B0503020204020204" pitchFamily="34" charset="-122"/>
                  <a:ea typeface="微软雅黑" panose="020B0503020204020204" pitchFamily="34" charset="-122"/>
                  <a:cs typeface="+mn-ea"/>
                  <a:sym typeface="+mn-lt"/>
                </a:rPr>
                <a:t>查阅</a:t>
              </a:r>
              <a:r>
                <a:rPr lang="en-US" altLang="zh-CN" sz="2000">
                  <a:solidFill>
                    <a:srgbClr val="1369B2"/>
                  </a:solidFill>
                  <a:latin typeface="微软雅黑" panose="020B0503020204020204" pitchFamily="34" charset="-122"/>
                  <a:ea typeface="微软雅黑" panose="020B0503020204020204" pitchFamily="34" charset="-122"/>
                  <a:sym typeface="+mn-lt"/>
                </a:rPr>
                <a:t>MDN Web</a:t>
              </a:r>
              <a:r>
                <a:rPr lang="zh-CN" altLang="en-US" sz="2000">
                  <a:solidFill>
                    <a:srgbClr val="1369B2"/>
                  </a:solidFill>
                  <a:latin typeface="微软雅黑" panose="020B0503020204020204" pitchFamily="34" charset="-122"/>
                  <a:ea typeface="微软雅黑" panose="020B0503020204020204" pitchFamily="34" charset="-122"/>
                  <a:sym typeface="+mn-lt"/>
                </a:rPr>
                <a:t>文档</a:t>
              </a:r>
              <a:endParaRPr lang="en-US" altLang="zh-CN" sz="2000" dirty="0">
                <a:solidFill>
                  <a:srgbClr val="1369B2"/>
                </a:solidFill>
                <a:latin typeface="微软雅黑" panose="020B0503020204020204" pitchFamily="34" charset="-122"/>
                <a:ea typeface="微软雅黑" panose="020B0503020204020204" pitchFamily="34" charset="-122"/>
                <a:sym typeface="+mn-lt"/>
              </a:endParaRPr>
            </a:p>
          </p:txBody>
        </p:sp>
        <p:sp>
          <p:nvSpPr>
            <p:cNvPr id="44" name="平行四边形 43"/>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pPr>
              <a:buClrTx/>
              <a:buSzTx/>
              <a:buFontTx/>
            </a:pP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初识</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对象</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5</a:t>
            </a:r>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485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了解</a:t>
            </a:r>
            <a:r>
              <a:rPr lang="zh-CN" altLang="en-US" sz="2000" smtClean="0">
                <a:solidFill>
                  <a:srgbClr val="1369B2"/>
                </a:solidFill>
                <a:latin typeface="微软雅黑" panose="020B0503020204020204" pitchFamily="34" charset="-122"/>
                <a:ea typeface="微软雅黑" panose="020B0503020204020204" pitchFamily="34" charset="-122"/>
                <a:cs typeface="+mn-ea"/>
              </a:rPr>
              <a:t>什么是对象</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595959"/>
                </a:solidFill>
                <a:latin typeface="微软雅黑" panose="020B0503020204020204" pitchFamily="34" charset="-122"/>
                <a:ea typeface="微软雅黑" panose="020B0503020204020204" pitchFamily="34" charset="-122"/>
                <a:cs typeface="+mn-ea"/>
              </a:rPr>
              <a:t>阐</a:t>
            </a:r>
            <a:r>
              <a:rPr lang="zh-CN" altLang="zh-CN" sz="2000" smtClean="0">
                <a:solidFill>
                  <a:srgbClr val="595959"/>
                </a:solidFill>
                <a:latin typeface="微软雅黑" panose="020B0503020204020204" pitchFamily="34" charset="-122"/>
                <a:ea typeface="微软雅黑" panose="020B0503020204020204" pitchFamily="34" charset="-122"/>
                <a:cs typeface="+mn-ea"/>
              </a:rPr>
              <a:t>述</a:t>
            </a:r>
            <a:r>
              <a:rPr lang="en-US" altLang="zh-CN" sz="2000" smtClean="0">
                <a:solidFill>
                  <a:srgbClr val="1369B2"/>
                </a:solidFill>
                <a:latin typeface="微软雅黑" panose="020B0503020204020204" pitchFamily="34" charset="-122"/>
                <a:ea typeface="微软雅黑" panose="020B0503020204020204" pitchFamily="34" charset="-122"/>
                <a:cs typeface="+mn-ea"/>
              </a:rPr>
              <a:t>JavaScript</a:t>
            </a:r>
            <a:r>
              <a:rPr lang="zh-CN" altLang="en-US" sz="2000" smtClean="0">
                <a:solidFill>
                  <a:srgbClr val="1369B2"/>
                </a:solidFill>
                <a:latin typeface="微软雅黑" panose="020B0503020204020204" pitchFamily="34" charset="-122"/>
                <a:ea typeface="微软雅黑" panose="020B0503020204020204" pitchFamily="34" charset="-122"/>
                <a:cs typeface="+mn-ea"/>
              </a:rPr>
              <a:t>中对象的概念</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识对象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5" y="1985402"/>
            <a:ext cx="6740375" cy="3676640"/>
            <a:chOff x="4899445" y="1985402"/>
            <a:chExt cx="6740375" cy="3676640"/>
          </a:xfrm>
        </p:grpSpPr>
        <p:sp>
          <p:nvSpPr>
            <p:cNvPr id="9" name="圆角矩形标注 11"/>
            <p:cNvSpPr/>
            <p:nvPr/>
          </p:nvSpPr>
          <p:spPr bwMode="auto">
            <a:xfrm rot="5400000">
              <a:off x="6431313" y="453534"/>
              <a:ext cx="3676640"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p:cNvSpPr>
              <a:spLocks noChangeArrowheads="1"/>
            </p:cNvSpPr>
            <p:nvPr/>
          </p:nvSpPr>
          <p:spPr bwMode="auto">
            <a:xfrm>
              <a:off x="5393780" y="2122031"/>
              <a:ext cx="6102025"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现实生活中，通过</a:t>
              </a:r>
              <a:r>
                <a:rPr lang="zh-CN" altLang="zh-CN" sz="2000" dirty="0">
                  <a:solidFill>
                    <a:srgbClr val="1369B2"/>
                  </a:solidFill>
                  <a:latin typeface="微软雅黑" panose="020B0503020204020204" pitchFamily="34" charset="-122"/>
                  <a:ea typeface="微软雅黑" panose="020B0503020204020204" pitchFamily="34" charset="-122"/>
                  <a:cs typeface="+mn-ea"/>
                </a:rPr>
                <a:t>描述对象的特征可以区分不同的对象</a:t>
              </a:r>
              <a:r>
                <a:rPr lang="zh-CN" altLang="zh-CN" sz="2000" dirty="0">
                  <a:solidFill>
                    <a:srgbClr val="595959"/>
                  </a:solidFill>
                  <a:latin typeface="微软雅黑" panose="020B0503020204020204" pitchFamily="34" charset="-122"/>
                  <a:ea typeface="微软雅黑" panose="020B0503020204020204" pitchFamily="34" charset="-122"/>
                </a:rPr>
                <a:t>，例如，通过描述员工的</a:t>
              </a:r>
              <a:r>
                <a:rPr lang="zh-CN" altLang="zh-CN" sz="2000" dirty="0">
                  <a:solidFill>
                    <a:srgbClr val="1369B2"/>
                  </a:solidFill>
                  <a:latin typeface="微软雅黑" panose="020B0503020204020204" pitchFamily="34" charset="-122"/>
                  <a:ea typeface="微软雅黑" panose="020B0503020204020204" pitchFamily="34" charset="-122"/>
                  <a:cs typeface="+mn-ea"/>
                </a:rPr>
                <a:t>姓名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年龄</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身高</a:t>
              </a:r>
              <a:r>
                <a:rPr lang="zh-CN" altLang="zh-CN" sz="2000" dirty="0">
                  <a:solidFill>
                    <a:srgbClr val="595959"/>
                  </a:solidFill>
                  <a:latin typeface="微软雅黑" panose="020B0503020204020204" pitchFamily="34" charset="-122"/>
                  <a:ea typeface="微软雅黑" panose="020B0503020204020204" pitchFamily="34" charset="-122"/>
                </a:rPr>
                <a:t>等特征来</a:t>
              </a:r>
              <a:r>
                <a:rPr lang="zh-CN" altLang="zh-CN" sz="2000" dirty="0">
                  <a:solidFill>
                    <a:srgbClr val="1369B2"/>
                  </a:solidFill>
                  <a:latin typeface="微软雅黑" panose="020B0503020204020204" pitchFamily="34" charset="-122"/>
                  <a:ea typeface="微软雅黑" panose="020B0503020204020204" pitchFamily="34" charset="-122"/>
                  <a:cs typeface="+mn-ea"/>
                </a:rPr>
                <a:t>区分不同的员工对象</a:t>
              </a:r>
              <a:r>
                <a:rPr lang="zh-CN" altLang="zh-CN" sz="2000" dirty="0">
                  <a:solidFill>
                    <a:srgbClr val="595959"/>
                  </a:solidFill>
                  <a:latin typeface="微软雅黑" panose="020B0503020204020204" pitchFamily="34" charset="-122"/>
                  <a:ea typeface="微软雅黑" panose="020B0503020204020204" pitchFamily="34" charset="-122"/>
                </a:rPr>
                <a:t>。在学习对象前，如果需要在程序中描述员工的特征，可能需要</a:t>
              </a:r>
              <a:r>
                <a:rPr lang="zh-CN" altLang="zh-CN" sz="2000" dirty="0">
                  <a:solidFill>
                    <a:srgbClr val="1369B2"/>
                  </a:solidFill>
                  <a:latin typeface="微软雅黑" panose="020B0503020204020204" pitchFamily="34" charset="-122"/>
                  <a:ea typeface="微软雅黑" panose="020B0503020204020204" pitchFamily="34" charset="-122"/>
                  <a:cs typeface="+mn-ea"/>
                </a:rPr>
                <a:t>声明多个变量</a:t>
              </a:r>
              <a:r>
                <a:rPr lang="zh-CN" altLang="zh-CN" sz="2000" dirty="0">
                  <a:solidFill>
                    <a:srgbClr val="595959"/>
                  </a:solidFill>
                  <a:latin typeface="微软雅黑" panose="020B0503020204020204" pitchFamily="34" charset="-122"/>
                  <a:ea typeface="微软雅黑" panose="020B0503020204020204" pitchFamily="34" charset="-122"/>
                </a:rPr>
                <a:t>，例如，声明变量</a:t>
              </a:r>
              <a:r>
                <a:rPr lang="en-US" altLang="zh-CN" sz="2000" dirty="0">
                  <a:solidFill>
                    <a:srgbClr val="595959"/>
                  </a:solidFill>
                  <a:latin typeface="微软雅黑" panose="020B0503020204020204" pitchFamily="34" charset="-122"/>
                  <a:ea typeface="微软雅黑" panose="020B0503020204020204" pitchFamily="34" charset="-122"/>
                </a:rPr>
                <a:t>name</a:t>
              </a:r>
              <a:r>
                <a:rPr lang="zh-CN" altLang="zh-CN" sz="2000" dirty="0">
                  <a:solidFill>
                    <a:srgbClr val="595959"/>
                  </a:solidFill>
                  <a:latin typeface="微软雅黑" panose="020B0503020204020204" pitchFamily="34" charset="-122"/>
                  <a:ea typeface="微软雅黑" panose="020B0503020204020204" pitchFamily="34" charset="-122"/>
                </a:rPr>
                <a:t>描述员工的姓名、声明变量</a:t>
              </a:r>
              <a:r>
                <a:rPr lang="en-US" altLang="zh-CN" sz="2000" dirty="0">
                  <a:solidFill>
                    <a:srgbClr val="595959"/>
                  </a:solidFill>
                  <a:latin typeface="微软雅黑" panose="020B0503020204020204" pitchFamily="34" charset="-122"/>
                  <a:ea typeface="微软雅黑" panose="020B0503020204020204" pitchFamily="34" charset="-122"/>
                </a:rPr>
                <a:t>age</a:t>
              </a:r>
              <a:r>
                <a:rPr lang="zh-CN" altLang="zh-CN" sz="2000" dirty="0">
                  <a:solidFill>
                    <a:srgbClr val="595959"/>
                  </a:solidFill>
                  <a:latin typeface="微软雅黑" panose="020B0503020204020204" pitchFamily="34" charset="-122"/>
                  <a:ea typeface="微软雅黑" panose="020B0503020204020204" pitchFamily="34" charset="-122"/>
                </a:rPr>
                <a:t>描述员工的年龄、声明变量</a:t>
              </a:r>
              <a:r>
                <a:rPr lang="en-US" altLang="zh-CN" sz="2000" dirty="0">
                  <a:solidFill>
                    <a:srgbClr val="595959"/>
                  </a:solidFill>
                  <a:latin typeface="微软雅黑" panose="020B0503020204020204" pitchFamily="34" charset="-122"/>
                  <a:ea typeface="微软雅黑" panose="020B0503020204020204" pitchFamily="34" charset="-122"/>
                </a:rPr>
                <a:t>height</a:t>
              </a:r>
              <a:r>
                <a:rPr lang="zh-CN" altLang="zh-CN" sz="2000" dirty="0">
                  <a:solidFill>
                    <a:srgbClr val="595959"/>
                  </a:solidFill>
                  <a:latin typeface="微软雅黑" panose="020B0503020204020204" pitchFamily="34" charset="-122"/>
                  <a:ea typeface="微软雅黑" panose="020B0503020204020204" pitchFamily="34" charset="-122"/>
                </a:rPr>
                <a:t>描述员工的身高等。</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识对象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133650"/>
            <a:ext cx="6768752" cy="2880320"/>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799062" y="2358673"/>
            <a:ext cx="6336704" cy="2400657"/>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当</a:t>
            </a:r>
            <a:r>
              <a:rPr lang="zh-CN" altLang="zh-CN" sz="2000">
                <a:solidFill>
                  <a:srgbClr val="595959"/>
                </a:solidFill>
                <a:latin typeface="微软雅黑" panose="020B0503020204020204" pitchFamily="34" charset="-122"/>
                <a:ea typeface="微软雅黑" panose="020B0503020204020204" pitchFamily="34" charset="-122"/>
                <a:cs typeface="+mn-ea"/>
              </a:rPr>
              <a:t>需要</a:t>
            </a:r>
            <a:r>
              <a:rPr lang="zh-CN" altLang="zh-CN" sz="2000">
                <a:solidFill>
                  <a:srgbClr val="1369B2"/>
                </a:solidFill>
                <a:latin typeface="微软雅黑" panose="020B0503020204020204" pitchFamily="34" charset="-122"/>
                <a:ea typeface="微软雅黑" panose="020B0503020204020204" pitchFamily="34" charset="-122"/>
                <a:cs typeface="+mn-ea"/>
              </a:rPr>
              <a:t>描述多个员工的特征</a:t>
            </a:r>
            <a:r>
              <a:rPr lang="zh-CN" altLang="zh-CN" sz="2000">
                <a:solidFill>
                  <a:srgbClr val="595959"/>
                </a:solidFill>
                <a:latin typeface="微软雅黑" panose="020B0503020204020204" pitchFamily="34" charset="-122"/>
                <a:ea typeface="微软雅黑" panose="020B0503020204020204" pitchFamily="34" charset="-122"/>
                <a:cs typeface="+mn-ea"/>
              </a:rPr>
              <a:t>时，如果每个员工的姓名、年龄、身高等特征都通过</a:t>
            </a:r>
            <a:r>
              <a:rPr lang="zh-CN" altLang="zh-CN" sz="2000">
                <a:solidFill>
                  <a:srgbClr val="1369B2"/>
                </a:solidFill>
                <a:latin typeface="微软雅黑" panose="020B0503020204020204" pitchFamily="34" charset="-122"/>
                <a:ea typeface="微软雅黑" panose="020B0503020204020204" pitchFamily="34" charset="-122"/>
                <a:cs typeface="+mn-ea"/>
              </a:rPr>
              <a:t>声明变量</a:t>
            </a:r>
            <a:r>
              <a:rPr lang="zh-CN" altLang="zh-CN" sz="2000">
                <a:solidFill>
                  <a:srgbClr val="595959"/>
                </a:solidFill>
                <a:latin typeface="微软雅黑" panose="020B0503020204020204" pitchFamily="34" charset="-122"/>
                <a:ea typeface="微软雅黑" panose="020B0503020204020204" pitchFamily="34" charset="-122"/>
                <a:cs typeface="+mn-ea"/>
              </a:rPr>
              <a:t>来描述，会使程序</a:t>
            </a:r>
            <a:r>
              <a:rPr lang="zh-CN" altLang="zh-CN" sz="2000">
                <a:solidFill>
                  <a:srgbClr val="1369B2"/>
                </a:solidFill>
                <a:latin typeface="微软雅黑" panose="020B0503020204020204" pitchFamily="34" charset="-122"/>
                <a:ea typeface="微软雅黑" panose="020B0503020204020204" pitchFamily="34" charset="-122"/>
                <a:cs typeface="+mn-ea"/>
              </a:rPr>
              <a:t>出现大量的变量</a:t>
            </a:r>
            <a:r>
              <a:rPr lang="zh-CN" altLang="zh-CN" sz="2000">
                <a:solidFill>
                  <a:srgbClr val="595959"/>
                </a:solidFill>
                <a:latin typeface="微软雅黑" panose="020B0503020204020204" pitchFamily="34" charset="-122"/>
                <a:ea typeface="微软雅黑" panose="020B0503020204020204" pitchFamily="34" charset="-122"/>
                <a:cs typeface="+mn-ea"/>
              </a:rPr>
              <a:t>，导致</a:t>
            </a:r>
            <a:r>
              <a:rPr lang="zh-CN" altLang="zh-CN" sz="2000">
                <a:solidFill>
                  <a:srgbClr val="1369B2"/>
                </a:solidFill>
                <a:latin typeface="微软雅黑" panose="020B0503020204020204" pitchFamily="34" charset="-122"/>
                <a:ea typeface="微软雅黑" panose="020B0503020204020204" pitchFamily="34" charset="-122"/>
                <a:cs typeface="+mn-ea"/>
              </a:rPr>
              <a:t>程序代码冗余</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难以维护</a:t>
            </a:r>
            <a:r>
              <a:rPr lang="zh-CN" altLang="zh-CN" sz="2000">
                <a:solidFill>
                  <a:srgbClr val="595959"/>
                </a:solidFill>
                <a:latin typeface="微软雅黑" panose="020B0503020204020204" pitchFamily="34" charset="-122"/>
                <a:ea typeface="微软雅黑" panose="020B0503020204020204" pitchFamily="34" charset="-122"/>
                <a:cs typeface="+mn-ea"/>
              </a:rPr>
              <a:t>。因此，可以使用</a:t>
            </a:r>
            <a:r>
              <a:rPr lang="zh-CN" altLang="zh-CN" sz="2000">
                <a:solidFill>
                  <a:srgbClr val="1369B2"/>
                </a:solidFill>
                <a:latin typeface="微软雅黑" panose="020B0503020204020204" pitchFamily="34" charset="-122"/>
                <a:ea typeface="微软雅黑" panose="020B0503020204020204" pitchFamily="34" charset="-122"/>
                <a:cs typeface="+mn-ea"/>
              </a:rPr>
              <a:t>对象</a:t>
            </a:r>
            <a:r>
              <a:rPr lang="zh-CN" altLang="zh-CN" sz="2000">
                <a:solidFill>
                  <a:srgbClr val="595959"/>
                </a:solidFill>
                <a:latin typeface="微软雅黑" panose="020B0503020204020204" pitchFamily="34" charset="-122"/>
                <a:ea typeface="微软雅黑" panose="020B0503020204020204" pitchFamily="34" charset="-122"/>
                <a:cs typeface="+mn-ea"/>
              </a:rPr>
              <a:t>来描述员工的特征，将员工的多个特征保存在对象中，能够更加</a:t>
            </a:r>
            <a:r>
              <a:rPr lang="zh-CN" altLang="zh-CN" sz="2000">
                <a:solidFill>
                  <a:srgbClr val="1369B2"/>
                </a:solidFill>
                <a:latin typeface="微软雅黑" panose="020B0503020204020204" pitchFamily="34" charset="-122"/>
                <a:ea typeface="微软雅黑" panose="020B0503020204020204" pitchFamily="34" charset="-122"/>
                <a:cs typeface="+mn-ea"/>
              </a:rPr>
              <a:t>方便地管理和操作</a:t>
            </a:r>
            <a:r>
              <a:rPr lang="zh-CN" altLang="zh-CN" sz="2000">
                <a:solidFill>
                  <a:srgbClr val="595959"/>
                </a:solidFill>
                <a:latin typeface="微软雅黑" panose="020B0503020204020204" pitchFamily="34" charset="-122"/>
                <a:ea typeface="微软雅黑" panose="020B0503020204020204" pitchFamily="34" charset="-122"/>
                <a:cs typeface="+mn-ea"/>
              </a:rPr>
              <a:t>员工的特征。</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识对象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1143690" y="1557586"/>
            <a:ext cx="10136091" cy="2920030"/>
          </a:xfrm>
          <a:prstGeom prst="rect">
            <a:avLst/>
          </a:prstGeom>
          <a:noFill/>
        </p:spPr>
        <p:txBody>
          <a:bodyPr wrap="square">
            <a:spAutoFit/>
          </a:bodyPr>
          <a:lstStyle/>
          <a:p>
            <a:pPr>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对象</a:t>
            </a:r>
            <a:r>
              <a:rPr lang="zh-CN" altLang="zh-CN" sz="2000" dirty="0">
                <a:solidFill>
                  <a:srgbClr val="595959"/>
                </a:solidFill>
                <a:latin typeface="微软雅黑" panose="020B0503020204020204" pitchFamily="34" charset="-122"/>
                <a:ea typeface="微软雅黑" panose="020B0503020204020204" pitchFamily="34" charset="-122"/>
                <a:cs typeface="+mn-ea"/>
              </a:rPr>
              <a:t>是一种</a:t>
            </a:r>
            <a:r>
              <a:rPr lang="zh-CN" altLang="zh-CN" sz="2000" dirty="0">
                <a:solidFill>
                  <a:srgbClr val="1369B2"/>
                </a:solidFill>
                <a:latin typeface="微软雅黑" panose="020B0503020204020204" pitchFamily="34" charset="-122"/>
                <a:ea typeface="微软雅黑" panose="020B0503020204020204" pitchFamily="34" charset="-122"/>
                <a:cs typeface="+mn-ea"/>
              </a:rPr>
              <a:t>复杂数据类型</a:t>
            </a:r>
            <a:r>
              <a:rPr lang="zh-CN" altLang="zh-CN" sz="2000" dirty="0">
                <a:solidFill>
                  <a:srgbClr val="595959"/>
                </a:solidFill>
                <a:latin typeface="微软雅黑" panose="020B0503020204020204" pitchFamily="34" charset="-122"/>
                <a:ea typeface="微软雅黑" panose="020B0503020204020204" pitchFamily="34" charset="-122"/>
                <a:cs typeface="+mn-ea"/>
              </a:rPr>
              <a:t>，由</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组成</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50" dirty="0" smtClean="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Arial" panose="020B0604020202020204" pitchFamily="34" charset="0"/>
              <a:buChar char="•"/>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是指</a:t>
            </a:r>
            <a:r>
              <a:rPr lang="zh-CN" altLang="zh-CN" sz="2000" dirty="0">
                <a:solidFill>
                  <a:srgbClr val="1369B2"/>
                </a:solidFill>
                <a:latin typeface="微软雅黑" panose="020B0503020204020204" pitchFamily="34" charset="-122"/>
                <a:ea typeface="微软雅黑" panose="020B0503020204020204" pitchFamily="34" charset="-122"/>
                <a:cs typeface="+mn-ea"/>
              </a:rPr>
              <a:t>对象的特征</a:t>
            </a:r>
            <a:r>
              <a:rPr lang="zh-CN" altLang="zh-CN" sz="2000" dirty="0">
                <a:solidFill>
                  <a:srgbClr val="595959"/>
                </a:solidFill>
                <a:latin typeface="微软雅黑" panose="020B0503020204020204" pitchFamily="34" charset="-122"/>
                <a:ea typeface="微软雅黑" panose="020B0503020204020204" pitchFamily="34" charset="-122"/>
                <a:cs typeface="+mn-ea"/>
              </a:rPr>
              <a:t>，如学生的姓名、性别、年龄等</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marL="342900" indent="-342900">
              <a:lnSpc>
                <a:spcPct val="150000"/>
              </a:lnSpc>
              <a:buFont typeface="Arial" panose="020B0604020202020204" pitchFamily="34" charset="0"/>
              <a:buChar char="•"/>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是指</a:t>
            </a:r>
            <a:r>
              <a:rPr lang="zh-CN" altLang="zh-CN" sz="2000" dirty="0">
                <a:solidFill>
                  <a:srgbClr val="1369B2"/>
                </a:solidFill>
                <a:latin typeface="微软雅黑" panose="020B0503020204020204" pitchFamily="34" charset="-122"/>
                <a:ea typeface="微软雅黑" panose="020B0503020204020204" pitchFamily="34" charset="-122"/>
                <a:cs typeface="+mn-ea"/>
              </a:rPr>
              <a:t>对象的行为</a:t>
            </a:r>
            <a:r>
              <a:rPr lang="zh-CN" altLang="zh-CN" sz="2000" dirty="0">
                <a:solidFill>
                  <a:srgbClr val="595959"/>
                </a:solidFill>
                <a:latin typeface="微软雅黑" panose="020B0503020204020204" pitchFamily="34" charset="-122"/>
                <a:ea typeface="微软雅黑" panose="020B0503020204020204" pitchFamily="34" charset="-122"/>
                <a:cs typeface="+mn-ea"/>
              </a:rPr>
              <a:t>，如学生唱歌、跳舞、写作业等</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05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对象</a:t>
            </a:r>
            <a:r>
              <a:rPr lang="zh-CN" altLang="zh-CN" sz="2000" dirty="0">
                <a:solidFill>
                  <a:srgbClr val="595959"/>
                </a:solidFill>
                <a:latin typeface="微软雅黑" panose="020B0503020204020204" pitchFamily="34" charset="-122"/>
                <a:ea typeface="微软雅黑" panose="020B0503020204020204" pitchFamily="34" charset="-122"/>
                <a:cs typeface="+mn-ea"/>
              </a:rPr>
              <a:t>的属性和方法统称为</a:t>
            </a:r>
            <a:r>
              <a:rPr lang="zh-CN" altLang="zh-CN" sz="2000" dirty="0">
                <a:solidFill>
                  <a:srgbClr val="1369B2"/>
                </a:solidFill>
                <a:latin typeface="微软雅黑" panose="020B0503020204020204" pitchFamily="34" charset="-122"/>
                <a:ea typeface="微软雅黑" panose="020B0503020204020204" pitchFamily="34" charset="-122"/>
                <a:cs typeface="+mn-ea"/>
              </a:rPr>
              <a:t>对象的成员</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通过</a:t>
            </a:r>
            <a:r>
              <a:rPr lang="zh-CN" altLang="zh-CN" sz="2000" dirty="0">
                <a:solidFill>
                  <a:srgbClr val="595959"/>
                </a:solidFill>
                <a:latin typeface="微软雅黑" panose="020B0503020204020204" pitchFamily="34" charset="-122"/>
                <a:ea typeface="微软雅黑" panose="020B0503020204020204" pitchFamily="34" charset="-122"/>
                <a:cs typeface="+mn-ea"/>
              </a:rPr>
              <a:t>对象可以更直观地描述一个实体的</a:t>
            </a:r>
            <a:r>
              <a:rPr lang="zh-CN" altLang="zh-CN" sz="2000" dirty="0">
                <a:solidFill>
                  <a:srgbClr val="1369B2"/>
                </a:solidFill>
                <a:latin typeface="微软雅黑" panose="020B0503020204020204" pitchFamily="34" charset="-122"/>
                <a:ea typeface="微软雅黑" panose="020B0503020204020204" pitchFamily="34" charset="-122"/>
                <a:cs typeface="+mn-ea"/>
              </a:rPr>
              <a:t>特征</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行为</a:t>
            </a:r>
            <a:r>
              <a:rPr lang="zh-CN" altLang="zh-CN" sz="2000" dirty="0">
                <a:solidFill>
                  <a:srgbClr val="595959"/>
                </a:solidFill>
                <a:latin typeface="微软雅黑" panose="020B0503020204020204" pitchFamily="34" charset="-122"/>
                <a:ea typeface="微软雅黑" panose="020B0503020204020204" pitchFamily="34" charset="-122"/>
                <a:cs typeface="+mn-ea"/>
              </a:rPr>
              <a:t>，并提供</a:t>
            </a:r>
            <a:r>
              <a:rPr lang="zh-CN" altLang="zh-CN" sz="2000" dirty="0">
                <a:solidFill>
                  <a:srgbClr val="1369B2"/>
                </a:solidFill>
                <a:latin typeface="微软雅黑" panose="020B0503020204020204" pitchFamily="34" charset="-122"/>
                <a:ea typeface="微软雅黑" panose="020B0503020204020204" pitchFamily="34" charset="-122"/>
                <a:cs typeface="+mn-ea"/>
              </a:rPr>
              <a:t>访问和操作方法</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初</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识对象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57498" y="4646379"/>
            <a:ext cx="10050276"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可以看成保存在</a:t>
            </a:r>
            <a:r>
              <a:rPr lang="zh-CN" altLang="zh-CN" sz="2000" dirty="0">
                <a:solidFill>
                  <a:srgbClr val="1369B2"/>
                </a:solidFill>
                <a:latin typeface="微软雅黑" panose="020B0503020204020204" pitchFamily="34" charset="-122"/>
                <a:ea typeface="微软雅黑" panose="020B0503020204020204" pitchFamily="34" charset="-122"/>
                <a:cs typeface="+mn-ea"/>
              </a:rPr>
              <a:t>对象中的变量</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zh-CN" altLang="zh-CN" sz="2000" dirty="0">
                <a:solidFill>
                  <a:srgbClr val="1369B2"/>
                </a:solidFill>
                <a:latin typeface="微软雅黑" panose="020B0503020204020204" pitchFamily="34" charset="-122"/>
                <a:ea typeface="微软雅黑" panose="020B0503020204020204" pitchFamily="34" charset="-122"/>
                <a:cs typeface="+mn-ea"/>
              </a:rPr>
              <a:t>“对象</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属性名”</a:t>
            </a:r>
            <a:r>
              <a:rPr lang="zh-CN" altLang="zh-CN" sz="2000" dirty="0">
                <a:solidFill>
                  <a:srgbClr val="595959"/>
                </a:solidFill>
                <a:latin typeface="微软雅黑" panose="020B0503020204020204" pitchFamily="34" charset="-122"/>
                <a:ea typeface="微软雅黑" panose="020B0503020204020204" pitchFamily="34" charset="-122"/>
                <a:cs typeface="+mn-ea"/>
              </a:rPr>
              <a:t>进行访问；</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可以看成保存在</a:t>
            </a:r>
            <a:r>
              <a:rPr lang="zh-CN" altLang="zh-CN" sz="2000" dirty="0">
                <a:solidFill>
                  <a:srgbClr val="1369B2"/>
                </a:solidFill>
                <a:latin typeface="微软雅黑" panose="020B0503020204020204" pitchFamily="34" charset="-122"/>
                <a:ea typeface="微软雅黑" panose="020B0503020204020204" pitchFamily="34" charset="-122"/>
                <a:cs typeface="+mn-ea"/>
              </a:rPr>
              <a:t>对象中的函数</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zh-CN" altLang="zh-CN" sz="2000" dirty="0">
                <a:solidFill>
                  <a:srgbClr val="1369B2"/>
                </a:solidFill>
                <a:latin typeface="微软雅黑" panose="020B0503020204020204" pitchFamily="34" charset="-122"/>
                <a:ea typeface="微软雅黑" panose="020B0503020204020204" pitchFamily="34" charset="-122"/>
                <a:cs typeface="+mn-ea"/>
              </a:rPr>
              <a:t>“对象</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方法名</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进行访问。</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pPr algn="l">
              <a:buClrTx/>
              <a:buSzTx/>
              <a:buFontTx/>
            </a:pP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对象的</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创建</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a:solidFill>
                  <a:srgbClr val="FAFAFA"/>
                </a:solidFill>
                <a:latin typeface="微软雅黑" panose="020B0503020204020204" pitchFamily="34" charset="-122"/>
                <a:ea typeface="微软雅黑" panose="020B0503020204020204" pitchFamily="34" charset="-122"/>
                <a:cs typeface="+mn-ea"/>
                <a:sym typeface="+mn-lt"/>
              </a:rPr>
              <a:t>5</a:t>
            </a:r>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485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对象的创建方式</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zh-CN" sz="2000">
                <a:solidFill>
                  <a:srgbClr val="595959"/>
                </a:solidFill>
                <a:latin typeface="微软雅黑" panose="020B0503020204020204" pitchFamily="34" charset="-122"/>
                <a:ea typeface="微软雅黑" panose="020B0503020204020204" pitchFamily="34" charset="-122"/>
                <a:cs typeface="+mn-ea"/>
              </a:rPr>
              <a:t>灵活</a:t>
            </a:r>
            <a:r>
              <a:rPr lang="zh-CN" altLang="zh-CN" sz="2000" smtClean="0">
                <a:solidFill>
                  <a:srgbClr val="595959"/>
                </a:solidFill>
                <a:latin typeface="微软雅黑" panose="020B0503020204020204" pitchFamily="34" charset="-122"/>
                <a:ea typeface="微软雅黑" panose="020B0503020204020204" pitchFamily="34" charset="-122"/>
                <a:cs typeface="+mn-ea"/>
              </a:rPr>
              <a:t>应用</a:t>
            </a:r>
            <a:r>
              <a:rPr lang="zh-CN" altLang="en-US" sz="2000">
                <a:solidFill>
                  <a:srgbClr val="1369B2"/>
                </a:solidFill>
                <a:latin typeface="微软雅黑" panose="020B0503020204020204" pitchFamily="34" charset="-122"/>
                <a:ea typeface="微软雅黑" panose="020B0503020204020204" pitchFamily="34" charset="-122"/>
                <a:cs typeface="+mn-ea"/>
              </a:rPr>
              <a:t>字面量</a:t>
            </a:r>
            <a:r>
              <a:rPr lang="zh-CN" altLang="en-US" sz="2000" smtClean="0">
                <a:solidFill>
                  <a:srgbClr val="595959"/>
                </a:solidFill>
                <a:latin typeface="微软雅黑" panose="020B0503020204020204" pitchFamily="34" charset="-122"/>
                <a:ea typeface="微软雅黑" panose="020B0503020204020204" pitchFamily="34" charset="-122"/>
                <a:cs typeface="+mn-ea"/>
              </a:rPr>
              <a:t>的</a:t>
            </a:r>
            <a:r>
              <a:rPr lang="zh-CN" altLang="zh-CN" sz="2000" smtClean="0">
                <a:solidFill>
                  <a:srgbClr val="595959"/>
                </a:solidFill>
                <a:latin typeface="微软雅黑" panose="020B0503020204020204" pitchFamily="34" charset="-122"/>
                <a:ea typeface="微软雅黑" panose="020B0503020204020204" pitchFamily="34" charset="-122"/>
                <a:cs typeface="+mn-ea"/>
              </a:rPr>
              <a:t>方式</a:t>
            </a:r>
            <a:r>
              <a:rPr lang="zh-CN" altLang="zh-CN" sz="2000">
                <a:solidFill>
                  <a:srgbClr val="595959"/>
                </a:solidFill>
                <a:latin typeface="微软雅黑" panose="020B0503020204020204" pitchFamily="34" charset="-122"/>
                <a:ea typeface="微软雅黑" panose="020B0503020204020204" pitchFamily="34" charset="-122"/>
                <a:cs typeface="+mn-ea"/>
              </a:rPr>
              <a:t>创建对象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82638" y="1414461"/>
            <a:ext cx="10297143"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利用</a:t>
            </a:r>
            <a:r>
              <a:rPr lang="zh-CN" altLang="zh-CN" sz="2000" dirty="0">
                <a:solidFill>
                  <a:srgbClr val="1369B2"/>
                </a:solidFill>
                <a:latin typeface="微软雅黑" panose="020B0503020204020204" pitchFamily="34" charset="-122"/>
                <a:ea typeface="微软雅黑" panose="020B0503020204020204" pitchFamily="34" charset="-122"/>
                <a:cs typeface="+mn-ea"/>
              </a:rPr>
              <a:t>字面量</a:t>
            </a:r>
            <a:r>
              <a:rPr lang="zh-CN" altLang="zh-CN" sz="2000" dirty="0">
                <a:solidFill>
                  <a:srgbClr val="595959"/>
                </a:solidFill>
                <a:latin typeface="微软雅黑" panose="020B0503020204020204" pitchFamily="34" charset="-122"/>
                <a:ea typeface="微软雅黑" panose="020B0503020204020204" pitchFamily="34" charset="-122"/>
                <a:cs typeface="+mn-ea"/>
              </a:rPr>
              <a:t>创建对象</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就是</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指</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用</a:t>
            </a:r>
            <a:r>
              <a:rPr lang="zh-CN" altLang="zh-CN" sz="2000" dirty="0">
                <a:solidFill>
                  <a:srgbClr val="595959"/>
                </a:solidFill>
                <a:latin typeface="微软雅黑" panose="020B0503020204020204" pitchFamily="34" charset="-122"/>
                <a:ea typeface="微软雅黑" panose="020B0503020204020204" pitchFamily="34" charset="-122"/>
                <a:cs typeface="+mn-ea"/>
              </a:rPr>
              <a:t>大括号</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来</a:t>
            </a:r>
            <a:r>
              <a:rPr lang="zh-CN" altLang="zh-CN" sz="2000" dirty="0">
                <a:solidFill>
                  <a:srgbClr val="1369B2"/>
                </a:solidFill>
                <a:latin typeface="微软雅黑" panose="020B0503020204020204" pitchFamily="34" charset="-122"/>
                <a:ea typeface="微软雅黑" panose="020B0503020204020204" pitchFamily="34" charset="-122"/>
                <a:cs typeface="+mn-ea"/>
              </a:rPr>
              <a:t>标注对象成员</a:t>
            </a:r>
            <a:r>
              <a:rPr lang="zh-CN" altLang="zh-CN" sz="2000" dirty="0">
                <a:solidFill>
                  <a:srgbClr val="595959"/>
                </a:solidFill>
                <a:latin typeface="微软雅黑" panose="020B0503020204020204" pitchFamily="34" charset="-122"/>
                <a:ea typeface="微软雅黑" panose="020B0503020204020204" pitchFamily="34" charset="-122"/>
                <a:cs typeface="+mn-ea"/>
              </a:rPr>
              <a:t>，每个对象成员通过</a:t>
            </a:r>
            <a:r>
              <a:rPr lang="zh-CN" altLang="zh-CN" sz="2000" dirty="0">
                <a:solidFill>
                  <a:srgbClr val="1369B2"/>
                </a:solidFill>
                <a:latin typeface="微软雅黑" panose="020B0503020204020204" pitchFamily="34" charset="-122"/>
                <a:ea typeface="微软雅黑" panose="020B0503020204020204" pitchFamily="34" charset="-122"/>
                <a:cs typeface="+mn-ea"/>
              </a:rPr>
              <a:t>键值对</a:t>
            </a:r>
            <a:r>
              <a:rPr lang="zh-CN" altLang="zh-CN" sz="2000" dirty="0">
                <a:solidFill>
                  <a:srgbClr val="595959"/>
                </a:solidFill>
                <a:latin typeface="微软雅黑" panose="020B0503020204020204" pitchFamily="34" charset="-122"/>
                <a:ea typeface="微软雅黑" panose="020B0503020204020204" pitchFamily="34" charset="-122"/>
                <a:cs typeface="+mn-ea"/>
              </a:rPr>
              <a:t>的形式保存，即</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key:value</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的形式。对象字面量的语法格式如下。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809598" y="2964981"/>
            <a:ext cx="8433600" cy="499624"/>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key1: value1, key2: value2, …}</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996628" y="3968689"/>
            <a:ext cx="10283153" cy="1477328"/>
          </a:xfrm>
          <a:prstGeom prst="rect">
            <a:avLst/>
          </a:prstGeom>
        </p:spPr>
        <p:txBody>
          <a:bodyPr wrap="square">
            <a:spAutoFit/>
          </a:body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上述语法格式中，</a:t>
            </a:r>
            <a:r>
              <a:rPr lang="en-US" altLang="zh-CN" sz="2000" dirty="0">
                <a:solidFill>
                  <a:srgbClr val="1369B2"/>
                </a:solidFill>
                <a:latin typeface="微软雅黑" panose="020B0503020204020204" pitchFamily="34" charset="-122"/>
                <a:ea typeface="微软雅黑" panose="020B0503020204020204" pitchFamily="34" charset="-122"/>
                <a:cs typeface="+mn-ea"/>
              </a:rPr>
              <a:t>key1</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key2</a:t>
            </a:r>
            <a:r>
              <a:rPr lang="zh-CN" altLang="zh-CN" sz="2000" dirty="0">
                <a:solidFill>
                  <a:srgbClr val="595959"/>
                </a:solidFill>
                <a:latin typeface="微软雅黑" panose="020B0503020204020204" pitchFamily="34" charset="-122"/>
                <a:ea typeface="微软雅黑" panose="020B0503020204020204" pitchFamily="34" charset="-122"/>
                <a:cs typeface="+mn-ea"/>
              </a:rPr>
              <a:t>表示对象成员的</a:t>
            </a:r>
            <a:r>
              <a:rPr lang="zh-CN" altLang="zh-CN" sz="2000" dirty="0">
                <a:solidFill>
                  <a:srgbClr val="1369B2"/>
                </a:solidFill>
                <a:latin typeface="微软雅黑" panose="020B0503020204020204" pitchFamily="34" charset="-122"/>
                <a:ea typeface="微软雅黑" panose="020B0503020204020204" pitchFamily="34" charset="-122"/>
                <a:cs typeface="+mn-ea"/>
              </a:rPr>
              <a:t>名称</a:t>
            </a:r>
            <a:r>
              <a:rPr lang="zh-CN" altLang="zh-CN" sz="2000" dirty="0">
                <a:solidFill>
                  <a:srgbClr val="595959"/>
                </a:solidFill>
                <a:latin typeface="微软雅黑" panose="020B0503020204020204" pitchFamily="34" charset="-122"/>
                <a:ea typeface="微软雅黑" panose="020B0503020204020204" pitchFamily="34" charset="-122"/>
                <a:cs typeface="+mn-ea"/>
              </a:rPr>
              <a:t>，即</a:t>
            </a:r>
            <a:r>
              <a:rPr lang="zh-CN" altLang="zh-CN" sz="2000" dirty="0">
                <a:solidFill>
                  <a:srgbClr val="1369B2"/>
                </a:solidFill>
                <a:latin typeface="微软雅黑" panose="020B0503020204020204" pitchFamily="34" charset="-122"/>
                <a:ea typeface="微软雅黑" panose="020B0503020204020204" pitchFamily="34" charset="-122"/>
                <a:cs typeface="+mn-ea"/>
              </a:rPr>
              <a:t>属性名</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方法名</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value1</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value2</a:t>
            </a:r>
            <a:r>
              <a:rPr lang="zh-CN" altLang="zh-CN" sz="2000" dirty="0">
                <a:solidFill>
                  <a:srgbClr val="595959"/>
                </a:solidFill>
                <a:latin typeface="微软雅黑" panose="020B0503020204020204" pitchFamily="34" charset="-122"/>
                <a:ea typeface="微软雅黑" panose="020B0503020204020204" pitchFamily="34" charset="-122"/>
                <a:cs typeface="+mn-ea"/>
              </a:rPr>
              <a:t>表示对象成员的</a:t>
            </a:r>
            <a:r>
              <a:rPr lang="zh-CN" altLang="zh-CN" sz="2000" dirty="0">
                <a:solidFill>
                  <a:srgbClr val="1369B2"/>
                </a:solidFill>
                <a:latin typeface="微软雅黑" panose="020B0503020204020204" pitchFamily="34" charset="-122"/>
                <a:ea typeface="微软雅黑" panose="020B0503020204020204" pitchFamily="34" charset="-122"/>
                <a:cs typeface="+mn-ea"/>
              </a:rPr>
              <a:t>值</a:t>
            </a:r>
            <a:r>
              <a:rPr lang="zh-CN" altLang="zh-CN" sz="2000" dirty="0">
                <a:solidFill>
                  <a:srgbClr val="595959"/>
                </a:solidFill>
                <a:latin typeface="微软雅黑" panose="020B0503020204020204" pitchFamily="34" charset="-122"/>
                <a:ea typeface="微软雅黑" panose="020B0503020204020204" pitchFamily="34" charset="-122"/>
                <a:cs typeface="+mn-ea"/>
              </a:rPr>
              <a:t>，即</a:t>
            </a:r>
            <a:r>
              <a:rPr lang="zh-CN" altLang="zh-CN" sz="2000" dirty="0">
                <a:solidFill>
                  <a:srgbClr val="1369B2"/>
                </a:solidFill>
                <a:latin typeface="微软雅黑" panose="020B0503020204020204" pitchFamily="34" charset="-122"/>
                <a:ea typeface="微软雅黑" panose="020B0503020204020204" pitchFamily="34" charset="-122"/>
                <a:cs typeface="+mn-ea"/>
              </a:rPr>
              <a:t>属性名对应的值</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方法名对应的值</a:t>
            </a:r>
            <a:r>
              <a:rPr lang="zh-CN" altLang="zh-CN" sz="2000" dirty="0">
                <a:solidFill>
                  <a:srgbClr val="595959"/>
                </a:solidFill>
                <a:latin typeface="微软雅黑" panose="020B0503020204020204" pitchFamily="34" charset="-122"/>
                <a:ea typeface="微软雅黑" panose="020B0503020204020204" pitchFamily="34" charset="-122"/>
                <a:cs typeface="+mn-ea"/>
              </a:rPr>
              <a:t>。多个对象成员之间使用逗号</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隔开。</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7" y="1985403"/>
            <a:ext cx="6236319" cy="1876439"/>
            <a:chOff x="4899446" y="1985402"/>
            <a:chExt cx="6740375" cy="3417567"/>
          </a:xfrm>
        </p:grpSpPr>
        <p:sp>
          <p:nvSpPr>
            <p:cNvPr id="9" name="圆角矩形标注 11"/>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p:cNvSpPr>
              <a:spLocks noChangeArrowheads="1"/>
            </p:cNvSpPr>
            <p:nvPr/>
          </p:nvSpPr>
          <p:spPr bwMode="auto">
            <a:xfrm>
              <a:off x="5257916" y="2648850"/>
              <a:ext cx="5917531" cy="1849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需要</a:t>
              </a:r>
              <a:r>
                <a:rPr lang="zh-CN" altLang="zh-CN" sz="2000">
                  <a:solidFill>
                    <a:srgbClr val="595959"/>
                  </a:solidFill>
                  <a:latin typeface="微软雅黑" panose="020B0503020204020204" pitchFamily="34" charset="-122"/>
                  <a:ea typeface="微软雅黑" panose="020B0503020204020204" pitchFamily="34" charset="-122"/>
                </a:rPr>
                <a:t>说明的是，当</a:t>
              </a:r>
              <a:r>
                <a:rPr lang="zh-CN" altLang="zh-CN" sz="2000">
                  <a:solidFill>
                    <a:srgbClr val="1369B2"/>
                  </a:solidFill>
                  <a:latin typeface="微软雅黑" panose="020B0503020204020204" pitchFamily="34" charset="-122"/>
                  <a:ea typeface="微软雅黑" panose="020B0503020204020204" pitchFamily="34" charset="-122"/>
                  <a:cs typeface="+mn-ea"/>
                </a:rPr>
                <a:t>对象中没有成员</a:t>
              </a:r>
              <a:r>
                <a:rPr lang="zh-CN" altLang="zh-CN" sz="2000">
                  <a:solidFill>
                    <a:srgbClr val="595959"/>
                  </a:solidFill>
                  <a:latin typeface="微软雅黑" panose="020B0503020204020204" pitchFamily="34" charset="-122"/>
                  <a:ea typeface="微软雅黑" panose="020B0503020204020204" pitchFamily="34" charset="-122"/>
                </a:rPr>
                <a:t>时，</a:t>
              </a:r>
              <a:r>
                <a:rPr lang="zh-CN" altLang="zh-CN" sz="2000">
                  <a:solidFill>
                    <a:srgbClr val="1369B2"/>
                  </a:solidFill>
                  <a:latin typeface="微软雅黑" panose="020B0503020204020204" pitchFamily="34" charset="-122"/>
                  <a:ea typeface="微软雅黑" panose="020B0503020204020204" pitchFamily="34" charset="-122"/>
                  <a:cs typeface="+mn-ea"/>
                </a:rPr>
                <a:t>键值对</a:t>
              </a:r>
              <a:r>
                <a:rPr lang="zh-CN" altLang="zh-CN" sz="2000">
                  <a:solidFill>
                    <a:srgbClr val="595959"/>
                  </a:solidFill>
                  <a:latin typeface="微软雅黑" panose="020B0503020204020204" pitchFamily="34" charset="-122"/>
                  <a:ea typeface="微软雅黑" panose="020B0503020204020204" pitchFamily="34" charset="-122"/>
                </a:rPr>
                <a:t>可以</a:t>
              </a:r>
              <a:r>
                <a:rPr lang="zh-CN" altLang="zh-CN" sz="2000">
                  <a:solidFill>
                    <a:srgbClr val="1369B2"/>
                  </a:solidFill>
                  <a:latin typeface="微软雅黑" panose="020B0503020204020204" pitchFamily="34" charset="-122"/>
                  <a:ea typeface="微软雅黑" panose="020B0503020204020204" pitchFamily="34" charset="-122"/>
                  <a:cs typeface="+mn-ea"/>
                </a:rPr>
                <a:t>省略</a:t>
              </a:r>
              <a:r>
                <a:rPr lang="zh-CN" altLang="zh-CN" sz="2000">
                  <a:solidFill>
                    <a:srgbClr val="595959"/>
                  </a:solidFill>
                  <a:latin typeface="微软雅黑" panose="020B0503020204020204" pitchFamily="34" charset="-122"/>
                  <a:ea typeface="微软雅黑" panose="020B0503020204020204" pitchFamily="34" charset="-122"/>
                </a:rPr>
                <a:t>，此时</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rPr>
                <a:t>表示</a:t>
              </a:r>
              <a:r>
                <a:rPr lang="zh-CN" altLang="zh-CN" sz="2000">
                  <a:solidFill>
                    <a:srgbClr val="1369B2"/>
                  </a:solidFill>
                  <a:latin typeface="微软雅黑" panose="020B0503020204020204" pitchFamily="34" charset="-122"/>
                  <a:ea typeface="微软雅黑" panose="020B0503020204020204" pitchFamily="34" charset="-122"/>
                  <a:cs typeface="+mn-ea"/>
                </a:rPr>
                <a:t>空对象</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1630710" y="919471"/>
            <a:ext cx="7056784" cy="538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2000">
                <a:solidFill>
                  <a:srgbClr val="1369B2"/>
                </a:solidFill>
                <a:latin typeface="微软雅黑" panose="020B0503020204020204" pitchFamily="34" charset="-122"/>
                <a:ea typeface="微软雅黑" panose="020B0503020204020204" pitchFamily="34" charset="-122"/>
                <a:cs typeface="+mn-ea"/>
              </a:rPr>
              <a:t>利用字面量创建</a:t>
            </a:r>
            <a:r>
              <a:rPr lang="zh-CN" altLang="zh-CN" sz="2000" smtClean="0">
                <a:solidFill>
                  <a:srgbClr val="1369B2"/>
                </a:solidFill>
                <a:latin typeface="微软雅黑" panose="020B0503020204020204" pitchFamily="34" charset="-122"/>
                <a:ea typeface="微软雅黑" panose="020B0503020204020204" pitchFamily="34" charset="-122"/>
                <a:cs typeface="+mn-ea"/>
              </a:rPr>
              <a:t>对象</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861111" y="1604467"/>
            <a:ext cx="8433600" cy="4893647"/>
          </a:xfrm>
          <a:prstGeom prst="rect">
            <a:avLst/>
          </a:prstGeom>
          <a:solidFill>
            <a:srgbClr val="F2F2F2"/>
          </a:solidFill>
        </p:spPr>
        <p:txBody>
          <a:bodyPr wrap="square" rtlCol="0">
            <a:spAutoFit/>
          </a:bodyPr>
          <a:lstStyle/>
          <a:p>
            <a:pPr lvl="1">
              <a:lnSpc>
                <a:spcPct val="150000"/>
              </a:lnSpc>
            </a:pPr>
            <a:r>
              <a:rPr lang="en-US" altLang="zh-CN" sz="16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1600" dirty="0">
                <a:solidFill>
                  <a:srgbClr val="595959"/>
                </a:solidFill>
                <a:latin typeface="微软雅黑" panose="020B0503020204020204" pitchFamily="34" charset="-122"/>
                <a:ea typeface="微软雅黑" panose="020B0503020204020204" pitchFamily="34" charset="-122"/>
                <a:cs typeface="+mn-ea"/>
              </a:rPr>
              <a:t>script&gt;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创建一个空对象</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a:t>
            </a:r>
            <a:r>
              <a:rPr lang="en-US" altLang="zh-CN" sz="1600" dirty="0">
                <a:solidFill>
                  <a:srgbClr val="595959"/>
                </a:solidFill>
                <a:latin typeface="微软雅黑" panose="020B0503020204020204" pitchFamily="34" charset="-122"/>
                <a:ea typeface="微软雅黑" panose="020B0503020204020204" pitchFamily="34" charset="-122"/>
                <a:cs typeface="+mn-ea"/>
              </a:rPr>
              <a:t> =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创建一个学生对象</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student =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name: '</a:t>
            </a:r>
            <a:r>
              <a:rPr lang="zh-CN" altLang="zh-CN" sz="1600" dirty="0">
                <a:solidFill>
                  <a:srgbClr val="595959"/>
                </a:solidFill>
                <a:latin typeface="微软雅黑" panose="020B0503020204020204" pitchFamily="34" charset="-122"/>
                <a:ea typeface="微软雅黑" panose="020B0503020204020204" pitchFamily="34" charset="-122"/>
                <a:cs typeface="+mn-ea"/>
              </a:rPr>
              <a:t>小智</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1600" dirty="0">
                <a:solidFill>
                  <a:srgbClr val="595959"/>
                </a:solidFill>
                <a:latin typeface="微软雅黑" panose="020B0503020204020204" pitchFamily="34" charset="-122"/>
                <a:ea typeface="微软雅黑" panose="020B0503020204020204" pitchFamily="34" charset="-122"/>
                <a:cs typeface="+mn-ea"/>
              </a:rPr>
              <a:t>name</a:t>
            </a:r>
            <a:r>
              <a:rPr lang="zh-CN" altLang="zh-CN" sz="1600" dirty="0">
                <a:solidFill>
                  <a:srgbClr val="595959"/>
                </a:solidFill>
                <a:latin typeface="微软雅黑" panose="020B0503020204020204" pitchFamily="34" charset="-122"/>
                <a:ea typeface="微软雅黑" panose="020B0503020204020204" pitchFamily="34" charset="-122"/>
                <a:cs typeface="+mn-ea"/>
              </a:rPr>
              <a:t>属性</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sex: '</a:t>
            </a:r>
            <a:r>
              <a:rPr lang="zh-CN" altLang="zh-CN" sz="1600" dirty="0">
                <a:solidFill>
                  <a:srgbClr val="595959"/>
                </a:solidFill>
                <a:latin typeface="微软雅黑" panose="020B0503020204020204" pitchFamily="34" charset="-122"/>
                <a:ea typeface="微软雅黑" panose="020B0503020204020204" pitchFamily="34" charset="-122"/>
                <a:cs typeface="+mn-ea"/>
              </a:rPr>
              <a:t>男</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1600" dirty="0">
                <a:solidFill>
                  <a:srgbClr val="595959"/>
                </a:solidFill>
                <a:latin typeface="微软雅黑" panose="020B0503020204020204" pitchFamily="34" charset="-122"/>
                <a:ea typeface="微软雅黑" panose="020B0503020204020204" pitchFamily="34" charset="-122"/>
                <a:cs typeface="+mn-ea"/>
              </a:rPr>
              <a:t>sex</a:t>
            </a:r>
            <a:r>
              <a:rPr lang="zh-CN" altLang="zh-CN" sz="1600" dirty="0">
                <a:solidFill>
                  <a:srgbClr val="595959"/>
                </a:solidFill>
                <a:latin typeface="微软雅黑" panose="020B0503020204020204" pitchFamily="34" charset="-122"/>
                <a:ea typeface="微软雅黑" panose="020B0503020204020204" pitchFamily="34" charset="-122"/>
                <a:cs typeface="+mn-ea"/>
              </a:rPr>
              <a:t>属性</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age</a:t>
            </a:r>
            <a:r>
              <a:rPr lang="en-US" altLang="zh-CN" sz="1600" dirty="0">
                <a:solidFill>
                  <a:srgbClr val="595959"/>
                </a:solidFill>
                <a:latin typeface="微软雅黑" panose="020B0503020204020204" pitchFamily="34" charset="-122"/>
                <a:ea typeface="微软雅黑" panose="020B0503020204020204" pitchFamily="34" charset="-122"/>
                <a:cs typeface="+mn-ea"/>
              </a:rPr>
              <a:t>: '20',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en-US" altLang="zh-CN" sz="1600" dirty="0">
                <a:solidFill>
                  <a:srgbClr val="595959"/>
                </a:solidFill>
                <a:latin typeface="微软雅黑" panose="020B0503020204020204" pitchFamily="34" charset="-122"/>
                <a:ea typeface="微软雅黑" panose="020B0503020204020204" pitchFamily="34" charset="-122"/>
                <a:cs typeface="+mn-ea"/>
              </a:rPr>
              <a:t>age</a:t>
            </a:r>
            <a:r>
              <a:rPr lang="zh-CN" altLang="zh-CN" sz="1600" dirty="0">
                <a:solidFill>
                  <a:srgbClr val="595959"/>
                </a:solidFill>
                <a:latin typeface="微软雅黑" panose="020B0503020204020204" pitchFamily="34" charset="-122"/>
                <a:ea typeface="微软雅黑" panose="020B0503020204020204" pitchFamily="34" charset="-122"/>
                <a:cs typeface="+mn-ea"/>
              </a:rPr>
              <a:t>属性</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1600" dirty="0" err="1" smtClean="0">
                <a:solidFill>
                  <a:srgbClr val="595959"/>
                </a:solidFill>
                <a:latin typeface="微软雅黑" panose="020B0503020204020204" pitchFamily="34" charset="-122"/>
                <a:ea typeface="微软雅黑" panose="020B0503020204020204" pitchFamily="34" charset="-122"/>
                <a:cs typeface="+mn-ea"/>
              </a:rPr>
              <a:t>sayHello</a:t>
            </a:r>
            <a:r>
              <a:rPr lang="en-US" altLang="zh-CN" sz="1600" dirty="0">
                <a:solidFill>
                  <a:srgbClr val="595959"/>
                </a:solidFill>
                <a:latin typeface="微软雅黑" panose="020B0503020204020204" pitchFamily="34" charset="-122"/>
                <a:ea typeface="微软雅黑" panose="020B0503020204020204" pitchFamily="34" charset="-122"/>
                <a:cs typeface="+mn-ea"/>
              </a:rPr>
              <a:t>: function ()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en-US" altLang="zh-CN" sz="1600" dirty="0" err="1">
                <a:solidFill>
                  <a:srgbClr val="595959"/>
                </a:solidFill>
                <a:latin typeface="微软雅黑" panose="020B0503020204020204" pitchFamily="34" charset="-122"/>
                <a:ea typeface="微软雅黑" panose="020B0503020204020204" pitchFamily="34" charset="-122"/>
                <a:cs typeface="+mn-ea"/>
              </a:rPr>
              <a:t>sayHello</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console.log</a:t>
            </a:r>
            <a:r>
              <a:rPr lang="en-US" altLang="zh-CN" sz="1600" dirty="0">
                <a:solidFill>
                  <a:srgbClr val="595959"/>
                </a:solidFill>
                <a:latin typeface="微软雅黑" panose="020B0503020204020204" pitchFamily="34" charset="-122"/>
                <a:ea typeface="微软雅黑" panose="020B0503020204020204" pitchFamily="34" charset="-122"/>
                <a:cs typeface="+mn-ea"/>
              </a:rPr>
              <a:t>('Hello');</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&lt;/script</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p:txBody>
      </p:sp>
      <p:sp>
        <p:nvSpPr>
          <p:cNvPr id="8"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1339138"/>
            <a:ext cx="10136091" cy="1015663"/>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创建对象后，如果想要</a:t>
            </a:r>
            <a:r>
              <a:rPr lang="zh-CN" altLang="zh-CN" sz="2000" dirty="0">
                <a:solidFill>
                  <a:srgbClr val="1369B2"/>
                </a:solidFill>
                <a:latin typeface="微软雅黑" panose="020B0503020204020204" pitchFamily="34" charset="-122"/>
                <a:ea typeface="微软雅黑" panose="020B0503020204020204" pitchFamily="34" charset="-122"/>
                <a:cs typeface="+mn-ea"/>
              </a:rPr>
              <a:t>访问对象的成员</a:t>
            </a:r>
            <a:r>
              <a:rPr lang="zh-CN" altLang="zh-CN" sz="2000" dirty="0">
                <a:solidFill>
                  <a:srgbClr val="595959"/>
                </a:solidFill>
                <a:latin typeface="微软雅黑" panose="020B0503020204020204" pitchFamily="34" charset="-122"/>
                <a:ea typeface="微软雅黑" panose="020B0503020204020204" pitchFamily="34" charset="-122"/>
              </a:rPr>
              <a:t>，可以使用两种方式，第</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种方式是使用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，第</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种方式是使用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，示例代码如下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486694" y="2637706"/>
            <a:ext cx="9505056" cy="286232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种方式：使用“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”访问对象的成员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console.log(student.name</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输出对象的属性，输出结果为：小智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student.sayHello</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调用对象的方法，输出结果为：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Hello</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第</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种方式：使用“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”访问对象的成员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console.log(student['sex</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输出对象的属性，输出结果为：男</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student['</a:t>
            </a:r>
            <a:r>
              <a:rPr lang="en-US" altLang="zh-CN" sz="2000" dirty="0" err="1">
                <a:solidFill>
                  <a:srgbClr val="595959"/>
                </a:solidFill>
                <a:latin typeface="微软雅黑" panose="020B0503020204020204" pitchFamily="34" charset="-122"/>
                <a:ea typeface="微软雅黑" panose="020B0503020204020204" pitchFamily="34" charset="-122"/>
                <a:cs typeface="+mn-ea"/>
              </a:rPr>
              <a:t>sayHello</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调用对象的方法，输出结果为：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Hello</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43691" y="1339138"/>
            <a:ext cx="10208099" cy="101566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如果</a:t>
            </a:r>
            <a:r>
              <a:rPr lang="zh-CN" altLang="zh-CN" sz="2000" dirty="0">
                <a:solidFill>
                  <a:srgbClr val="595959"/>
                </a:solidFill>
                <a:latin typeface="微软雅黑" panose="020B0503020204020204" pitchFamily="34" charset="-122"/>
                <a:ea typeface="微软雅黑" panose="020B0503020204020204" pitchFamily="34" charset="-122"/>
              </a:rPr>
              <a:t>对象的成员名中</a:t>
            </a:r>
            <a:r>
              <a:rPr lang="zh-CN" altLang="zh-CN" sz="2000" dirty="0">
                <a:solidFill>
                  <a:srgbClr val="1369B2"/>
                </a:solidFill>
                <a:latin typeface="微软雅黑" panose="020B0503020204020204" pitchFamily="34" charset="-122"/>
                <a:ea typeface="微软雅黑" panose="020B0503020204020204" pitchFamily="34" charset="-122"/>
                <a:cs typeface="+mn-ea"/>
              </a:rPr>
              <a:t>包含特殊字符</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则</a:t>
            </a:r>
            <a:r>
              <a:rPr lang="zh-CN" altLang="zh-CN" sz="2000" dirty="0" smtClean="0">
                <a:solidFill>
                  <a:srgbClr val="595959"/>
                </a:solidFill>
                <a:latin typeface="微软雅黑" panose="020B0503020204020204" pitchFamily="34" charset="-122"/>
                <a:ea typeface="微软雅黑" panose="020B0503020204020204" pitchFamily="34" charset="-122"/>
              </a:rPr>
              <a:t>可以</a:t>
            </a:r>
            <a:r>
              <a:rPr lang="zh-CN" altLang="zh-CN" sz="2000" dirty="0">
                <a:solidFill>
                  <a:srgbClr val="595959"/>
                </a:solidFill>
                <a:latin typeface="微软雅黑" panose="020B0503020204020204" pitchFamily="34" charset="-122"/>
                <a:ea typeface="微软雅黑" panose="020B0503020204020204" pitchFamily="34" charset="-122"/>
              </a:rPr>
              <a:t>用</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a:t>
            </a:r>
            <a:r>
              <a:rPr lang="zh-CN" altLang="zh-CN" sz="2000" dirty="0">
                <a:solidFill>
                  <a:srgbClr val="595959"/>
                </a:solidFill>
                <a:latin typeface="微软雅黑" panose="020B0503020204020204" pitchFamily="34" charset="-122"/>
                <a:ea typeface="微软雅黑" panose="020B0503020204020204" pitchFamily="34" charset="-122"/>
              </a:rPr>
              <a:t>来表示</a:t>
            </a:r>
            <a:r>
              <a:rPr lang="zh-CN" altLang="zh-CN" sz="2000" dirty="0">
                <a:solidFill>
                  <a:srgbClr val="1369B2"/>
                </a:solidFill>
                <a:latin typeface="微软雅黑" panose="020B0503020204020204" pitchFamily="34" charset="-122"/>
                <a:ea typeface="微软雅黑" panose="020B0503020204020204" pitchFamily="34" charset="-122"/>
                <a:cs typeface="+mn-ea"/>
              </a:rPr>
              <a:t>成员名</a:t>
            </a:r>
            <a:r>
              <a:rPr lang="zh-CN" altLang="zh-CN" sz="2000" dirty="0">
                <a:solidFill>
                  <a:srgbClr val="595959"/>
                </a:solidFill>
                <a:latin typeface="微软雅黑" panose="020B0503020204020204" pitchFamily="34" charset="-122"/>
                <a:ea typeface="微软雅黑" panose="020B0503020204020204" pitchFamily="34" charset="-122"/>
              </a:rPr>
              <a:t>，通过</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rPr>
              <a:t>进行访问，示例代码如下。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552314" y="2709714"/>
            <a:ext cx="9390852"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student02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'name-sex': '</a:t>
            </a:r>
            <a:r>
              <a:rPr lang="zh-CN" altLang="zh-CN" sz="2000">
                <a:solidFill>
                  <a:srgbClr val="595959"/>
                </a:solidFill>
                <a:latin typeface="微软雅黑" panose="020B0503020204020204" pitchFamily="34" charset="-122"/>
                <a:ea typeface="微软雅黑" panose="020B0503020204020204" pitchFamily="34" charset="-122"/>
                <a:cs typeface="+mn-ea"/>
              </a:rPr>
              <a:t>小强</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男</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console.log(student02['name-sex']);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输出结果为：小强</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smtClean="0">
                <a:solidFill>
                  <a:srgbClr val="595959"/>
                </a:solidFill>
                <a:latin typeface="微软雅黑" panose="020B0503020204020204" pitchFamily="34" charset="-122"/>
                <a:ea typeface="微软雅黑" panose="020B0503020204020204" pitchFamily="34" charset="-122"/>
                <a:cs typeface="+mn-ea"/>
              </a:rPr>
              <a:t>男</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99850" y="865339"/>
            <a:ext cx="9330360" cy="461665"/>
          </a:xfrm>
          <a:prstGeom prst="rect">
            <a:avLst/>
          </a:prstGeom>
        </p:spPr>
        <p:txBody>
          <a:bodyPr wrap="square">
            <a:spAutoFit/>
          </a:bodyPr>
          <a:lstStyle/>
          <a:p>
            <a:pPr>
              <a:lnSpc>
                <a:spcPct val="150000"/>
              </a:lnSpc>
            </a:pPr>
            <a:r>
              <a:rPr lang="zh-CN" altLang="zh-CN" sz="1600" smtClean="0">
                <a:solidFill>
                  <a:srgbClr val="595959"/>
                </a:solidFill>
                <a:latin typeface="微软雅黑" panose="020B0503020204020204" pitchFamily="34" charset="-122"/>
                <a:ea typeface="微软雅黑" panose="020B0503020204020204" pitchFamily="34" charset="-122"/>
              </a:rPr>
              <a:t>如果</a:t>
            </a:r>
            <a:r>
              <a:rPr lang="zh-CN" altLang="zh-CN" sz="1600">
                <a:solidFill>
                  <a:srgbClr val="595959"/>
                </a:solidFill>
                <a:latin typeface="微软雅黑" panose="020B0503020204020204" pitchFamily="34" charset="-122"/>
                <a:ea typeface="微软雅黑" panose="020B0503020204020204" pitchFamily="34" charset="-122"/>
              </a:rPr>
              <a:t>一个</a:t>
            </a:r>
            <a:r>
              <a:rPr lang="zh-CN" altLang="zh-CN" sz="1600">
                <a:solidFill>
                  <a:srgbClr val="1369B2"/>
                </a:solidFill>
                <a:latin typeface="微软雅黑" panose="020B0503020204020204" pitchFamily="34" charset="-122"/>
                <a:ea typeface="微软雅黑" panose="020B0503020204020204" pitchFamily="34" charset="-122"/>
                <a:cs typeface="+mn-ea"/>
              </a:rPr>
              <a:t>对象中没有任何成员</a:t>
            </a:r>
            <a:r>
              <a:rPr lang="zh-CN" altLang="zh-CN" sz="1600" smtClean="0">
                <a:solidFill>
                  <a:srgbClr val="595959"/>
                </a:solidFill>
                <a:latin typeface="微软雅黑" panose="020B0503020204020204" pitchFamily="34" charset="-122"/>
                <a:ea typeface="微软雅黑" panose="020B0503020204020204" pitchFamily="34" charset="-122"/>
              </a:rPr>
              <a:t>，</a:t>
            </a:r>
            <a:r>
              <a:rPr lang="zh-CN" altLang="en-US" sz="1600" smtClean="0">
                <a:solidFill>
                  <a:srgbClr val="595959"/>
                </a:solidFill>
                <a:latin typeface="微软雅黑" panose="020B0503020204020204" pitchFamily="34" charset="-122"/>
                <a:ea typeface="微软雅黑" panose="020B0503020204020204" pitchFamily="34" charset="-122"/>
              </a:rPr>
              <a:t>则</a:t>
            </a:r>
            <a:r>
              <a:rPr lang="zh-CN" altLang="zh-CN" sz="1600" smtClean="0">
                <a:solidFill>
                  <a:srgbClr val="595959"/>
                </a:solidFill>
                <a:latin typeface="微软雅黑" panose="020B0503020204020204" pitchFamily="34" charset="-122"/>
                <a:ea typeface="微软雅黑" panose="020B0503020204020204" pitchFamily="34" charset="-122"/>
              </a:rPr>
              <a:t>可以</a:t>
            </a:r>
            <a:r>
              <a:rPr lang="zh-CN" altLang="zh-CN" sz="1600">
                <a:solidFill>
                  <a:srgbClr val="595959"/>
                </a:solidFill>
                <a:latin typeface="微软雅黑" panose="020B0503020204020204" pitchFamily="34" charset="-122"/>
                <a:ea typeface="微软雅黑" panose="020B0503020204020204" pitchFamily="34" charset="-122"/>
              </a:rPr>
              <a:t>通过为</a:t>
            </a:r>
            <a:r>
              <a:rPr lang="zh-CN" altLang="zh-CN" sz="1600">
                <a:solidFill>
                  <a:srgbClr val="1369B2"/>
                </a:solidFill>
                <a:latin typeface="微软雅黑" panose="020B0503020204020204" pitchFamily="34" charset="-122"/>
                <a:ea typeface="微软雅黑" panose="020B0503020204020204" pitchFamily="34" charset="-122"/>
                <a:cs typeface="+mn-ea"/>
              </a:rPr>
              <a:t>属性</a:t>
            </a:r>
            <a:r>
              <a:rPr lang="zh-CN" altLang="zh-CN" sz="1600">
                <a:solidFill>
                  <a:srgbClr val="595959"/>
                </a:solidFill>
                <a:latin typeface="微软雅黑" panose="020B0503020204020204" pitchFamily="34" charset="-122"/>
                <a:ea typeface="微软雅黑" panose="020B0503020204020204" pitchFamily="34" charset="-122"/>
              </a:rPr>
              <a:t>或</a:t>
            </a:r>
            <a:r>
              <a:rPr lang="zh-CN" altLang="zh-CN" sz="1600">
                <a:solidFill>
                  <a:srgbClr val="1369B2"/>
                </a:solidFill>
                <a:latin typeface="微软雅黑" panose="020B0503020204020204" pitchFamily="34" charset="-122"/>
                <a:ea typeface="微软雅黑" panose="020B0503020204020204" pitchFamily="34" charset="-122"/>
                <a:cs typeface="+mn-ea"/>
              </a:rPr>
              <a:t>方法赋值</a:t>
            </a:r>
            <a:r>
              <a:rPr lang="zh-CN" altLang="zh-CN" sz="1600">
                <a:solidFill>
                  <a:srgbClr val="595959"/>
                </a:solidFill>
                <a:latin typeface="微软雅黑" panose="020B0503020204020204" pitchFamily="34" charset="-122"/>
                <a:ea typeface="微软雅黑" panose="020B0503020204020204" pitchFamily="34" charset="-122"/>
              </a:rPr>
              <a:t>的方式来</a:t>
            </a:r>
            <a:r>
              <a:rPr lang="zh-CN" altLang="zh-CN" sz="1600">
                <a:solidFill>
                  <a:srgbClr val="1369B2"/>
                </a:solidFill>
                <a:latin typeface="微软雅黑" panose="020B0503020204020204" pitchFamily="34" charset="-122"/>
                <a:ea typeface="微软雅黑" panose="020B0503020204020204" pitchFamily="34" charset="-122"/>
                <a:cs typeface="+mn-ea"/>
              </a:rPr>
              <a:t>添加对象成员</a:t>
            </a:r>
            <a:r>
              <a:rPr lang="zh-CN" altLang="zh-CN" sz="1600">
                <a:solidFill>
                  <a:srgbClr val="595959"/>
                </a:solidFill>
                <a:latin typeface="微软雅黑" panose="020B0503020204020204" pitchFamily="34" charset="-122"/>
                <a:ea typeface="微软雅黑" panose="020B0503020204020204" pitchFamily="34" charset="-122"/>
              </a:rPr>
              <a:t>，示例代码如下</a:t>
            </a:r>
            <a:r>
              <a:rPr lang="zh-CN" altLang="zh-CN" sz="1600" smtClean="0">
                <a:solidFill>
                  <a:srgbClr val="595959"/>
                </a:solidFill>
                <a:latin typeface="微软雅黑" panose="020B0503020204020204" pitchFamily="34" charset="-122"/>
                <a:ea typeface="微软雅黑" panose="020B0503020204020204" pitchFamily="34" charset="-122"/>
              </a:rPr>
              <a:t>。</a:t>
            </a:r>
            <a:endParaRPr lang="zh-CN" altLang="zh-CN" sz="160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362204" y="1419262"/>
            <a:ext cx="9005652" cy="4862485"/>
          </a:xfrm>
          <a:prstGeom prst="rect">
            <a:avLst/>
          </a:prstGeom>
          <a:solidFill>
            <a:srgbClr val="F2F2F2"/>
          </a:solidFill>
        </p:spPr>
        <p:txBody>
          <a:bodyPr wrap="square" rtlCol="0">
            <a:spAutoFit/>
          </a:bodyPr>
          <a:lstStyle/>
          <a:p>
            <a:pPr lvl="1">
              <a:lnSpc>
                <a:spcPct val="130000"/>
              </a:lnSpc>
            </a:pPr>
            <a:r>
              <a:rPr lang="en-US" altLang="zh-CN" sz="16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1600" dirty="0">
                <a:solidFill>
                  <a:srgbClr val="595959"/>
                </a:solidFill>
                <a:latin typeface="微软雅黑" panose="020B0503020204020204" pitchFamily="34" charset="-122"/>
                <a:ea typeface="微软雅黑" panose="020B0503020204020204" pitchFamily="34" charset="-122"/>
                <a:cs typeface="+mn-ea"/>
              </a:rPr>
              <a:t>script&gt;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a:t>
            </a:r>
            <a:r>
              <a:rPr lang="en-US" altLang="zh-CN" sz="1600" dirty="0">
                <a:solidFill>
                  <a:srgbClr val="595959"/>
                </a:solidFill>
                <a:latin typeface="微软雅黑" panose="020B0503020204020204" pitchFamily="34" charset="-122"/>
                <a:ea typeface="微软雅黑" panose="020B0503020204020204" pitchFamily="34" charset="-122"/>
                <a:cs typeface="+mn-ea"/>
              </a:rPr>
              <a:t> = {};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创建一个空对象</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obj.name = '</a:t>
            </a:r>
            <a:r>
              <a:rPr lang="zh-CN" altLang="zh-CN" sz="1600" dirty="0">
                <a:solidFill>
                  <a:srgbClr val="595959"/>
                </a:solidFill>
                <a:latin typeface="微软雅黑" panose="020B0503020204020204" pitchFamily="34" charset="-122"/>
                <a:ea typeface="微软雅黑" panose="020B0503020204020204" pitchFamily="34" charset="-122"/>
                <a:cs typeface="+mn-ea"/>
              </a:rPr>
              <a:t>小娜</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为对象添加</a:t>
            </a:r>
            <a:r>
              <a:rPr lang="en-US" altLang="zh-CN" sz="1600" dirty="0">
                <a:solidFill>
                  <a:srgbClr val="595959"/>
                </a:solidFill>
                <a:latin typeface="微软雅黑" panose="020B0503020204020204" pitchFamily="34" charset="-122"/>
                <a:ea typeface="微软雅黑" panose="020B0503020204020204" pitchFamily="34" charset="-122"/>
                <a:cs typeface="+mn-ea"/>
              </a:rPr>
              <a:t>name</a:t>
            </a:r>
            <a:r>
              <a:rPr lang="zh-CN" altLang="zh-CN" sz="1600" dirty="0">
                <a:solidFill>
                  <a:srgbClr val="595959"/>
                </a:solidFill>
                <a:latin typeface="微软雅黑" panose="020B0503020204020204" pitchFamily="34" charset="-122"/>
                <a:ea typeface="微软雅黑" panose="020B0503020204020204" pitchFamily="34" charset="-122"/>
                <a:cs typeface="+mn-ea"/>
              </a:rPr>
              <a:t>属性（使用“</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”语法）</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a:t>
            </a:r>
            <a:r>
              <a:rPr lang="en-US" altLang="zh-CN" sz="1600" dirty="0">
                <a:solidFill>
                  <a:srgbClr val="595959"/>
                </a:solidFill>
                <a:latin typeface="微软雅黑" panose="020B0503020204020204" pitchFamily="34" charset="-122"/>
                <a:ea typeface="微软雅黑" panose="020B0503020204020204" pitchFamily="34" charset="-122"/>
                <a:cs typeface="+mn-ea"/>
              </a:rPr>
              <a:t>['sex'] = '</a:t>
            </a:r>
            <a:r>
              <a:rPr lang="zh-CN" altLang="zh-CN" sz="1600" dirty="0">
                <a:solidFill>
                  <a:srgbClr val="595959"/>
                </a:solidFill>
                <a:latin typeface="微软雅黑" panose="020B0503020204020204" pitchFamily="34" charset="-122"/>
                <a:ea typeface="微软雅黑" panose="020B0503020204020204" pitchFamily="34" charset="-122"/>
                <a:cs typeface="+mn-ea"/>
              </a:rPr>
              <a:t>女</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为对象添加</a:t>
            </a:r>
            <a:r>
              <a:rPr lang="en-US" altLang="zh-CN" sz="1600" dirty="0">
                <a:solidFill>
                  <a:srgbClr val="595959"/>
                </a:solidFill>
                <a:latin typeface="微软雅黑" panose="020B0503020204020204" pitchFamily="34" charset="-122"/>
                <a:ea typeface="微软雅黑" panose="020B0503020204020204" pitchFamily="34" charset="-122"/>
                <a:cs typeface="+mn-ea"/>
              </a:rPr>
              <a:t>sex</a:t>
            </a:r>
            <a:r>
              <a:rPr lang="zh-CN" altLang="zh-CN" sz="1600" dirty="0">
                <a:solidFill>
                  <a:srgbClr val="595959"/>
                </a:solidFill>
                <a:latin typeface="微软雅黑" panose="020B0503020204020204" pitchFamily="34" charset="-122"/>
                <a:ea typeface="微软雅黑" panose="020B0503020204020204" pitchFamily="34" charset="-122"/>
                <a:cs typeface="+mn-ea"/>
              </a:rPr>
              <a:t>属性（使用“</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”语法）</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obj.sayHello</a:t>
            </a:r>
            <a:r>
              <a:rPr lang="en-US" altLang="zh-CN" sz="1600" dirty="0">
                <a:solidFill>
                  <a:srgbClr val="595959"/>
                </a:solidFill>
                <a:latin typeface="微软雅黑" panose="020B0503020204020204" pitchFamily="34" charset="-122"/>
                <a:ea typeface="微软雅黑" panose="020B0503020204020204" pitchFamily="34" charset="-122"/>
                <a:cs typeface="+mn-ea"/>
              </a:rPr>
              <a:t> = function() {	// </a:t>
            </a:r>
            <a:r>
              <a:rPr lang="zh-CN" altLang="zh-CN" sz="1600" dirty="0">
                <a:solidFill>
                  <a:srgbClr val="595959"/>
                </a:solidFill>
                <a:latin typeface="微软雅黑" panose="020B0503020204020204" pitchFamily="34" charset="-122"/>
                <a:ea typeface="微软雅黑" panose="020B0503020204020204" pitchFamily="34" charset="-122"/>
                <a:cs typeface="+mn-ea"/>
              </a:rPr>
              <a:t>为对象添加</a:t>
            </a:r>
            <a:r>
              <a:rPr lang="en-US" altLang="zh-CN" sz="1600" dirty="0" err="1">
                <a:solidFill>
                  <a:srgbClr val="595959"/>
                </a:solidFill>
                <a:latin typeface="微软雅黑" panose="020B0503020204020204" pitchFamily="34" charset="-122"/>
                <a:ea typeface="微软雅黑" panose="020B0503020204020204" pitchFamily="34" charset="-122"/>
                <a:cs typeface="+mn-ea"/>
              </a:rPr>
              <a:t>sayHello</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方法（使用“</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”语法）</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console.log('Hello');</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a:t>
            </a:r>
            <a:r>
              <a:rPr lang="en-US" altLang="zh-CN" sz="1600" dirty="0">
                <a:solidFill>
                  <a:srgbClr val="595959"/>
                </a:solidFill>
                <a:latin typeface="微软雅黑" panose="020B0503020204020204" pitchFamily="34" charset="-122"/>
                <a:ea typeface="微软雅黑" panose="020B0503020204020204" pitchFamily="34" charset="-122"/>
                <a:cs typeface="+mn-ea"/>
              </a:rPr>
              <a:t>['dance'] = function() {	// </a:t>
            </a:r>
            <a:r>
              <a:rPr lang="zh-CN" altLang="zh-CN" sz="1600" dirty="0">
                <a:solidFill>
                  <a:srgbClr val="595959"/>
                </a:solidFill>
                <a:latin typeface="微软雅黑" panose="020B0503020204020204" pitchFamily="34" charset="-122"/>
                <a:ea typeface="微软雅黑" panose="020B0503020204020204" pitchFamily="34" charset="-122"/>
                <a:cs typeface="+mn-ea"/>
              </a:rPr>
              <a:t>为对象添加</a:t>
            </a:r>
            <a:r>
              <a:rPr lang="en-US" altLang="zh-CN" sz="1600" dirty="0">
                <a:solidFill>
                  <a:srgbClr val="595959"/>
                </a:solidFill>
                <a:latin typeface="微软雅黑" panose="020B0503020204020204" pitchFamily="34" charset="-122"/>
                <a:ea typeface="微软雅黑" panose="020B0503020204020204" pitchFamily="34" charset="-122"/>
                <a:cs typeface="+mn-ea"/>
              </a:rPr>
              <a:t>dance()</a:t>
            </a:r>
            <a:r>
              <a:rPr lang="zh-CN" altLang="zh-CN" sz="1600" dirty="0">
                <a:solidFill>
                  <a:srgbClr val="595959"/>
                </a:solidFill>
                <a:latin typeface="微软雅黑" panose="020B0503020204020204" pitchFamily="34" charset="-122"/>
                <a:ea typeface="微软雅黑" panose="020B0503020204020204" pitchFamily="34" charset="-122"/>
                <a:cs typeface="+mn-ea"/>
              </a:rPr>
              <a:t>方法（使用“</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zh-CN" altLang="zh-CN" sz="1600" dirty="0">
                <a:solidFill>
                  <a:srgbClr val="595959"/>
                </a:solidFill>
                <a:latin typeface="微软雅黑" panose="020B0503020204020204" pitchFamily="34" charset="-122"/>
                <a:ea typeface="微软雅黑" panose="020B0503020204020204" pitchFamily="34" charset="-122"/>
                <a:cs typeface="+mn-ea"/>
              </a:rPr>
              <a:t>”语法）</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console.log('</a:t>
            </a:r>
            <a:r>
              <a:rPr lang="zh-CN" altLang="zh-CN" sz="1600" dirty="0">
                <a:solidFill>
                  <a:srgbClr val="595959"/>
                </a:solidFill>
                <a:latin typeface="微软雅黑" panose="020B0503020204020204" pitchFamily="34" charset="-122"/>
                <a:ea typeface="微软雅黑" panose="020B0503020204020204" pitchFamily="34" charset="-122"/>
                <a:cs typeface="+mn-ea"/>
              </a:rPr>
              <a:t>小娜在跳民族舞</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console.log(obj.name);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访问</a:t>
            </a:r>
            <a:r>
              <a:rPr lang="en-US" altLang="zh-CN" sz="1600" dirty="0">
                <a:solidFill>
                  <a:srgbClr val="595959"/>
                </a:solidFill>
                <a:latin typeface="微软雅黑" panose="020B0503020204020204" pitchFamily="34" charset="-122"/>
                <a:ea typeface="微软雅黑" panose="020B0503020204020204" pitchFamily="34" charset="-122"/>
                <a:cs typeface="+mn-ea"/>
              </a:rPr>
              <a:t>name</a:t>
            </a:r>
            <a:r>
              <a:rPr lang="zh-CN" altLang="zh-CN" sz="1600" dirty="0">
                <a:solidFill>
                  <a:srgbClr val="595959"/>
                </a:solidFill>
                <a:latin typeface="微软雅黑" panose="020B0503020204020204" pitchFamily="34" charset="-122"/>
                <a:ea typeface="微软雅黑" panose="020B0503020204020204" pitchFamily="34" charset="-122"/>
                <a:cs typeface="+mn-ea"/>
              </a:rPr>
              <a:t>属性，输出结果为：小娜</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console.log(</a:t>
            </a:r>
            <a:r>
              <a:rPr lang="en-US" altLang="zh-CN" sz="1600" dirty="0" err="1">
                <a:solidFill>
                  <a:srgbClr val="595959"/>
                </a:solidFill>
                <a:latin typeface="微软雅黑" panose="020B0503020204020204" pitchFamily="34" charset="-122"/>
                <a:ea typeface="微软雅黑" panose="020B0503020204020204" pitchFamily="34" charset="-122"/>
                <a:cs typeface="+mn-ea"/>
              </a:rPr>
              <a:t>obj.sex</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访问</a:t>
            </a:r>
            <a:r>
              <a:rPr lang="en-US" altLang="zh-CN" sz="1600" dirty="0">
                <a:solidFill>
                  <a:srgbClr val="595959"/>
                </a:solidFill>
                <a:latin typeface="微软雅黑" panose="020B0503020204020204" pitchFamily="34" charset="-122"/>
                <a:ea typeface="微软雅黑" panose="020B0503020204020204" pitchFamily="34" charset="-122"/>
                <a:cs typeface="+mn-ea"/>
              </a:rPr>
              <a:t>sex</a:t>
            </a:r>
            <a:r>
              <a:rPr lang="zh-CN" altLang="zh-CN" sz="1600" dirty="0">
                <a:solidFill>
                  <a:srgbClr val="595959"/>
                </a:solidFill>
                <a:latin typeface="微软雅黑" panose="020B0503020204020204" pitchFamily="34" charset="-122"/>
                <a:ea typeface="微软雅黑" panose="020B0503020204020204" pitchFamily="34" charset="-122"/>
                <a:cs typeface="+mn-ea"/>
              </a:rPr>
              <a:t>属性，输出结果为：女</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obj.sayHello</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调用对象的方法，输出结果为：</a:t>
            </a:r>
            <a:r>
              <a:rPr lang="en-US" altLang="zh-CN" sz="1600" dirty="0">
                <a:solidFill>
                  <a:srgbClr val="595959"/>
                </a:solidFill>
                <a:latin typeface="微软雅黑" panose="020B0503020204020204" pitchFamily="34" charset="-122"/>
                <a:ea typeface="微软雅黑" panose="020B0503020204020204" pitchFamily="34" charset="-122"/>
                <a:cs typeface="+mn-ea"/>
              </a:rPr>
              <a:t>Hello</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obj.dance</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调用对象的方法，输出结果为：小娜在跳民族舞</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&lt;/script&gt;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654" y="1779616"/>
            <a:ext cx="9330360" cy="553998"/>
          </a:xfrm>
          <a:prstGeom prst="rect">
            <a:avLst/>
          </a:prstGeom>
        </p:spPr>
        <p:txBody>
          <a:bodyPr wrap="square">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如果访问对象中</a:t>
            </a:r>
            <a:r>
              <a:rPr lang="zh-CN" altLang="en-US" sz="2000" dirty="0">
                <a:solidFill>
                  <a:srgbClr val="1369B2"/>
                </a:solidFill>
                <a:latin typeface="微软雅黑" panose="020B0503020204020204" pitchFamily="34" charset="-122"/>
                <a:ea typeface="微软雅黑" panose="020B0503020204020204" pitchFamily="34" charset="-122"/>
                <a:cs typeface="+mn-ea"/>
              </a:rPr>
              <a:t>不</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存在的成员</a:t>
            </a:r>
            <a:r>
              <a:rPr lang="zh-CN" altLang="en-US" sz="2000" dirty="0" smtClean="0">
                <a:solidFill>
                  <a:srgbClr val="595959"/>
                </a:solidFill>
                <a:latin typeface="微软雅黑" panose="020B0503020204020204" pitchFamily="34" charset="-122"/>
                <a:ea typeface="微软雅黑" panose="020B0503020204020204" pitchFamily="34" charset="-122"/>
              </a:rPr>
              <a:t>，则返回</a:t>
            </a:r>
            <a:r>
              <a:rPr lang="en-US" altLang="zh-CN" sz="2000" dirty="0" smtClean="0">
                <a:solidFill>
                  <a:srgbClr val="595959"/>
                </a:solidFill>
                <a:latin typeface="微软雅黑" panose="020B0503020204020204" pitchFamily="34" charset="-122"/>
                <a:ea typeface="微软雅黑" panose="020B0503020204020204" pitchFamily="34" charset="-122"/>
              </a:rPr>
              <a:t>undefined</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示例代码如下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利用字面量创建对象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289008" y="2612521"/>
            <a:ext cx="9005652" cy="961289"/>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obj</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console.log(obj.name);	//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undefined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485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掌握</a:t>
            </a:r>
            <a:r>
              <a:rPr lang="zh-CN" altLang="en-US" sz="2000">
                <a:solidFill>
                  <a:srgbClr val="1369B2"/>
                </a:solidFill>
                <a:latin typeface="微软雅黑" panose="020B0503020204020204" pitchFamily="34" charset="-122"/>
                <a:ea typeface="微软雅黑" panose="020B0503020204020204" pitchFamily="34" charset="-122"/>
                <a:cs typeface="+mn-ea"/>
              </a:rPr>
              <a:t>对象的创建方式</a:t>
            </a:r>
            <a:r>
              <a:rPr lang="zh-CN" altLang="zh-CN" sz="2000">
                <a:solidFill>
                  <a:srgbClr val="595959"/>
                </a:solidFill>
                <a:latin typeface="微软雅黑" panose="020B0503020204020204" pitchFamily="34" charset="-122"/>
                <a:ea typeface="微软雅黑" panose="020B0503020204020204" pitchFamily="34" charset="-122"/>
                <a:cs typeface="+mn-ea"/>
              </a:rPr>
              <a:t>，能够灵活</a:t>
            </a:r>
            <a:r>
              <a:rPr lang="zh-CN" altLang="zh-CN" sz="2000" smtClean="0">
                <a:solidFill>
                  <a:srgbClr val="595959"/>
                </a:solidFill>
                <a:latin typeface="微软雅黑" panose="020B0503020204020204" pitchFamily="34" charset="-122"/>
                <a:ea typeface="微软雅黑" panose="020B0503020204020204" pitchFamily="34" charset="-122"/>
                <a:cs typeface="+mn-ea"/>
              </a:rPr>
              <a:t>应用</a:t>
            </a:r>
            <a:r>
              <a:rPr lang="zh-CN" altLang="en-US" sz="2000" smtClean="0">
                <a:solidFill>
                  <a:srgbClr val="1369B2"/>
                </a:solidFill>
                <a:latin typeface="微软雅黑" panose="020B0503020204020204" pitchFamily="34" charset="-122"/>
                <a:ea typeface="微软雅黑" panose="020B0503020204020204" pitchFamily="34" charset="-122"/>
                <a:cs typeface="+mn-ea"/>
              </a:rPr>
              <a:t>构造函数</a:t>
            </a:r>
            <a:r>
              <a:rPr lang="zh-CN" altLang="en-US" sz="2000" smtClean="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595959"/>
                </a:solidFill>
                <a:latin typeface="微软雅黑" panose="020B0503020204020204" pitchFamily="34" charset="-122"/>
                <a:ea typeface="微软雅黑" panose="020B0503020204020204" pitchFamily="34" charset="-122"/>
                <a:cs typeface="+mn-ea"/>
              </a:rPr>
              <a:t>方式创建对象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4" y="1701602"/>
            <a:ext cx="6380335" cy="3748647"/>
            <a:chOff x="4899443" y="1985403"/>
            <a:chExt cx="6740375" cy="6340776"/>
          </a:xfrm>
        </p:grpSpPr>
        <p:sp>
          <p:nvSpPr>
            <p:cNvPr id="9" name="圆角矩形标注 11"/>
            <p:cNvSpPr/>
            <p:nvPr/>
          </p:nvSpPr>
          <p:spPr bwMode="auto">
            <a:xfrm rot="5400000">
              <a:off x="5099243" y="1785603"/>
              <a:ext cx="6340776"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p:cNvSpPr>
              <a:spLocks noChangeArrowheads="1"/>
            </p:cNvSpPr>
            <p:nvPr/>
          </p:nvSpPr>
          <p:spPr bwMode="auto">
            <a:xfrm>
              <a:off x="5357661" y="2338306"/>
              <a:ext cx="5993603" cy="562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需要创建一个班级中所有的学生对象时，如果利用</a:t>
              </a:r>
              <a:r>
                <a:rPr lang="zh-CN" altLang="zh-CN" sz="2000" dirty="0">
                  <a:solidFill>
                    <a:srgbClr val="1369B2"/>
                  </a:solidFill>
                  <a:latin typeface="微软雅黑" panose="020B0503020204020204" pitchFamily="34" charset="-122"/>
                  <a:ea typeface="微软雅黑" panose="020B0503020204020204" pitchFamily="34" charset="-122"/>
                  <a:cs typeface="+mn-ea"/>
                </a:rPr>
                <a:t>字面量</a:t>
              </a:r>
              <a:r>
                <a:rPr lang="zh-CN" altLang="zh-CN" sz="2000" dirty="0">
                  <a:solidFill>
                    <a:srgbClr val="595959"/>
                  </a:solidFill>
                  <a:latin typeface="微软雅黑" panose="020B0503020204020204" pitchFamily="34" charset="-122"/>
                  <a:ea typeface="微软雅黑" panose="020B0503020204020204" pitchFamily="34" charset="-122"/>
                </a:rPr>
                <a:t>的方式逐一</a:t>
              </a:r>
              <a:r>
                <a:rPr lang="zh-CN" altLang="zh-CN" sz="2000" dirty="0">
                  <a:solidFill>
                    <a:srgbClr val="1369B2"/>
                  </a:solidFill>
                  <a:latin typeface="微软雅黑" panose="020B0503020204020204" pitchFamily="34" charset="-122"/>
                  <a:ea typeface="微软雅黑" panose="020B0503020204020204" pitchFamily="34" charset="-122"/>
                  <a:cs typeface="+mn-ea"/>
                </a:rPr>
                <a:t>创建学生对象</a:t>
              </a:r>
              <a:r>
                <a:rPr lang="zh-CN" altLang="zh-CN" sz="2000" dirty="0">
                  <a:solidFill>
                    <a:srgbClr val="595959"/>
                  </a:solidFill>
                  <a:latin typeface="微软雅黑" panose="020B0503020204020204" pitchFamily="34" charset="-122"/>
                  <a:ea typeface="微软雅黑" panose="020B0503020204020204" pitchFamily="34" charset="-122"/>
                </a:rPr>
                <a:t>，需要编写很多</a:t>
              </a:r>
              <a:r>
                <a:rPr lang="zh-CN" altLang="zh-CN" sz="2000" dirty="0">
                  <a:solidFill>
                    <a:srgbClr val="1369B2"/>
                  </a:solidFill>
                  <a:latin typeface="微软雅黑" panose="020B0503020204020204" pitchFamily="34" charset="-122"/>
                  <a:ea typeface="微软雅黑" panose="020B0503020204020204" pitchFamily="34" charset="-122"/>
                  <a:cs typeface="+mn-ea"/>
                </a:rPr>
                <a:t>重复</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代码</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开发效率</a:t>
              </a:r>
              <a:r>
                <a:rPr lang="zh-CN" altLang="zh-CN" sz="2000" dirty="0">
                  <a:solidFill>
                    <a:srgbClr val="595959"/>
                  </a:solidFill>
                  <a:latin typeface="微软雅黑" panose="020B0503020204020204" pitchFamily="34" charset="-122"/>
                  <a:ea typeface="微软雅黑" panose="020B0503020204020204" pitchFamily="34" charset="-122"/>
                </a:rPr>
                <a:t>比较</a:t>
              </a:r>
              <a:r>
                <a:rPr lang="zh-CN" altLang="zh-CN" sz="2000" dirty="0">
                  <a:solidFill>
                    <a:srgbClr val="1369B2"/>
                  </a:solidFill>
                  <a:latin typeface="微软雅黑" panose="020B0503020204020204" pitchFamily="34" charset="-122"/>
                  <a:ea typeface="微软雅黑" panose="020B0503020204020204" pitchFamily="34" charset="-122"/>
                  <a:cs typeface="+mn-ea"/>
                </a:rPr>
                <a:t>低</a:t>
              </a:r>
              <a:r>
                <a:rPr lang="zh-CN" altLang="zh-CN" sz="2000" dirty="0">
                  <a:solidFill>
                    <a:srgbClr val="595959"/>
                  </a:solidFill>
                  <a:latin typeface="微软雅黑" panose="020B0503020204020204" pitchFamily="34" charset="-122"/>
                  <a:ea typeface="微软雅黑" panose="020B0503020204020204" pitchFamily="34" charset="-122"/>
                </a:rPr>
                <a:t>。为此，可以利用</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a:t>
              </a:r>
              <a:r>
                <a:rPr lang="zh-CN" altLang="zh-CN" sz="2000" dirty="0">
                  <a:solidFill>
                    <a:srgbClr val="595959"/>
                  </a:solidFill>
                  <a:latin typeface="微软雅黑" panose="020B0503020204020204" pitchFamily="34" charset="-122"/>
                  <a:ea typeface="微软雅黑" panose="020B0503020204020204" pitchFamily="34" charset="-122"/>
                </a:rPr>
                <a:t>的方式来创建对象。首先将学生看成一类对象，并将学生拥有的</a:t>
              </a:r>
              <a:r>
                <a:rPr lang="zh-CN" altLang="zh-CN" sz="2000" dirty="0">
                  <a:solidFill>
                    <a:srgbClr val="1369B2"/>
                  </a:solidFill>
                  <a:latin typeface="微软雅黑" panose="020B0503020204020204" pitchFamily="34" charset="-122"/>
                  <a:ea typeface="微软雅黑" panose="020B0503020204020204" pitchFamily="34" charset="-122"/>
                  <a:cs typeface="+mn-ea"/>
                </a:rPr>
                <a:t>共同特征和行为</a:t>
              </a:r>
              <a:r>
                <a:rPr lang="zh-CN" altLang="zh-CN" sz="2000" dirty="0">
                  <a:solidFill>
                    <a:srgbClr val="595959"/>
                  </a:solidFill>
                  <a:latin typeface="微软雅黑" panose="020B0503020204020204" pitchFamily="34" charset="-122"/>
                  <a:ea typeface="微软雅黑" panose="020B0503020204020204" pitchFamily="34" charset="-122"/>
                </a:rPr>
                <a:t>写在构造函数中，然后通过构造函数</a:t>
              </a:r>
              <a:r>
                <a:rPr lang="zh-CN" altLang="zh-CN" sz="2000" dirty="0">
                  <a:solidFill>
                    <a:srgbClr val="1369B2"/>
                  </a:solidFill>
                  <a:latin typeface="微软雅黑" panose="020B0503020204020204" pitchFamily="34" charset="-122"/>
                  <a:ea typeface="微软雅黑" panose="020B0503020204020204" pitchFamily="34" charset="-122"/>
                  <a:cs typeface="+mn-ea"/>
                </a:rPr>
                <a:t>一次性创建</a:t>
              </a:r>
              <a:r>
                <a:rPr lang="zh-CN" altLang="zh-CN" sz="2000" dirty="0">
                  <a:solidFill>
                    <a:srgbClr val="595959"/>
                  </a:solidFill>
                  <a:latin typeface="微软雅黑" panose="020B0503020204020204" pitchFamily="34" charset="-122"/>
                  <a:ea typeface="微软雅黑" panose="020B0503020204020204" pitchFamily="34" charset="-122"/>
                </a:rPr>
                <a:t>整个班级中的</a:t>
              </a:r>
              <a:r>
                <a:rPr lang="zh-CN" altLang="zh-CN" sz="2000" dirty="0">
                  <a:solidFill>
                    <a:srgbClr val="1369B2"/>
                  </a:solidFill>
                  <a:latin typeface="微软雅黑" panose="020B0503020204020204" pitchFamily="34" charset="-122"/>
                  <a:ea typeface="微软雅黑" panose="020B0503020204020204" pitchFamily="34" charset="-122"/>
                  <a:cs typeface="+mn-ea"/>
                </a:rPr>
                <a:t>所有学生对象</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133649"/>
            <a:ext cx="6984776" cy="3240361"/>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799062" y="2541305"/>
            <a:ext cx="6552728" cy="2400657"/>
          </a:xfrm>
          <a:prstGeom prst="rect">
            <a:avLst/>
          </a:prstGeom>
          <a:noFill/>
        </p:spPr>
        <p:txBody>
          <a:bodyPr wrap="square" rtlCol="0">
            <a:spAutoFit/>
          </a:bodyPr>
          <a:lstStyle/>
          <a:p>
            <a:pPr>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cs typeface="+mn-ea"/>
              </a:rPr>
              <a:t>构造</a:t>
            </a:r>
            <a:r>
              <a:rPr lang="zh-CN" altLang="zh-CN" sz="2000" dirty="0">
                <a:solidFill>
                  <a:srgbClr val="1369B2"/>
                </a:solidFill>
                <a:latin typeface="微软雅黑" panose="020B0503020204020204" pitchFamily="34" charset="-122"/>
                <a:ea typeface="微软雅黑" panose="020B0503020204020204" pitchFamily="34" charset="-122"/>
                <a:cs typeface="+mn-ea"/>
              </a:rPr>
              <a:t>函数</a:t>
            </a:r>
            <a:r>
              <a:rPr lang="zh-CN" altLang="zh-CN" sz="2000" dirty="0">
                <a:solidFill>
                  <a:srgbClr val="595959"/>
                </a:solidFill>
                <a:latin typeface="微软雅黑" panose="020B0503020204020204" pitchFamily="34" charset="-122"/>
                <a:ea typeface="微软雅黑" panose="020B0503020204020204" pitchFamily="34" charset="-122"/>
                <a:cs typeface="+mn-ea"/>
              </a:rPr>
              <a:t>是一种特殊的函数，它提供了</a:t>
            </a:r>
            <a:r>
              <a:rPr lang="zh-CN" altLang="zh-CN" sz="2000" dirty="0">
                <a:solidFill>
                  <a:srgbClr val="1369B2"/>
                </a:solidFill>
                <a:latin typeface="微软雅黑" panose="020B0503020204020204" pitchFamily="34" charset="-122"/>
                <a:ea typeface="微软雅黑" panose="020B0503020204020204" pitchFamily="34" charset="-122"/>
                <a:cs typeface="+mn-ea"/>
              </a:rPr>
              <a:t>生成对象的模板</a:t>
            </a:r>
            <a:r>
              <a:rPr lang="zh-CN" altLang="zh-CN" sz="2000" dirty="0">
                <a:solidFill>
                  <a:srgbClr val="595959"/>
                </a:solidFill>
                <a:latin typeface="微软雅黑" panose="020B0503020204020204" pitchFamily="34" charset="-122"/>
                <a:ea typeface="微软雅黑" panose="020B0503020204020204" pitchFamily="34" charset="-122"/>
                <a:cs typeface="+mn-ea"/>
              </a:rPr>
              <a:t>，并描述了</a:t>
            </a:r>
            <a:r>
              <a:rPr lang="zh-CN" altLang="zh-CN" sz="2000" dirty="0">
                <a:solidFill>
                  <a:srgbClr val="1369B2"/>
                </a:solidFill>
                <a:latin typeface="微软雅黑" panose="020B0503020204020204" pitchFamily="34" charset="-122"/>
                <a:ea typeface="微软雅黑" panose="020B0503020204020204" pitchFamily="34" charset="-122"/>
                <a:cs typeface="+mn-ea"/>
              </a:rPr>
              <a:t>对象基本</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结构</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主要</a:t>
            </a:r>
            <a:r>
              <a:rPr lang="zh-CN" altLang="zh-CN" sz="2000" dirty="0">
                <a:solidFill>
                  <a:srgbClr val="595959"/>
                </a:solidFill>
                <a:latin typeface="微软雅黑" panose="020B0503020204020204" pitchFamily="34" charset="-122"/>
                <a:ea typeface="微软雅黑" panose="020B0503020204020204" pitchFamily="34" charset="-122"/>
                <a:cs typeface="+mn-ea"/>
              </a:rPr>
              <a:t>用于在创建对象时进行</a:t>
            </a:r>
            <a:r>
              <a:rPr lang="zh-CN" altLang="zh-CN" sz="2000" dirty="0">
                <a:solidFill>
                  <a:srgbClr val="1369B2"/>
                </a:solidFill>
                <a:latin typeface="微软雅黑" panose="020B0503020204020204" pitchFamily="34" charset="-122"/>
                <a:ea typeface="微软雅黑" panose="020B0503020204020204" pitchFamily="34" charset="-122"/>
                <a:cs typeface="+mn-ea"/>
              </a:rPr>
              <a:t>初始化</a:t>
            </a:r>
            <a:r>
              <a:rPr lang="zh-CN" altLang="zh-CN" sz="2000" dirty="0">
                <a:solidFill>
                  <a:srgbClr val="595959"/>
                </a:solidFill>
                <a:latin typeface="微软雅黑" panose="020B0503020204020204" pitchFamily="34" charset="-122"/>
                <a:ea typeface="微软雅黑" panose="020B0503020204020204" pitchFamily="34" charset="-122"/>
                <a:cs typeface="+mn-ea"/>
              </a:rPr>
              <a:t>，即</a:t>
            </a:r>
            <a:r>
              <a:rPr lang="zh-CN" altLang="zh-CN" sz="2000" dirty="0">
                <a:solidFill>
                  <a:srgbClr val="1369B2"/>
                </a:solidFill>
                <a:latin typeface="微软雅黑" panose="020B0503020204020204" pitchFamily="34" charset="-122"/>
                <a:ea typeface="微软雅黑" panose="020B0503020204020204" pitchFamily="34" charset="-122"/>
                <a:cs typeface="+mn-ea"/>
              </a:rPr>
              <a:t>为对象的成员赋初始值</a:t>
            </a:r>
            <a:r>
              <a:rPr lang="zh-CN" altLang="zh-CN" sz="2000" dirty="0">
                <a:solidFill>
                  <a:srgbClr val="595959"/>
                </a:solidFill>
                <a:latin typeface="微软雅黑" panose="020B0503020204020204" pitchFamily="34" charset="-122"/>
                <a:ea typeface="微软雅黑" panose="020B0503020204020204" pitchFamily="34" charset="-122"/>
                <a:cs typeface="+mn-ea"/>
              </a:rPr>
              <a:t>。通过</a:t>
            </a:r>
            <a:r>
              <a:rPr lang="zh-CN" altLang="zh-CN" sz="2000" dirty="0">
                <a:solidFill>
                  <a:srgbClr val="1369B2"/>
                </a:solidFill>
                <a:latin typeface="微软雅黑" panose="020B0503020204020204" pitchFamily="34" charset="-122"/>
                <a:ea typeface="微软雅黑" panose="020B0503020204020204" pitchFamily="34" charset="-122"/>
                <a:cs typeface="+mn-ea"/>
              </a:rPr>
              <a:t>一个构造函数</a:t>
            </a:r>
            <a:r>
              <a:rPr lang="zh-CN" altLang="zh-CN" sz="2000" dirty="0">
                <a:solidFill>
                  <a:srgbClr val="595959"/>
                </a:solidFill>
                <a:latin typeface="微软雅黑" panose="020B0503020204020204" pitchFamily="34" charset="-122"/>
                <a:ea typeface="微软雅黑" panose="020B0503020204020204" pitchFamily="34" charset="-122"/>
                <a:cs typeface="+mn-ea"/>
              </a:rPr>
              <a:t>可以创建</a:t>
            </a:r>
            <a:r>
              <a:rPr lang="zh-CN" altLang="zh-CN" sz="2000" dirty="0">
                <a:solidFill>
                  <a:srgbClr val="1369B2"/>
                </a:solidFill>
                <a:latin typeface="微软雅黑" panose="020B0503020204020204" pitchFamily="34" charset="-122"/>
                <a:ea typeface="微软雅黑" panose="020B0503020204020204" pitchFamily="34" charset="-122"/>
                <a:cs typeface="+mn-ea"/>
              </a:rPr>
              <a:t>多个</a:t>
            </a:r>
            <a:r>
              <a:rPr lang="zh-CN" altLang="zh-CN" sz="2000" dirty="0">
                <a:solidFill>
                  <a:srgbClr val="595959"/>
                </a:solidFill>
                <a:latin typeface="微软雅黑" panose="020B0503020204020204" pitchFamily="34" charset="-122"/>
                <a:ea typeface="微软雅黑" panose="020B0503020204020204" pitchFamily="34" charset="-122"/>
                <a:cs typeface="+mn-ea"/>
              </a:rPr>
              <a:t>具有相同结构的</a:t>
            </a:r>
            <a:r>
              <a:rPr lang="zh-CN" altLang="zh-CN" sz="2000" dirty="0">
                <a:solidFill>
                  <a:srgbClr val="1369B2"/>
                </a:solidFill>
                <a:latin typeface="微软雅黑" panose="020B0503020204020204" pitchFamily="34" charset="-122"/>
                <a:ea typeface="微软雅黑" panose="020B0503020204020204" pitchFamily="34" charset="-122"/>
                <a:cs typeface="+mn-ea"/>
              </a:rPr>
              <a:t>对象</a:t>
            </a:r>
            <a:r>
              <a:rPr lang="zh-CN" altLang="zh-CN" sz="2000" dirty="0">
                <a:solidFill>
                  <a:srgbClr val="595959"/>
                </a:solidFill>
                <a:latin typeface="微软雅黑" panose="020B0503020204020204" pitchFamily="34" charset="-122"/>
                <a:ea typeface="微软雅黑" panose="020B0503020204020204" pitchFamily="34" charset="-122"/>
                <a:cs typeface="+mn-ea"/>
              </a:rPr>
              <a:t>，这个过程称为</a:t>
            </a:r>
            <a:r>
              <a:rPr lang="zh-CN" altLang="zh-CN" sz="2000" dirty="0">
                <a:solidFill>
                  <a:srgbClr val="1369B2"/>
                </a:solidFill>
                <a:latin typeface="微软雅黑" panose="020B0503020204020204" pitchFamily="34" charset="-122"/>
                <a:ea typeface="微软雅黑" panose="020B0503020204020204" pitchFamily="34" charset="-122"/>
                <a:cs typeface="+mn-ea"/>
              </a:rPr>
              <a:t>实例化</a:t>
            </a:r>
            <a:r>
              <a:rPr lang="zh-CN" altLang="zh-CN" sz="2000" dirty="0">
                <a:solidFill>
                  <a:srgbClr val="595959"/>
                </a:solidFill>
                <a:latin typeface="微软雅黑" panose="020B0503020204020204" pitchFamily="34" charset="-122"/>
                <a:ea typeface="微软雅黑" panose="020B0503020204020204" pitchFamily="34" charset="-122"/>
                <a:cs typeface="+mn-ea"/>
              </a:rPr>
              <a:t>，通过构造函数创建出来的对象被称为</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构造函数的实例对象</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54646" y="1233566"/>
            <a:ext cx="10441160" cy="1015663"/>
          </a:xfrm>
          <a:prstGeom prst="rect">
            <a:avLst/>
          </a:prstGeom>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定义</a:t>
            </a:r>
            <a:r>
              <a:rPr lang="zh-CN" altLang="zh-CN" sz="2000" dirty="0">
                <a:solidFill>
                  <a:srgbClr val="595959"/>
                </a:solidFill>
                <a:latin typeface="微软雅黑" panose="020B0503020204020204" pitchFamily="34" charset="-122"/>
                <a:ea typeface="微软雅黑" panose="020B0503020204020204" pitchFamily="34" charset="-122"/>
              </a:rPr>
              <a:t>构造函数的语法格式和定义普通函数的语法格式类似，二者的区别是，</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构造函数的名称</a:t>
            </a:r>
            <a:r>
              <a:rPr lang="zh-CN" altLang="zh-CN" sz="2000" dirty="0">
                <a:solidFill>
                  <a:srgbClr val="595959"/>
                </a:solidFill>
                <a:latin typeface="微软雅黑" panose="020B0503020204020204" pitchFamily="34" charset="-122"/>
                <a:ea typeface="微软雅黑" panose="020B0503020204020204" pitchFamily="34" charset="-122"/>
              </a:rPr>
              <a:t>推荐</a:t>
            </a:r>
            <a:r>
              <a:rPr lang="zh-CN" altLang="zh-CN" sz="2000" dirty="0">
                <a:solidFill>
                  <a:srgbClr val="1369B2"/>
                </a:solidFill>
                <a:latin typeface="微软雅黑" panose="020B0503020204020204" pitchFamily="34" charset="-122"/>
                <a:ea typeface="微软雅黑" panose="020B0503020204020204" pitchFamily="34" charset="-122"/>
                <a:cs typeface="+mn-ea"/>
              </a:rPr>
              <a:t>首字母大写</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定义构造函数</a:t>
            </a:r>
            <a:r>
              <a:rPr lang="zh-CN" altLang="zh-CN" sz="2000" dirty="0">
                <a:solidFill>
                  <a:srgbClr val="595959"/>
                </a:solidFill>
                <a:latin typeface="微软雅黑" panose="020B0503020204020204" pitchFamily="34" charset="-122"/>
                <a:ea typeface="微软雅黑" panose="020B0503020204020204" pitchFamily="34" charset="-122"/>
              </a:rPr>
              <a:t>的语法格式如下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846734" y="2709714"/>
            <a:ext cx="9005652"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function </a:t>
            </a:r>
            <a:r>
              <a:rPr lang="zh-CN" altLang="zh-CN" sz="2000">
                <a:solidFill>
                  <a:srgbClr val="595959"/>
                </a:solidFill>
                <a:latin typeface="微软雅黑" panose="020B0503020204020204" pitchFamily="34" charset="-122"/>
                <a:ea typeface="微软雅黑" panose="020B0503020204020204" pitchFamily="34" charset="-122"/>
                <a:cs typeface="+mn-ea"/>
              </a:rPr>
              <a:t>构造函数名</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参数</a:t>
            </a:r>
            <a:r>
              <a:rPr lang="en-US" altLang="zh-CN" sz="2000">
                <a:solidFill>
                  <a:srgbClr val="595959"/>
                </a:solidFill>
                <a:latin typeface="微软雅黑" panose="020B0503020204020204" pitchFamily="34" charset="-122"/>
                <a:ea typeface="微软雅黑" panose="020B0503020204020204" pitchFamily="34" charset="-122"/>
                <a:cs typeface="+mn-ea"/>
              </a:rPr>
              <a:t>1, </a:t>
            </a:r>
            <a:r>
              <a:rPr lang="zh-CN" altLang="zh-CN" sz="2000">
                <a:solidFill>
                  <a:srgbClr val="595959"/>
                </a:solidFill>
                <a:latin typeface="微软雅黑" panose="020B0503020204020204" pitchFamily="34" charset="-122"/>
                <a:ea typeface="微软雅黑" panose="020B0503020204020204" pitchFamily="34" charset="-122"/>
                <a:cs typeface="+mn-ea"/>
              </a:rPr>
              <a:t>参数</a:t>
            </a:r>
            <a:r>
              <a:rPr lang="en-US" altLang="zh-CN" sz="2000">
                <a:solidFill>
                  <a:srgbClr val="595959"/>
                </a:solidFill>
                <a:latin typeface="微软雅黑" panose="020B0503020204020204" pitchFamily="34" charset="-122"/>
                <a:ea typeface="微软雅黑" panose="020B0503020204020204" pitchFamily="34" charset="-122"/>
                <a:cs typeface="+mn-ea"/>
              </a:rPr>
              <a:t>2,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函数体</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53984" y="4647527"/>
            <a:ext cx="10125798"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rPr>
              <a:t>上述语法格式中，</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构造函数名</a:t>
            </a:r>
            <a:r>
              <a:rPr lang="zh-CN" altLang="zh-CN" sz="2000" dirty="0">
                <a:solidFill>
                  <a:srgbClr val="595959"/>
                </a:solidFill>
                <a:latin typeface="微软雅黑" panose="020B0503020204020204" pitchFamily="34" charset="-122"/>
                <a:ea typeface="微软雅黑" panose="020B0503020204020204" pitchFamily="34" charset="-122"/>
              </a:rPr>
              <a:t>要以</a:t>
            </a:r>
            <a:r>
              <a:rPr lang="zh-CN" altLang="zh-CN" sz="2000" dirty="0">
                <a:solidFill>
                  <a:srgbClr val="1369B2"/>
                </a:solidFill>
                <a:latin typeface="微软雅黑" panose="020B0503020204020204" pitchFamily="34" charset="-122"/>
                <a:ea typeface="微软雅黑" panose="020B0503020204020204" pitchFamily="34" charset="-122"/>
                <a:cs typeface="+mn-ea"/>
              </a:rPr>
              <a:t>大写字母开头</a:t>
            </a:r>
            <a:r>
              <a:rPr lang="zh-CN" altLang="zh-CN" sz="2000" dirty="0">
                <a:solidFill>
                  <a:srgbClr val="595959"/>
                </a:solidFill>
                <a:latin typeface="微软雅黑" panose="020B0503020204020204" pitchFamily="34" charset="-122"/>
                <a:ea typeface="微软雅黑" panose="020B0503020204020204" pitchFamily="34" charset="-122"/>
              </a:rPr>
              <a:t>，以便与普通函数区分；构造函数的参数可以有</a:t>
            </a:r>
            <a:r>
              <a:rPr lang="zh-CN" altLang="zh-CN" sz="2000" dirty="0">
                <a:solidFill>
                  <a:srgbClr val="1369B2"/>
                </a:solidFill>
                <a:latin typeface="微软雅黑" panose="020B0503020204020204" pitchFamily="34" charset="-122"/>
                <a:ea typeface="微软雅黑" panose="020B0503020204020204" pitchFamily="34" charset="-122"/>
                <a:cs typeface="+mn-ea"/>
              </a:rPr>
              <a:t>一个</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多个</a:t>
            </a:r>
            <a:r>
              <a:rPr lang="zh-CN" altLang="zh-CN" sz="2000" dirty="0">
                <a:solidFill>
                  <a:srgbClr val="595959"/>
                </a:solidFill>
                <a:latin typeface="微软雅黑" panose="020B0503020204020204" pitchFamily="34" charset="-122"/>
                <a:ea typeface="微软雅黑" panose="020B0503020204020204" pitchFamily="34" charset="-122"/>
              </a:rPr>
              <a:t>，也可以</a:t>
            </a:r>
            <a:r>
              <a:rPr lang="zh-CN" altLang="zh-CN" sz="2000" dirty="0">
                <a:solidFill>
                  <a:srgbClr val="1369B2"/>
                </a:solidFill>
                <a:latin typeface="微软雅黑" panose="020B0503020204020204" pitchFamily="34" charset="-122"/>
                <a:ea typeface="微软雅黑" panose="020B0503020204020204" pitchFamily="34" charset="-122"/>
                <a:cs typeface="+mn-ea"/>
              </a:rPr>
              <a:t>省略</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56574" y="1339138"/>
            <a:ext cx="9005652" cy="553998"/>
          </a:xfrm>
          <a:prstGeom prst="rect">
            <a:avLst/>
          </a:prstGeom>
        </p:spPr>
        <p:txBody>
          <a:bodyPr wrap="square">
            <a:spAutoFit/>
          </a:bodyPr>
          <a:lstStyle/>
          <a:p>
            <a:pPr>
              <a:lnSpc>
                <a:spcPct val="150000"/>
              </a:lnSpc>
            </a:pPr>
            <a:r>
              <a:rPr lang="zh-CN" altLang="zh-CN" sz="2000">
                <a:solidFill>
                  <a:srgbClr val="595959"/>
                </a:solidFill>
                <a:latin typeface="微软雅黑" panose="020B0503020204020204" pitchFamily="34" charset="-122"/>
                <a:ea typeface="微软雅黑" panose="020B0503020204020204" pitchFamily="34" charset="-122"/>
              </a:rPr>
              <a:t>在构造函数的函数体中，可以</a:t>
            </a:r>
            <a:r>
              <a:rPr lang="zh-CN" altLang="zh-CN" sz="2000">
                <a:solidFill>
                  <a:srgbClr val="1369B2"/>
                </a:solidFill>
                <a:latin typeface="微软雅黑" panose="020B0503020204020204" pitchFamily="34" charset="-122"/>
                <a:ea typeface="微软雅黑" panose="020B0503020204020204" pitchFamily="34" charset="-122"/>
                <a:cs typeface="+mn-ea"/>
              </a:rPr>
              <a:t>为新创建的对象添加成员</a:t>
            </a:r>
            <a:r>
              <a:rPr lang="zh-CN" altLang="zh-CN" sz="2000">
                <a:solidFill>
                  <a:srgbClr val="595959"/>
                </a:solidFill>
                <a:latin typeface="微软雅黑" panose="020B0503020204020204" pitchFamily="34" charset="-122"/>
                <a:ea typeface="微软雅黑" panose="020B0503020204020204" pitchFamily="34" charset="-122"/>
              </a:rPr>
              <a:t>，其语法格式如下</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228582" y="2205658"/>
            <a:ext cx="9005652" cy="193899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this</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属性</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值</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this.</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r>
              <a:rPr lang="en-US" altLang="zh-CN" sz="2000" dirty="0">
                <a:solidFill>
                  <a:srgbClr val="595959"/>
                </a:solidFill>
                <a:latin typeface="微软雅黑" panose="020B0503020204020204" pitchFamily="34" charset="-122"/>
                <a:ea typeface="微软雅黑" panose="020B0503020204020204" pitchFamily="34" charset="-122"/>
                <a:cs typeface="+mn-ea"/>
              </a:rPr>
              <a:t> = function ([</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a:solidFill>
                  <a:srgbClr val="595959"/>
                </a:solidFill>
                <a:latin typeface="微软雅黑" panose="020B0503020204020204" pitchFamily="34" charset="-122"/>
                <a:ea typeface="微软雅黑" panose="020B0503020204020204" pitchFamily="34" charset="-122"/>
                <a:cs typeface="+mn-ea"/>
              </a:rPr>
              <a:t>1, </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a:solidFill>
                  <a:srgbClr val="595959"/>
                </a:solidFill>
                <a:latin typeface="微软雅黑" panose="020B0503020204020204" pitchFamily="34" charset="-122"/>
                <a:ea typeface="微软雅黑" panose="020B0503020204020204" pitchFamily="34" charset="-122"/>
                <a:cs typeface="+mn-ea"/>
              </a:rPr>
              <a:t>2,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方法体</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26654" y="4437906"/>
            <a:ext cx="9035572" cy="553998"/>
          </a:xfrm>
          <a:prstGeom prst="rect">
            <a:avLst/>
          </a:prstGeom>
        </p:spPr>
        <p:txBody>
          <a:bodyPr wrap="square">
            <a:spAutoFit/>
          </a:body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上述</a:t>
            </a:r>
            <a:r>
              <a:rPr lang="zh-CN" altLang="zh-CN" sz="2000">
                <a:solidFill>
                  <a:srgbClr val="595959"/>
                </a:solidFill>
                <a:latin typeface="微软雅黑" panose="020B0503020204020204" pitchFamily="34" charset="-122"/>
                <a:ea typeface="微软雅黑" panose="020B0503020204020204" pitchFamily="34" charset="-122"/>
              </a:rPr>
              <a:t>语法格式中，</a:t>
            </a:r>
            <a:r>
              <a:rPr lang="en-US" altLang="zh-CN" sz="2000">
                <a:solidFill>
                  <a:srgbClr val="1369B2"/>
                </a:solidFill>
                <a:latin typeface="微软雅黑" panose="020B0503020204020204" pitchFamily="34" charset="-122"/>
                <a:ea typeface="微软雅黑" panose="020B0503020204020204" pitchFamily="34" charset="-122"/>
                <a:cs typeface="+mn-ea"/>
              </a:rPr>
              <a:t>this</a:t>
            </a:r>
            <a:r>
              <a:rPr lang="zh-CN" altLang="zh-CN" sz="2000">
                <a:solidFill>
                  <a:srgbClr val="1369B2"/>
                </a:solidFill>
                <a:latin typeface="微软雅黑" panose="020B0503020204020204" pitchFamily="34" charset="-122"/>
                <a:ea typeface="微软雅黑" panose="020B0503020204020204" pitchFamily="34" charset="-122"/>
                <a:cs typeface="+mn-ea"/>
              </a:rPr>
              <a:t>表示新创建的对象</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26654" y="1557586"/>
            <a:ext cx="9005652" cy="553998"/>
          </a:xfrm>
          <a:prstGeom prst="rect">
            <a:avLst/>
          </a:prstGeom>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定义</a:t>
            </a:r>
            <a:r>
              <a:rPr lang="zh-CN" altLang="zh-CN" sz="2000">
                <a:solidFill>
                  <a:srgbClr val="595959"/>
                </a:solidFill>
                <a:latin typeface="微软雅黑" panose="020B0503020204020204" pitchFamily="34" charset="-122"/>
                <a:ea typeface="微软雅黑" panose="020B0503020204020204" pitchFamily="34" charset="-122"/>
              </a:rPr>
              <a:t>构造函数后，</a:t>
            </a:r>
            <a:r>
              <a:rPr lang="zh-CN" altLang="zh-CN" sz="2000">
                <a:solidFill>
                  <a:srgbClr val="1369B2"/>
                </a:solidFill>
                <a:latin typeface="微软雅黑" panose="020B0503020204020204" pitchFamily="34" charset="-122"/>
                <a:ea typeface="微软雅黑" panose="020B0503020204020204" pitchFamily="34" charset="-122"/>
                <a:cs typeface="+mn-ea"/>
              </a:rPr>
              <a:t>使用构造函数创建对象</a:t>
            </a:r>
            <a:r>
              <a:rPr lang="zh-CN" altLang="zh-CN" sz="2000">
                <a:solidFill>
                  <a:srgbClr val="595959"/>
                </a:solidFill>
                <a:latin typeface="微软雅黑" panose="020B0503020204020204" pitchFamily="34" charset="-122"/>
                <a:ea typeface="微软雅黑" panose="020B0503020204020204" pitchFamily="34" charset="-122"/>
              </a:rPr>
              <a:t>的语法格式如下</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198662" y="2424106"/>
            <a:ext cx="9005652" cy="499624"/>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变量名</a:t>
            </a:r>
            <a:r>
              <a:rPr lang="en-US" altLang="zh-CN" sz="2000" dirty="0">
                <a:solidFill>
                  <a:srgbClr val="595959"/>
                </a:solidFill>
                <a:latin typeface="微软雅黑" panose="020B0503020204020204" pitchFamily="34" charset="-122"/>
                <a:ea typeface="微软雅黑" panose="020B0503020204020204" pitchFamily="34" charset="-122"/>
                <a:cs typeface="+mn-ea"/>
              </a:rPr>
              <a:t> = new </a:t>
            </a:r>
            <a:r>
              <a:rPr lang="zh-CN" altLang="zh-CN" sz="2000" dirty="0">
                <a:solidFill>
                  <a:srgbClr val="595959"/>
                </a:solidFill>
                <a:latin typeface="微软雅黑" panose="020B0503020204020204" pitchFamily="34" charset="-122"/>
                <a:ea typeface="微软雅黑" panose="020B0503020204020204" pitchFamily="34" charset="-122"/>
                <a:cs typeface="+mn-ea"/>
              </a:rPr>
              <a:t>构造</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函数</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a:solidFill>
                  <a:srgbClr val="595959"/>
                </a:solidFill>
                <a:latin typeface="微软雅黑" panose="020B0503020204020204" pitchFamily="34" charset="-122"/>
                <a:ea typeface="微软雅黑" panose="020B0503020204020204" pitchFamily="34" charset="-122"/>
                <a:cs typeface="+mn-ea"/>
              </a:rPr>
              <a:t>1, </a:t>
            </a:r>
            <a:r>
              <a:rPr lang="zh-CN" altLang="zh-CN" sz="2000" dirty="0">
                <a:solidFill>
                  <a:srgbClr val="595959"/>
                </a:solidFill>
                <a:latin typeface="微软雅黑" panose="020B0503020204020204" pitchFamily="34" charset="-122"/>
                <a:ea typeface="微软雅黑" panose="020B0503020204020204" pitchFamily="34" charset="-122"/>
                <a:cs typeface="+mn-ea"/>
              </a:rPr>
              <a:t>参数</a:t>
            </a:r>
            <a:r>
              <a:rPr lang="en-US" altLang="zh-CN" sz="2000" dirty="0">
                <a:solidFill>
                  <a:srgbClr val="595959"/>
                </a:solidFill>
                <a:latin typeface="微软雅黑" panose="020B0503020204020204" pitchFamily="34" charset="-122"/>
                <a:ea typeface="微软雅黑" panose="020B0503020204020204" pitchFamily="34" charset="-122"/>
                <a:cs typeface="+mn-ea"/>
              </a:rPr>
              <a:t>2,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2272" y="3241054"/>
            <a:ext cx="9561446" cy="1015663"/>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上述</a:t>
            </a:r>
            <a:r>
              <a:rPr lang="zh-CN" altLang="zh-CN" sz="2000" dirty="0">
                <a:solidFill>
                  <a:srgbClr val="595959"/>
                </a:solidFill>
                <a:latin typeface="微软雅黑" panose="020B0503020204020204" pitchFamily="34" charset="-122"/>
                <a:ea typeface="微软雅黑" panose="020B0503020204020204" pitchFamily="34" charset="-122"/>
              </a:rPr>
              <a:t>语法格式中，参数可以有</a:t>
            </a:r>
            <a:r>
              <a:rPr lang="zh-CN" altLang="zh-CN" sz="2000" dirty="0">
                <a:solidFill>
                  <a:srgbClr val="1369B2"/>
                </a:solidFill>
                <a:latin typeface="微软雅黑" panose="020B0503020204020204" pitchFamily="34" charset="-122"/>
                <a:ea typeface="微软雅黑" panose="020B0503020204020204" pitchFamily="34" charset="-122"/>
                <a:cs typeface="+mn-ea"/>
              </a:rPr>
              <a:t>一个</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多个</a:t>
            </a:r>
            <a:r>
              <a:rPr lang="zh-CN" altLang="zh-CN" sz="2000" dirty="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1369B2"/>
                </a:solidFill>
                <a:latin typeface="微软雅黑" panose="020B0503020204020204" pitchFamily="34" charset="-122"/>
                <a:ea typeface="微软雅黑" panose="020B0503020204020204" pitchFamily="34" charset="-122"/>
                <a:cs typeface="+mn-ea"/>
              </a:rPr>
              <a:t>不需要传入参数时</a:t>
            </a:r>
            <a:r>
              <a:rPr lang="zh-CN" altLang="zh-CN" sz="2000" dirty="0">
                <a:solidFill>
                  <a:srgbClr val="595959"/>
                </a:solidFill>
                <a:latin typeface="微软雅黑" panose="020B0503020204020204" pitchFamily="34" charset="-122"/>
                <a:ea typeface="微软雅黑" panose="020B0503020204020204" pitchFamily="34" charset="-122"/>
              </a:rPr>
              <a:t>，参数可以</a:t>
            </a:r>
            <a:r>
              <a:rPr lang="zh-CN" altLang="zh-CN" sz="2000" dirty="0">
                <a:solidFill>
                  <a:srgbClr val="1369B2"/>
                </a:solidFill>
                <a:latin typeface="微软雅黑" panose="020B0503020204020204" pitchFamily="34" charset="-122"/>
                <a:ea typeface="微软雅黑" panose="020B0503020204020204" pitchFamily="34" charset="-122"/>
                <a:cs typeface="+mn-ea"/>
              </a:rPr>
              <a:t>省略</a:t>
            </a:r>
            <a:r>
              <a:rPr lang="zh-CN" altLang="zh-CN" sz="2000" dirty="0">
                <a:solidFill>
                  <a:srgbClr val="595959"/>
                </a:solidFill>
                <a:latin typeface="微软雅黑" panose="020B0503020204020204" pitchFamily="34" charset="-122"/>
                <a:ea typeface="微软雅黑" panose="020B0503020204020204" pitchFamily="34" charset="-122"/>
              </a:rPr>
              <a:t>，且</a:t>
            </a:r>
            <a:r>
              <a:rPr lang="zh-CN" altLang="zh-CN" sz="2000" dirty="0">
                <a:solidFill>
                  <a:srgbClr val="1369B2"/>
                </a:solidFill>
                <a:latin typeface="微软雅黑" panose="020B0503020204020204" pitchFamily="34" charset="-122"/>
                <a:ea typeface="微软雅黑" panose="020B0503020204020204" pitchFamily="34" charset="-122"/>
                <a:cs typeface="+mn-ea"/>
              </a:rPr>
              <a:t>小括号</a:t>
            </a:r>
            <a:r>
              <a:rPr lang="zh-CN" altLang="zh-CN" sz="2000" dirty="0">
                <a:solidFill>
                  <a:srgbClr val="595959"/>
                </a:solidFill>
                <a:latin typeface="微软雅黑" panose="020B0503020204020204" pitchFamily="34" charset="-122"/>
                <a:ea typeface="微软雅黑" panose="020B0503020204020204" pitchFamily="34" charset="-122"/>
              </a:rPr>
              <a:t>也可以省略</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p:cNvSpPr txBox="1">
            <a:spLocks noChangeArrowheads="1"/>
          </p:cNvSpPr>
          <p:nvPr/>
        </p:nvSpPr>
        <p:spPr bwMode="auto">
          <a:xfrm>
            <a:off x="982638" y="1015206"/>
            <a:ext cx="10441159"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定义</a:t>
            </a:r>
            <a:r>
              <a:rPr lang="zh-CN" altLang="zh-CN" sz="2000" dirty="0">
                <a:solidFill>
                  <a:srgbClr val="595959"/>
                </a:solidFill>
                <a:latin typeface="微软雅黑" panose="020B0503020204020204" pitchFamily="34" charset="-122"/>
                <a:ea typeface="微软雅黑" panose="020B0503020204020204" pitchFamily="34" charset="-122"/>
                <a:cs typeface="+mn-ea"/>
              </a:rPr>
              <a:t>一个</a:t>
            </a:r>
            <a:r>
              <a:rPr lang="en-US" altLang="zh-CN" sz="2000" dirty="0">
                <a:solidFill>
                  <a:srgbClr val="1369B2"/>
                </a:solidFill>
                <a:latin typeface="微软雅黑" panose="020B0503020204020204" pitchFamily="34" charset="-122"/>
                <a:ea typeface="微软雅黑" panose="020B0503020204020204" pitchFamily="34" charset="-122"/>
                <a:cs typeface="+mn-ea"/>
              </a:rPr>
              <a:t>Student()</a:t>
            </a:r>
            <a:r>
              <a:rPr lang="zh-CN" altLang="zh-CN" sz="2000" dirty="0">
                <a:solidFill>
                  <a:srgbClr val="595959"/>
                </a:solidFill>
                <a:latin typeface="微软雅黑" panose="020B0503020204020204" pitchFamily="34" charset="-122"/>
                <a:ea typeface="微软雅黑" panose="020B0503020204020204" pitchFamily="34" charset="-122"/>
                <a:cs typeface="+mn-ea"/>
              </a:rPr>
              <a:t>构造函数，利用</a:t>
            </a:r>
            <a:r>
              <a:rPr lang="en-US" altLang="zh-CN" sz="2000" dirty="0">
                <a:solidFill>
                  <a:srgbClr val="595959"/>
                </a:solidFill>
                <a:latin typeface="微软雅黑" panose="020B0503020204020204" pitchFamily="34" charset="-122"/>
                <a:ea typeface="微软雅黑" panose="020B0503020204020204" pitchFamily="34" charset="-122"/>
                <a:cs typeface="+mn-ea"/>
              </a:rPr>
              <a:t>Student()</a:t>
            </a:r>
            <a:r>
              <a:rPr lang="zh-CN" altLang="zh-CN" sz="2000" dirty="0">
                <a:solidFill>
                  <a:srgbClr val="595959"/>
                </a:solidFill>
                <a:latin typeface="微软雅黑" panose="020B0503020204020204" pitchFamily="34" charset="-122"/>
                <a:ea typeface="微软雅黑" panose="020B0503020204020204" pitchFamily="34" charset="-122"/>
                <a:cs typeface="+mn-ea"/>
              </a:rPr>
              <a:t>构造函数</a:t>
            </a:r>
            <a:r>
              <a:rPr lang="zh-CN" altLang="zh-CN" sz="2000" dirty="0">
                <a:solidFill>
                  <a:srgbClr val="1369B2"/>
                </a:solidFill>
                <a:latin typeface="微软雅黑" panose="020B0503020204020204" pitchFamily="34" charset="-122"/>
                <a:ea typeface="微软雅黑" panose="020B0503020204020204" pitchFamily="34" charset="-122"/>
                <a:cs typeface="+mn-ea"/>
              </a:rPr>
              <a:t>创建学生对象</a:t>
            </a:r>
            <a:r>
              <a:rPr lang="zh-CN" altLang="zh-CN" sz="2000" dirty="0">
                <a:solidFill>
                  <a:srgbClr val="595959"/>
                </a:solidFill>
                <a:latin typeface="微软雅黑" panose="020B0503020204020204" pitchFamily="34" charset="-122"/>
                <a:ea typeface="微软雅黑" panose="020B0503020204020204" pitchFamily="34" charset="-122"/>
                <a:cs typeface="+mn-ea"/>
              </a:rPr>
              <a:t>，实现学生的</a:t>
            </a:r>
            <a:r>
              <a:rPr lang="zh-CN" altLang="zh-CN" sz="2000" dirty="0">
                <a:solidFill>
                  <a:srgbClr val="1369B2"/>
                </a:solidFill>
                <a:latin typeface="微软雅黑" panose="020B0503020204020204" pitchFamily="34" charset="-122"/>
                <a:ea typeface="微软雅黑" panose="020B0503020204020204" pitchFamily="34" charset="-122"/>
                <a:cs typeface="+mn-ea"/>
              </a:rPr>
              <a:t>自我介绍</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1933809" y="2205658"/>
            <a:ext cx="9005652" cy="4192943"/>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定义一个</a:t>
            </a:r>
            <a:r>
              <a:rPr lang="en-US" altLang="zh-CN" sz="2000" dirty="0">
                <a:solidFill>
                  <a:srgbClr val="595959"/>
                </a:solidFill>
                <a:latin typeface="微软雅黑" panose="020B0503020204020204" pitchFamily="34" charset="-122"/>
                <a:ea typeface="微软雅黑" panose="020B0503020204020204" pitchFamily="34" charset="-122"/>
                <a:cs typeface="+mn-ea"/>
              </a:rPr>
              <a:t>Student()</a:t>
            </a:r>
            <a:r>
              <a:rPr lang="zh-CN" altLang="zh-CN" sz="2000" dirty="0">
                <a:solidFill>
                  <a:srgbClr val="595959"/>
                </a:solidFill>
                <a:latin typeface="微软雅黑" panose="020B0503020204020204" pitchFamily="34" charset="-122"/>
                <a:ea typeface="微软雅黑" panose="020B0503020204020204" pitchFamily="34" charset="-122"/>
                <a:cs typeface="+mn-ea"/>
              </a:rPr>
              <a:t>构造函数</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function Student(name, age)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this.name = name;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this.age</a:t>
            </a:r>
            <a:r>
              <a:rPr lang="en-US" altLang="zh-CN" sz="2000" dirty="0">
                <a:solidFill>
                  <a:srgbClr val="595959"/>
                </a:solidFill>
                <a:latin typeface="微软雅黑" panose="020B0503020204020204" pitchFamily="34" charset="-122"/>
                <a:ea typeface="微软雅黑" panose="020B0503020204020204" pitchFamily="34" charset="-122"/>
                <a:cs typeface="+mn-ea"/>
              </a:rPr>
              <a:t> = age;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this.introduce</a:t>
            </a:r>
            <a:r>
              <a:rPr lang="en-US" altLang="zh-CN" sz="2000" dirty="0">
                <a:solidFill>
                  <a:srgbClr val="595959"/>
                </a:solidFill>
                <a:latin typeface="微软雅黑" panose="020B0503020204020204" pitchFamily="34" charset="-122"/>
                <a:ea typeface="微软雅黑" panose="020B0503020204020204" pitchFamily="34" charset="-122"/>
                <a:cs typeface="+mn-ea"/>
              </a:rPr>
              <a:t> = function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a:t>
            </a:r>
            <a:r>
              <a:rPr lang="zh-CN" altLang="zh-CN" sz="2000" dirty="0">
                <a:solidFill>
                  <a:srgbClr val="595959"/>
                </a:solidFill>
                <a:latin typeface="微软雅黑" panose="020B0503020204020204" pitchFamily="34" charset="-122"/>
                <a:ea typeface="微软雅黑" panose="020B0503020204020204" pitchFamily="34" charset="-122"/>
                <a:cs typeface="+mn-ea"/>
              </a:rPr>
              <a:t>大家好，我叫</a:t>
            </a:r>
            <a:r>
              <a:rPr lang="en-US" altLang="zh-CN" sz="2000" dirty="0">
                <a:solidFill>
                  <a:srgbClr val="595959"/>
                </a:solidFill>
                <a:latin typeface="微软雅黑" panose="020B0503020204020204" pitchFamily="34" charset="-122"/>
                <a:ea typeface="微软雅黑" panose="020B0503020204020204" pitchFamily="34" charset="-122"/>
                <a:cs typeface="+mn-ea"/>
              </a:rPr>
              <a:t>${this.name}</a:t>
            </a:r>
            <a:r>
              <a:rPr lang="zh-CN" altLang="zh-CN" sz="2000" dirty="0">
                <a:solidFill>
                  <a:srgbClr val="595959"/>
                </a:solidFill>
                <a:latin typeface="微软雅黑" panose="020B0503020204020204" pitchFamily="34" charset="-122"/>
                <a:ea typeface="微软雅黑" panose="020B0503020204020204" pitchFamily="34" charset="-122"/>
                <a:cs typeface="+mn-ea"/>
              </a:rPr>
              <a:t>，今年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this.age</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岁</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1410034" y="1845617"/>
            <a:ext cx="9005652" cy="3731278"/>
          </a:xfrm>
          <a:prstGeom prst="rect">
            <a:avLst/>
          </a:prstGeom>
          <a:solidFill>
            <a:srgbClr val="F2F2F2"/>
          </a:solidFill>
        </p:spPr>
        <p:txBody>
          <a:bodyPr wrap="square" rtlCol="0">
            <a:spAutoFit/>
          </a:bodyPr>
          <a:lstStyle/>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595959"/>
                </a:solidFill>
                <a:latin typeface="微软雅黑" panose="020B0503020204020204" pitchFamily="34" charset="-122"/>
                <a:ea typeface="微软雅黑" panose="020B0503020204020204" pitchFamily="34" charset="-122"/>
                <a:cs typeface="+mn-ea"/>
              </a:rPr>
              <a:t>Student()</a:t>
            </a:r>
            <a:r>
              <a:rPr lang="zh-CN" altLang="zh-CN" sz="2000">
                <a:solidFill>
                  <a:srgbClr val="595959"/>
                </a:solidFill>
                <a:latin typeface="微软雅黑" panose="020B0503020204020204" pitchFamily="34" charset="-122"/>
                <a:ea typeface="微软雅黑" panose="020B0503020204020204" pitchFamily="34" charset="-122"/>
                <a:cs typeface="+mn-ea"/>
              </a:rPr>
              <a:t>构造函数创建对象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var stu1 = new Student('</a:t>
            </a:r>
            <a:r>
              <a:rPr lang="zh-CN" altLang="zh-CN" sz="2000">
                <a:solidFill>
                  <a:srgbClr val="595959"/>
                </a:solidFill>
                <a:latin typeface="微软雅黑" panose="020B0503020204020204" pitchFamily="34" charset="-122"/>
                <a:ea typeface="微软雅黑" panose="020B0503020204020204" pitchFamily="34" charset="-122"/>
                <a:cs typeface="+mn-ea"/>
              </a:rPr>
              <a:t>小智</a:t>
            </a:r>
            <a:r>
              <a:rPr lang="en-US" altLang="zh-CN" sz="2000">
                <a:solidFill>
                  <a:srgbClr val="595959"/>
                </a:solidFill>
                <a:latin typeface="微软雅黑" panose="020B0503020204020204" pitchFamily="34" charset="-122"/>
                <a:ea typeface="微软雅黑" panose="020B0503020204020204" pitchFamily="34" charset="-122"/>
                <a:cs typeface="+mn-ea"/>
              </a:rPr>
              <a:t>', 20);</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stu1.introduce();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var stu2 = new Student('</a:t>
            </a:r>
            <a:r>
              <a:rPr lang="zh-CN" altLang="zh-CN" sz="2000">
                <a:solidFill>
                  <a:srgbClr val="595959"/>
                </a:solidFill>
                <a:latin typeface="微软雅黑" panose="020B0503020204020204" pitchFamily="34" charset="-122"/>
                <a:ea typeface="微软雅黑" panose="020B0503020204020204" pitchFamily="34" charset="-122"/>
                <a:cs typeface="+mn-ea"/>
              </a:rPr>
              <a:t>小丽</a:t>
            </a:r>
            <a:r>
              <a:rPr lang="en-US" altLang="zh-CN" sz="2000">
                <a:solidFill>
                  <a:srgbClr val="595959"/>
                </a:solidFill>
                <a:latin typeface="微软雅黑" panose="020B0503020204020204" pitchFamily="34" charset="-122"/>
                <a:ea typeface="微软雅黑" panose="020B0503020204020204" pitchFamily="34" charset="-122"/>
                <a:cs typeface="+mn-ea"/>
              </a:rPr>
              <a:t>', 19);</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stu2.introduce();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var stu3 = new Student('</a:t>
            </a:r>
            <a:r>
              <a:rPr lang="zh-CN" altLang="zh-CN" sz="2000">
                <a:solidFill>
                  <a:srgbClr val="595959"/>
                </a:solidFill>
                <a:latin typeface="微软雅黑" panose="020B0503020204020204" pitchFamily="34" charset="-122"/>
                <a:ea typeface="微软雅黑" panose="020B0503020204020204" pitchFamily="34" charset="-122"/>
                <a:cs typeface="+mn-ea"/>
              </a:rPr>
              <a:t>小娜</a:t>
            </a:r>
            <a:r>
              <a:rPr lang="en-US" altLang="zh-CN" sz="2000">
                <a:solidFill>
                  <a:srgbClr val="595959"/>
                </a:solidFill>
                <a:latin typeface="微软雅黑" panose="020B0503020204020204" pitchFamily="34" charset="-122"/>
                <a:ea typeface="微软雅黑" panose="020B0503020204020204" pitchFamily="34" charset="-122"/>
                <a:cs typeface="+mn-ea"/>
              </a:rPr>
              <a:t>', 18);</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stu3.introduce();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&lt;/script</a:t>
            </a:r>
            <a:r>
              <a:rPr lang="en-US" altLang="zh-CN" sz="2000" smtClean="0">
                <a:solidFill>
                  <a:srgbClr val="595959"/>
                </a:solidFill>
                <a:latin typeface="微软雅黑" panose="020B0503020204020204" pitchFamily="34" charset="-122"/>
                <a:ea typeface="微软雅黑" panose="020B0503020204020204" pitchFamily="34" charset="-122"/>
                <a:cs typeface="+mn-ea"/>
              </a:rPr>
              <a:t>&gt;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5" name="TextBox 35"/>
          <p:cNvSpPr txBox="1">
            <a:spLocks noChangeArrowheads="1"/>
          </p:cNvSpPr>
          <p:nvPr/>
        </p:nvSpPr>
        <p:spPr bwMode="auto">
          <a:xfrm>
            <a:off x="1383096" y="1044150"/>
            <a:ext cx="8699415"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&gt;&gt;  </a:t>
            </a:r>
            <a:r>
              <a:rPr lang="zh-CN" altLang="en-US" sz="2000" smtClean="0">
                <a:solidFill>
                  <a:srgbClr val="595959"/>
                </a:solidFill>
                <a:latin typeface="微软雅黑" panose="020B0503020204020204" pitchFamily="34" charset="-122"/>
                <a:ea typeface="微软雅黑" panose="020B0503020204020204" pitchFamily="34" charset="-122"/>
                <a:cs typeface="+mn-ea"/>
              </a:rPr>
              <a:t>续上一页代码</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82838" y="1485578"/>
            <a:ext cx="6192688" cy="37539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a:stretch>
            <a:fillRect/>
          </a:stretch>
        </p:blipFill>
        <p:spPr>
          <a:xfrm>
            <a:off x="971712" y="1352729"/>
            <a:ext cx="1015842" cy="1015842"/>
          </a:xfrm>
          <a:prstGeom prst="rect">
            <a:avLst/>
          </a:prstGeom>
        </p:spPr>
      </p:pic>
      <p:sp>
        <p:nvSpPr>
          <p:cNvPr id="12" name="矩形 11"/>
          <p:cNvSpPr/>
          <p:nvPr/>
        </p:nvSpPr>
        <p:spPr>
          <a:xfrm>
            <a:off x="2150110" y="1607820"/>
            <a:ext cx="2936984"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50110" y="1743045"/>
            <a:ext cx="2936984" cy="400110"/>
          </a:xfrm>
          <a:prstGeom prst="rect">
            <a:avLst/>
          </a:prstGeom>
          <a:noFill/>
        </p:spPr>
        <p:txBody>
          <a:bodyPr wrap="square" rtlCol="0">
            <a:spAutoFit/>
          </a:bodyPr>
          <a:lstStyle/>
          <a:p>
            <a:pPr algn="ct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静态成员和实例成员</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184502"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359501"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159169" y="2853730"/>
            <a:ext cx="9583641" cy="193899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a:t>
            </a:r>
            <a:r>
              <a:rPr lang="zh-CN" altLang="zh-CN" sz="2000" dirty="0">
                <a:solidFill>
                  <a:srgbClr val="1369B2"/>
                </a:solidFill>
                <a:latin typeface="微软雅黑" panose="020B0503020204020204" pitchFamily="34" charset="-122"/>
                <a:ea typeface="微软雅黑" panose="020B0503020204020204" pitchFamily="34" charset="-122"/>
              </a:rPr>
              <a:t>构造函数也属于对象</a:t>
            </a:r>
            <a:r>
              <a:rPr lang="zh-CN" altLang="zh-CN" sz="2000" dirty="0">
                <a:solidFill>
                  <a:srgbClr val="595959"/>
                </a:solidFill>
                <a:latin typeface="微软雅黑" panose="020B0503020204020204" pitchFamily="34" charset="-122"/>
                <a:ea typeface="微软雅黑" panose="020B0503020204020204" pitchFamily="34" charset="-122"/>
              </a:rPr>
              <a:t>，因此，构造函数也有成员</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为了</a:t>
            </a:r>
            <a:r>
              <a:rPr lang="zh-CN" altLang="zh-CN" sz="2000" dirty="0">
                <a:solidFill>
                  <a:srgbClr val="595959"/>
                </a:solidFill>
                <a:latin typeface="微软雅黑" panose="020B0503020204020204" pitchFamily="34" charset="-122"/>
                <a:ea typeface="微软雅黑" panose="020B0503020204020204" pitchFamily="34" charset="-122"/>
              </a:rPr>
              <a:t>区分构造函数的成员和实例对象的成员，我们将</a:t>
            </a:r>
            <a:r>
              <a:rPr lang="zh-CN" altLang="zh-CN" sz="2000" dirty="0">
                <a:solidFill>
                  <a:srgbClr val="1369B2"/>
                </a:solidFill>
                <a:latin typeface="微软雅黑" panose="020B0503020204020204" pitchFamily="34" charset="-122"/>
                <a:ea typeface="微软雅黑" panose="020B0503020204020204" pitchFamily="34" charset="-122"/>
              </a:rPr>
              <a:t>构造函数的成员</a:t>
            </a:r>
            <a:r>
              <a:rPr lang="zh-CN" altLang="zh-CN" sz="2000" dirty="0" smtClean="0">
                <a:solidFill>
                  <a:srgbClr val="1369B2"/>
                </a:solidFill>
                <a:latin typeface="微软雅黑" panose="020B0503020204020204" pitchFamily="34" charset="-122"/>
                <a:ea typeface="微软雅黑" panose="020B0503020204020204" pitchFamily="34" charset="-122"/>
              </a:rPr>
              <a:t>称为静态成员</a:t>
            </a:r>
            <a:r>
              <a:rPr lang="zh-CN" altLang="zh-CN" sz="2000" dirty="0" smtClean="0">
                <a:solidFill>
                  <a:srgbClr val="595959"/>
                </a:solidFill>
                <a:latin typeface="微软雅黑" panose="020B0503020204020204" pitchFamily="34" charset="-122"/>
                <a:ea typeface="微软雅黑" panose="020B0503020204020204" pitchFamily="34" charset="-122"/>
              </a:rPr>
              <a:t>，将</a:t>
            </a:r>
            <a:r>
              <a:rPr lang="zh-CN" altLang="zh-CN" sz="2000" dirty="0" smtClean="0">
                <a:solidFill>
                  <a:srgbClr val="1369B2"/>
                </a:solidFill>
                <a:latin typeface="微软雅黑" panose="020B0503020204020204" pitchFamily="34" charset="-122"/>
                <a:ea typeface="微软雅黑" panose="020B0503020204020204" pitchFamily="34" charset="-122"/>
              </a:rPr>
              <a:t>实例</a:t>
            </a:r>
            <a:r>
              <a:rPr lang="zh-CN" altLang="zh-CN" sz="2000" dirty="0">
                <a:solidFill>
                  <a:srgbClr val="1369B2"/>
                </a:solidFill>
                <a:latin typeface="微软雅黑" panose="020B0503020204020204" pitchFamily="34" charset="-122"/>
                <a:ea typeface="微软雅黑" panose="020B0503020204020204" pitchFamily="34" charset="-122"/>
              </a:rPr>
              <a:t>对象的成员称为实例成员</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853966" y="1362716"/>
            <a:ext cx="8409592" cy="499624"/>
          </a:xfrm>
          <a:prstGeom prst="rect">
            <a:avLst/>
          </a:prstGeom>
          <a:noFill/>
        </p:spPr>
        <p:txBody>
          <a:bodyPr wrap="square">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下面通过代码演示</a:t>
            </a:r>
            <a:r>
              <a:rPr lang="zh-CN" altLang="en-US" sz="2000" dirty="0">
                <a:solidFill>
                  <a:srgbClr val="1369B2"/>
                </a:solidFill>
                <a:latin typeface="微软雅黑" panose="020B0503020204020204" pitchFamily="34" charset="-122"/>
                <a:ea typeface="微软雅黑" panose="020B0503020204020204" pitchFamily="34" charset="-122"/>
              </a:rPr>
              <a:t>静态成员和实例成员在创建与使用过程中的区别</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3286894" y="1910721"/>
            <a:ext cx="4632024" cy="4850174"/>
          </a:xfrm>
          <a:prstGeom prst="rect">
            <a:avLst/>
          </a:prstGeom>
          <a:solidFill>
            <a:srgbClr val="F2F2F2"/>
          </a:solidFill>
        </p:spPr>
        <p:txBody>
          <a:bodyPr wrap="square" rtlCol="0">
            <a:spAutoFit/>
          </a:bodyPr>
          <a:lstStyle/>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a:t>
            </a:r>
            <a:r>
              <a:rPr lang="en-US" altLang="zh-CN" sz="1600" smtClean="0">
                <a:solidFill>
                  <a:srgbClr val="595959"/>
                </a:solidFill>
                <a:latin typeface="微软雅黑" panose="020B0503020204020204" pitchFamily="34" charset="-122"/>
                <a:ea typeface="微软雅黑" panose="020B0503020204020204" pitchFamily="34" charset="-122"/>
                <a:cs typeface="+mn-ea"/>
              </a:rPr>
              <a:t>&lt;</a:t>
            </a:r>
            <a:r>
              <a:rPr lang="en-US" altLang="zh-CN" sz="1600">
                <a:solidFill>
                  <a:srgbClr val="595959"/>
                </a:solidFill>
                <a:latin typeface="微软雅黑" panose="020B0503020204020204" pitchFamily="34" charset="-122"/>
                <a:ea typeface="微软雅黑" panose="020B0503020204020204" pitchFamily="34" charset="-122"/>
                <a:cs typeface="+mn-ea"/>
              </a:rPr>
              <a:t>script&gt;</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function Cat(name) {</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 </a:t>
            </a:r>
            <a:r>
              <a:rPr lang="zh-CN" altLang="zh-CN" sz="1600">
                <a:solidFill>
                  <a:srgbClr val="595959"/>
                </a:solidFill>
                <a:latin typeface="微软雅黑" panose="020B0503020204020204" pitchFamily="34" charset="-122"/>
                <a:ea typeface="微软雅黑" panose="020B0503020204020204" pitchFamily="34" charset="-122"/>
                <a:cs typeface="+mn-ea"/>
              </a:rPr>
              <a:t>添加实例成员</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this.name = name;</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this.say = function () {</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console.log('</a:t>
            </a:r>
            <a:r>
              <a:rPr lang="zh-CN" altLang="zh-CN" sz="1600">
                <a:solidFill>
                  <a:srgbClr val="595959"/>
                </a:solidFill>
                <a:latin typeface="微软雅黑" panose="020B0503020204020204" pitchFamily="34" charset="-122"/>
                <a:ea typeface="微软雅黑" panose="020B0503020204020204" pitchFamily="34" charset="-122"/>
                <a:cs typeface="+mn-ea"/>
              </a:rPr>
              <a:t>喵喵喵</a:t>
            </a:r>
            <a:r>
              <a:rPr lang="en-US" altLang="zh-CN" sz="1600">
                <a:solidFill>
                  <a:srgbClr val="595959"/>
                </a:solidFill>
                <a:latin typeface="微软雅黑" panose="020B0503020204020204" pitchFamily="34" charset="-122"/>
                <a:ea typeface="微软雅黑" panose="020B0503020204020204" pitchFamily="34" charset="-122"/>
                <a:cs typeface="+mn-ea"/>
              </a:rPr>
              <a:t>');</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 </a:t>
            </a:r>
            <a:r>
              <a:rPr lang="zh-CN" altLang="zh-CN" sz="1600">
                <a:solidFill>
                  <a:srgbClr val="595959"/>
                </a:solidFill>
                <a:latin typeface="微软雅黑" panose="020B0503020204020204" pitchFamily="34" charset="-122"/>
                <a:ea typeface="微软雅黑" panose="020B0503020204020204" pitchFamily="34" charset="-122"/>
                <a:cs typeface="+mn-ea"/>
              </a:rPr>
              <a:t>添加静态成员</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Cat.type = '</a:t>
            </a:r>
            <a:r>
              <a:rPr lang="zh-CN" altLang="zh-CN" sz="1600">
                <a:solidFill>
                  <a:srgbClr val="595959"/>
                </a:solidFill>
                <a:latin typeface="微软雅黑" panose="020B0503020204020204" pitchFamily="34" charset="-122"/>
                <a:ea typeface="微软雅黑" panose="020B0503020204020204" pitchFamily="34" charset="-122"/>
                <a:cs typeface="+mn-ea"/>
              </a:rPr>
              <a:t>小猫</a:t>
            </a:r>
            <a:r>
              <a:rPr lang="en-US" altLang="zh-CN" sz="1600">
                <a:solidFill>
                  <a:srgbClr val="595959"/>
                </a:solidFill>
                <a:latin typeface="微软雅黑" panose="020B0503020204020204" pitchFamily="34" charset="-122"/>
                <a:ea typeface="微软雅黑" panose="020B0503020204020204" pitchFamily="34" charset="-122"/>
                <a:cs typeface="+mn-ea"/>
              </a:rPr>
              <a:t>';</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Cat.run = function () {</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console.log('</a:t>
            </a:r>
            <a:r>
              <a:rPr lang="zh-CN" altLang="zh-CN" sz="1600">
                <a:solidFill>
                  <a:srgbClr val="595959"/>
                </a:solidFill>
                <a:latin typeface="微软雅黑" panose="020B0503020204020204" pitchFamily="34" charset="-122"/>
                <a:ea typeface="微软雅黑" panose="020B0503020204020204" pitchFamily="34" charset="-122"/>
                <a:cs typeface="+mn-ea"/>
              </a:rPr>
              <a:t>抓老鼠</a:t>
            </a:r>
            <a:r>
              <a:rPr lang="en-US" altLang="zh-CN" sz="1600">
                <a:solidFill>
                  <a:srgbClr val="595959"/>
                </a:solidFill>
                <a:latin typeface="微软雅黑" panose="020B0503020204020204" pitchFamily="34" charset="-122"/>
                <a:ea typeface="微软雅黑" panose="020B0503020204020204" pitchFamily="34" charset="-122"/>
                <a:cs typeface="+mn-ea"/>
              </a:rPr>
              <a:t>');</a:t>
            </a:r>
            <a:endParaRPr lang="zh-CN" altLang="zh-CN" sz="16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600">
                <a:solidFill>
                  <a:srgbClr val="595959"/>
                </a:solidFill>
                <a:latin typeface="微软雅黑" panose="020B0503020204020204" pitchFamily="34" charset="-122"/>
                <a:ea typeface="微软雅黑" panose="020B0503020204020204" pitchFamily="34" charset="-122"/>
                <a:cs typeface="+mn-ea"/>
              </a:rPr>
              <a:t>  };</a:t>
            </a:r>
            <a:endParaRPr lang="zh-CN" altLang="zh-CN" sz="16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利用构造函数创建对象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1838566" y="1910721"/>
            <a:ext cx="9005652" cy="378565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使用静态成员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Cat.type</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输出结果为：小猫</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Cat.run</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输出结果为：抓老鼠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使用实例成员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cat1 = new Cat('</a:t>
            </a:r>
            <a:r>
              <a:rPr lang="zh-CN" altLang="zh-CN" sz="2000" dirty="0">
                <a:solidFill>
                  <a:srgbClr val="595959"/>
                </a:solidFill>
                <a:latin typeface="微软雅黑" panose="020B0503020204020204" pitchFamily="34" charset="-122"/>
                <a:ea typeface="微软雅黑" panose="020B0503020204020204" pitchFamily="34" charset="-122"/>
                <a:cs typeface="+mn-ea"/>
              </a:rPr>
              <a:t>小花</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console.log(cat1.name);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输出结果为：小花</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cat1.say();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输出结果为：喵喵喵</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&lt;/script&gt;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extBox 35"/>
          <p:cNvSpPr txBox="1">
            <a:spLocks noChangeArrowheads="1"/>
          </p:cNvSpPr>
          <p:nvPr/>
        </p:nvSpPr>
        <p:spPr bwMode="auto">
          <a:xfrm>
            <a:off x="1838566" y="1339507"/>
            <a:ext cx="8699415"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&gt;&gt;  </a:t>
            </a:r>
            <a:r>
              <a:rPr lang="zh-CN" altLang="en-US" sz="2000" smtClean="0">
                <a:solidFill>
                  <a:srgbClr val="595959"/>
                </a:solidFill>
                <a:latin typeface="微软雅黑" panose="020B0503020204020204" pitchFamily="34" charset="-122"/>
                <a:ea typeface="微软雅黑" panose="020B0503020204020204" pitchFamily="34" charset="-122"/>
                <a:cs typeface="+mn-ea"/>
              </a:rPr>
              <a:t>续上一页代码</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485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mn-ea"/>
              </a:rPr>
              <a:t>掌握</a:t>
            </a:r>
            <a:r>
              <a:rPr lang="zh-CN" altLang="en-US" sz="2000">
                <a:solidFill>
                  <a:srgbClr val="1369B2"/>
                </a:solidFill>
                <a:latin typeface="微软雅黑" panose="020B0503020204020204" pitchFamily="34" charset="-122"/>
                <a:ea typeface="微软雅黑" panose="020B0503020204020204" pitchFamily="34" charset="-122"/>
                <a:cs typeface="+mn-ea"/>
              </a:rPr>
              <a:t>对象的创建方式</a:t>
            </a:r>
            <a:r>
              <a:rPr lang="zh-CN" altLang="zh-CN" sz="2000">
                <a:solidFill>
                  <a:srgbClr val="595959"/>
                </a:solidFill>
                <a:latin typeface="微软雅黑" panose="020B0503020204020204" pitchFamily="34" charset="-122"/>
                <a:ea typeface="微软雅黑" panose="020B0503020204020204" pitchFamily="34" charset="-122"/>
                <a:cs typeface="+mn-ea"/>
              </a:rPr>
              <a:t>，能够灵活</a:t>
            </a:r>
            <a:r>
              <a:rPr lang="zh-CN" altLang="zh-CN" sz="2000" smtClean="0">
                <a:solidFill>
                  <a:srgbClr val="595959"/>
                </a:solidFill>
                <a:latin typeface="微软雅黑" panose="020B0503020204020204" pitchFamily="34" charset="-122"/>
                <a:ea typeface="微软雅黑" panose="020B0503020204020204" pitchFamily="34" charset="-122"/>
                <a:cs typeface="+mn-ea"/>
              </a:rPr>
              <a:t>应用</a:t>
            </a:r>
            <a:r>
              <a:rPr lang="en-US" altLang="zh-CN" sz="2000" smtClean="0">
                <a:solidFill>
                  <a:srgbClr val="1369B2"/>
                </a:solidFill>
                <a:latin typeface="微软雅黑" panose="020B0503020204020204" pitchFamily="34" charset="-122"/>
                <a:ea typeface="微软雅黑" panose="020B0503020204020204" pitchFamily="34" charset="-122"/>
                <a:cs typeface="+mn-ea"/>
              </a:rPr>
              <a:t>Object()</a:t>
            </a:r>
            <a:r>
              <a:rPr lang="zh-CN" altLang="en-US" sz="2000" smtClean="0">
                <a:solidFill>
                  <a:srgbClr val="595959"/>
                </a:solidFill>
                <a:latin typeface="微软雅黑" panose="020B0503020204020204" pitchFamily="34" charset="-122"/>
                <a:ea typeface="微软雅黑" panose="020B0503020204020204" pitchFamily="34" charset="-122"/>
                <a:cs typeface="+mn-ea"/>
              </a:rPr>
              <a:t>的</a:t>
            </a:r>
            <a:r>
              <a:rPr lang="zh-CN" altLang="zh-CN" sz="2000">
                <a:solidFill>
                  <a:srgbClr val="595959"/>
                </a:solidFill>
                <a:latin typeface="微软雅黑" panose="020B0503020204020204" pitchFamily="34" charset="-122"/>
                <a:ea typeface="微软雅黑" panose="020B0503020204020204" pitchFamily="34" charset="-122"/>
                <a:cs typeface="+mn-ea"/>
              </a:rPr>
              <a:t>方式创建对象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4899447" y="1985403"/>
            <a:ext cx="6380335" cy="1948447"/>
            <a:chOff x="4899446" y="1985402"/>
            <a:chExt cx="6740375" cy="3417567"/>
          </a:xfrm>
        </p:grpSpPr>
        <p:sp>
          <p:nvSpPr>
            <p:cNvPr id="9" name="圆角矩形标注 11"/>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10" name="矩形 5"/>
            <p:cNvSpPr>
              <a:spLocks noChangeArrowheads="1"/>
            </p:cNvSpPr>
            <p:nvPr/>
          </p:nvSpPr>
          <p:spPr bwMode="auto">
            <a:xfrm>
              <a:off x="5386940" y="2344233"/>
              <a:ext cx="5644310" cy="2679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在</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中，除了可以利用字面量或构造函数创建对象，还可以利用</a:t>
              </a:r>
              <a:r>
                <a:rPr lang="en-US" altLang="zh-CN" sz="2000">
                  <a:solidFill>
                    <a:srgbClr val="1369B2"/>
                  </a:solidFill>
                  <a:latin typeface="微软雅黑" panose="020B0503020204020204" pitchFamily="34" charset="-122"/>
                  <a:ea typeface="微软雅黑" panose="020B0503020204020204" pitchFamily="34" charset="-122"/>
                  <a:cs typeface="+mn-ea"/>
                </a:rPr>
                <a:t>Object()</a:t>
              </a:r>
              <a:r>
                <a:rPr lang="zh-CN" altLang="zh-CN" sz="2000">
                  <a:solidFill>
                    <a:srgbClr val="1369B2"/>
                  </a:solidFill>
                  <a:latin typeface="微软雅黑" panose="020B0503020204020204" pitchFamily="34" charset="-122"/>
                  <a:ea typeface="微软雅黑" panose="020B0503020204020204" pitchFamily="34" charset="-122"/>
                  <a:cs typeface="+mn-ea"/>
                </a:rPr>
                <a:t>创建对象</a:t>
              </a:r>
              <a:r>
                <a:rPr lang="zh-CN" altLang="zh-CN" sz="2000">
                  <a:solidFill>
                    <a:srgbClr val="595959"/>
                  </a:solidFill>
                  <a:latin typeface="微软雅黑" panose="020B0503020204020204" pitchFamily="34" charset="-122"/>
                  <a:ea typeface="微软雅黑" panose="020B0503020204020204" pitchFamily="34" charset="-122"/>
                </a:rPr>
                <a:t>。对象也有</a:t>
              </a:r>
              <a:r>
                <a:rPr lang="zh-CN" altLang="zh-CN" sz="2000">
                  <a:solidFill>
                    <a:srgbClr val="1369B2"/>
                  </a:solidFill>
                  <a:latin typeface="微软雅黑" panose="020B0503020204020204" pitchFamily="34" charset="-122"/>
                  <a:ea typeface="微软雅黑" panose="020B0503020204020204" pitchFamily="34" charset="-122"/>
                  <a:cs typeface="+mn-ea"/>
                </a:rPr>
                <a:t>构造函数</a:t>
              </a:r>
              <a:r>
                <a:rPr lang="zh-CN" altLang="zh-CN" sz="2000">
                  <a:solidFill>
                    <a:srgbClr val="595959"/>
                  </a:solidFill>
                  <a:latin typeface="微软雅黑" panose="020B0503020204020204" pitchFamily="34" charset="-122"/>
                  <a:ea typeface="微软雅黑" panose="020B0503020204020204" pitchFamily="34" charset="-122"/>
                </a:rPr>
                <a:t>，它的构造函数是</a:t>
              </a:r>
              <a:r>
                <a:rPr lang="en-US" altLang="zh-CN" sz="2000">
                  <a:solidFill>
                    <a:srgbClr val="1369B2"/>
                  </a:solidFill>
                  <a:latin typeface="微软雅黑" panose="020B0503020204020204" pitchFamily="34" charset="-122"/>
                  <a:ea typeface="微软雅黑" panose="020B0503020204020204" pitchFamily="34" charset="-122"/>
                  <a:cs typeface="+mn-ea"/>
                </a:rPr>
                <a:t>Object()</a:t>
              </a:r>
              <a:r>
                <a:rPr lang="zh-CN" altLang="zh-CN" sz="200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54646" y="1701602"/>
            <a:ext cx="4756430" cy="400110"/>
          </a:xfrm>
          <a:prstGeom prst="rect">
            <a:avLst/>
          </a:prstGeom>
        </p:spPr>
        <p:txBody>
          <a:bodyPr wrap="none">
            <a:spAutoFit/>
          </a:bodyPr>
          <a:lstStyle/>
          <a:p>
            <a:r>
              <a:rPr lang="zh-CN" altLang="zh-CN" sz="2000">
                <a:solidFill>
                  <a:srgbClr val="595959"/>
                </a:solidFill>
                <a:latin typeface="微软雅黑" panose="020B0503020204020204" pitchFamily="34" charset="-122"/>
                <a:ea typeface="微软雅黑" panose="020B0503020204020204" pitchFamily="34" charset="-122"/>
              </a:rPr>
              <a:t>使用</a:t>
            </a:r>
            <a:r>
              <a:rPr lang="en-US" altLang="zh-CN" sz="2000">
                <a:solidFill>
                  <a:srgbClr val="1369B2"/>
                </a:solidFill>
                <a:latin typeface="微软雅黑" panose="020B0503020204020204" pitchFamily="34" charset="-122"/>
                <a:ea typeface="微软雅黑" panose="020B0503020204020204" pitchFamily="34" charset="-122"/>
                <a:cs typeface="+mn-ea"/>
              </a:rPr>
              <a:t>Object()</a:t>
            </a:r>
            <a:r>
              <a:rPr lang="zh-CN" altLang="zh-CN" sz="2000">
                <a:solidFill>
                  <a:srgbClr val="1369B2"/>
                </a:solidFill>
                <a:latin typeface="微软雅黑" panose="020B0503020204020204" pitchFamily="34" charset="-122"/>
                <a:ea typeface="微软雅黑" panose="020B0503020204020204" pitchFamily="34" charset="-122"/>
                <a:cs typeface="+mn-ea"/>
              </a:rPr>
              <a:t>创建对象</a:t>
            </a:r>
            <a:r>
              <a:rPr lang="zh-CN" altLang="zh-CN" sz="2000">
                <a:solidFill>
                  <a:srgbClr val="595959"/>
                </a:solidFill>
                <a:latin typeface="微软雅黑" panose="020B0503020204020204" pitchFamily="34" charset="-122"/>
                <a:ea typeface="微软雅黑" panose="020B0503020204020204" pitchFamily="34" charset="-122"/>
              </a:rPr>
              <a:t>的示例代码如下。</a:t>
            </a:r>
            <a:endParaRPr lang="zh-CN" altLang="en-US" sz="2000">
              <a:solidFill>
                <a:srgbClr val="59595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118809" y="2570130"/>
            <a:ext cx="9005652" cy="499624"/>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obj</a:t>
            </a:r>
            <a:r>
              <a:rPr lang="en-US" altLang="zh-CN" sz="2000" dirty="0">
                <a:solidFill>
                  <a:srgbClr val="595959"/>
                </a:solidFill>
                <a:latin typeface="微软雅黑" panose="020B0503020204020204" pitchFamily="34" charset="-122"/>
                <a:ea typeface="微软雅黑" panose="020B0503020204020204" pitchFamily="34" charset="-122"/>
                <a:cs typeface="+mn-ea"/>
              </a:rPr>
              <a:t> = new Object();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1075662" y="3523868"/>
            <a:ext cx="10708176" cy="553998"/>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rPr>
              <a:t>上述示例代码使用</a:t>
            </a:r>
            <a:r>
              <a:rPr lang="en-US" altLang="zh-CN" sz="2000" dirty="0">
                <a:solidFill>
                  <a:srgbClr val="1369B2"/>
                </a:solidFill>
                <a:latin typeface="微软雅黑" panose="020B0503020204020204" pitchFamily="34" charset="-122"/>
                <a:ea typeface="微软雅黑" panose="020B0503020204020204" pitchFamily="34" charset="-122"/>
                <a:cs typeface="+mn-ea"/>
              </a:rPr>
              <a:t>new</a:t>
            </a:r>
            <a:r>
              <a:rPr lang="zh-CN" altLang="zh-CN" sz="2000" dirty="0">
                <a:solidFill>
                  <a:srgbClr val="1369B2"/>
                </a:solidFill>
                <a:latin typeface="微软雅黑" panose="020B0503020204020204" pitchFamily="34" charset="-122"/>
                <a:ea typeface="微软雅黑" panose="020B0503020204020204" pitchFamily="34" charset="-122"/>
                <a:cs typeface="+mn-ea"/>
              </a:rPr>
              <a:t>关键字</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cs typeface="+mn-ea"/>
              </a:rPr>
              <a:t>Object()</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a:t>
            </a:r>
            <a:r>
              <a:rPr lang="zh-CN" altLang="zh-CN" sz="2000" dirty="0">
                <a:solidFill>
                  <a:srgbClr val="595959"/>
                </a:solidFill>
                <a:latin typeface="微软雅黑" panose="020B0503020204020204" pitchFamily="34" charset="-122"/>
                <a:ea typeface="微软雅黑" panose="020B0503020204020204" pitchFamily="34" charset="-122"/>
              </a:rPr>
              <a:t>创建了一个</a:t>
            </a:r>
            <a:r>
              <a:rPr lang="zh-CN" altLang="zh-CN" sz="2000" dirty="0">
                <a:solidFill>
                  <a:srgbClr val="1369B2"/>
                </a:solidFill>
                <a:latin typeface="微软雅黑" panose="020B0503020204020204" pitchFamily="34" charset="-122"/>
                <a:ea typeface="微软雅黑" panose="020B0503020204020204" pitchFamily="34" charset="-122"/>
                <a:cs typeface="+mn-ea"/>
              </a:rPr>
              <a:t>空对象</a:t>
            </a:r>
            <a:r>
              <a:rPr lang="zh-CN" altLang="zh-CN" sz="2000" dirty="0">
                <a:solidFill>
                  <a:srgbClr val="595959"/>
                </a:solidFill>
                <a:latin typeface="微软雅黑" panose="020B0503020204020204" pitchFamily="34" charset="-122"/>
                <a:ea typeface="微软雅黑" panose="020B0503020204020204" pitchFamily="34" charset="-122"/>
              </a:rPr>
              <a:t>，并将其赋值给</a:t>
            </a:r>
            <a:r>
              <a:rPr lang="en-US" altLang="zh-CN" sz="2000" dirty="0" err="1">
                <a:solidFill>
                  <a:srgbClr val="1369B2"/>
                </a:solidFill>
                <a:latin typeface="微软雅黑" panose="020B0503020204020204" pitchFamily="34" charset="-122"/>
                <a:ea typeface="微软雅黑" panose="020B0503020204020204" pitchFamily="34" charset="-122"/>
                <a:cs typeface="+mn-ea"/>
              </a:rPr>
              <a:t>obj</a:t>
            </a:r>
            <a:r>
              <a:rPr lang="zh-CN" altLang="zh-CN" sz="2000" dirty="0">
                <a:solidFill>
                  <a:srgbClr val="595959"/>
                </a:solidFill>
                <a:latin typeface="微软雅黑" panose="020B0503020204020204" pitchFamily="34" charset="-122"/>
                <a:ea typeface="微软雅黑" panose="020B0503020204020204" pitchFamily="34" charset="-122"/>
              </a:rPr>
              <a:t>变量。</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98662" y="1269554"/>
            <a:ext cx="7577715" cy="400110"/>
          </a:xfrm>
          <a:prstGeom prst="rect">
            <a:avLst/>
          </a:prstGeom>
        </p:spPr>
        <p:txBody>
          <a:bodyPr wrap="none">
            <a:spAutoFit/>
          </a:bodyPr>
          <a:lstStyle/>
          <a:p>
            <a:r>
              <a:rPr lang="zh-CN" altLang="zh-CN" sz="2000" smtClean="0">
                <a:solidFill>
                  <a:srgbClr val="595959"/>
                </a:solidFill>
                <a:latin typeface="微软雅黑" panose="020B0503020204020204" pitchFamily="34" charset="-122"/>
                <a:ea typeface="微软雅黑" panose="020B0503020204020204" pitchFamily="34" charset="-122"/>
              </a:rPr>
              <a:t>使用</a:t>
            </a:r>
            <a:r>
              <a:rPr lang="en-US" altLang="zh-CN" sz="2000">
                <a:solidFill>
                  <a:srgbClr val="1369B2"/>
                </a:solidFill>
                <a:latin typeface="微软雅黑" panose="020B0503020204020204" pitchFamily="34" charset="-122"/>
                <a:ea typeface="微软雅黑" panose="020B0503020204020204" pitchFamily="34" charset="-122"/>
                <a:cs typeface="+mn-ea"/>
              </a:rPr>
              <a:t>Object()</a:t>
            </a:r>
            <a:r>
              <a:rPr lang="zh-CN" altLang="zh-CN" sz="2000">
                <a:solidFill>
                  <a:srgbClr val="1369B2"/>
                </a:solidFill>
                <a:latin typeface="微软雅黑" panose="020B0503020204020204" pitchFamily="34" charset="-122"/>
                <a:ea typeface="微软雅黑" panose="020B0503020204020204" pitchFamily="34" charset="-122"/>
                <a:cs typeface="+mn-ea"/>
              </a:rPr>
              <a:t>创建对象</a:t>
            </a:r>
            <a:r>
              <a:rPr lang="zh-CN" altLang="zh-CN" sz="2000">
                <a:solidFill>
                  <a:srgbClr val="595959"/>
                </a:solidFill>
                <a:latin typeface="微软雅黑" panose="020B0503020204020204" pitchFamily="34" charset="-122"/>
                <a:ea typeface="微软雅黑" panose="020B0503020204020204" pitchFamily="34" charset="-122"/>
              </a:rPr>
              <a:t>后，可以为对象</a:t>
            </a:r>
            <a:r>
              <a:rPr lang="zh-CN" altLang="zh-CN" sz="2000">
                <a:solidFill>
                  <a:srgbClr val="1369B2"/>
                </a:solidFill>
                <a:latin typeface="微软雅黑" panose="020B0503020204020204" pitchFamily="34" charset="-122"/>
                <a:ea typeface="微软雅黑" panose="020B0503020204020204" pitchFamily="34" charset="-122"/>
                <a:cs typeface="+mn-ea"/>
              </a:rPr>
              <a:t>添加成员</a:t>
            </a:r>
            <a:r>
              <a:rPr lang="zh-CN" altLang="zh-CN" sz="2000">
                <a:solidFill>
                  <a:srgbClr val="595959"/>
                </a:solidFill>
                <a:latin typeface="微软雅黑" panose="020B0503020204020204" pitchFamily="34" charset="-122"/>
                <a:ea typeface="微软雅黑" panose="020B0503020204020204" pitchFamily="34" charset="-122"/>
              </a:rPr>
              <a:t>，示例代码如下</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866122" y="1933870"/>
            <a:ext cx="5325428" cy="378565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&lt;</a:t>
            </a:r>
            <a:r>
              <a:rPr lang="en-US" altLang="zh-CN" sz="2000">
                <a:solidFill>
                  <a:srgbClr val="595959"/>
                </a:solidFill>
                <a:latin typeface="微软雅黑" panose="020B0503020204020204" pitchFamily="34" charset="-122"/>
                <a:ea typeface="微软雅黑" panose="020B0503020204020204" pitchFamily="34" charset="-122"/>
                <a:cs typeface="+mn-ea"/>
              </a:rPr>
              <a:t>script&gt;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var obj = new Object();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obj.name = '</a:t>
            </a:r>
            <a:r>
              <a:rPr lang="zh-CN" altLang="zh-CN" sz="2000">
                <a:solidFill>
                  <a:srgbClr val="595959"/>
                </a:solidFill>
                <a:latin typeface="微软雅黑" panose="020B0503020204020204" pitchFamily="34" charset="-122"/>
                <a:ea typeface="微软雅黑" panose="020B0503020204020204" pitchFamily="34" charset="-122"/>
                <a:cs typeface="+mn-ea"/>
              </a:rPr>
              <a:t>小智</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obj.sex = '</a:t>
            </a:r>
            <a:r>
              <a:rPr lang="zh-CN" altLang="zh-CN" sz="2000">
                <a:solidFill>
                  <a:srgbClr val="595959"/>
                </a:solidFill>
                <a:latin typeface="微软雅黑" panose="020B0503020204020204" pitchFamily="34" charset="-122"/>
                <a:ea typeface="微软雅黑" panose="020B0503020204020204" pitchFamily="34" charset="-122"/>
                <a:cs typeface="+mn-ea"/>
              </a:rPr>
              <a:t>男</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obj.sayHello = function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console.log('Hello');</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&lt;/script&gt;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a:stretch>
            <a:fillRect/>
          </a:stretch>
        </p:blipFill>
        <p:spPr>
          <a:xfrm>
            <a:off x="971712" y="1352729"/>
            <a:ext cx="1015842" cy="1015842"/>
          </a:xfrm>
          <a:prstGeom prst="rect">
            <a:avLst/>
          </a:prstGeom>
        </p:spPr>
      </p:pic>
      <p:sp>
        <p:nvSpPr>
          <p:cNvPr id="12" name="矩形 11"/>
          <p:cNvSpPr/>
          <p:nvPr/>
        </p:nvSpPr>
        <p:spPr>
          <a:xfrm>
            <a:off x="2150110" y="1607820"/>
            <a:ext cx="1712848"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50110" y="1742048"/>
            <a:ext cx="1712848" cy="400110"/>
          </a:xfrm>
          <a:prstGeom prst="rect">
            <a:avLst/>
          </a:prstGeom>
          <a:noFill/>
        </p:spPr>
        <p:txBody>
          <a:bodyPr wrap="square"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t</a:t>
            </a:r>
            <a:r>
              <a:rPr lang="en-US" altLang="zh-CN" sz="20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his</a:t>
            </a:r>
            <a:r>
              <a:rPr lang="zh-CN" altLang="en-US" sz="20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的指向</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3947666"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4109965"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123458" y="2781722"/>
            <a:ext cx="10084316" cy="193899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定义函数时并不能确定</a:t>
            </a:r>
            <a:r>
              <a:rPr lang="en-US" altLang="zh-CN" sz="2000" dirty="0">
                <a:solidFill>
                  <a:srgbClr val="595959"/>
                </a:solidFill>
                <a:latin typeface="微软雅黑" panose="020B0503020204020204" pitchFamily="34" charset="-122"/>
                <a:ea typeface="微软雅黑" panose="020B0503020204020204" pitchFamily="34" charset="-122"/>
              </a:rPr>
              <a:t>this</a:t>
            </a:r>
            <a:r>
              <a:rPr lang="zh-CN" altLang="zh-CN" sz="2000" dirty="0">
                <a:solidFill>
                  <a:srgbClr val="595959"/>
                </a:solidFill>
                <a:latin typeface="微软雅黑" panose="020B0503020204020204" pitchFamily="34" charset="-122"/>
                <a:ea typeface="微软雅黑" panose="020B0503020204020204" pitchFamily="34" charset="-122"/>
              </a:rPr>
              <a:t>的指向，只有在</a:t>
            </a:r>
            <a:r>
              <a:rPr lang="zh-CN" altLang="zh-CN" sz="2000" dirty="0">
                <a:solidFill>
                  <a:srgbClr val="1369B2"/>
                </a:solidFill>
                <a:latin typeface="微软雅黑" panose="020B0503020204020204" pitchFamily="34" charset="-122"/>
                <a:ea typeface="微软雅黑" panose="020B0503020204020204" pitchFamily="34" charset="-122"/>
              </a:rPr>
              <a:t>运行函数的过程中</a:t>
            </a:r>
            <a:r>
              <a:rPr lang="zh-CN" altLang="zh-CN" sz="2000" dirty="0">
                <a:solidFill>
                  <a:srgbClr val="595959"/>
                </a:solidFill>
                <a:latin typeface="微软雅黑" panose="020B0503020204020204" pitchFamily="34" charset="-122"/>
                <a:ea typeface="微软雅黑" panose="020B0503020204020204" pitchFamily="34" charset="-122"/>
              </a:rPr>
              <a:t>才能</a:t>
            </a:r>
            <a:r>
              <a:rPr lang="zh-CN" altLang="zh-CN" sz="2000" dirty="0">
                <a:solidFill>
                  <a:srgbClr val="1369B2"/>
                </a:solidFill>
                <a:latin typeface="微软雅黑" panose="020B0503020204020204" pitchFamily="34" charset="-122"/>
                <a:ea typeface="微软雅黑" panose="020B0503020204020204" pitchFamily="34" charset="-122"/>
              </a:rPr>
              <a:t>确定</a:t>
            </a:r>
            <a:r>
              <a:rPr lang="en-US" altLang="zh-CN" sz="2000" dirty="0">
                <a:solidFill>
                  <a:srgbClr val="1369B2"/>
                </a:solidFill>
                <a:latin typeface="微软雅黑" panose="020B0503020204020204" pitchFamily="34" charset="-122"/>
                <a:ea typeface="微软雅黑" panose="020B0503020204020204" pitchFamily="34" charset="-122"/>
              </a:rPr>
              <a:t>this</a:t>
            </a:r>
            <a:r>
              <a:rPr lang="zh-CN" altLang="zh-CN" sz="2000" dirty="0">
                <a:solidFill>
                  <a:srgbClr val="1369B2"/>
                </a:solidFill>
                <a:latin typeface="微软雅黑" panose="020B0503020204020204" pitchFamily="34" charset="-122"/>
                <a:ea typeface="微软雅黑" panose="020B0503020204020204" pitchFamily="34" charset="-122"/>
              </a:rPr>
              <a:t>的指向</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通常</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this</a:t>
            </a:r>
            <a:r>
              <a:rPr lang="zh-CN" altLang="zh-CN" sz="2000" dirty="0">
                <a:solidFill>
                  <a:srgbClr val="595959"/>
                </a:solidFill>
                <a:latin typeface="微软雅黑" panose="020B0503020204020204" pitchFamily="34" charset="-122"/>
                <a:ea typeface="微软雅黑" panose="020B0503020204020204" pitchFamily="34" charset="-122"/>
              </a:rPr>
              <a:t>指向的是</a:t>
            </a:r>
            <a:r>
              <a:rPr lang="zh-CN" altLang="zh-CN" sz="2000" dirty="0">
                <a:solidFill>
                  <a:srgbClr val="1369B2"/>
                </a:solidFill>
                <a:latin typeface="微软雅黑" panose="020B0503020204020204" pitchFamily="34" charset="-122"/>
                <a:ea typeface="微软雅黑" panose="020B0503020204020204" pitchFamily="34" charset="-122"/>
              </a:rPr>
              <a:t>调用的对象</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下面通过</a:t>
            </a:r>
            <a:r>
              <a:rPr lang="en-US" altLang="zh-CN" sz="2000" dirty="0" smtClean="0">
                <a:solidFill>
                  <a:srgbClr val="595959"/>
                </a:solidFill>
                <a:latin typeface="微软雅黑" panose="020B0503020204020204" pitchFamily="34" charset="-122"/>
                <a:ea typeface="微软雅黑" panose="020B0503020204020204" pitchFamily="34" charset="-122"/>
              </a:rPr>
              <a:t>3</a:t>
            </a:r>
            <a:r>
              <a:rPr lang="zh-CN" altLang="en-US" sz="2000" dirty="0" smtClean="0">
                <a:solidFill>
                  <a:srgbClr val="595959"/>
                </a:solidFill>
                <a:latin typeface="微软雅黑" panose="020B0503020204020204" pitchFamily="34" charset="-122"/>
                <a:ea typeface="微软雅黑" panose="020B0503020204020204" pitchFamily="34" charset="-122"/>
              </a:rPr>
              <a:t>个具体场景进行讲解。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830981" y="1891142"/>
            <a:ext cx="9517349" cy="400110"/>
          </a:xfrm>
          <a:prstGeom prst="rect">
            <a:avLst/>
          </a:prstGeom>
        </p:spPr>
        <p:txBody>
          <a:bodyPr wrap="none">
            <a:spAutoFit/>
          </a:bodyPr>
          <a:lstStyle/>
          <a:p>
            <a:pPr marL="742950" lvl="1" indent="-285750" algn="just">
              <a:spcAft>
                <a:spcPts val="0"/>
              </a:spcAft>
              <a:buFont typeface="Times New Roman" panose="02020603050405020304" charset="0"/>
              <a:buAutoNum type="circleNumDbPlain"/>
            </a:pPr>
            <a:r>
              <a:rPr lang="zh-CN" altLang="zh-CN" sz="2000">
                <a:solidFill>
                  <a:srgbClr val="595959"/>
                </a:solidFill>
                <a:latin typeface="微软雅黑" panose="020B0503020204020204" pitchFamily="34" charset="-122"/>
                <a:ea typeface="微软雅黑" panose="020B0503020204020204" pitchFamily="34" charset="-122"/>
              </a:rPr>
              <a:t>在</a:t>
            </a:r>
            <a:r>
              <a:rPr lang="zh-CN" altLang="zh-CN" sz="2000">
                <a:solidFill>
                  <a:srgbClr val="1369B2"/>
                </a:solidFill>
                <a:latin typeface="微软雅黑" panose="020B0503020204020204" pitchFamily="34" charset="-122"/>
                <a:ea typeface="微软雅黑" panose="020B0503020204020204" pitchFamily="34" charset="-122"/>
              </a:rPr>
              <a:t>全局作用域</a:t>
            </a:r>
            <a:r>
              <a:rPr lang="zh-CN" altLang="zh-CN" sz="2000">
                <a:solidFill>
                  <a:srgbClr val="595959"/>
                </a:solidFill>
                <a:latin typeface="微软雅黑" panose="020B0503020204020204" pitchFamily="34" charset="-122"/>
                <a:ea typeface="微软雅黑" panose="020B0503020204020204" pitchFamily="34" charset="-122"/>
              </a:rPr>
              <a:t>或者</a:t>
            </a:r>
            <a:r>
              <a:rPr lang="zh-CN" altLang="zh-CN" sz="2000">
                <a:solidFill>
                  <a:srgbClr val="1369B2"/>
                </a:solidFill>
                <a:latin typeface="微软雅黑" panose="020B0503020204020204" pitchFamily="34" charset="-122"/>
                <a:ea typeface="微软雅黑" panose="020B0503020204020204" pitchFamily="34" charset="-122"/>
              </a:rPr>
              <a:t>普通函数</a:t>
            </a:r>
            <a:r>
              <a:rPr lang="zh-CN" altLang="zh-CN" sz="2000">
                <a:solidFill>
                  <a:srgbClr val="595959"/>
                </a:solidFill>
                <a:latin typeface="微软雅黑" panose="020B0503020204020204" pitchFamily="34" charset="-122"/>
                <a:ea typeface="微软雅黑" panose="020B0503020204020204" pitchFamily="34" charset="-122"/>
              </a:rPr>
              <a:t>中，</a:t>
            </a:r>
            <a:r>
              <a:rPr lang="en-US" altLang="zh-CN" sz="2000">
                <a:solidFill>
                  <a:srgbClr val="595959"/>
                </a:solidFill>
                <a:latin typeface="微软雅黑" panose="020B0503020204020204" pitchFamily="34" charset="-122"/>
                <a:ea typeface="微软雅黑" panose="020B0503020204020204" pitchFamily="34" charset="-122"/>
              </a:rPr>
              <a:t>this</a:t>
            </a:r>
            <a:r>
              <a:rPr lang="zh-CN" altLang="zh-CN" sz="2000">
                <a:solidFill>
                  <a:srgbClr val="595959"/>
                </a:solidFill>
                <a:latin typeface="微软雅黑" panose="020B0503020204020204" pitchFamily="34" charset="-122"/>
                <a:ea typeface="微软雅黑" panose="020B0503020204020204" pitchFamily="34" charset="-122"/>
              </a:rPr>
              <a:t>指向</a:t>
            </a:r>
            <a:r>
              <a:rPr lang="zh-CN" altLang="zh-CN" sz="2000">
                <a:solidFill>
                  <a:srgbClr val="1369B2"/>
                </a:solidFill>
                <a:latin typeface="微软雅黑" panose="020B0503020204020204" pitchFamily="34" charset="-122"/>
                <a:ea typeface="微软雅黑" panose="020B0503020204020204" pitchFamily="34" charset="-122"/>
              </a:rPr>
              <a:t>全局对象</a:t>
            </a:r>
            <a:r>
              <a:rPr lang="en-US" altLang="zh-CN" sz="2000">
                <a:solidFill>
                  <a:srgbClr val="1369B2"/>
                </a:solidFill>
                <a:latin typeface="微软雅黑" panose="020B0503020204020204" pitchFamily="34" charset="-122"/>
                <a:ea typeface="微软雅黑" panose="020B0503020204020204" pitchFamily="34" charset="-122"/>
              </a:rPr>
              <a:t>window</a:t>
            </a:r>
            <a:r>
              <a:rPr lang="zh-CN" altLang="zh-CN" sz="2000">
                <a:solidFill>
                  <a:srgbClr val="595959"/>
                </a:solidFill>
                <a:latin typeface="微软雅黑" panose="020B0503020204020204" pitchFamily="34" charset="-122"/>
                <a:ea typeface="微软雅黑" panose="020B0503020204020204" pitchFamily="34" charset="-122"/>
              </a:rPr>
              <a:t>，示例代码如下。</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342678" y="2637706"/>
            <a:ext cx="9005652" cy="2400657"/>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console.log(this</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this</a:t>
            </a:r>
            <a:r>
              <a:rPr lang="zh-CN" altLang="zh-CN" sz="2000" dirty="0">
                <a:solidFill>
                  <a:srgbClr val="595959"/>
                </a:solidFill>
                <a:latin typeface="微软雅黑" panose="020B0503020204020204" pitchFamily="34" charset="-122"/>
                <a:ea typeface="微软雅黑" panose="020B0503020204020204" pitchFamily="34" charset="-122"/>
                <a:cs typeface="+mn-ea"/>
              </a:rPr>
              <a:t>指向全局对象</a:t>
            </a:r>
            <a:r>
              <a:rPr lang="en-US" altLang="zh-CN" sz="2000" dirty="0">
                <a:solidFill>
                  <a:srgbClr val="595959"/>
                </a:solidFill>
                <a:latin typeface="微软雅黑" panose="020B0503020204020204" pitchFamily="34" charset="-122"/>
                <a:ea typeface="微软雅黑" panose="020B0503020204020204" pitchFamily="34" charset="-122"/>
                <a:cs typeface="+mn-ea"/>
              </a:rPr>
              <a:t>window</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function </a:t>
            </a:r>
            <a:r>
              <a:rPr lang="en-US" altLang="zh-CN" sz="2000" dirty="0" err="1">
                <a:solidFill>
                  <a:srgbClr val="595959"/>
                </a:solidFill>
                <a:latin typeface="微软雅黑" panose="020B0503020204020204" pitchFamily="34" charset="-122"/>
                <a:ea typeface="微软雅黑" panose="020B0503020204020204" pitchFamily="34" charset="-122"/>
                <a:cs typeface="+mn-ea"/>
              </a:rPr>
              <a:t>fn</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console.log(this);</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fn</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838622" y="1842609"/>
            <a:ext cx="7962436" cy="400110"/>
          </a:xfrm>
          <a:prstGeom prst="rect">
            <a:avLst/>
          </a:prstGeom>
        </p:spPr>
        <p:txBody>
          <a:bodyPr wrap="none">
            <a:spAutoFit/>
          </a:bodyPr>
          <a:lstStyle/>
          <a:p>
            <a:pPr marL="914400" lvl="1" indent="-457200" algn="just">
              <a:spcAft>
                <a:spcPts val="0"/>
              </a:spcAft>
              <a:buFont typeface="+mj-ea"/>
              <a:buAutoNum type="circleNumDbPlain" startAt="2"/>
            </a:pPr>
            <a:r>
              <a:rPr lang="zh-CN" altLang="zh-CN" sz="2000" smtClean="0">
                <a:solidFill>
                  <a:srgbClr val="595959"/>
                </a:solidFill>
                <a:latin typeface="微软雅黑" panose="020B0503020204020204" pitchFamily="34" charset="-122"/>
                <a:ea typeface="微软雅黑" panose="020B0503020204020204" pitchFamily="34" charset="-122"/>
              </a:rPr>
              <a:t>在</a:t>
            </a:r>
            <a:r>
              <a:rPr lang="zh-CN" altLang="en-US" sz="2000" smtClean="0">
                <a:solidFill>
                  <a:srgbClr val="1369B2"/>
                </a:solidFill>
                <a:latin typeface="微软雅黑" panose="020B0503020204020204" pitchFamily="34" charset="-122"/>
                <a:ea typeface="微软雅黑" panose="020B0503020204020204" pitchFamily="34" charset="-122"/>
              </a:rPr>
              <a:t>方法中</a:t>
            </a:r>
            <a:r>
              <a:rPr lang="zh-CN" altLang="zh-CN" sz="2000" smtClean="0">
                <a:solidFill>
                  <a:srgbClr val="595959"/>
                </a:solidFill>
                <a:latin typeface="微软雅黑" panose="020B0503020204020204" pitchFamily="34" charset="-122"/>
                <a:ea typeface="微软雅黑" panose="020B0503020204020204" pitchFamily="34" charset="-122"/>
              </a:rPr>
              <a:t>，</a:t>
            </a:r>
            <a:r>
              <a:rPr lang="en-US" altLang="zh-CN" sz="2000">
                <a:solidFill>
                  <a:srgbClr val="595959"/>
                </a:solidFill>
                <a:latin typeface="微软雅黑" panose="020B0503020204020204" pitchFamily="34" charset="-122"/>
                <a:ea typeface="微软雅黑" panose="020B0503020204020204" pitchFamily="34" charset="-122"/>
              </a:rPr>
              <a:t>this</a:t>
            </a:r>
            <a:r>
              <a:rPr lang="zh-CN" altLang="zh-CN" sz="2000" smtClean="0">
                <a:solidFill>
                  <a:srgbClr val="595959"/>
                </a:solidFill>
                <a:latin typeface="微软雅黑" panose="020B0503020204020204" pitchFamily="34" charset="-122"/>
                <a:ea typeface="微软雅黑" panose="020B0503020204020204" pitchFamily="34" charset="-122"/>
              </a:rPr>
              <a:t>指向</a:t>
            </a:r>
            <a:r>
              <a:rPr lang="zh-CN" altLang="zh-CN" sz="2000">
                <a:solidFill>
                  <a:srgbClr val="1369B2"/>
                </a:solidFill>
                <a:latin typeface="微软雅黑" panose="020B0503020204020204" pitchFamily="34" charset="-122"/>
                <a:ea typeface="微软雅黑" panose="020B0503020204020204" pitchFamily="34" charset="-122"/>
              </a:rPr>
              <a:t>调用它所在方法的对象</a:t>
            </a:r>
            <a:r>
              <a:rPr lang="zh-CN" altLang="zh-CN" sz="2000" smtClean="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示例代码如下。</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342678" y="2565698"/>
            <a:ext cx="9005652" cy="2862322"/>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user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sayHi</a:t>
            </a:r>
            <a:r>
              <a:rPr lang="en-US" altLang="zh-CN" sz="2000" dirty="0">
                <a:solidFill>
                  <a:srgbClr val="595959"/>
                </a:solidFill>
                <a:latin typeface="微软雅黑" panose="020B0503020204020204" pitchFamily="34" charset="-122"/>
                <a:ea typeface="微软雅黑" panose="020B0503020204020204" pitchFamily="34" charset="-122"/>
                <a:cs typeface="+mn-ea"/>
              </a:rPr>
              <a:t>: function ()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console.log(this);</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user.sayHi</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sayHi</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方法中的</a:t>
            </a:r>
            <a:r>
              <a:rPr lang="en-US" altLang="zh-CN" sz="2000" dirty="0">
                <a:solidFill>
                  <a:srgbClr val="595959"/>
                </a:solidFill>
                <a:latin typeface="微软雅黑" panose="020B0503020204020204" pitchFamily="34" charset="-122"/>
                <a:ea typeface="微软雅黑" panose="020B0503020204020204" pitchFamily="34" charset="-122"/>
                <a:cs typeface="+mn-ea"/>
              </a:rPr>
              <a:t>this</a:t>
            </a:r>
            <a:r>
              <a:rPr lang="zh-CN" altLang="zh-CN" sz="2000" dirty="0">
                <a:solidFill>
                  <a:srgbClr val="595959"/>
                </a:solidFill>
                <a:latin typeface="微软雅黑" panose="020B0503020204020204" pitchFamily="34" charset="-122"/>
                <a:ea typeface="微软雅黑" panose="020B0503020204020204" pitchFamily="34" charset="-122"/>
                <a:cs typeface="+mn-ea"/>
              </a:rPr>
              <a:t>指向</a:t>
            </a:r>
            <a:r>
              <a:rPr lang="en-US" altLang="zh-CN" sz="2000" dirty="0">
                <a:solidFill>
                  <a:srgbClr val="595959"/>
                </a:solidFill>
                <a:latin typeface="微软雅黑" panose="020B0503020204020204" pitchFamily="34" charset="-122"/>
                <a:ea typeface="微软雅黑" panose="020B0503020204020204" pitchFamily="34" charset="-122"/>
                <a:cs typeface="+mn-ea"/>
              </a:rPr>
              <a:t>user</a:t>
            </a:r>
            <a:r>
              <a:rPr lang="zh-CN" altLang="zh-CN" sz="2000" dirty="0">
                <a:solidFill>
                  <a:srgbClr val="595959"/>
                </a:solidFill>
                <a:latin typeface="微软雅黑" panose="020B0503020204020204" pitchFamily="34" charset="-122"/>
                <a:ea typeface="微软雅黑" panose="020B0503020204020204" pitchFamily="34" charset="-122"/>
                <a:cs typeface="+mn-ea"/>
              </a:rPr>
              <a:t>对象</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5.2.3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利用</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Object()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766614" y="1794429"/>
            <a:ext cx="7449475" cy="400110"/>
          </a:xfrm>
          <a:prstGeom prst="rect">
            <a:avLst/>
          </a:prstGeom>
        </p:spPr>
        <p:txBody>
          <a:bodyPr wrap="none">
            <a:spAutoFit/>
          </a:bodyPr>
          <a:lstStyle/>
          <a:p>
            <a:pPr marL="914400" lvl="1" indent="-457200" algn="just">
              <a:spcAft>
                <a:spcPts val="0"/>
              </a:spcAft>
              <a:buFont typeface="+mj-ea"/>
              <a:buAutoNum type="circleNumDbPlain" startAt="3"/>
            </a:pPr>
            <a:r>
              <a:rPr lang="zh-CN" altLang="zh-CN" sz="2000" smtClean="0">
                <a:solidFill>
                  <a:srgbClr val="595959"/>
                </a:solidFill>
                <a:latin typeface="微软雅黑" panose="020B0503020204020204" pitchFamily="34" charset="-122"/>
                <a:ea typeface="微软雅黑" panose="020B0503020204020204" pitchFamily="34" charset="-122"/>
              </a:rPr>
              <a:t>在</a:t>
            </a:r>
            <a:r>
              <a:rPr lang="zh-CN" altLang="en-US" sz="2000">
                <a:solidFill>
                  <a:srgbClr val="1369B2"/>
                </a:solidFill>
                <a:latin typeface="微软雅黑" panose="020B0503020204020204" pitchFamily="34" charset="-122"/>
                <a:ea typeface="微软雅黑" panose="020B0503020204020204" pitchFamily="34" charset="-122"/>
              </a:rPr>
              <a:t>构造函数</a:t>
            </a:r>
            <a:r>
              <a:rPr lang="zh-CN" altLang="en-US" sz="2000" smtClean="0">
                <a:solidFill>
                  <a:srgbClr val="1369B2"/>
                </a:solidFill>
                <a:latin typeface="微软雅黑" panose="020B0503020204020204" pitchFamily="34" charset="-122"/>
                <a:ea typeface="微软雅黑" panose="020B0503020204020204" pitchFamily="34" charset="-122"/>
              </a:rPr>
              <a:t>中</a:t>
            </a:r>
            <a:r>
              <a:rPr lang="zh-CN" altLang="zh-CN" sz="2000" smtClean="0">
                <a:solidFill>
                  <a:srgbClr val="595959"/>
                </a:solidFill>
                <a:latin typeface="微软雅黑" panose="020B0503020204020204" pitchFamily="34" charset="-122"/>
                <a:ea typeface="微软雅黑" panose="020B0503020204020204" pitchFamily="34" charset="-122"/>
              </a:rPr>
              <a:t>，</a:t>
            </a:r>
            <a:r>
              <a:rPr lang="en-US" altLang="zh-CN" sz="2000">
                <a:solidFill>
                  <a:srgbClr val="595959"/>
                </a:solidFill>
                <a:latin typeface="微软雅黑" panose="020B0503020204020204" pitchFamily="34" charset="-122"/>
                <a:ea typeface="微软雅黑" panose="020B0503020204020204" pitchFamily="34" charset="-122"/>
              </a:rPr>
              <a:t>this</a:t>
            </a:r>
            <a:r>
              <a:rPr lang="zh-CN" altLang="zh-CN" sz="2000" smtClean="0">
                <a:solidFill>
                  <a:srgbClr val="595959"/>
                </a:solidFill>
                <a:latin typeface="微软雅黑" panose="020B0503020204020204" pitchFamily="34" charset="-122"/>
                <a:ea typeface="微软雅黑" panose="020B0503020204020204" pitchFamily="34" charset="-122"/>
              </a:rPr>
              <a:t>指向</a:t>
            </a:r>
            <a:r>
              <a:rPr lang="zh-CN" altLang="zh-CN" sz="2000">
                <a:solidFill>
                  <a:srgbClr val="1369B2"/>
                </a:solidFill>
                <a:latin typeface="微软雅黑" panose="020B0503020204020204" pitchFamily="34" charset="-122"/>
                <a:ea typeface="微软雅黑" panose="020B0503020204020204" pitchFamily="34" charset="-122"/>
              </a:rPr>
              <a:t>新创建的实例</a:t>
            </a:r>
            <a:r>
              <a:rPr lang="zh-CN" altLang="zh-CN" sz="2000" smtClean="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示例代码如下。</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342678" y="2565698"/>
            <a:ext cx="9005652" cy="193899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function </a:t>
            </a:r>
            <a:r>
              <a:rPr lang="en-US" altLang="zh-CN" sz="2000" dirty="0">
                <a:solidFill>
                  <a:srgbClr val="595959"/>
                </a:solidFill>
                <a:latin typeface="微软雅黑" panose="020B0503020204020204" pitchFamily="34" charset="-122"/>
                <a:ea typeface="微软雅黑" panose="020B0503020204020204" pitchFamily="34" charset="-122"/>
                <a:cs typeface="+mn-ea"/>
              </a:rPr>
              <a:t>Fun()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console.log(this</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fun = new Fun();    // Fun</a:t>
            </a:r>
            <a:r>
              <a:rPr lang="zh-CN" altLang="zh-CN" sz="2000" dirty="0">
                <a:solidFill>
                  <a:srgbClr val="595959"/>
                </a:solidFill>
                <a:latin typeface="微软雅黑" panose="020B0503020204020204" pitchFamily="34" charset="-122"/>
                <a:ea typeface="微软雅黑" panose="020B0503020204020204" pitchFamily="34" charset="-122"/>
                <a:cs typeface="+mn-ea"/>
              </a:rPr>
              <a:t>中的</a:t>
            </a:r>
            <a:r>
              <a:rPr lang="en-US" altLang="zh-CN" sz="2000" dirty="0">
                <a:solidFill>
                  <a:srgbClr val="595959"/>
                </a:solidFill>
                <a:latin typeface="微软雅黑" panose="020B0503020204020204" pitchFamily="34" charset="-122"/>
                <a:ea typeface="微软雅黑" panose="020B0503020204020204" pitchFamily="34" charset="-122"/>
                <a:cs typeface="+mn-ea"/>
              </a:rPr>
              <a:t>this</a:t>
            </a:r>
            <a:r>
              <a:rPr lang="zh-CN" altLang="zh-CN" sz="2000" dirty="0">
                <a:solidFill>
                  <a:srgbClr val="595959"/>
                </a:solidFill>
                <a:latin typeface="微软雅黑" panose="020B0503020204020204" pitchFamily="34" charset="-122"/>
                <a:ea typeface="微软雅黑" panose="020B0503020204020204" pitchFamily="34" charset="-122"/>
                <a:cs typeface="+mn-ea"/>
              </a:rPr>
              <a:t>指向新创建的实例</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fun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4861391" cy="830997"/>
          </a:xfrm>
          <a:prstGeom prst="rect">
            <a:avLst/>
          </a:prstGeom>
          <a:noFill/>
        </p:spPr>
        <p:txBody>
          <a:bodyPr wrap="square" lIns="91443" tIns="45720" rIns="91443" bIns="45720" rtlCol="0">
            <a:spAutoFit/>
          </a:bodyPr>
          <a:lstStyle/>
          <a:p>
            <a:pPr algn="l">
              <a:buClrTx/>
              <a:buSzTx/>
              <a:buFontTx/>
            </a:pPr>
            <a:r>
              <a:rPr lang="zh-CN" altLang="en-US" sz="4800" b="1">
                <a:solidFill>
                  <a:srgbClr val="595959"/>
                </a:solidFill>
                <a:latin typeface="微软雅黑" panose="020B0503020204020204" pitchFamily="34" charset="-122"/>
                <a:ea typeface="微软雅黑" panose="020B0503020204020204" pitchFamily="34" charset="-122"/>
                <a:cs typeface="+mn-ea"/>
                <a:sym typeface="+mn-lt"/>
              </a:rPr>
              <a:t>对象的</a:t>
            </a:r>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遍历</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a:solidFill>
                  <a:srgbClr val="FAFAFA"/>
                </a:solidFill>
                <a:latin typeface="微软雅黑" panose="020B0503020204020204" pitchFamily="34" charset="-122"/>
                <a:ea typeface="微软雅黑" panose="020B0503020204020204" pitchFamily="34" charset="-122"/>
                <a:cs typeface="+mn-ea"/>
                <a:sym typeface="+mn-lt"/>
              </a:rPr>
              <a:t>5</a:t>
            </a:r>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703676"/>
            <a:ext cx="5429568"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smtClean="0">
                <a:solidFill>
                  <a:srgbClr val="1369B2"/>
                </a:solidFill>
                <a:latin typeface="微软雅黑" panose="020B0503020204020204" pitchFamily="34" charset="-122"/>
                <a:ea typeface="微软雅黑" panose="020B0503020204020204" pitchFamily="34" charset="-122"/>
                <a:cs typeface="+mn-ea"/>
              </a:rPr>
              <a:t>对象</a:t>
            </a:r>
            <a:r>
              <a:rPr lang="zh-CN" altLang="zh-CN" sz="2000">
                <a:solidFill>
                  <a:srgbClr val="1369B2"/>
                </a:solidFill>
                <a:latin typeface="微软雅黑" panose="020B0503020204020204" pitchFamily="34" charset="-122"/>
                <a:ea typeface="微软雅黑" panose="020B0503020204020204" pitchFamily="34" charset="-122"/>
                <a:cs typeface="+mn-ea"/>
              </a:rPr>
              <a:t>的遍历</a:t>
            </a:r>
            <a:r>
              <a:rPr lang="zh-CN" altLang="zh-CN" sz="2000">
                <a:solidFill>
                  <a:srgbClr val="595959"/>
                </a:solidFill>
                <a:latin typeface="微软雅黑" panose="020B0503020204020204" pitchFamily="34" charset="-122"/>
                <a:ea typeface="微软雅黑" panose="020B0503020204020204" pitchFamily="34" charset="-122"/>
                <a:cs typeface="+mn-ea"/>
              </a:rPr>
              <a:t>，能够遍历对象的</a:t>
            </a:r>
            <a:r>
              <a:rPr lang="zh-CN" altLang="zh-CN" sz="2000">
                <a:solidFill>
                  <a:srgbClr val="1369B2"/>
                </a:solidFill>
                <a:latin typeface="微软雅黑" panose="020B0503020204020204" pitchFamily="34" charset="-122"/>
                <a:ea typeface="微软雅黑" panose="020B0503020204020204" pitchFamily="34" charset="-122"/>
                <a:cs typeface="+mn-ea"/>
              </a:rPr>
              <a:t>属性</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方法</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对象的遍历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4222998" y="2653687"/>
            <a:ext cx="4104456"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for </a:t>
            </a:r>
            <a:r>
              <a:rPr lang="en-US" altLang="zh-CN" sz="2000">
                <a:solidFill>
                  <a:srgbClr val="595959"/>
                </a:solidFill>
                <a:latin typeface="微软雅黑" panose="020B0503020204020204" pitchFamily="34" charset="-122"/>
                <a:ea typeface="微软雅黑" panose="020B0503020204020204" pitchFamily="34" charset="-122"/>
                <a:cs typeface="+mn-ea"/>
              </a:rPr>
              <a:t>(var </a:t>
            </a:r>
            <a:r>
              <a:rPr lang="zh-CN" altLang="zh-CN" sz="2000">
                <a:solidFill>
                  <a:srgbClr val="595959"/>
                </a:solidFill>
                <a:latin typeface="微软雅黑" panose="020B0503020204020204" pitchFamily="34" charset="-122"/>
                <a:ea typeface="微软雅黑" panose="020B0503020204020204" pitchFamily="34" charset="-122"/>
                <a:cs typeface="+mn-ea"/>
              </a:rPr>
              <a:t>变量</a:t>
            </a:r>
            <a:r>
              <a:rPr lang="en-US" altLang="zh-CN" sz="2000">
                <a:solidFill>
                  <a:srgbClr val="595959"/>
                </a:solidFill>
                <a:latin typeface="微软雅黑" panose="020B0503020204020204" pitchFamily="34" charset="-122"/>
                <a:ea typeface="微软雅黑" panose="020B0503020204020204" pitchFamily="34" charset="-122"/>
                <a:cs typeface="+mn-ea"/>
              </a:rPr>
              <a:t> in </a:t>
            </a:r>
            <a:r>
              <a:rPr lang="zh-CN" altLang="zh-CN" sz="2000">
                <a:solidFill>
                  <a:srgbClr val="595959"/>
                </a:solidFill>
                <a:latin typeface="微软雅黑" panose="020B0503020204020204" pitchFamily="34" charset="-122"/>
                <a:ea typeface="微软雅黑" panose="020B0503020204020204" pitchFamily="34" charset="-122"/>
                <a:cs typeface="+mn-ea"/>
              </a:rPr>
              <a:t>对象</a:t>
            </a:r>
            <a:r>
              <a:rPr lang="en-US" altLang="zh-CN" sz="2000">
                <a:solidFill>
                  <a:srgbClr val="595959"/>
                </a:solidFill>
                <a:latin typeface="微软雅黑" panose="020B0503020204020204" pitchFamily="34" charset="-122"/>
                <a:ea typeface="微软雅黑" panose="020B0503020204020204" pitchFamily="34" charset="-122"/>
                <a:cs typeface="+mn-ea"/>
              </a:rPr>
              <a:t>)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具体操作</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26654" y="1125538"/>
            <a:ext cx="9937104" cy="1477328"/>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实际开发中</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如果</a:t>
            </a:r>
            <a:r>
              <a:rPr lang="zh-CN" altLang="zh-CN" sz="2000" dirty="0" smtClean="0">
                <a:solidFill>
                  <a:srgbClr val="595959"/>
                </a:solidFill>
                <a:latin typeface="微软雅黑" panose="020B0503020204020204" pitchFamily="34" charset="-122"/>
                <a:ea typeface="微软雅黑" panose="020B0503020204020204" pitchFamily="34" charset="-122"/>
              </a:rPr>
              <a:t>需要</a:t>
            </a:r>
            <a:r>
              <a:rPr lang="zh-CN" altLang="zh-CN" sz="2000" dirty="0">
                <a:solidFill>
                  <a:srgbClr val="1369B2"/>
                </a:solidFill>
                <a:latin typeface="微软雅黑" panose="020B0503020204020204" pitchFamily="34" charset="-122"/>
                <a:ea typeface="微软雅黑" panose="020B0503020204020204" pitchFamily="34" charset="-122"/>
              </a:rPr>
              <a:t>查询对象的属性</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smtClean="0">
                <a:solidFill>
                  <a:srgbClr val="1369B2"/>
                </a:solidFill>
                <a:latin typeface="微软雅黑" panose="020B0503020204020204" pitchFamily="34" charset="-122"/>
                <a:ea typeface="微软雅黑" panose="020B0503020204020204" pitchFamily="34" charset="-122"/>
              </a:rPr>
              <a:t>方法</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就需要进行</a:t>
            </a:r>
            <a:r>
              <a:rPr lang="zh-CN" altLang="zh-CN" sz="2000" dirty="0">
                <a:solidFill>
                  <a:srgbClr val="1369B2"/>
                </a:solidFill>
                <a:latin typeface="微软雅黑" panose="020B0503020204020204" pitchFamily="34" charset="-122"/>
                <a:ea typeface="微软雅黑" panose="020B0503020204020204" pitchFamily="34" charset="-122"/>
              </a:rPr>
              <a:t>对象的遍历</a:t>
            </a:r>
            <a:r>
              <a:rPr lang="zh-CN" altLang="zh-CN" sz="2000" dirty="0">
                <a:solidFill>
                  <a:srgbClr val="595959"/>
                </a:solidFill>
                <a:latin typeface="微软雅黑" panose="020B0503020204020204" pitchFamily="34" charset="-122"/>
                <a:ea typeface="微软雅黑" panose="020B0503020204020204" pitchFamily="34" charset="-122"/>
              </a:rPr>
              <a:t>。对象的遍历是指</a:t>
            </a:r>
            <a:r>
              <a:rPr lang="zh-CN" altLang="zh-CN" sz="2000" dirty="0">
                <a:solidFill>
                  <a:srgbClr val="1369B2"/>
                </a:solidFill>
                <a:latin typeface="微软雅黑" panose="020B0503020204020204" pitchFamily="34" charset="-122"/>
                <a:ea typeface="微软雅黑" panose="020B0503020204020204" pitchFamily="34" charset="-122"/>
              </a:rPr>
              <a:t>访问对象中的所有成员</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中，使用</a:t>
            </a:r>
            <a:r>
              <a:rPr lang="en-US" altLang="zh-CN" sz="2000" dirty="0">
                <a:solidFill>
                  <a:srgbClr val="1369B2"/>
                </a:solidFill>
                <a:latin typeface="微软雅黑" panose="020B0503020204020204" pitchFamily="34" charset="-122"/>
                <a:ea typeface="微软雅黑" panose="020B0503020204020204" pitchFamily="34" charset="-122"/>
              </a:rPr>
              <a:t>for…in</a:t>
            </a:r>
            <a:r>
              <a:rPr lang="zh-CN" altLang="zh-CN" sz="2000" dirty="0">
                <a:solidFill>
                  <a:srgbClr val="595959"/>
                </a:solidFill>
                <a:latin typeface="微软雅黑" panose="020B0503020204020204" pitchFamily="34" charset="-122"/>
                <a:ea typeface="微软雅黑" panose="020B0503020204020204" pitchFamily="34" charset="-122"/>
              </a:rPr>
              <a:t>语法可以实现</a:t>
            </a:r>
            <a:r>
              <a:rPr lang="zh-CN" altLang="zh-CN" sz="2000" dirty="0">
                <a:solidFill>
                  <a:srgbClr val="1369B2"/>
                </a:solidFill>
                <a:latin typeface="微软雅黑" panose="020B0503020204020204" pitchFamily="34" charset="-122"/>
                <a:ea typeface="微软雅黑" panose="020B0503020204020204" pitchFamily="34" charset="-122"/>
              </a:rPr>
              <a:t>对象的遍历</a:t>
            </a:r>
            <a:r>
              <a:rPr lang="zh-CN" altLang="zh-CN" sz="2000" dirty="0">
                <a:solidFill>
                  <a:srgbClr val="595959"/>
                </a:solidFill>
                <a:latin typeface="微软雅黑" panose="020B0503020204020204" pitchFamily="34" charset="-122"/>
                <a:ea typeface="微软雅黑" panose="020B0503020204020204" pitchFamily="34" charset="-122"/>
              </a:rPr>
              <a:t>，其语法格式如下。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对象的遍历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126654" y="4525895"/>
            <a:ext cx="10009112" cy="1477328"/>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rPr>
              <a:t>在上述语法格式中，</a:t>
            </a:r>
            <a:r>
              <a:rPr lang="zh-CN" altLang="zh-CN" sz="2000" dirty="0" smtClean="0">
                <a:solidFill>
                  <a:srgbClr val="1369B2"/>
                </a:solidFill>
                <a:latin typeface="微软雅黑" panose="020B0503020204020204" pitchFamily="34" charset="-122"/>
                <a:ea typeface="微软雅黑" panose="020B0503020204020204" pitchFamily="34" charset="-122"/>
              </a:rPr>
              <a:t>变量</a:t>
            </a:r>
            <a:r>
              <a:rPr lang="zh-CN" altLang="zh-CN" sz="2000" dirty="0" smtClean="0">
                <a:solidFill>
                  <a:srgbClr val="595959"/>
                </a:solidFill>
                <a:latin typeface="微软雅黑" panose="020B0503020204020204" pitchFamily="34" charset="-122"/>
                <a:ea typeface="微软雅黑" panose="020B0503020204020204" pitchFamily="34" charset="-122"/>
              </a:rPr>
              <a:t>表示对象中的</a:t>
            </a:r>
            <a:r>
              <a:rPr lang="zh-CN" altLang="zh-CN" sz="2000" dirty="0" smtClean="0">
                <a:solidFill>
                  <a:srgbClr val="1369B2"/>
                </a:solidFill>
                <a:latin typeface="微软雅黑" panose="020B0503020204020204" pitchFamily="34" charset="-122"/>
                <a:ea typeface="微软雅黑" panose="020B0503020204020204" pitchFamily="34" charset="-122"/>
              </a:rPr>
              <a:t>成员</a:t>
            </a:r>
            <a:r>
              <a:rPr lang="zh-CN" altLang="zh-CN" sz="2000" dirty="0">
                <a:solidFill>
                  <a:srgbClr val="1369B2"/>
                </a:solidFill>
                <a:latin typeface="微软雅黑" panose="020B0503020204020204" pitchFamily="34" charset="-122"/>
                <a:ea typeface="微软雅黑" panose="020B0503020204020204" pitchFamily="34" charset="-122"/>
              </a:rPr>
              <a:t>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对象</a:t>
            </a:r>
            <a:r>
              <a:rPr lang="zh-CN" altLang="zh-CN" sz="2000" dirty="0">
                <a:solidFill>
                  <a:srgbClr val="595959"/>
                </a:solidFill>
                <a:latin typeface="微软雅黑" panose="020B0503020204020204" pitchFamily="34" charset="-122"/>
                <a:ea typeface="微软雅黑" panose="020B0503020204020204" pitchFamily="34" charset="-122"/>
              </a:rPr>
              <a:t>表示需要进行</a:t>
            </a:r>
            <a:r>
              <a:rPr lang="zh-CN" altLang="zh-CN" sz="2000" dirty="0">
                <a:solidFill>
                  <a:srgbClr val="1369B2"/>
                </a:solidFill>
                <a:latin typeface="微软雅黑" panose="020B0503020204020204" pitchFamily="34" charset="-122"/>
                <a:ea typeface="微软雅黑" panose="020B0503020204020204" pitchFamily="34" charset="-122"/>
              </a:rPr>
              <a:t>遍历的对象</a:t>
            </a:r>
            <a:r>
              <a:rPr lang="zh-CN" altLang="zh-CN" sz="2000" dirty="0">
                <a:solidFill>
                  <a:srgbClr val="595959"/>
                </a:solidFill>
                <a:latin typeface="微软雅黑" panose="020B0503020204020204" pitchFamily="34" charset="-122"/>
                <a:ea typeface="微软雅黑" panose="020B0503020204020204" pitchFamily="34" charset="-122"/>
              </a:rPr>
              <a:t>；在具体操作中，可以通过</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console.log(</a:t>
            </a:r>
            <a:r>
              <a:rPr lang="zh-CN" altLang="zh-CN" sz="2000" dirty="0">
                <a:solidFill>
                  <a:srgbClr val="1369B2"/>
                </a:solidFill>
                <a:latin typeface="微软雅黑" panose="020B0503020204020204" pitchFamily="34" charset="-122"/>
                <a:ea typeface="微软雅黑" panose="020B0503020204020204" pitchFamily="34" charset="-122"/>
              </a:rPr>
              <a:t>对象</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变量</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访问对象的</a:t>
            </a:r>
            <a:r>
              <a:rPr lang="zh-CN" altLang="zh-CN" sz="2000" dirty="0">
                <a:solidFill>
                  <a:srgbClr val="1369B2"/>
                </a:solidFill>
                <a:latin typeface="微软雅黑" panose="020B0503020204020204" pitchFamily="34" charset="-122"/>
                <a:ea typeface="微软雅黑" panose="020B0503020204020204" pitchFamily="34" charset="-122"/>
              </a:rPr>
              <a:t>属性</a:t>
            </a:r>
            <a:r>
              <a:rPr lang="zh-CN" altLang="zh-CN" sz="2000" dirty="0">
                <a:solidFill>
                  <a:srgbClr val="595959"/>
                </a:solidFill>
                <a:latin typeface="微软雅黑" panose="020B0503020204020204" pitchFamily="34" charset="-122"/>
                <a:ea typeface="微软雅黑" panose="020B0503020204020204" pitchFamily="34" charset="-122"/>
              </a:rPr>
              <a:t>，通过</a:t>
            </a:r>
            <a:r>
              <a:rPr lang="zh-CN" altLang="zh-CN" sz="2000" dirty="0">
                <a:solidFill>
                  <a:srgbClr val="1369B2"/>
                </a:solidFill>
                <a:latin typeface="微软雅黑" panose="020B0503020204020204" pitchFamily="34" charset="-122"/>
                <a:ea typeface="微软雅黑" panose="020B0503020204020204" pitchFamily="34" charset="-122"/>
              </a:rPr>
              <a:t>“对象</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变量</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调用对象的</a:t>
            </a:r>
            <a:r>
              <a:rPr lang="zh-CN" altLang="zh-CN" sz="2000" dirty="0">
                <a:solidFill>
                  <a:srgbClr val="1369B2"/>
                </a:solidFill>
                <a:latin typeface="微软雅黑" panose="020B0503020204020204" pitchFamily="34" charset="-122"/>
                <a:ea typeface="微软雅黑" panose="020B0503020204020204" pitchFamily="34" charset="-122"/>
              </a:rPr>
              <a:t>方法</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962858" y="1463512"/>
            <a:ext cx="5580620" cy="5170646"/>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准备一个待遍历的学生对象</a:t>
            </a:r>
            <a:r>
              <a:rPr lang="en-US" altLang="zh-CN" sz="2000">
                <a:solidFill>
                  <a:srgbClr val="595959"/>
                </a:solidFill>
                <a:latin typeface="微软雅黑" panose="020B0503020204020204" pitchFamily="34" charset="-122"/>
                <a:ea typeface="微软雅黑" panose="020B0503020204020204" pitchFamily="34" charset="-122"/>
                <a:cs typeface="+mn-ea"/>
              </a:rPr>
              <a:t>student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student =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name: '</a:t>
            </a:r>
            <a:r>
              <a:rPr lang="zh-CN" altLang="zh-CN" sz="2000">
                <a:solidFill>
                  <a:srgbClr val="595959"/>
                </a:solidFill>
                <a:latin typeface="微软雅黑" panose="020B0503020204020204" pitchFamily="34" charset="-122"/>
                <a:ea typeface="微软雅黑" panose="020B0503020204020204" pitchFamily="34" charset="-122"/>
                <a:cs typeface="+mn-ea"/>
              </a:rPr>
              <a:t>小智</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sex: '</a:t>
            </a:r>
            <a:r>
              <a:rPr lang="zh-CN" altLang="zh-CN" sz="2000">
                <a:solidFill>
                  <a:srgbClr val="595959"/>
                </a:solidFill>
                <a:latin typeface="微软雅黑" panose="020B0503020204020204" pitchFamily="34" charset="-122"/>
                <a:ea typeface="微软雅黑" panose="020B0503020204020204" pitchFamily="34" charset="-122"/>
                <a:cs typeface="+mn-ea"/>
              </a:rPr>
              <a:t>男</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age: 20</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遍历学生对象</a:t>
            </a:r>
            <a:r>
              <a:rPr lang="en-US" altLang="zh-CN" sz="2000">
                <a:solidFill>
                  <a:srgbClr val="595959"/>
                </a:solidFill>
                <a:latin typeface="微软雅黑" panose="020B0503020204020204" pitchFamily="34" charset="-122"/>
                <a:ea typeface="微软雅黑" panose="020B0503020204020204" pitchFamily="34" charset="-122"/>
                <a:cs typeface="+mn-ea"/>
              </a:rPr>
              <a:t>student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for (var a in student)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console.log(a);</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console.log(student[a]);</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26654" y="909514"/>
            <a:ext cx="8568952" cy="553998"/>
          </a:xfrm>
          <a:prstGeom prst="rect">
            <a:avLst/>
          </a:prstGeom>
        </p:spPr>
        <p:txBody>
          <a:bodyPr wrap="square">
            <a:spAutoFit/>
          </a:body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通过代码演示如何进行</a:t>
            </a:r>
            <a:r>
              <a:rPr lang="zh-CN" altLang="zh-CN" sz="2000" dirty="0">
                <a:solidFill>
                  <a:srgbClr val="1369B2"/>
                </a:solidFill>
                <a:latin typeface="微软雅黑" panose="020B0503020204020204" pitchFamily="34" charset="-122"/>
                <a:ea typeface="微软雅黑" panose="020B0503020204020204" pitchFamily="34" charset="-122"/>
              </a:rPr>
              <a:t>对象的遍历</a:t>
            </a:r>
            <a:r>
              <a:rPr lang="zh-CN" altLang="zh-CN" sz="2000" dirty="0">
                <a:solidFill>
                  <a:srgbClr val="595959"/>
                </a:solidFill>
                <a:latin typeface="微软雅黑" panose="020B0503020204020204" pitchFamily="34" charset="-122"/>
                <a:ea typeface="微软雅黑" panose="020B0503020204020204" pitchFamily="34" charset="-122"/>
              </a:rPr>
              <a:t>，示例代码如下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对象的遍历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a:stretch>
            <a:fillRect/>
          </a:stretch>
        </p:blipFill>
        <p:spPr>
          <a:xfrm>
            <a:off x="971712" y="1352729"/>
            <a:ext cx="1015842" cy="1015842"/>
          </a:xfrm>
          <a:prstGeom prst="rect">
            <a:avLst/>
          </a:prstGeom>
        </p:spPr>
      </p:pic>
      <p:sp>
        <p:nvSpPr>
          <p:cNvPr id="12" name="矩形 11"/>
          <p:cNvSpPr/>
          <p:nvPr/>
        </p:nvSpPr>
        <p:spPr>
          <a:xfrm>
            <a:off x="2150110" y="1607820"/>
            <a:ext cx="3300738"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35549" y="1746206"/>
            <a:ext cx="3315299" cy="400110"/>
          </a:xfrm>
          <a:prstGeom prst="rect">
            <a:avLst/>
          </a:prstGeom>
          <a:noFill/>
        </p:spPr>
        <p:txBody>
          <a:bodyPr wrap="square" rtlCol="0">
            <a:spAutoFit/>
          </a:bodyPr>
          <a:lstStyle/>
          <a:p>
            <a:pPr algn="ctr"/>
            <a:r>
              <a:rPr lang="zh-CN" altLang="en-US" sz="200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判断对象成员是否存在</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565750"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753449"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82980" y="2613878"/>
            <a:ext cx="10152785" cy="1015663"/>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595959"/>
                </a:solidFill>
                <a:latin typeface="微软雅黑" panose="020B0503020204020204" pitchFamily="34" charset="-122"/>
                <a:ea typeface="微软雅黑" panose="020B0503020204020204" pitchFamily="34" charset="-122"/>
              </a:rPr>
              <a:t>需要</a:t>
            </a:r>
            <a:r>
              <a:rPr lang="zh-CN" altLang="zh-CN" sz="2000" dirty="0">
                <a:solidFill>
                  <a:srgbClr val="1369B2"/>
                </a:solidFill>
                <a:latin typeface="微软雅黑" panose="020B0503020204020204" pitchFamily="34" charset="-122"/>
                <a:ea typeface="微软雅黑" panose="020B0503020204020204" pitchFamily="34" charset="-122"/>
              </a:rPr>
              <a:t>判断对象中的某个成员是否存在</a:t>
            </a:r>
            <a:r>
              <a:rPr lang="zh-CN" altLang="zh-CN" sz="2000" dirty="0">
                <a:solidFill>
                  <a:srgbClr val="595959"/>
                </a:solidFill>
                <a:latin typeface="微软雅黑" panose="020B0503020204020204" pitchFamily="34" charset="-122"/>
                <a:ea typeface="微软雅黑" panose="020B0503020204020204" pitchFamily="34" charset="-122"/>
              </a:rPr>
              <a:t>时，可以使用</a:t>
            </a:r>
            <a:r>
              <a:rPr lang="en-US" altLang="zh-CN" sz="2000" dirty="0">
                <a:solidFill>
                  <a:srgbClr val="1369B2"/>
                </a:solidFill>
                <a:latin typeface="微软雅黑" panose="020B0503020204020204" pitchFamily="34" charset="-122"/>
                <a:ea typeface="微软雅黑" panose="020B0503020204020204" pitchFamily="34" charset="-122"/>
              </a:rPr>
              <a:t>in</a:t>
            </a:r>
            <a:r>
              <a:rPr lang="zh-CN" altLang="zh-CN" sz="2000" dirty="0">
                <a:solidFill>
                  <a:srgbClr val="595959"/>
                </a:solidFill>
                <a:latin typeface="微软雅黑" panose="020B0503020204020204" pitchFamily="34" charset="-122"/>
                <a:ea typeface="微软雅黑" panose="020B0503020204020204" pitchFamily="34" charset="-122"/>
              </a:rPr>
              <a:t>运算符，如果判断的结果为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则</a:t>
            </a:r>
            <a:r>
              <a:rPr lang="zh-CN" altLang="zh-CN" sz="2000" dirty="0" smtClean="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该成员</a:t>
            </a:r>
            <a:r>
              <a:rPr lang="zh-CN" altLang="zh-CN" sz="2000" dirty="0" smtClean="0">
                <a:solidFill>
                  <a:srgbClr val="1369B2"/>
                </a:solidFill>
                <a:latin typeface="微软雅黑" panose="020B0503020204020204" pitchFamily="34" charset="-122"/>
                <a:ea typeface="微软雅黑" panose="020B0503020204020204" pitchFamily="34" charset="-122"/>
              </a:rPr>
              <a:t>存在</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如果判断的结果为</a:t>
            </a:r>
            <a:r>
              <a:rPr lang="en-US" altLang="zh-CN" sz="2000" dirty="0" smtClean="0">
                <a:solidFill>
                  <a:srgbClr val="1369B2"/>
                </a:solidFill>
                <a:latin typeface="微软雅黑" panose="020B0503020204020204" pitchFamily="34" charset="-122"/>
                <a:ea typeface="微软雅黑" panose="020B0503020204020204" pitchFamily="34" charset="-122"/>
              </a:rPr>
              <a:t>false</a:t>
            </a:r>
            <a:r>
              <a:rPr lang="zh-CN" altLang="en-US" sz="2000" dirty="0" smtClean="0">
                <a:solidFill>
                  <a:srgbClr val="595959"/>
                </a:solidFill>
                <a:latin typeface="微软雅黑" panose="020B0503020204020204" pitchFamily="34" charset="-122"/>
                <a:ea typeface="微软雅黑" panose="020B0503020204020204" pitchFamily="34" charset="-122"/>
              </a:rPr>
              <a:t>，则</a:t>
            </a:r>
            <a:r>
              <a:rPr lang="zh-CN" altLang="zh-CN" sz="2000" dirty="0" smtClean="0">
                <a:solidFill>
                  <a:srgbClr val="595959"/>
                </a:solidFill>
                <a:latin typeface="微软雅黑" panose="020B0503020204020204" pitchFamily="34" charset="-122"/>
                <a:ea typeface="微软雅黑" panose="020B0503020204020204" pitchFamily="34" charset="-122"/>
              </a:rPr>
              <a:t>表示</a:t>
            </a:r>
            <a:r>
              <a:rPr lang="zh-CN" altLang="zh-CN" sz="2000" dirty="0">
                <a:solidFill>
                  <a:srgbClr val="1369B2"/>
                </a:solidFill>
                <a:latin typeface="微软雅黑" panose="020B0503020204020204" pitchFamily="34" charset="-122"/>
                <a:ea typeface="微软雅黑" panose="020B0503020204020204" pitchFamily="34" charset="-122"/>
              </a:rPr>
              <a:t>该成员不</a:t>
            </a:r>
            <a:r>
              <a:rPr lang="zh-CN" altLang="zh-CN" sz="2000" dirty="0" smtClean="0">
                <a:solidFill>
                  <a:srgbClr val="1369B2"/>
                </a:solidFill>
                <a:latin typeface="微软雅黑" panose="020B0503020204020204" pitchFamily="34" charset="-122"/>
                <a:ea typeface="微软雅黑" panose="020B0503020204020204" pitchFamily="34" charset="-122"/>
              </a:rPr>
              <a:t>存在</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示例代码如下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对象的遍历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p:nvSpPr>
        <p:spPr>
          <a:xfrm>
            <a:off x="1882908" y="3941633"/>
            <a:ext cx="8352928"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obj = {name: '</a:t>
            </a:r>
            <a:r>
              <a:rPr lang="zh-CN" altLang="zh-CN" sz="2000">
                <a:solidFill>
                  <a:srgbClr val="595959"/>
                </a:solidFill>
                <a:latin typeface="微软雅黑" panose="020B0503020204020204" pitchFamily="34" charset="-122"/>
                <a:ea typeface="微软雅黑" panose="020B0503020204020204" pitchFamily="34" charset="-122"/>
                <a:cs typeface="+mn-ea"/>
              </a:rPr>
              <a:t>小娜</a:t>
            </a:r>
            <a:r>
              <a:rPr lang="en-US" altLang="zh-CN" sz="2000">
                <a:solidFill>
                  <a:srgbClr val="595959"/>
                </a:solidFill>
                <a:latin typeface="微软雅黑" panose="020B0503020204020204" pitchFamily="34" charset="-122"/>
                <a:ea typeface="微软雅黑" panose="020B0503020204020204" pitchFamily="34" charset="-122"/>
                <a:cs typeface="+mn-ea"/>
              </a:rPr>
              <a:t>', sex: '</a:t>
            </a:r>
            <a:r>
              <a:rPr lang="zh-CN" altLang="zh-CN" sz="2000">
                <a:solidFill>
                  <a:srgbClr val="595959"/>
                </a:solidFill>
                <a:latin typeface="微软雅黑" panose="020B0503020204020204" pitchFamily="34" charset="-122"/>
                <a:ea typeface="微软雅黑" panose="020B0503020204020204" pitchFamily="34" charset="-122"/>
                <a:cs typeface="+mn-ea"/>
              </a:rPr>
              <a:t>女</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console.log('name' in obj);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console.log('age' in obj);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false</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30997"/>
          </a:xfrm>
          <a:prstGeom prst="rect">
            <a:avLst/>
          </a:prstGeom>
          <a:noFill/>
        </p:spPr>
        <p:txBody>
          <a:bodyPr wrap="square" lIns="91443" tIns="45720" rIns="91443" bIns="45720" rtlCol="0">
            <a:spAutoFit/>
          </a:bodyPr>
          <a:lstStyle/>
          <a:p>
            <a:r>
              <a:rPr lang="en-US" altLang="zh-CN" sz="4800" b="1" smtClean="0">
                <a:solidFill>
                  <a:srgbClr val="1369B2"/>
                </a:solidFill>
                <a:latin typeface="微软雅黑" panose="020B0503020204020204" pitchFamily="34" charset="-122"/>
                <a:ea typeface="微软雅黑" panose="020B0503020204020204" pitchFamily="34" charset="-122"/>
                <a:cs typeface="+mn-ea"/>
                <a:sym typeface="+mn-lt"/>
              </a:rPr>
              <a:t>Math</a:t>
            </a: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a:solidFill>
                  <a:srgbClr val="FAFAFA"/>
                </a:solidFill>
                <a:latin typeface="微软雅黑" panose="020B0503020204020204" pitchFamily="34" charset="-122"/>
                <a:ea typeface="微软雅黑" panose="020B0503020204020204" pitchFamily="34" charset="-122"/>
                <a:cs typeface="+mn-ea"/>
                <a:sym typeface="+mn-lt"/>
              </a:rPr>
              <a:t>5</a:t>
            </a:r>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en-US" altLang="zh-CN" sz="2000" smtClean="0">
                <a:solidFill>
                  <a:srgbClr val="1369B2"/>
                </a:solidFill>
                <a:latin typeface="微软雅黑" panose="020B0503020204020204" pitchFamily="34" charset="-122"/>
                <a:ea typeface="微软雅黑" panose="020B0503020204020204" pitchFamily="34" charset="-122"/>
                <a:cs typeface="+mn-ea"/>
              </a:rPr>
              <a:t>Math</a:t>
            </a:r>
            <a:r>
              <a:rPr lang="zh-CN" altLang="zh-CN" sz="2000">
                <a:solidFill>
                  <a:srgbClr val="1369B2"/>
                </a:solidFill>
                <a:latin typeface="微软雅黑" panose="020B0503020204020204" pitchFamily="34" charset="-122"/>
                <a:ea typeface="微软雅黑" panose="020B0503020204020204" pitchFamily="34" charset="-122"/>
                <a:cs typeface="+mn-ea"/>
              </a:rPr>
              <a:t>对象的使用</a:t>
            </a:r>
            <a:r>
              <a:rPr lang="zh-CN" altLang="zh-CN" sz="2000">
                <a:solidFill>
                  <a:srgbClr val="595959"/>
                </a:solidFill>
                <a:latin typeface="微软雅黑" panose="020B0503020204020204" pitchFamily="34" charset="-122"/>
                <a:ea typeface="微软雅黑" panose="020B0503020204020204" pitchFamily="34" charset="-122"/>
                <a:cs typeface="+mn-ea"/>
              </a:rPr>
              <a:t>，能够使用</a:t>
            </a:r>
            <a:r>
              <a:rPr lang="en-US" altLang="zh-CN" sz="2000">
                <a:solidFill>
                  <a:srgbClr val="595959"/>
                </a:solidFill>
                <a:latin typeface="微软雅黑" panose="020B0503020204020204" pitchFamily="34" charset="-122"/>
                <a:ea typeface="微软雅黑" panose="020B0503020204020204" pitchFamily="34" charset="-122"/>
                <a:cs typeface="+mn-ea"/>
              </a:rPr>
              <a:t>Math</a:t>
            </a:r>
            <a:r>
              <a:rPr lang="zh-CN" altLang="zh-CN" sz="2000">
                <a:solidFill>
                  <a:srgbClr val="595959"/>
                </a:solidFill>
                <a:latin typeface="微软雅黑" panose="020B0503020204020204" pitchFamily="34" charset="-122"/>
                <a:ea typeface="微软雅黑" panose="020B0503020204020204" pitchFamily="34" charset="-122"/>
                <a:cs typeface="+mn-ea"/>
              </a:rPr>
              <a:t>对象的常用</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属性</a:t>
            </a:r>
            <a:r>
              <a:rPr lang="zh-CN" altLang="zh-CN" sz="2000">
                <a:solidFill>
                  <a:srgbClr val="595959"/>
                </a:solidFill>
                <a:latin typeface="微软雅黑" panose="020B0503020204020204" pitchFamily="34" charset="-122"/>
                <a:ea typeface="微软雅黑" panose="020B0503020204020204" pitchFamily="34" charset="-122"/>
                <a:cs typeface="+mn-ea"/>
              </a:rPr>
              <a:t>实现有关</a:t>
            </a:r>
            <a:r>
              <a:rPr lang="zh-CN" altLang="zh-CN" sz="2000">
                <a:solidFill>
                  <a:srgbClr val="1369B2"/>
                </a:solidFill>
                <a:latin typeface="微软雅黑" panose="020B0503020204020204" pitchFamily="34" charset="-122"/>
                <a:ea typeface="微软雅黑" panose="020B0503020204020204" pitchFamily="34" charset="-122"/>
                <a:cs typeface="+mn-ea"/>
              </a:rPr>
              <a:t>数学的运算</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7" y="1985403"/>
            <a:ext cx="6668367" cy="2092463"/>
            <a:chOff x="4899446" y="1985402"/>
            <a:chExt cx="6740375" cy="3417567"/>
          </a:xfrm>
        </p:grpSpPr>
        <p:sp>
          <p:nvSpPr>
            <p:cNvPr id="24" name="圆角矩形标注 11"/>
            <p:cNvSpPr/>
            <p:nvPr/>
          </p:nvSpPr>
          <p:spPr bwMode="auto">
            <a:xfrm rot="5400000">
              <a:off x="6560850" y="323998"/>
              <a:ext cx="341756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07476" y="2459292"/>
              <a:ext cx="5822846" cy="2469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smtClean="0">
                  <a:solidFill>
                    <a:srgbClr val="1369B2"/>
                  </a:solidFill>
                  <a:latin typeface="微软雅黑" panose="020B0503020204020204" pitchFamily="34" charset="-122"/>
                  <a:ea typeface="微软雅黑" panose="020B0503020204020204" pitchFamily="34" charset="-122"/>
                </a:rPr>
                <a:t>Math</a:t>
              </a:r>
              <a:r>
                <a:rPr lang="zh-CN" altLang="zh-CN" sz="2000">
                  <a:solidFill>
                    <a:srgbClr val="1369B2"/>
                  </a:solidFill>
                  <a:latin typeface="微软雅黑" panose="020B0503020204020204" pitchFamily="34" charset="-122"/>
                  <a:ea typeface="微软雅黑" panose="020B0503020204020204" pitchFamily="34" charset="-122"/>
                </a:rPr>
                <a:t>对象</a:t>
              </a:r>
              <a:r>
                <a:rPr lang="zh-CN" altLang="zh-CN" sz="2000">
                  <a:solidFill>
                    <a:srgbClr val="595959"/>
                  </a:solidFill>
                  <a:latin typeface="微软雅黑" panose="020B0503020204020204" pitchFamily="34" charset="-122"/>
                  <a:ea typeface="微软雅黑" panose="020B0503020204020204" pitchFamily="34" charset="-122"/>
                </a:rPr>
                <a:t>表示</a:t>
              </a:r>
              <a:r>
                <a:rPr lang="zh-CN" altLang="zh-CN" sz="2000">
                  <a:solidFill>
                    <a:srgbClr val="1369B2"/>
                  </a:solidFill>
                  <a:latin typeface="微软雅黑" panose="020B0503020204020204" pitchFamily="34" charset="-122"/>
                  <a:ea typeface="微软雅黑" panose="020B0503020204020204" pitchFamily="34" charset="-122"/>
                </a:rPr>
                <a:t>数学对象</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smtClean="0">
                  <a:solidFill>
                    <a:srgbClr val="595959"/>
                  </a:solidFill>
                  <a:latin typeface="微软雅黑" panose="020B0503020204020204" pitchFamily="34" charset="-122"/>
                  <a:ea typeface="微软雅黑" panose="020B0503020204020204" pitchFamily="34" charset="-122"/>
                </a:rPr>
                <a:t>用于</a:t>
              </a:r>
              <a:r>
                <a:rPr lang="zh-CN" altLang="en-US" sz="2000" smtClean="0">
                  <a:solidFill>
                    <a:srgbClr val="595959"/>
                  </a:solidFill>
                  <a:latin typeface="微软雅黑" panose="020B0503020204020204" pitchFamily="34" charset="-122"/>
                  <a:ea typeface="微软雅黑" panose="020B0503020204020204" pitchFamily="34" charset="-122"/>
                </a:rPr>
                <a:t>进行与</a:t>
              </a:r>
              <a:r>
                <a:rPr lang="zh-CN" altLang="zh-CN" sz="2000" smtClean="0">
                  <a:solidFill>
                    <a:srgbClr val="1369B2"/>
                  </a:solidFill>
                  <a:latin typeface="微软雅黑" panose="020B0503020204020204" pitchFamily="34" charset="-122"/>
                  <a:ea typeface="微软雅黑" panose="020B0503020204020204" pitchFamily="34" charset="-122"/>
                </a:rPr>
                <a:t>数学</a:t>
              </a:r>
              <a:r>
                <a:rPr lang="zh-CN" altLang="zh-CN" sz="2000">
                  <a:solidFill>
                    <a:srgbClr val="1369B2"/>
                  </a:solidFill>
                  <a:latin typeface="微软雅黑" panose="020B0503020204020204" pitchFamily="34" charset="-122"/>
                  <a:ea typeface="微软雅黑" panose="020B0503020204020204" pitchFamily="34" charset="-122"/>
                </a:rPr>
                <a:t>相关的运算</a:t>
              </a:r>
              <a:r>
                <a:rPr lang="zh-CN" altLang="zh-CN" sz="2000">
                  <a:solidFill>
                    <a:srgbClr val="595959"/>
                  </a:solidFill>
                  <a:latin typeface="微软雅黑" panose="020B0503020204020204" pitchFamily="34" charset="-122"/>
                  <a:ea typeface="微软雅黑" panose="020B0503020204020204" pitchFamily="34" charset="-122"/>
                </a:rPr>
                <a:t>，该对象</a:t>
              </a:r>
              <a:r>
                <a:rPr lang="zh-CN" altLang="zh-CN" sz="2000">
                  <a:solidFill>
                    <a:srgbClr val="1369B2"/>
                  </a:solidFill>
                  <a:latin typeface="微软雅黑" panose="020B0503020204020204" pitchFamily="34" charset="-122"/>
                  <a:ea typeface="微软雅黑" panose="020B0503020204020204" pitchFamily="34" charset="-122"/>
                </a:rPr>
                <a:t>不是构造函数</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不需要</a:t>
              </a:r>
              <a:r>
                <a:rPr lang="zh-CN" altLang="zh-CN" sz="2000" smtClean="0">
                  <a:solidFill>
                    <a:srgbClr val="1369B2"/>
                  </a:solidFill>
                  <a:latin typeface="微软雅黑" panose="020B0503020204020204" pitchFamily="34" charset="-122"/>
                  <a:ea typeface="微软雅黑" panose="020B0503020204020204" pitchFamily="34" charset="-122"/>
                </a:rPr>
                <a:t>实例化</a:t>
              </a:r>
              <a:r>
                <a:rPr lang="zh-CN" altLang="zh-CN" sz="2000" smtClean="0">
                  <a:solidFill>
                    <a:srgbClr val="595959"/>
                  </a:solidFill>
                  <a:latin typeface="微软雅黑" panose="020B0503020204020204" pitchFamily="34" charset="-122"/>
                  <a:ea typeface="微软雅黑" panose="020B0503020204020204" pitchFamily="34" charset="-122"/>
                </a:rPr>
                <a:t>，</a:t>
              </a:r>
              <a:r>
                <a:rPr lang="zh-CN" altLang="zh-CN" sz="2000">
                  <a:solidFill>
                    <a:srgbClr val="595959"/>
                  </a:solidFill>
                  <a:latin typeface="微软雅黑" panose="020B0503020204020204" pitchFamily="34" charset="-122"/>
                  <a:ea typeface="微软雅黑" panose="020B0503020204020204" pitchFamily="34" charset="-122"/>
                </a:rPr>
                <a:t>可以直接使用其属性和方法。</a:t>
              </a:r>
              <a:endParaRPr lang="zh-CN" altLang="zh-CN" sz="200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372076" y="1197546"/>
            <a:ext cx="4934364" cy="400110"/>
          </a:xfrm>
          <a:prstGeom prst="rect">
            <a:avLst/>
          </a:prstGeom>
        </p:spPr>
        <p:txBody>
          <a:bodyPr wrap="none">
            <a:spAutoFit/>
          </a:bodyPr>
          <a:lstStyle/>
          <a:p>
            <a:r>
              <a:rPr lang="en-US" altLang="zh-CN" sz="2000">
                <a:solidFill>
                  <a:srgbClr val="1369B2"/>
                </a:solidFill>
                <a:latin typeface="微软雅黑" panose="020B0503020204020204" pitchFamily="34" charset="-122"/>
                <a:ea typeface="微软雅黑" panose="020B0503020204020204" pitchFamily="34" charset="-122"/>
              </a:rPr>
              <a:t>Math</a:t>
            </a:r>
            <a:r>
              <a:rPr lang="zh-CN" altLang="zh-CN" sz="2000">
                <a:solidFill>
                  <a:srgbClr val="1369B2"/>
                </a:solidFill>
                <a:latin typeface="微软雅黑" panose="020B0503020204020204" pitchFamily="34" charset="-122"/>
                <a:ea typeface="微软雅黑" panose="020B0503020204020204" pitchFamily="34" charset="-122"/>
              </a:rPr>
              <a:t>对象的常用属性和方法</a:t>
            </a:r>
            <a:r>
              <a:rPr lang="zh-CN" altLang="zh-CN" sz="2000">
                <a:solidFill>
                  <a:srgbClr val="595959"/>
                </a:solidFill>
                <a:latin typeface="微软雅黑" panose="020B0503020204020204" pitchFamily="34" charset="-122"/>
                <a:ea typeface="微软雅黑" panose="020B0503020204020204" pitchFamily="34" charset="-122"/>
              </a:rPr>
              <a:t>如</a:t>
            </a:r>
            <a:r>
              <a:rPr lang="zh-CN" altLang="en-US" sz="2000">
                <a:solidFill>
                  <a:srgbClr val="595959"/>
                </a:solidFill>
                <a:latin typeface="微软雅黑" panose="020B0503020204020204" pitchFamily="34" charset="-122"/>
                <a:ea typeface="微软雅黑" panose="020B0503020204020204" pitchFamily="34" charset="-122"/>
              </a:rPr>
              <a:t>下表所示。</a:t>
            </a:r>
            <a:endParaRPr lang="zh-CN" altLang="en-US" sz="2000">
              <a:solidFill>
                <a:srgbClr val="595959"/>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1126654" y="1845618"/>
          <a:ext cx="10297144" cy="4133511"/>
        </p:xfrm>
        <a:graphic>
          <a:graphicData uri="http://schemas.openxmlformats.org/drawingml/2006/table">
            <a:tbl>
              <a:tblPr>
                <a:tableStyleId>{7DF18680-E054-41AD-8BC1-D1AEF772440D}</a:tableStyleId>
              </a:tblPr>
              <a:tblGrid>
                <a:gridCol w="3882530"/>
                <a:gridCol w="6414614"/>
              </a:tblGrid>
              <a:tr h="399561">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属性和方法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PI</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获取圆周率，结果为</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3.141592653589793</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abs(x)</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的绝对值 </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max([value1[, value2, …]])</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获取所有参数中的最大值</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min([value1[, value2, …]])</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获取所有参数中的最小值</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pow(base,exponent)</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获取基数（</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base</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）的指数（</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exponent</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）次幂，即</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base</a:t>
                      </a:r>
                      <a:r>
                        <a:rPr lang="en-US" sz="1800" b="0" kern="1200" baseline="300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exponent</a:t>
                      </a:r>
                      <a:endParaRPr lang="zh-CN" sz="1800" b="0" kern="1200" baseline="300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sqrt(x)</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的平方根，若</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为负数，则返回</a:t>
                      </a:r>
                      <a:r>
                        <a:rPr lang="en-US" sz="18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NaN</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ceil(x)</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获取大于或等于</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的最小整数，即向上取整</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floor(x)</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获取小于或等于</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的最大整数，即向下取整</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round(x)</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x</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的四舍五入后的整数值</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algn="ctr">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random()</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algn="l" defTabSz="1219200" rtl="0" eaLnBrk="1" latinLnBrk="0" hangingPunct="1">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获取大于或等于</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且小于</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的随机值</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0630" y="1629594"/>
            <a:ext cx="8929047" cy="400110"/>
          </a:xfrm>
          <a:prstGeom prst="rect">
            <a:avLst/>
          </a:prstGeom>
        </p:spPr>
        <p:txBody>
          <a:bodyPr wrap="none">
            <a:spAutoFit/>
          </a:bodyPr>
          <a:lstStyle/>
          <a:p>
            <a:pPr marL="914400" lvl="1" indent="-457200" algn="just">
              <a:spcAft>
                <a:spcPts val="0"/>
              </a:spcAft>
              <a:buFont typeface="+mj-ea"/>
              <a:buAutoNum type="circleNumDbPlain"/>
            </a:pPr>
            <a:r>
              <a:rPr lang="zh-CN" altLang="en-US" sz="2000" smtClean="0">
                <a:solidFill>
                  <a:srgbClr val="595959"/>
                </a:solidFill>
                <a:latin typeface="微软雅黑" panose="020B0503020204020204" pitchFamily="34" charset="-122"/>
                <a:ea typeface="微软雅黑" panose="020B0503020204020204" pitchFamily="34" charset="-122"/>
              </a:rPr>
              <a:t>使用</a:t>
            </a:r>
            <a:r>
              <a:rPr lang="en-US" altLang="zh-CN" sz="2000">
                <a:solidFill>
                  <a:srgbClr val="1369B2"/>
                </a:solidFill>
                <a:latin typeface="微软雅黑" panose="020B0503020204020204" pitchFamily="34" charset="-122"/>
                <a:ea typeface="微软雅黑" panose="020B0503020204020204" pitchFamily="34" charset="-122"/>
              </a:rPr>
              <a:t>PI</a:t>
            </a:r>
            <a:r>
              <a:rPr lang="zh-CN" altLang="en-US" sz="2000">
                <a:solidFill>
                  <a:srgbClr val="1369B2"/>
                </a:solidFill>
                <a:latin typeface="微软雅黑" panose="020B0503020204020204" pitchFamily="34" charset="-122"/>
                <a:ea typeface="微软雅黑" panose="020B0503020204020204" pitchFamily="34" charset="-122"/>
              </a:rPr>
              <a:t>属性获取圆周率</a:t>
            </a:r>
            <a:r>
              <a:rPr lang="zh-CN" altLang="en-US" sz="2000" smtClean="0">
                <a:solidFill>
                  <a:srgbClr val="595959"/>
                </a:solidFill>
                <a:latin typeface="微软雅黑" panose="020B0503020204020204" pitchFamily="34" charset="-122"/>
                <a:ea typeface="微软雅黑" panose="020B0503020204020204" pitchFamily="34" charset="-122"/>
              </a:rPr>
              <a:t>，并</a:t>
            </a:r>
            <a:r>
              <a:rPr lang="zh-CN" altLang="en-US" sz="2000">
                <a:solidFill>
                  <a:srgbClr val="1369B2"/>
                </a:solidFill>
                <a:latin typeface="微软雅黑" panose="020B0503020204020204" pitchFamily="34" charset="-122"/>
                <a:ea typeface="微软雅黑" panose="020B0503020204020204" pitchFamily="34" charset="-122"/>
              </a:rPr>
              <a:t>计算半径为</a:t>
            </a:r>
            <a:r>
              <a:rPr lang="en-US" altLang="zh-CN" sz="2000">
                <a:solidFill>
                  <a:srgbClr val="1369B2"/>
                </a:solidFill>
                <a:latin typeface="微软雅黑" panose="020B0503020204020204" pitchFamily="34" charset="-122"/>
                <a:ea typeface="微软雅黑" panose="020B0503020204020204" pitchFamily="34" charset="-122"/>
              </a:rPr>
              <a:t>6</a:t>
            </a:r>
            <a:r>
              <a:rPr lang="zh-CN" altLang="en-US" sz="2000">
                <a:solidFill>
                  <a:srgbClr val="1369B2"/>
                </a:solidFill>
                <a:latin typeface="微软雅黑" panose="020B0503020204020204" pitchFamily="34" charset="-122"/>
                <a:ea typeface="微软雅黑" panose="020B0503020204020204" pitchFamily="34" charset="-122"/>
              </a:rPr>
              <a:t>的圆的面积</a:t>
            </a:r>
            <a:r>
              <a:rPr lang="zh-CN" altLang="en-US" sz="2000" smtClean="0">
                <a:solidFill>
                  <a:srgbClr val="595959"/>
                </a:solidFill>
                <a:latin typeface="微软雅黑" panose="020B0503020204020204" pitchFamily="34" charset="-122"/>
                <a:ea typeface="微软雅黑" panose="020B0503020204020204" pitchFamily="34" charset="-122"/>
              </a:rPr>
              <a:t>，</a:t>
            </a:r>
            <a:r>
              <a:rPr lang="zh-CN" altLang="zh-CN" sz="2000" smtClean="0">
                <a:solidFill>
                  <a:srgbClr val="595959"/>
                </a:solidFill>
                <a:latin typeface="微软雅黑" panose="020B0503020204020204" pitchFamily="34" charset="-122"/>
                <a:ea typeface="微软雅黑" panose="020B0503020204020204" pitchFamily="34" charset="-122"/>
              </a:rPr>
              <a:t>示例</a:t>
            </a:r>
            <a:r>
              <a:rPr lang="zh-CN" altLang="zh-CN" sz="2000">
                <a:solidFill>
                  <a:srgbClr val="595959"/>
                </a:solidFill>
                <a:latin typeface="微软雅黑" panose="020B0503020204020204" pitchFamily="34" charset="-122"/>
                <a:ea typeface="微软雅黑" panose="020B0503020204020204" pitchFamily="34" charset="-122"/>
              </a:rPr>
              <a:t>代码如下。</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1416205" y="2417696"/>
            <a:ext cx="9005652"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console.log(Math.PI </a:t>
            </a:r>
            <a:r>
              <a:rPr lang="en-US" altLang="zh-CN" sz="2000">
                <a:solidFill>
                  <a:srgbClr val="595959"/>
                </a:solidFill>
                <a:latin typeface="微软雅黑" panose="020B0503020204020204" pitchFamily="34" charset="-122"/>
                <a:ea typeface="微软雅黑" panose="020B0503020204020204" pitchFamily="34" charset="-122"/>
                <a:cs typeface="+mn-ea"/>
              </a:rPr>
              <a:t>* 6 * 6</a:t>
            </a:r>
            <a:r>
              <a:rPr lang="en-US" altLang="zh-CN" sz="2000" smtClean="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113.09733552923255</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910630" y="3359686"/>
            <a:ext cx="7242688" cy="400110"/>
          </a:xfrm>
          <a:prstGeom prst="rect">
            <a:avLst/>
          </a:prstGeom>
        </p:spPr>
        <p:txBody>
          <a:bodyPr wrap="none">
            <a:spAutoFit/>
          </a:bodyPr>
          <a:lstStyle/>
          <a:p>
            <a:pPr marL="914400" lvl="1" indent="-457200" algn="just">
              <a:spcAft>
                <a:spcPts val="0"/>
              </a:spcAft>
              <a:buFont typeface="+mj-ea"/>
              <a:buAutoNum type="circleNumDbPlain" startAt="2"/>
            </a:pPr>
            <a:r>
              <a:rPr lang="zh-CN" altLang="en-US" sz="2000" smtClean="0">
                <a:solidFill>
                  <a:srgbClr val="595959"/>
                </a:solidFill>
                <a:latin typeface="微软雅黑" panose="020B0503020204020204" pitchFamily="34" charset="-122"/>
                <a:ea typeface="微软雅黑" panose="020B0503020204020204" pitchFamily="34" charset="-122"/>
              </a:rPr>
              <a:t>使用</a:t>
            </a:r>
            <a:r>
              <a:rPr lang="en-US" altLang="zh-CN" sz="2000">
                <a:solidFill>
                  <a:srgbClr val="1369B2"/>
                </a:solidFill>
                <a:latin typeface="微软雅黑" panose="020B0503020204020204" pitchFamily="34" charset="-122"/>
                <a:ea typeface="微软雅黑" panose="020B0503020204020204" pitchFamily="34" charset="-122"/>
              </a:rPr>
              <a:t>abs()</a:t>
            </a:r>
            <a:r>
              <a:rPr lang="zh-CN" altLang="zh-CN" sz="2000">
                <a:solidFill>
                  <a:srgbClr val="1369B2"/>
                </a:solidFill>
                <a:latin typeface="微软雅黑" panose="020B0503020204020204" pitchFamily="34" charset="-122"/>
                <a:ea typeface="微软雅黑" panose="020B0503020204020204" pitchFamily="34" charset="-122"/>
              </a:rPr>
              <a:t>方法计算数字</a:t>
            </a:r>
            <a:r>
              <a:rPr lang="en-US" altLang="zh-CN" sz="2000">
                <a:solidFill>
                  <a:srgbClr val="1369B2"/>
                </a:solidFill>
                <a:latin typeface="微软雅黑" panose="020B0503020204020204" pitchFamily="34" charset="-122"/>
                <a:ea typeface="微软雅黑" panose="020B0503020204020204" pitchFamily="34" charset="-122"/>
              </a:rPr>
              <a:t>-13</a:t>
            </a:r>
            <a:r>
              <a:rPr lang="zh-CN" altLang="zh-CN" sz="2000">
                <a:solidFill>
                  <a:srgbClr val="1369B2"/>
                </a:solidFill>
                <a:latin typeface="微软雅黑" panose="020B0503020204020204" pitchFamily="34" charset="-122"/>
                <a:ea typeface="微软雅黑" panose="020B0503020204020204" pitchFamily="34" charset="-122"/>
              </a:rPr>
              <a:t>的绝对值</a:t>
            </a:r>
            <a:r>
              <a:rPr lang="zh-CN" altLang="en-US" sz="2000">
                <a:solidFill>
                  <a:srgbClr val="595959"/>
                </a:solidFill>
                <a:latin typeface="微软雅黑" panose="020B0503020204020204" pitchFamily="34" charset="-122"/>
                <a:ea typeface="微软雅黑" panose="020B0503020204020204" pitchFamily="34" charset="-122"/>
              </a:rPr>
              <a:t>，</a:t>
            </a:r>
            <a:r>
              <a:rPr lang="zh-CN" altLang="zh-CN" sz="2000" smtClean="0">
                <a:solidFill>
                  <a:srgbClr val="595959"/>
                </a:solidFill>
                <a:latin typeface="微软雅黑" panose="020B0503020204020204" pitchFamily="34" charset="-122"/>
                <a:ea typeface="微软雅黑" panose="020B0503020204020204" pitchFamily="34" charset="-122"/>
              </a:rPr>
              <a:t>示例</a:t>
            </a:r>
            <a:r>
              <a:rPr lang="zh-CN" altLang="zh-CN" sz="2000">
                <a:solidFill>
                  <a:srgbClr val="595959"/>
                </a:solidFill>
                <a:latin typeface="微软雅黑" panose="020B0503020204020204" pitchFamily="34" charset="-122"/>
                <a:ea typeface="微软雅黑" panose="020B0503020204020204" pitchFamily="34" charset="-122"/>
              </a:rPr>
              <a:t>代码如下。</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16205" y="4024677"/>
            <a:ext cx="9005652" cy="499624"/>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console.log(Math.abs</a:t>
            </a:r>
            <a:r>
              <a:rPr lang="en-US" altLang="zh-CN" sz="2000">
                <a:solidFill>
                  <a:srgbClr val="595959"/>
                </a:solidFill>
                <a:latin typeface="微软雅黑" panose="020B0503020204020204" pitchFamily="34" charset="-122"/>
                <a:ea typeface="微软雅黑" panose="020B0503020204020204" pitchFamily="34" charset="-122"/>
                <a:cs typeface="+mn-ea"/>
              </a:rPr>
              <a:t>(-13</a:t>
            </a:r>
            <a:r>
              <a:rPr lang="en-US" altLang="zh-CN" sz="2000" smtClean="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13</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342678" y="2277666"/>
            <a:ext cx="9005652" cy="1015663"/>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console.log(Math.max(12, 9, 21, 36, 15));	// </a:t>
            </a:r>
            <a:r>
              <a:rPr lang="zh-CN" altLang="zh-CN" sz="2000" smtClean="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36</a:t>
            </a:r>
            <a:endParaRPr lang="zh-CN" altLang="zh-CN" sz="2000" smtClean="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console.log(Math.min(12, 9, 21, 36, 15));	// </a:t>
            </a:r>
            <a:r>
              <a:rPr lang="zh-CN" altLang="zh-CN" sz="2000" smtClean="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9</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054646" y="1125538"/>
            <a:ext cx="10009112" cy="1107996"/>
          </a:xfrm>
          <a:prstGeom prst="rect">
            <a:avLst/>
          </a:prstGeom>
        </p:spPr>
        <p:txBody>
          <a:bodyPr wrap="square">
            <a:spAutoFit/>
          </a:bodyPr>
          <a:lstStyle/>
          <a:p>
            <a:pPr marL="457200" lvl="0" indent="-457200" algn="just">
              <a:lnSpc>
                <a:spcPct val="150000"/>
              </a:lnSpc>
              <a:spcAft>
                <a:spcPts val="0"/>
              </a:spcAft>
              <a:buFont typeface="+mj-ea"/>
              <a:buAutoNum type="circleNumDbPlain" startAt="3"/>
            </a:pPr>
            <a:r>
              <a:rPr lang="zh-CN" altLang="zh-CN"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max()</a:t>
            </a:r>
            <a:r>
              <a:rPr lang="zh-CN" altLang="zh-CN" sz="2000" dirty="0">
                <a:solidFill>
                  <a:srgbClr val="1369B2"/>
                </a:solidFill>
                <a:latin typeface="微软雅黑" panose="020B0503020204020204" pitchFamily="34" charset="-122"/>
                <a:ea typeface="微软雅黑" panose="020B0503020204020204" pitchFamily="34" charset="-122"/>
              </a:rPr>
              <a:t>方法</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min()</a:t>
            </a:r>
            <a:r>
              <a:rPr lang="zh-CN" altLang="zh-CN" sz="2000" dirty="0">
                <a:solidFill>
                  <a:srgbClr val="1369B2"/>
                </a:solidFill>
                <a:latin typeface="微软雅黑" panose="020B0503020204020204" pitchFamily="34" charset="-122"/>
                <a:ea typeface="微软雅黑" panose="020B0503020204020204" pitchFamily="34" charset="-122"/>
              </a:rPr>
              <a:t>方法</a:t>
            </a:r>
            <a:r>
              <a:rPr lang="zh-CN" altLang="zh-CN" sz="2000" dirty="0">
                <a:solidFill>
                  <a:srgbClr val="595959"/>
                </a:solidFill>
                <a:latin typeface="微软雅黑" panose="020B0503020204020204" pitchFamily="34" charset="-122"/>
                <a:ea typeface="微软雅黑" panose="020B0503020204020204" pitchFamily="34" charset="-122"/>
              </a:rPr>
              <a:t>计算一组数</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12</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9</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21</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36</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15</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1369B2"/>
                </a:solidFill>
                <a:latin typeface="微软雅黑" panose="020B0503020204020204" pitchFamily="34" charset="-122"/>
                <a:ea typeface="微软雅黑" panose="020B0503020204020204" pitchFamily="34" charset="-122"/>
              </a:rPr>
              <a:t>最大值</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最小值</a:t>
            </a:r>
            <a:r>
              <a:rPr lang="zh-CN" altLang="zh-CN" sz="2000" dirty="0">
                <a:solidFill>
                  <a:srgbClr val="595959"/>
                </a:solidFill>
                <a:latin typeface="微软雅黑" panose="020B0503020204020204" pitchFamily="34" charset="-122"/>
                <a:ea typeface="微软雅黑" panose="020B0503020204020204" pitchFamily="34" charset="-122"/>
              </a:rPr>
              <a:t>，示例代码如下</a:t>
            </a:r>
            <a:r>
              <a:rPr lang="zh-CN" altLang="zh-CN" kern="100" dirty="0">
                <a:latin typeface="Calibri" panose="020F0502020204030204" pitchFamily="34" charset="0"/>
                <a:ea typeface="宋体" panose="02010600030101010101" pitchFamily="2" charset="-122"/>
                <a:cs typeface="Times New Roman" panose="02020603050405020304" charset="0"/>
              </a:rPr>
              <a:t>。</a:t>
            </a:r>
            <a:endParaRPr lang="zh-CN" altLang="zh-CN" kern="100" dirty="0">
              <a:latin typeface="Calibri" panose="020F0502020204030204" pitchFamily="34" charset="0"/>
              <a:ea typeface="宋体" panose="02010600030101010101" pitchFamily="2" charset="-122"/>
              <a:cs typeface="Times New Roman" panose="02020603050405020304" charset="0"/>
            </a:endParaRPr>
          </a:p>
        </p:txBody>
      </p:sp>
      <p:sp>
        <p:nvSpPr>
          <p:cNvPr id="4" name="矩形 3"/>
          <p:cNvSpPr/>
          <p:nvPr/>
        </p:nvSpPr>
        <p:spPr>
          <a:xfrm>
            <a:off x="1054646" y="3429794"/>
            <a:ext cx="10009112" cy="1015663"/>
          </a:xfrm>
          <a:prstGeom prst="rect">
            <a:avLst/>
          </a:prstGeom>
        </p:spPr>
        <p:txBody>
          <a:bodyPr wrap="square">
            <a:spAutoFit/>
          </a:bodyPr>
          <a:lstStyle/>
          <a:p>
            <a:pPr marL="457200" indent="-457200" algn="just">
              <a:lnSpc>
                <a:spcPct val="150000"/>
              </a:lnSpc>
              <a:buFont typeface="+mj-ea"/>
              <a:buAutoNum type="circleNumDbPlain" startAt="4"/>
            </a:pPr>
            <a:r>
              <a:rPr lang="zh-CN" altLang="zh-CN"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pow()</a:t>
            </a:r>
            <a:r>
              <a:rPr lang="zh-CN" altLang="zh-CN" sz="2000" dirty="0">
                <a:solidFill>
                  <a:srgbClr val="1369B2"/>
                </a:solidFill>
                <a:latin typeface="微软雅黑" panose="020B0503020204020204" pitchFamily="34" charset="-122"/>
                <a:ea typeface="微软雅黑" panose="020B0503020204020204" pitchFamily="34" charset="-122"/>
              </a:rPr>
              <a:t>方法计算</a:t>
            </a:r>
            <a:r>
              <a:rPr lang="en-US" altLang="zh-CN" sz="2000" dirty="0">
                <a:solidFill>
                  <a:srgbClr val="1369B2"/>
                </a:solidFill>
                <a:latin typeface="微软雅黑" panose="020B0503020204020204" pitchFamily="34" charset="-122"/>
                <a:ea typeface="微软雅黑" panose="020B0503020204020204" pitchFamily="34" charset="-122"/>
              </a:rPr>
              <a:t>3</a:t>
            </a:r>
            <a:r>
              <a:rPr lang="zh-CN" altLang="zh-CN" sz="2000" dirty="0">
                <a:solidFill>
                  <a:srgbClr val="1369B2"/>
                </a:solidFill>
                <a:latin typeface="微软雅黑" panose="020B0503020204020204" pitchFamily="34" charset="-122"/>
                <a:ea typeface="微软雅黑" panose="020B0503020204020204" pitchFamily="34" charset="-122"/>
              </a:rPr>
              <a:t>的</a:t>
            </a:r>
            <a:r>
              <a:rPr lang="en-US" altLang="zh-CN" sz="2000" dirty="0">
                <a:solidFill>
                  <a:srgbClr val="1369B2"/>
                </a:solidFill>
                <a:latin typeface="微软雅黑" panose="020B0503020204020204" pitchFamily="34" charset="-122"/>
                <a:ea typeface="微软雅黑" panose="020B0503020204020204" pitchFamily="34" charset="-122"/>
              </a:rPr>
              <a:t>4</a:t>
            </a:r>
            <a:r>
              <a:rPr lang="zh-CN" altLang="zh-CN" sz="2000" dirty="0">
                <a:solidFill>
                  <a:srgbClr val="1369B2"/>
                </a:solidFill>
                <a:latin typeface="微软雅黑" panose="020B0503020204020204" pitchFamily="34" charset="-122"/>
                <a:ea typeface="微软雅黑" panose="020B0503020204020204" pitchFamily="34" charset="-122"/>
              </a:rPr>
              <a:t>次幂</a:t>
            </a:r>
            <a:r>
              <a:rPr lang="zh-CN" altLang="zh-CN" sz="2000" dirty="0">
                <a:solidFill>
                  <a:srgbClr val="595959"/>
                </a:solidFill>
                <a:latin typeface="微软雅黑" panose="020B0503020204020204" pitchFamily="34" charset="-122"/>
                <a:ea typeface="微软雅黑" panose="020B0503020204020204" pitchFamily="34" charset="-122"/>
              </a:rPr>
              <a:t>，然后使用</a:t>
            </a:r>
            <a:r>
              <a:rPr lang="en-US" altLang="zh-CN" sz="2000" dirty="0" err="1">
                <a:solidFill>
                  <a:srgbClr val="1369B2"/>
                </a:solidFill>
                <a:latin typeface="微软雅黑" panose="020B0503020204020204" pitchFamily="34" charset="-122"/>
                <a:ea typeface="微软雅黑" panose="020B0503020204020204" pitchFamily="34" charset="-122"/>
              </a:rPr>
              <a:t>sqrt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方法</a:t>
            </a:r>
            <a:r>
              <a:rPr lang="zh-CN" altLang="zh-CN" sz="2000" dirty="0" smtClean="0">
                <a:solidFill>
                  <a:srgbClr val="1369B2"/>
                </a:solidFill>
                <a:latin typeface="微软雅黑" panose="020B0503020204020204" pitchFamily="34" charset="-122"/>
                <a:ea typeface="微软雅黑" panose="020B0503020204020204" pitchFamily="34" charset="-122"/>
              </a:rPr>
              <a:t>对</a:t>
            </a:r>
            <a:r>
              <a:rPr lang="zh-CN" altLang="en-US" sz="2000" dirty="0" smtClean="0">
                <a:solidFill>
                  <a:srgbClr val="1369B2"/>
                </a:solidFill>
                <a:latin typeface="微软雅黑" panose="020B0503020204020204" pitchFamily="34" charset="-122"/>
                <a:ea typeface="微软雅黑" panose="020B0503020204020204" pitchFamily="34" charset="-122"/>
              </a:rPr>
              <a:t>计算</a:t>
            </a:r>
            <a:r>
              <a:rPr lang="zh-CN" altLang="zh-CN" sz="2000" dirty="0" smtClean="0">
                <a:solidFill>
                  <a:srgbClr val="1369B2"/>
                </a:solidFill>
                <a:latin typeface="微软雅黑" panose="020B0503020204020204" pitchFamily="34" charset="-122"/>
                <a:ea typeface="微软雅黑" panose="020B0503020204020204" pitchFamily="34" charset="-122"/>
              </a:rPr>
              <a:t>结果</a:t>
            </a:r>
            <a:r>
              <a:rPr lang="zh-CN" altLang="zh-CN" sz="2000" dirty="0">
                <a:solidFill>
                  <a:srgbClr val="1369B2"/>
                </a:solidFill>
                <a:latin typeface="微软雅黑" panose="020B0503020204020204" pitchFamily="34" charset="-122"/>
                <a:ea typeface="微软雅黑" panose="020B0503020204020204" pitchFamily="34" charset="-122"/>
              </a:rPr>
              <a:t>求平方根</a:t>
            </a:r>
            <a:r>
              <a:rPr lang="zh-CN" altLang="zh-CN" sz="2000" dirty="0" smtClean="0">
                <a:solidFill>
                  <a:srgbClr val="595959"/>
                </a:solidFill>
                <a:latin typeface="微软雅黑" panose="020B0503020204020204" pitchFamily="34" charset="-122"/>
                <a:ea typeface="微软雅黑" panose="020B0503020204020204" pitchFamily="34" charset="-122"/>
              </a:rPr>
              <a:t>，示例</a:t>
            </a:r>
            <a:r>
              <a:rPr lang="zh-CN" altLang="zh-CN" sz="2000" dirty="0">
                <a:solidFill>
                  <a:srgbClr val="595959"/>
                </a:solidFill>
                <a:latin typeface="微软雅黑" panose="020B0503020204020204" pitchFamily="34" charset="-122"/>
                <a:ea typeface="微软雅黑" panose="020B0503020204020204" pitchFamily="34" charset="-122"/>
              </a:rPr>
              <a:t>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342678" y="4653930"/>
            <a:ext cx="9005652" cy="1477328"/>
          </a:xfrm>
          <a:prstGeom prst="rect">
            <a:avLst/>
          </a:prstGeom>
          <a:solidFill>
            <a:srgbClr val="F2F2F2"/>
          </a:solidFill>
        </p:spPr>
        <p:txBody>
          <a:bodyPr wrap="square" rtlCol="0">
            <a:spAutoFit/>
          </a:bodyPr>
          <a:lstStyle/>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 = </a:t>
            </a:r>
            <a:r>
              <a:rPr lang="en-US" altLang="zh-CN" sz="2000" dirty="0" err="1">
                <a:solidFill>
                  <a:srgbClr val="595959"/>
                </a:solidFill>
                <a:latin typeface="微软雅黑" panose="020B0503020204020204" pitchFamily="34" charset="-122"/>
                <a:ea typeface="微软雅黑" panose="020B0503020204020204" pitchFamily="34" charset="-122"/>
                <a:cs typeface="+mn-ea"/>
              </a:rPr>
              <a:t>Math.pow</a:t>
            </a:r>
            <a:r>
              <a:rPr lang="en-US" altLang="zh-CN" sz="2000" dirty="0">
                <a:solidFill>
                  <a:srgbClr val="595959"/>
                </a:solidFill>
                <a:latin typeface="微软雅黑" panose="020B0503020204020204" pitchFamily="34" charset="-122"/>
                <a:ea typeface="微软雅黑" panose="020B0503020204020204" pitchFamily="34" charset="-122"/>
                <a:cs typeface="+mn-ea"/>
              </a:rPr>
              <a:t>(3, 4);</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81</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Math.sqrt</a:t>
            </a:r>
            <a:r>
              <a:rPr lang="en-US" altLang="zh-CN" sz="2000" dirty="0">
                <a:solidFill>
                  <a:srgbClr val="595959"/>
                </a:solidFill>
                <a:latin typeface="微软雅黑" panose="020B0503020204020204" pitchFamily="34" charset="-122"/>
                <a:ea typeface="微软雅黑" panose="020B0503020204020204" pitchFamily="34" charset="-122"/>
                <a:cs typeface="+mn-ea"/>
              </a:rPr>
              <a:t>(a));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9</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630710" y="2536081"/>
            <a:ext cx="9005652"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console.log(Math.ceil(3.1</a:t>
            </a:r>
            <a:r>
              <a:rPr lang="en-US" altLang="zh-CN" sz="200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4</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console.log(Math.ceil(3.9));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4</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console.log(Math.floor(3.1));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console.log(Math.floor(3.9));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19580" y="1146749"/>
            <a:ext cx="10088193" cy="1015663"/>
          </a:xfrm>
          <a:prstGeom prst="rect">
            <a:avLst/>
          </a:prstGeom>
        </p:spPr>
        <p:txBody>
          <a:bodyPr wrap="square">
            <a:spAutoFit/>
          </a:bodyPr>
          <a:lstStyle/>
          <a:p>
            <a:pPr marL="457200" lvl="0" indent="-457200" algn="just">
              <a:lnSpc>
                <a:spcPct val="150000"/>
              </a:lnSpc>
              <a:spcAft>
                <a:spcPts val="0"/>
              </a:spcAft>
              <a:buFont typeface="+mj-ea"/>
              <a:buAutoNum type="circleNumDbPlain" startAt="5"/>
            </a:pP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ceil()</a:t>
            </a:r>
            <a:r>
              <a:rPr lang="zh-CN" altLang="zh-CN" sz="2000" dirty="0">
                <a:solidFill>
                  <a:srgbClr val="1369B2"/>
                </a:solidFill>
                <a:latin typeface="微软雅黑" panose="020B0503020204020204" pitchFamily="34" charset="-122"/>
                <a:ea typeface="微软雅黑" panose="020B0503020204020204" pitchFamily="34" charset="-122"/>
              </a:rPr>
              <a:t>方法计算大于或等于</a:t>
            </a:r>
            <a:r>
              <a:rPr lang="en-US" altLang="zh-CN" sz="2000" dirty="0">
                <a:solidFill>
                  <a:srgbClr val="1369B2"/>
                </a:solidFill>
                <a:latin typeface="微软雅黑" panose="020B0503020204020204" pitchFamily="34" charset="-122"/>
                <a:ea typeface="微软雅黑" panose="020B0503020204020204" pitchFamily="34" charset="-122"/>
              </a:rPr>
              <a:t>3.1</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3.9</a:t>
            </a:r>
            <a:r>
              <a:rPr lang="zh-CN" altLang="zh-CN" sz="2000" dirty="0">
                <a:solidFill>
                  <a:srgbClr val="1369B2"/>
                </a:solidFill>
                <a:latin typeface="微软雅黑" panose="020B0503020204020204" pitchFamily="34" charset="-122"/>
                <a:ea typeface="微软雅黑" panose="020B0503020204020204" pitchFamily="34" charset="-122"/>
              </a:rPr>
              <a:t>的最小整数</a:t>
            </a:r>
            <a:r>
              <a:rPr lang="zh-CN" altLang="zh-CN"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floor()</a:t>
            </a:r>
            <a:r>
              <a:rPr lang="zh-CN" altLang="zh-CN" sz="2000" dirty="0">
                <a:solidFill>
                  <a:srgbClr val="1369B2"/>
                </a:solidFill>
                <a:latin typeface="微软雅黑" panose="020B0503020204020204" pitchFamily="34" charset="-122"/>
                <a:ea typeface="微软雅黑" panose="020B0503020204020204" pitchFamily="34" charset="-122"/>
              </a:rPr>
              <a:t>方法计算小于或等于</a:t>
            </a:r>
            <a:r>
              <a:rPr lang="en-US" altLang="zh-CN" sz="2000" dirty="0">
                <a:solidFill>
                  <a:srgbClr val="1369B2"/>
                </a:solidFill>
                <a:latin typeface="微软雅黑" panose="020B0503020204020204" pitchFamily="34" charset="-122"/>
                <a:ea typeface="微软雅黑" panose="020B0503020204020204" pitchFamily="34" charset="-122"/>
              </a:rPr>
              <a:t>3.1</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3.9</a:t>
            </a:r>
            <a:r>
              <a:rPr lang="zh-CN" altLang="zh-CN" sz="2000" dirty="0">
                <a:solidFill>
                  <a:srgbClr val="1369B2"/>
                </a:solidFill>
                <a:latin typeface="微软雅黑" panose="020B0503020204020204" pitchFamily="34" charset="-122"/>
                <a:ea typeface="微软雅黑" panose="020B0503020204020204" pitchFamily="34" charset="-122"/>
              </a:rPr>
              <a:t>的最大整数</a:t>
            </a:r>
            <a:r>
              <a:rPr lang="zh-CN" altLang="zh-CN" sz="2000" dirty="0">
                <a:solidFill>
                  <a:srgbClr val="595959"/>
                </a:solidFill>
                <a:latin typeface="微软雅黑" panose="020B0503020204020204" pitchFamily="34" charset="-122"/>
                <a:ea typeface="微软雅黑" panose="020B0503020204020204" pitchFamily="34" charset="-122"/>
              </a:rPr>
              <a:t>，示例代码如下。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5.4.1	Math</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142660" y="2138600"/>
            <a:ext cx="9005652" cy="2400657"/>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console.log(Math.round(2.1</a:t>
            </a:r>
            <a:r>
              <a:rPr lang="en-US" altLang="zh-CN" sz="200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console.log(Math.round(2.5));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console.log(Math.round(2.9));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console.log(Math.round(-2.5));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console.log(Math.round(-2.6));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en-US" altLang="zh-CN" sz="2000" smtClean="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169278" y="1076770"/>
            <a:ext cx="10182512" cy="961289"/>
          </a:xfrm>
          <a:prstGeom prst="rect">
            <a:avLst/>
          </a:prstGeom>
        </p:spPr>
        <p:txBody>
          <a:bodyPr wrap="square">
            <a:spAutoFit/>
          </a:bodyPr>
          <a:lstStyle/>
          <a:p>
            <a:pPr marL="457200" lvl="0" indent="-457200" algn="just">
              <a:lnSpc>
                <a:spcPct val="150000"/>
              </a:lnSpc>
              <a:spcAft>
                <a:spcPts val="0"/>
              </a:spcAft>
              <a:buFont typeface="+mj-ea"/>
              <a:buAutoNum type="circleNumDbPlain" startAt="6"/>
            </a:pP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1369B2"/>
                </a:solidFill>
                <a:latin typeface="微软雅黑" panose="020B0503020204020204" pitchFamily="34" charset="-122"/>
                <a:ea typeface="微软雅黑" panose="020B0503020204020204" pitchFamily="34" charset="-122"/>
              </a:rPr>
              <a:t>round()</a:t>
            </a:r>
            <a:r>
              <a:rPr lang="zh-CN" altLang="zh-CN" sz="2000" dirty="0">
                <a:solidFill>
                  <a:srgbClr val="1369B2"/>
                </a:solidFill>
                <a:latin typeface="微软雅黑" panose="020B0503020204020204" pitchFamily="34" charset="-122"/>
                <a:ea typeface="微软雅黑" panose="020B0503020204020204" pitchFamily="34" charset="-122"/>
              </a:rPr>
              <a:t>方法</a:t>
            </a:r>
            <a:r>
              <a:rPr lang="zh-CN" altLang="zh-CN" sz="2000" dirty="0">
                <a:solidFill>
                  <a:srgbClr val="595959"/>
                </a:solidFill>
                <a:latin typeface="微软雅黑" panose="020B0503020204020204" pitchFamily="34" charset="-122"/>
                <a:ea typeface="微软雅黑" panose="020B0503020204020204" pitchFamily="34" charset="-122"/>
              </a:rPr>
              <a:t>实现计算数字</a:t>
            </a:r>
            <a:r>
              <a:rPr lang="en-US" altLang="zh-CN" sz="2000" dirty="0">
                <a:solidFill>
                  <a:srgbClr val="1369B2"/>
                </a:solidFill>
                <a:latin typeface="微软雅黑" panose="020B0503020204020204" pitchFamily="34" charset="-122"/>
                <a:ea typeface="微软雅黑" panose="020B0503020204020204" pitchFamily="34" charset="-122"/>
              </a:rPr>
              <a:t>2.1</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2.5</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2.9</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-2.5</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-2.6</a:t>
            </a:r>
            <a:r>
              <a:rPr lang="zh-CN" altLang="zh-CN" sz="2000" dirty="0">
                <a:solidFill>
                  <a:srgbClr val="1369B2"/>
                </a:solidFill>
                <a:latin typeface="微软雅黑" panose="020B0503020204020204" pitchFamily="34" charset="-122"/>
                <a:ea typeface="微软雅黑" panose="020B0503020204020204" pitchFamily="34" charset="-122"/>
              </a:rPr>
              <a:t>四舍五入后的整数值</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lvl="0" algn="just">
              <a:lnSpc>
                <a:spcPct val="150000"/>
              </a:lnSpc>
              <a:spcAft>
                <a:spcPts val="0"/>
              </a:spcAft>
            </a:pPr>
            <a:r>
              <a:rPr lang="en-US" altLang="zh-CN" sz="2000" dirty="0" smtClean="0">
                <a:solidFill>
                  <a:srgbClr val="595959"/>
                </a:solidFill>
                <a:latin typeface="微软雅黑" panose="020B0503020204020204" pitchFamily="34" charset="-122"/>
                <a:ea typeface="微软雅黑" panose="020B0503020204020204" pitchFamily="34" charset="-122"/>
              </a:rPr>
              <a:t>      </a:t>
            </a:r>
            <a:r>
              <a:rPr lang="zh-CN" altLang="zh-CN" sz="2000" dirty="0" smtClean="0">
                <a:solidFill>
                  <a:srgbClr val="595959"/>
                </a:solidFill>
                <a:latin typeface="微软雅黑" panose="020B0503020204020204" pitchFamily="34" charset="-122"/>
                <a:ea typeface="微软雅黑" panose="020B0503020204020204" pitchFamily="34" charset="-122"/>
              </a:rPr>
              <a:t>示例</a:t>
            </a:r>
            <a:r>
              <a:rPr lang="zh-CN" altLang="zh-CN" sz="2000" dirty="0">
                <a:solidFill>
                  <a:srgbClr val="595959"/>
                </a:solidFill>
                <a:latin typeface="微软雅黑" panose="020B0503020204020204" pitchFamily="34" charset="-122"/>
                <a:ea typeface="微软雅黑" panose="020B0503020204020204" pitchFamily="34" charset="-122"/>
              </a:rPr>
              <a:t>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矩形 3"/>
          <p:cNvSpPr/>
          <p:nvPr/>
        </p:nvSpPr>
        <p:spPr>
          <a:xfrm>
            <a:off x="1054646" y="4680946"/>
            <a:ext cx="9721080" cy="553085"/>
          </a:xfrm>
          <a:prstGeom prst="rect">
            <a:avLst/>
          </a:prstGeom>
        </p:spPr>
        <p:txBody>
          <a:bodyPr wrap="square">
            <a:spAutoFit/>
          </a:bodyPr>
          <a:lstStyle/>
          <a:p>
            <a:pPr marL="457200" indent="-457200" algn="just">
              <a:lnSpc>
                <a:spcPct val="150000"/>
              </a:lnSpc>
              <a:buFont typeface="+mj-ea"/>
              <a:buAutoNum type="circleNumDbPlain" startAt="7"/>
            </a:pP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smtClean="0">
                <a:solidFill>
                  <a:srgbClr val="1369B2"/>
                </a:solidFill>
                <a:latin typeface="微软雅黑" panose="020B0503020204020204" pitchFamily="34" charset="-122"/>
                <a:ea typeface="微软雅黑" panose="020B0503020204020204" pitchFamily="34" charset="-122"/>
              </a:rPr>
              <a:t>random</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方法生成一个大于等于</a:t>
            </a:r>
            <a:r>
              <a:rPr lang="en-US" altLang="zh-CN" sz="2000" dirty="0">
                <a:solidFill>
                  <a:srgbClr val="1369B2"/>
                </a:solidFill>
                <a:latin typeface="微软雅黑" panose="020B0503020204020204" pitchFamily="34" charset="-122"/>
                <a:ea typeface="微软雅黑" panose="020B0503020204020204" pitchFamily="34" charset="-122"/>
              </a:rPr>
              <a:t>0</a:t>
            </a:r>
            <a:r>
              <a:rPr lang="zh-CN" altLang="zh-CN" sz="2000" dirty="0">
                <a:solidFill>
                  <a:srgbClr val="1369B2"/>
                </a:solidFill>
                <a:latin typeface="微软雅黑" panose="020B0503020204020204" pitchFamily="34" charset="-122"/>
                <a:ea typeface="微软雅黑" panose="020B0503020204020204" pitchFamily="34" charset="-122"/>
              </a:rPr>
              <a:t>且小于</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1369B2"/>
                </a:solidFill>
                <a:latin typeface="微软雅黑" panose="020B0503020204020204" pitchFamily="34" charset="-122"/>
                <a:ea typeface="微软雅黑" panose="020B0503020204020204" pitchFamily="34" charset="-122"/>
              </a:rPr>
              <a:t>的随机数</a:t>
            </a:r>
            <a:r>
              <a:rPr lang="zh-CN" altLang="zh-CN" sz="2000" dirty="0">
                <a:solidFill>
                  <a:srgbClr val="595959"/>
                </a:solidFill>
                <a:latin typeface="微软雅黑" panose="020B0503020204020204" pitchFamily="34" charset="-122"/>
                <a:ea typeface="微软雅黑" panose="020B0503020204020204" pitchFamily="34" charset="-122"/>
              </a:rPr>
              <a:t>，示例代码如下。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94010" y="5446018"/>
            <a:ext cx="9005652"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console.log(Math.random</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a:t>
            </a:r>
            <a:r>
              <a:rPr lang="zh-CN" altLang="zh-CN" sz="2000" smtClean="0">
                <a:solidFill>
                  <a:srgbClr val="595959"/>
                </a:solidFill>
                <a:latin typeface="微软雅黑" panose="020B0503020204020204" pitchFamily="34" charset="-122"/>
                <a:ea typeface="微软雅黑" panose="020B0503020204020204" pitchFamily="34" charset="-122"/>
                <a:cs typeface="+mn-ea"/>
              </a:rPr>
              <a:t>结果</a:t>
            </a:r>
            <a:r>
              <a:rPr lang="en-US" altLang="zh-CN" sz="2000" smtClean="0">
                <a:solidFill>
                  <a:srgbClr val="595959"/>
                </a:solidFill>
                <a:latin typeface="微软雅黑" panose="020B0503020204020204" pitchFamily="34" charset="-122"/>
                <a:ea typeface="微软雅黑" panose="020B0503020204020204" pitchFamily="34" charset="-122"/>
                <a:cs typeface="+mn-ea"/>
              </a:rPr>
              <a:t>0.44156518524455257</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63859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en-US" altLang="zh-CN" sz="2000" smtClean="0">
                <a:solidFill>
                  <a:srgbClr val="1369B2"/>
                </a:solidFill>
                <a:latin typeface="微软雅黑" panose="020B0503020204020204" pitchFamily="34" charset="-122"/>
                <a:ea typeface="微软雅黑" panose="020B0503020204020204" pitchFamily="34" charset="-122"/>
                <a:cs typeface="+mn-ea"/>
              </a:rPr>
              <a:t>random()</a:t>
            </a:r>
            <a:r>
              <a:rPr lang="zh-CN" altLang="en-US" sz="2000" smtClean="0">
                <a:solidFill>
                  <a:srgbClr val="1369B2"/>
                </a:solidFill>
                <a:latin typeface="微软雅黑" panose="020B0503020204020204" pitchFamily="34" charset="-122"/>
                <a:ea typeface="微软雅黑" panose="020B0503020204020204" pitchFamily="34" charset="-122"/>
                <a:cs typeface="+mn-ea"/>
              </a:rPr>
              <a:t>方法的使用</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595959"/>
                </a:solidFill>
                <a:latin typeface="微软雅黑" panose="020B0503020204020204" pitchFamily="34" charset="-122"/>
                <a:ea typeface="微软雅黑" panose="020B0503020204020204" pitchFamily="34" charset="-122"/>
                <a:cs typeface="+mn-ea"/>
              </a:rPr>
              <a:t>random()</a:t>
            </a:r>
            <a:r>
              <a:rPr lang="zh-CN" altLang="en-US" sz="2000" smtClean="0">
                <a:solidFill>
                  <a:srgbClr val="595959"/>
                </a:solidFill>
                <a:latin typeface="微软雅黑" panose="020B0503020204020204" pitchFamily="34" charset="-122"/>
                <a:ea typeface="微软雅黑" panose="020B0503020204020204" pitchFamily="34" charset="-122"/>
                <a:cs typeface="+mn-ea"/>
              </a:rPr>
              <a:t>方法</a:t>
            </a:r>
            <a:r>
              <a:rPr lang="zh-CN" altLang="en-US" sz="2000">
                <a:solidFill>
                  <a:srgbClr val="1369B2"/>
                </a:solidFill>
                <a:latin typeface="微软雅黑" panose="020B0503020204020204" pitchFamily="34" charset="-122"/>
                <a:ea typeface="微软雅黑" panose="020B0503020204020204" pitchFamily="34" charset="-122"/>
                <a:cs typeface="+mn-ea"/>
              </a:rPr>
              <a:t>生成指定范围的随机数</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生成指定范围的随机数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生成指定范围的随机数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982638" y="1002733"/>
            <a:ext cx="10441160" cy="1477328"/>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在使用</a:t>
            </a:r>
            <a:r>
              <a:rPr lang="en-US" altLang="zh-CN" sz="2000" dirty="0">
                <a:solidFill>
                  <a:srgbClr val="1369B2"/>
                </a:solidFill>
                <a:latin typeface="微软雅黑" panose="020B0503020204020204" pitchFamily="34" charset="-122"/>
                <a:ea typeface="微软雅黑" panose="020B0503020204020204" pitchFamily="34" charset="-122"/>
                <a:cs typeface="+mn-ea"/>
              </a:rPr>
              <a:t>random()</a:t>
            </a:r>
            <a:r>
              <a:rPr lang="zh-CN" altLang="zh-CN" sz="2000" dirty="0">
                <a:solidFill>
                  <a:srgbClr val="1369B2"/>
                </a:solidFill>
                <a:latin typeface="微软雅黑" panose="020B0503020204020204" pitchFamily="34" charset="-122"/>
                <a:ea typeface="微软雅黑" panose="020B0503020204020204" pitchFamily="34" charset="-122"/>
                <a:cs typeface="+mn-ea"/>
              </a:rPr>
              <a:t>方法生成随机数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时，每次调用</a:t>
            </a:r>
            <a:r>
              <a:rPr lang="zh-CN" altLang="zh-CN" sz="2000" dirty="0">
                <a:solidFill>
                  <a:srgbClr val="1369B2"/>
                </a:solidFill>
                <a:latin typeface="微软雅黑" panose="020B0503020204020204" pitchFamily="34" charset="-122"/>
                <a:ea typeface="微软雅黑" panose="020B0503020204020204" pitchFamily="34" charset="-122"/>
                <a:cs typeface="+mn-ea"/>
              </a:rPr>
              <a:t>输出的结果都不相同</a:t>
            </a:r>
            <a:r>
              <a:rPr lang="zh-CN" altLang="zh-CN" sz="2000" dirty="0">
                <a:solidFill>
                  <a:srgbClr val="595959"/>
                </a:solidFill>
                <a:latin typeface="微软雅黑" panose="020B0503020204020204" pitchFamily="34" charset="-122"/>
                <a:ea typeface="微软雅黑" panose="020B0503020204020204" pitchFamily="34" charset="-122"/>
                <a:cs typeface="+mn-ea"/>
              </a:rPr>
              <a:t>，并且返回结果是一个</a:t>
            </a:r>
            <a:r>
              <a:rPr lang="zh-CN" altLang="zh-CN" sz="2000" dirty="0">
                <a:solidFill>
                  <a:srgbClr val="1369B2"/>
                </a:solidFill>
                <a:latin typeface="微软雅黑" panose="020B0503020204020204" pitchFamily="34" charset="-122"/>
                <a:ea typeface="微软雅黑" panose="020B0503020204020204" pitchFamily="34" charset="-122"/>
                <a:cs typeface="+mn-ea"/>
              </a:rPr>
              <a:t>很长的浮点数</a:t>
            </a:r>
            <a:r>
              <a:rPr lang="zh-CN" altLang="zh-CN" sz="2000" dirty="0">
                <a:solidFill>
                  <a:srgbClr val="595959"/>
                </a:solidFill>
                <a:latin typeface="微软雅黑" panose="020B0503020204020204" pitchFamily="34" charset="-122"/>
                <a:ea typeface="微软雅黑" panose="020B0503020204020204" pitchFamily="34" charset="-122"/>
                <a:cs typeface="+mn-ea"/>
              </a:rPr>
              <a:t>，如</a:t>
            </a:r>
            <a:r>
              <a:rPr lang="en-US" altLang="zh-CN" sz="2000" dirty="0">
                <a:solidFill>
                  <a:srgbClr val="595959"/>
                </a:solidFill>
                <a:latin typeface="微软雅黑" panose="020B0503020204020204" pitchFamily="34" charset="-122"/>
                <a:ea typeface="微软雅黑" panose="020B0503020204020204" pitchFamily="34" charset="-122"/>
                <a:cs typeface="+mn-ea"/>
              </a:rPr>
              <a:t>0.44156518524455257</a:t>
            </a:r>
            <a:r>
              <a:rPr lang="zh-CN" altLang="zh-CN" sz="2000" dirty="0">
                <a:solidFill>
                  <a:srgbClr val="595959"/>
                </a:solidFill>
                <a:latin typeface="微软雅黑" panose="020B0503020204020204" pitchFamily="34" charset="-122"/>
                <a:ea typeface="微软雅黑" panose="020B0503020204020204" pitchFamily="34" charset="-122"/>
                <a:cs typeface="+mn-ea"/>
              </a:rPr>
              <a:t>，其范围是</a:t>
            </a:r>
            <a:r>
              <a:rPr lang="en-US" altLang="zh-CN" sz="2000" dirty="0">
                <a:solidFill>
                  <a:srgbClr val="595959"/>
                </a:solidFill>
                <a:latin typeface="微软雅黑" panose="020B0503020204020204" pitchFamily="34" charset="-122"/>
                <a:ea typeface="微软雅黑" panose="020B0503020204020204" pitchFamily="34" charset="-122"/>
                <a:cs typeface="+mn-ea"/>
              </a:rPr>
              <a:t>0~1</a:t>
            </a:r>
            <a:r>
              <a:rPr lang="zh-CN" altLang="zh-CN" sz="2000" dirty="0">
                <a:solidFill>
                  <a:srgbClr val="595959"/>
                </a:solidFill>
                <a:latin typeface="微软雅黑" panose="020B0503020204020204" pitchFamily="34" charset="-122"/>
                <a:ea typeface="微软雅黑" panose="020B0503020204020204" pitchFamily="34" charset="-122"/>
                <a:cs typeface="+mn-ea"/>
              </a:rPr>
              <a:t>（不包括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）。若希望</a:t>
            </a:r>
            <a:r>
              <a:rPr lang="zh-CN" altLang="zh-CN" sz="2000" dirty="0">
                <a:solidFill>
                  <a:srgbClr val="1369B2"/>
                </a:solidFill>
                <a:latin typeface="微软雅黑" panose="020B0503020204020204" pitchFamily="34" charset="-122"/>
                <a:ea typeface="微软雅黑" panose="020B0503020204020204" pitchFamily="34" charset="-122"/>
                <a:cs typeface="+mn-ea"/>
              </a:rPr>
              <a:t>生成指定范围内的随机数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，可使用下列</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方式。</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2314786" y="2637706"/>
            <a:ext cx="7776864" cy="378565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生成</a:t>
            </a:r>
            <a:r>
              <a:rPr lang="zh-CN" altLang="zh-CN" sz="2000" smtClean="0">
                <a:solidFill>
                  <a:srgbClr val="595959"/>
                </a:solidFill>
                <a:latin typeface="微软雅黑" panose="020B0503020204020204" pitchFamily="34" charset="-122"/>
                <a:ea typeface="微软雅黑" panose="020B0503020204020204" pitchFamily="34" charset="-122"/>
                <a:cs typeface="+mn-ea"/>
              </a:rPr>
              <a:t>大于</a:t>
            </a:r>
            <a:r>
              <a:rPr lang="zh-CN" altLang="en-US" sz="2000" smtClean="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m</a:t>
            </a:r>
            <a:r>
              <a:rPr lang="zh-CN" altLang="zh-CN" sz="2000">
                <a:solidFill>
                  <a:srgbClr val="595959"/>
                </a:solidFill>
                <a:latin typeface="微软雅黑" panose="020B0503020204020204" pitchFamily="34" charset="-122"/>
                <a:ea typeface="微软雅黑" panose="020B0503020204020204" pitchFamily="34" charset="-122"/>
                <a:cs typeface="+mn-ea"/>
              </a:rPr>
              <a:t>且小于</a:t>
            </a:r>
            <a:r>
              <a:rPr lang="en-US" altLang="zh-CN" sz="2000">
                <a:solidFill>
                  <a:srgbClr val="595959"/>
                </a:solidFill>
                <a:latin typeface="微软雅黑" panose="020B0503020204020204" pitchFamily="34" charset="-122"/>
                <a:ea typeface="微软雅黑" panose="020B0503020204020204" pitchFamily="34" charset="-122"/>
                <a:cs typeface="+mn-ea"/>
              </a:rPr>
              <a:t>n</a:t>
            </a:r>
            <a:r>
              <a:rPr lang="zh-CN" altLang="zh-CN" sz="2000">
                <a:solidFill>
                  <a:srgbClr val="595959"/>
                </a:solidFill>
                <a:latin typeface="微软雅黑" panose="020B0503020204020204" pitchFamily="34" charset="-122"/>
                <a:ea typeface="微软雅黑" panose="020B0503020204020204" pitchFamily="34" charset="-122"/>
                <a:cs typeface="+mn-ea"/>
              </a:rPr>
              <a:t>的随机数</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Math.random() * (n - m) + m;</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生成</a:t>
            </a:r>
            <a:r>
              <a:rPr lang="zh-CN" altLang="zh-CN" sz="2000" smtClean="0">
                <a:solidFill>
                  <a:srgbClr val="595959"/>
                </a:solidFill>
                <a:latin typeface="微软雅黑" panose="020B0503020204020204" pitchFamily="34" charset="-122"/>
                <a:ea typeface="微软雅黑" panose="020B0503020204020204" pitchFamily="34" charset="-122"/>
                <a:cs typeface="+mn-ea"/>
              </a:rPr>
              <a:t>大于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m</a:t>
            </a:r>
            <a:r>
              <a:rPr lang="zh-CN" altLang="zh-CN" sz="2000">
                <a:solidFill>
                  <a:srgbClr val="595959"/>
                </a:solidFill>
                <a:latin typeface="微软雅黑" panose="020B0503020204020204" pitchFamily="34" charset="-122"/>
                <a:ea typeface="微软雅黑" panose="020B0503020204020204" pitchFamily="34" charset="-122"/>
                <a:cs typeface="+mn-ea"/>
              </a:rPr>
              <a:t>且</a:t>
            </a:r>
            <a:r>
              <a:rPr lang="zh-CN" altLang="zh-CN" sz="2000" smtClean="0">
                <a:solidFill>
                  <a:srgbClr val="595959"/>
                </a:solidFill>
                <a:latin typeface="微软雅黑" panose="020B0503020204020204" pitchFamily="34" charset="-122"/>
                <a:ea typeface="微软雅黑" panose="020B0503020204020204" pitchFamily="34" charset="-122"/>
                <a:cs typeface="+mn-ea"/>
              </a:rPr>
              <a:t>小于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n</a:t>
            </a:r>
            <a:r>
              <a:rPr lang="zh-CN" altLang="zh-CN" sz="2000">
                <a:solidFill>
                  <a:srgbClr val="595959"/>
                </a:solidFill>
                <a:latin typeface="微软雅黑" panose="020B0503020204020204" pitchFamily="34" charset="-122"/>
                <a:ea typeface="微软雅黑" panose="020B0503020204020204" pitchFamily="34" charset="-122"/>
                <a:cs typeface="+mn-ea"/>
              </a:rPr>
              <a:t>的随机整数</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Math.floor(Math.random() * (n - m + 1) + m);</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生成</a:t>
            </a:r>
            <a:r>
              <a:rPr lang="zh-CN" altLang="zh-CN" sz="2000" smtClean="0">
                <a:solidFill>
                  <a:srgbClr val="595959"/>
                </a:solidFill>
                <a:latin typeface="微软雅黑" panose="020B0503020204020204" pitchFamily="34" charset="-122"/>
                <a:ea typeface="微软雅黑" panose="020B0503020204020204" pitchFamily="34" charset="-122"/>
                <a:cs typeface="+mn-ea"/>
              </a:rPr>
              <a:t>大于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0</a:t>
            </a:r>
            <a:r>
              <a:rPr lang="zh-CN" altLang="zh-CN" sz="2000">
                <a:solidFill>
                  <a:srgbClr val="595959"/>
                </a:solidFill>
                <a:latin typeface="微软雅黑" panose="020B0503020204020204" pitchFamily="34" charset="-122"/>
                <a:ea typeface="微软雅黑" panose="020B0503020204020204" pitchFamily="34" charset="-122"/>
                <a:cs typeface="+mn-ea"/>
              </a:rPr>
              <a:t>且</a:t>
            </a:r>
            <a:r>
              <a:rPr lang="zh-CN" altLang="zh-CN" sz="2000" smtClean="0">
                <a:solidFill>
                  <a:srgbClr val="595959"/>
                </a:solidFill>
                <a:latin typeface="微软雅黑" panose="020B0503020204020204" pitchFamily="34" charset="-122"/>
                <a:ea typeface="微软雅黑" panose="020B0503020204020204" pitchFamily="34" charset="-122"/>
                <a:cs typeface="+mn-ea"/>
              </a:rPr>
              <a:t>小于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n</a:t>
            </a:r>
            <a:r>
              <a:rPr lang="zh-CN" altLang="zh-CN" sz="2000">
                <a:solidFill>
                  <a:srgbClr val="595959"/>
                </a:solidFill>
                <a:latin typeface="微软雅黑" panose="020B0503020204020204" pitchFamily="34" charset="-122"/>
                <a:ea typeface="微软雅黑" panose="020B0503020204020204" pitchFamily="34" charset="-122"/>
                <a:cs typeface="+mn-ea"/>
              </a:rPr>
              <a:t>的随机整数</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Math.floor(Math.random() * (n + 1));</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生成</a:t>
            </a:r>
            <a:r>
              <a:rPr lang="zh-CN" altLang="zh-CN" sz="2000" smtClean="0">
                <a:solidFill>
                  <a:srgbClr val="595959"/>
                </a:solidFill>
                <a:latin typeface="微软雅黑" panose="020B0503020204020204" pitchFamily="34" charset="-122"/>
                <a:ea typeface="微软雅黑" panose="020B0503020204020204" pitchFamily="34" charset="-122"/>
                <a:cs typeface="+mn-ea"/>
              </a:rPr>
              <a:t>大于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且</a:t>
            </a:r>
            <a:r>
              <a:rPr lang="zh-CN" altLang="zh-CN" sz="2000" smtClean="0">
                <a:solidFill>
                  <a:srgbClr val="595959"/>
                </a:solidFill>
                <a:latin typeface="微软雅黑" panose="020B0503020204020204" pitchFamily="34" charset="-122"/>
                <a:ea typeface="微软雅黑" panose="020B0503020204020204" pitchFamily="34" charset="-122"/>
                <a:cs typeface="+mn-ea"/>
              </a:rPr>
              <a:t>小于</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zh-CN" sz="2000" smtClean="0">
                <a:solidFill>
                  <a:srgbClr val="595959"/>
                </a:solidFill>
                <a:latin typeface="微软雅黑" panose="020B0503020204020204" pitchFamily="34" charset="-122"/>
                <a:ea typeface="微软雅黑" panose="020B0503020204020204" pitchFamily="34" charset="-122"/>
                <a:cs typeface="+mn-ea"/>
              </a:rPr>
              <a:t>等于</a:t>
            </a:r>
            <a:r>
              <a:rPr lang="en-US" altLang="zh-CN" sz="2000">
                <a:solidFill>
                  <a:srgbClr val="595959"/>
                </a:solidFill>
                <a:latin typeface="微软雅黑" panose="020B0503020204020204" pitchFamily="34" charset="-122"/>
                <a:ea typeface="微软雅黑" panose="020B0503020204020204" pitchFamily="34" charset="-122"/>
                <a:cs typeface="+mn-ea"/>
              </a:rPr>
              <a:t>n</a:t>
            </a:r>
            <a:r>
              <a:rPr lang="zh-CN" altLang="zh-CN" sz="2000">
                <a:solidFill>
                  <a:srgbClr val="595959"/>
                </a:solidFill>
                <a:latin typeface="微软雅黑" panose="020B0503020204020204" pitchFamily="34" charset="-122"/>
                <a:ea typeface="微软雅黑" panose="020B0503020204020204" pitchFamily="34" charset="-122"/>
                <a:cs typeface="+mn-ea"/>
              </a:rPr>
              <a:t>的随机整数</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Math.floor(Math.random() * n + 1);</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生成指定范围的随机数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1054646" y="981522"/>
            <a:ext cx="9361040" cy="553998"/>
          </a:xfrm>
          <a:prstGeom prst="rect">
            <a:avLst/>
          </a:prstGeom>
        </p:spPr>
        <p:txBody>
          <a:bodyPr wrap="square">
            <a:spAutoFit/>
          </a:body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下面通过代码演示如何</a:t>
            </a:r>
            <a:r>
              <a:rPr lang="zh-CN" altLang="zh-CN" sz="2000" smtClean="0">
                <a:solidFill>
                  <a:srgbClr val="1369B2"/>
                </a:solidFill>
                <a:latin typeface="微软雅黑" panose="020B0503020204020204" pitchFamily="34" charset="-122"/>
                <a:ea typeface="微软雅黑" panose="020B0503020204020204" pitchFamily="34" charset="-122"/>
                <a:cs typeface="+mn-ea"/>
              </a:rPr>
              <a:t>获取</a:t>
            </a:r>
            <a:r>
              <a:rPr lang="en-US" altLang="zh-CN" sz="2000" smtClean="0">
                <a:solidFill>
                  <a:srgbClr val="1369B2"/>
                </a:solidFill>
                <a:latin typeface="微软雅黑" panose="020B0503020204020204" pitchFamily="34" charset="-122"/>
                <a:ea typeface="微软雅黑" panose="020B0503020204020204" pitchFamily="34" charset="-122"/>
                <a:cs typeface="+mn-ea"/>
              </a:rPr>
              <a:t>1~5</a:t>
            </a:r>
            <a:r>
              <a:rPr lang="zh-CN" altLang="zh-CN" sz="2000" smtClean="0">
                <a:solidFill>
                  <a:srgbClr val="1369B2"/>
                </a:solidFill>
                <a:latin typeface="微软雅黑" panose="020B0503020204020204" pitchFamily="34" charset="-122"/>
                <a:ea typeface="微软雅黑" panose="020B0503020204020204" pitchFamily="34" charset="-122"/>
                <a:cs typeface="+mn-ea"/>
              </a:rPr>
              <a:t>的随机整数</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1520372" y="1701602"/>
            <a:ext cx="9005652" cy="193899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function </a:t>
            </a:r>
            <a:r>
              <a:rPr lang="en-US" altLang="zh-CN" sz="2000">
                <a:solidFill>
                  <a:srgbClr val="595959"/>
                </a:solidFill>
                <a:latin typeface="微软雅黑" panose="020B0503020204020204" pitchFamily="34" charset="-122"/>
                <a:ea typeface="微软雅黑" panose="020B0503020204020204" pitchFamily="34" charset="-122"/>
                <a:cs typeface="+mn-ea"/>
              </a:rPr>
              <a:t>getRandom(min, max)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return Math.floor(Math.random() * (max - min + 1) + min);</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console.log(getRandom(1, 5));</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1094957" y="3861842"/>
            <a:ext cx="7880569" cy="553998"/>
          </a:xfrm>
          <a:prstGeom prst="rect">
            <a:avLst/>
          </a:prstGeom>
        </p:spPr>
        <p:txBody>
          <a:bodyPr wrap="square">
            <a:spAutoFit/>
          </a:bodyPr>
          <a:lstStyle/>
          <a:p>
            <a:pPr algn="just">
              <a:lnSpc>
                <a:spcPct val="150000"/>
              </a:lnSpc>
              <a:spcAft>
                <a:spcPts val="0"/>
              </a:spcAft>
            </a:pP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zh-CN" altLang="zh-CN" sz="2000">
                <a:solidFill>
                  <a:srgbClr val="1369B2"/>
                </a:solidFill>
                <a:latin typeface="微软雅黑" panose="020B0503020204020204" pitchFamily="34" charset="-122"/>
                <a:ea typeface="微软雅黑" panose="020B0503020204020204" pitchFamily="34" charset="-122"/>
                <a:cs typeface="+mn-ea"/>
              </a:rPr>
              <a:t>随机数</a:t>
            </a:r>
            <a:r>
              <a:rPr lang="zh-CN" altLang="zh-CN" sz="2000">
                <a:solidFill>
                  <a:srgbClr val="595959"/>
                </a:solidFill>
                <a:latin typeface="微软雅黑" panose="020B0503020204020204" pitchFamily="34" charset="-122"/>
                <a:ea typeface="微软雅黑" panose="020B0503020204020204" pitchFamily="34" charset="-122"/>
                <a:cs typeface="+mn-ea"/>
              </a:rPr>
              <a:t>可以实现</a:t>
            </a:r>
            <a:r>
              <a:rPr lang="zh-CN" altLang="zh-CN" sz="2000">
                <a:solidFill>
                  <a:srgbClr val="1369B2"/>
                </a:solidFill>
                <a:latin typeface="微软雅黑" panose="020B0503020204020204" pitchFamily="34" charset="-122"/>
                <a:ea typeface="微软雅黑" panose="020B0503020204020204" pitchFamily="34" charset="-122"/>
                <a:cs typeface="+mn-ea"/>
              </a:rPr>
              <a:t>在数组中随机获取一个元素</a:t>
            </a:r>
            <a:r>
              <a:rPr lang="zh-CN" altLang="zh-CN" sz="2000">
                <a:solidFill>
                  <a:srgbClr val="595959"/>
                </a:solidFill>
                <a:latin typeface="微软雅黑" panose="020B0503020204020204" pitchFamily="34" charset="-122"/>
                <a:ea typeface="微软雅黑" panose="020B0503020204020204" pitchFamily="34" charset="-122"/>
                <a:cs typeface="+mn-ea"/>
              </a:rPr>
              <a:t>，示例代码如下。</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626058" y="4653930"/>
            <a:ext cx="9005652"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arr = ['</a:t>
            </a:r>
            <a:r>
              <a:rPr lang="zh-CN" altLang="zh-CN" sz="2000">
                <a:solidFill>
                  <a:srgbClr val="595959"/>
                </a:solidFill>
                <a:latin typeface="微软雅黑" panose="020B0503020204020204" pitchFamily="34" charset="-122"/>
                <a:ea typeface="微软雅黑" panose="020B0503020204020204" pitchFamily="34" charset="-122"/>
                <a:cs typeface="+mn-ea"/>
              </a:rPr>
              <a:t>老虎</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狮子</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熊猫</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袋鼠</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斑马</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大象</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调用前面定义的</a:t>
            </a:r>
            <a:r>
              <a:rPr lang="en-US" altLang="zh-CN" sz="2000">
                <a:solidFill>
                  <a:srgbClr val="595959"/>
                </a:solidFill>
                <a:latin typeface="微软雅黑" panose="020B0503020204020204" pitchFamily="34" charset="-122"/>
                <a:ea typeface="微软雅黑" panose="020B0503020204020204" pitchFamily="34" charset="-122"/>
                <a:cs typeface="+mn-ea"/>
              </a:rPr>
              <a:t>getRandom()</a:t>
            </a:r>
            <a:r>
              <a:rPr lang="zh-CN" altLang="zh-CN" sz="2000">
                <a:solidFill>
                  <a:srgbClr val="595959"/>
                </a:solidFill>
                <a:latin typeface="微软雅黑" panose="020B0503020204020204" pitchFamily="34" charset="-122"/>
                <a:ea typeface="微软雅黑" panose="020B0503020204020204" pitchFamily="34" charset="-122"/>
                <a:cs typeface="+mn-ea"/>
              </a:rPr>
              <a:t>函数获取随机数</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console.log(arr[getRandom(0, arr.length - 1</a:t>
            </a:r>
            <a:r>
              <a:rPr lang="en-US"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712200"/>
            <a:ext cx="5638598" cy="53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a:solidFill>
                  <a:srgbClr val="1369B2"/>
                </a:solidFill>
                <a:latin typeface="微软雅黑" panose="020B0503020204020204" pitchFamily="34" charset="-122"/>
                <a:ea typeface="微软雅黑" panose="020B0503020204020204" pitchFamily="34" charset="-122"/>
                <a:cs typeface="+mn-ea"/>
              </a:rPr>
              <a:t>猜</a:t>
            </a:r>
            <a:r>
              <a:rPr lang="zh-CN" altLang="en-US" sz="2000" smtClean="0">
                <a:solidFill>
                  <a:srgbClr val="1369B2"/>
                </a:solidFill>
                <a:latin typeface="微软雅黑" panose="020B0503020204020204" pitchFamily="34" charset="-122"/>
                <a:ea typeface="微软雅黑" panose="020B0503020204020204" pitchFamily="34" charset="-122"/>
                <a:cs typeface="+mn-ea"/>
              </a:rPr>
              <a:t>数字游戏的案例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猜数字游戏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0590"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467404" y="1701602"/>
            <a:ext cx="6668367" cy="3748650"/>
            <a:chOff x="4899451" y="1704037"/>
            <a:chExt cx="6740375" cy="3716499"/>
          </a:xfrm>
        </p:grpSpPr>
        <p:sp>
          <p:nvSpPr>
            <p:cNvPr id="24" name="圆角矩形标注 11"/>
            <p:cNvSpPr/>
            <p:nvPr/>
          </p:nvSpPr>
          <p:spPr bwMode="auto">
            <a:xfrm rot="5400000">
              <a:off x="6411389" y="192099"/>
              <a:ext cx="3716499"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30197" y="1932457"/>
              <a:ext cx="6091268" cy="3273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某</a:t>
              </a:r>
              <a:r>
                <a:rPr lang="zh-CN" altLang="zh-CN" sz="2000" dirty="0">
                  <a:solidFill>
                    <a:srgbClr val="595959"/>
                  </a:solidFill>
                  <a:latin typeface="微软雅黑" panose="020B0503020204020204" pitchFamily="34" charset="-122"/>
                  <a:ea typeface="微软雅黑" panose="020B0503020204020204" pitchFamily="34" charset="-122"/>
                </a:rPr>
                <a:t>班级开展活动日，老师提出了猜数字游戏，游戏的规则是：老师</a:t>
              </a:r>
              <a:r>
                <a:rPr lang="zh-CN" altLang="zh-CN" sz="2000" dirty="0">
                  <a:solidFill>
                    <a:srgbClr val="1369B2"/>
                  </a:solidFill>
                  <a:latin typeface="微软雅黑" panose="020B0503020204020204" pitchFamily="34" charset="-122"/>
                  <a:ea typeface="微软雅黑" panose="020B0503020204020204" pitchFamily="34" charset="-122"/>
                </a:rPr>
                <a:t>随机抽取</a:t>
              </a:r>
              <a:r>
                <a:rPr lang="en-US" altLang="zh-CN" sz="2000" dirty="0">
                  <a:solidFill>
                    <a:srgbClr val="1369B2"/>
                  </a:solidFill>
                  <a:latin typeface="微软雅黑" panose="020B0503020204020204" pitchFamily="34" charset="-122"/>
                  <a:ea typeface="微软雅黑" panose="020B0503020204020204" pitchFamily="34" charset="-122"/>
                </a:rPr>
                <a:t>1~10</a:t>
              </a:r>
              <a:r>
                <a:rPr lang="zh-CN" altLang="zh-CN" sz="2000" dirty="0">
                  <a:solidFill>
                    <a:srgbClr val="1369B2"/>
                  </a:solidFill>
                  <a:latin typeface="微软雅黑" panose="020B0503020204020204" pitchFamily="34" charset="-122"/>
                  <a:ea typeface="微软雅黑" panose="020B0503020204020204" pitchFamily="34" charset="-122"/>
                </a:rPr>
                <a:t>的数字</a:t>
              </a:r>
              <a:r>
                <a:rPr lang="zh-CN" altLang="zh-CN" sz="2000" dirty="0">
                  <a:solidFill>
                    <a:srgbClr val="595959"/>
                  </a:solidFill>
                  <a:latin typeface="微软雅黑" panose="020B0503020204020204" pitchFamily="34" charset="-122"/>
                  <a:ea typeface="微软雅黑" panose="020B0503020204020204" pitchFamily="34" charset="-122"/>
                </a:rPr>
                <a:t>，然后邀请一位同学来猜这个数字，如果该</a:t>
              </a:r>
              <a:r>
                <a:rPr lang="zh-CN" altLang="zh-CN" sz="2000" dirty="0">
                  <a:solidFill>
                    <a:srgbClr val="1369B2"/>
                  </a:solidFill>
                  <a:latin typeface="微软雅黑" panose="020B0503020204020204" pitchFamily="34" charset="-122"/>
                  <a:ea typeface="微软雅黑" panose="020B0503020204020204" pitchFamily="34" charset="-122"/>
                </a:rPr>
                <a:t>同学猜的数字比老师抽取的数字大</a:t>
              </a:r>
              <a:r>
                <a:rPr lang="zh-CN" altLang="zh-CN" sz="2000" dirty="0">
                  <a:solidFill>
                    <a:srgbClr val="595959"/>
                  </a:solidFill>
                  <a:latin typeface="微软雅黑" panose="020B0503020204020204" pitchFamily="34" charset="-122"/>
                  <a:ea typeface="微软雅黑" panose="020B0503020204020204" pitchFamily="34" charset="-122"/>
                </a:rPr>
                <a:t>，则提示</a:t>
              </a:r>
              <a:r>
                <a:rPr lang="zh-CN" altLang="zh-CN" sz="2000" dirty="0">
                  <a:solidFill>
                    <a:srgbClr val="1369B2"/>
                  </a:solidFill>
                  <a:latin typeface="微软雅黑" panose="020B0503020204020204" pitchFamily="34" charset="-122"/>
                  <a:ea typeface="微软雅黑" panose="020B0503020204020204" pitchFamily="34" charset="-122"/>
                </a:rPr>
                <a:t>“猜大了”</a:t>
              </a:r>
              <a:r>
                <a:rPr lang="zh-CN" altLang="zh-CN" sz="2000" dirty="0">
                  <a:solidFill>
                    <a:srgbClr val="595959"/>
                  </a:solidFill>
                  <a:latin typeface="微软雅黑" panose="020B0503020204020204" pitchFamily="34" charset="-122"/>
                  <a:ea typeface="微软雅黑" panose="020B0503020204020204" pitchFamily="34" charset="-122"/>
                </a:rPr>
                <a:t>；如果该</a:t>
              </a:r>
              <a:r>
                <a:rPr lang="zh-CN" altLang="zh-CN" sz="2000" dirty="0">
                  <a:solidFill>
                    <a:srgbClr val="1369B2"/>
                  </a:solidFill>
                  <a:latin typeface="微软雅黑" panose="020B0503020204020204" pitchFamily="34" charset="-122"/>
                  <a:ea typeface="微软雅黑" panose="020B0503020204020204" pitchFamily="34" charset="-122"/>
                </a:rPr>
                <a:t>同学猜的数字比老师抽取的数字小</a:t>
              </a:r>
              <a:r>
                <a:rPr lang="zh-CN" altLang="zh-CN" sz="2000" dirty="0">
                  <a:solidFill>
                    <a:srgbClr val="595959"/>
                  </a:solidFill>
                  <a:latin typeface="微软雅黑" panose="020B0503020204020204" pitchFamily="34" charset="-122"/>
                  <a:ea typeface="微软雅黑" panose="020B0503020204020204" pitchFamily="34" charset="-122"/>
                </a:rPr>
                <a:t>，则提示</a:t>
              </a:r>
              <a:r>
                <a:rPr lang="zh-CN" altLang="zh-CN" sz="2000" dirty="0">
                  <a:solidFill>
                    <a:srgbClr val="1369B2"/>
                  </a:solidFill>
                  <a:latin typeface="微软雅黑" panose="020B0503020204020204" pitchFamily="34" charset="-122"/>
                  <a:ea typeface="微软雅黑" panose="020B0503020204020204" pitchFamily="34" charset="-122"/>
                </a:rPr>
                <a:t>“猜小了”</a:t>
              </a:r>
              <a:r>
                <a:rPr lang="zh-CN" altLang="zh-CN" sz="2000" dirty="0">
                  <a:solidFill>
                    <a:srgbClr val="595959"/>
                  </a:solidFill>
                  <a:latin typeface="微软雅黑" panose="020B0503020204020204" pitchFamily="34" charset="-122"/>
                  <a:ea typeface="微软雅黑" panose="020B0503020204020204" pitchFamily="34" charset="-122"/>
                </a:rPr>
                <a:t>；如果该</a:t>
              </a:r>
              <a:r>
                <a:rPr lang="zh-CN" altLang="zh-CN" sz="2000" dirty="0">
                  <a:solidFill>
                    <a:srgbClr val="1369B2"/>
                  </a:solidFill>
                  <a:latin typeface="微软雅黑" panose="020B0503020204020204" pitchFamily="34" charset="-122"/>
                  <a:ea typeface="微软雅黑" panose="020B0503020204020204" pitchFamily="34" charset="-122"/>
                </a:rPr>
                <a:t>同学猜的</a:t>
              </a:r>
              <a:r>
                <a:rPr lang="zh-CN" altLang="zh-CN" sz="2000" dirty="0" smtClean="0">
                  <a:solidFill>
                    <a:srgbClr val="1369B2"/>
                  </a:solidFill>
                  <a:latin typeface="微软雅黑" panose="020B0503020204020204" pitchFamily="34" charset="-122"/>
                  <a:ea typeface="微软雅黑" panose="020B0503020204020204" pitchFamily="34" charset="-122"/>
                </a:rPr>
                <a:t>数字</a:t>
              </a:r>
              <a:r>
                <a:rPr lang="zh-CN" altLang="en-US" sz="2000" dirty="0" smtClean="0">
                  <a:solidFill>
                    <a:srgbClr val="1369B2"/>
                  </a:solidFill>
                  <a:latin typeface="微软雅黑" panose="020B0503020204020204" pitchFamily="34" charset="-122"/>
                  <a:ea typeface="微软雅黑" panose="020B0503020204020204" pitchFamily="34" charset="-122"/>
                </a:rPr>
                <a:t>等于</a:t>
              </a:r>
              <a:r>
                <a:rPr lang="zh-CN" altLang="zh-CN" sz="2000" dirty="0" smtClean="0">
                  <a:solidFill>
                    <a:srgbClr val="1369B2"/>
                  </a:solidFill>
                  <a:latin typeface="微软雅黑" panose="020B0503020204020204" pitchFamily="34" charset="-122"/>
                  <a:ea typeface="微软雅黑" panose="020B0503020204020204" pitchFamily="34" charset="-122"/>
                </a:rPr>
                <a:t>老师</a:t>
              </a:r>
              <a:r>
                <a:rPr lang="zh-CN" altLang="zh-CN" sz="2000" dirty="0">
                  <a:solidFill>
                    <a:srgbClr val="1369B2"/>
                  </a:solidFill>
                  <a:latin typeface="微软雅黑" panose="020B0503020204020204" pitchFamily="34" charset="-122"/>
                  <a:ea typeface="微软雅黑" panose="020B0503020204020204" pitchFamily="34" charset="-122"/>
                </a:rPr>
                <a:t>抽取的</a:t>
              </a:r>
              <a:r>
                <a:rPr lang="zh-CN" altLang="zh-CN" sz="2000" dirty="0" smtClean="0">
                  <a:solidFill>
                    <a:srgbClr val="1369B2"/>
                  </a:solidFill>
                  <a:latin typeface="微软雅黑" panose="020B0503020204020204" pitchFamily="34" charset="-122"/>
                  <a:ea typeface="微软雅黑" panose="020B0503020204020204" pitchFamily="34" charset="-122"/>
                </a:rPr>
                <a:t>数字</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则提示</a:t>
              </a:r>
              <a:r>
                <a:rPr lang="zh-CN" altLang="zh-CN" sz="2000" dirty="0">
                  <a:solidFill>
                    <a:srgbClr val="1369B2"/>
                  </a:solidFill>
                  <a:latin typeface="微软雅黑" panose="020B0503020204020204" pitchFamily="34" charset="-122"/>
                  <a:ea typeface="微软雅黑" panose="020B0503020204020204" pitchFamily="34" charset="-122"/>
                </a:rPr>
                <a:t>“恭喜，猜对了”</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猜数字游戏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5"/>
          <p:cNvSpPr txBox="1">
            <a:spLocks noChangeArrowheads="1"/>
          </p:cNvSpPr>
          <p:nvPr/>
        </p:nvSpPr>
        <p:spPr bwMode="auto">
          <a:xfrm>
            <a:off x="982638" y="1803226"/>
            <a:ext cx="10441160"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首先</a:t>
            </a:r>
            <a:r>
              <a:rPr lang="zh-CN" altLang="zh-CN" sz="2000" dirty="0">
                <a:solidFill>
                  <a:srgbClr val="595959"/>
                </a:solidFill>
                <a:latin typeface="微软雅黑" panose="020B0503020204020204" pitchFamily="34" charset="-122"/>
                <a:ea typeface="微软雅黑" panose="020B0503020204020204" pitchFamily="34" charset="-122"/>
                <a:cs typeface="+mn-ea"/>
              </a:rPr>
              <a:t>定义</a:t>
            </a:r>
            <a:r>
              <a:rPr lang="en-US" altLang="zh-CN" sz="2000" dirty="0" err="1">
                <a:solidFill>
                  <a:srgbClr val="1369B2"/>
                </a:solidFill>
                <a:latin typeface="微软雅黑" panose="020B0503020204020204" pitchFamily="34" charset="-122"/>
                <a:ea typeface="微软雅黑" panose="020B0503020204020204" pitchFamily="34" charset="-122"/>
                <a:cs typeface="+mn-ea"/>
              </a:rPr>
              <a:t>getRandom</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函数，实现随机生成</a:t>
            </a:r>
            <a:r>
              <a:rPr lang="en-US" altLang="zh-CN" sz="2000" dirty="0">
                <a:solidFill>
                  <a:srgbClr val="1369B2"/>
                </a:solidFill>
                <a:latin typeface="微软雅黑" panose="020B0503020204020204" pitchFamily="34" charset="-122"/>
                <a:ea typeface="微软雅黑" panose="020B0503020204020204" pitchFamily="34" charset="-122"/>
                <a:cs typeface="+mn-ea"/>
              </a:rPr>
              <a:t>1~10</a:t>
            </a:r>
            <a:r>
              <a:rPr lang="zh-CN" altLang="zh-CN" sz="2000" dirty="0">
                <a:solidFill>
                  <a:srgbClr val="595959"/>
                </a:solidFill>
                <a:latin typeface="微软雅黑" panose="020B0503020204020204" pitchFamily="34" charset="-122"/>
                <a:ea typeface="微软雅黑" panose="020B0503020204020204" pitchFamily="34" charset="-122"/>
                <a:cs typeface="+mn-ea"/>
              </a:rPr>
              <a:t>的数字，然后使用</a:t>
            </a:r>
            <a:r>
              <a:rPr lang="zh-CN" altLang="zh-CN" sz="2000" dirty="0">
                <a:solidFill>
                  <a:srgbClr val="1369B2"/>
                </a:solidFill>
                <a:latin typeface="微软雅黑" panose="020B0503020204020204" pitchFamily="34" charset="-122"/>
                <a:ea typeface="微软雅黑" panose="020B0503020204020204" pitchFamily="34" charset="-122"/>
                <a:cs typeface="+mn-ea"/>
              </a:rPr>
              <a:t>循环结构</a:t>
            </a:r>
            <a:r>
              <a:rPr lang="zh-CN" altLang="zh-CN" sz="2000" dirty="0">
                <a:solidFill>
                  <a:srgbClr val="595959"/>
                </a:solidFill>
                <a:latin typeface="微软雅黑" panose="020B0503020204020204" pitchFamily="34" charset="-122"/>
                <a:ea typeface="微软雅黑" panose="020B0503020204020204" pitchFamily="34" charset="-122"/>
                <a:cs typeface="+mn-ea"/>
              </a:rPr>
              <a:t>实现让程序一直运行，在程序中接收用户输入的数字，并判断输入的数字和随机数的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大小</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关系</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cs typeface="+mn-ea"/>
              </a:rPr>
              <a:t>输入的数字大于随机数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，则程序提示</a:t>
            </a:r>
            <a:r>
              <a:rPr lang="zh-CN" altLang="zh-CN" sz="2000" dirty="0">
                <a:solidFill>
                  <a:srgbClr val="1369B2"/>
                </a:solidFill>
                <a:latin typeface="微软雅黑" panose="020B0503020204020204" pitchFamily="34" charset="-122"/>
                <a:ea typeface="微软雅黑" panose="020B0503020204020204" pitchFamily="34" charset="-122"/>
                <a:cs typeface="+mn-ea"/>
              </a:rPr>
              <a:t>“猜大了”</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cs typeface="+mn-ea"/>
              </a:rPr>
              <a:t>输入的数字小于随机数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，则程序提示</a:t>
            </a:r>
            <a:r>
              <a:rPr lang="zh-CN" altLang="zh-CN" sz="2000" dirty="0">
                <a:solidFill>
                  <a:srgbClr val="1369B2"/>
                </a:solidFill>
                <a:latin typeface="微软雅黑" panose="020B0503020204020204" pitchFamily="34" charset="-122"/>
                <a:ea typeface="微软雅黑" panose="020B0503020204020204" pitchFamily="34" charset="-122"/>
                <a:cs typeface="+mn-ea"/>
              </a:rPr>
              <a:t>“猜小了”</a:t>
            </a:r>
            <a:r>
              <a:rPr lang="zh-CN" altLang="zh-CN" sz="2000" dirty="0">
                <a:solidFill>
                  <a:srgbClr val="595959"/>
                </a:solidFill>
                <a:latin typeface="微软雅黑" panose="020B0503020204020204" pitchFamily="34" charset="-122"/>
                <a:ea typeface="微软雅黑" panose="020B0503020204020204" pitchFamily="34" charset="-122"/>
                <a:cs typeface="+mn-ea"/>
              </a:rPr>
              <a:t>；如果</a:t>
            </a:r>
            <a:r>
              <a:rPr lang="zh-CN" altLang="zh-CN" sz="2000" dirty="0">
                <a:solidFill>
                  <a:srgbClr val="1369B2"/>
                </a:solidFill>
                <a:latin typeface="微软雅黑" panose="020B0503020204020204" pitchFamily="34" charset="-122"/>
                <a:ea typeface="微软雅黑" panose="020B0503020204020204" pitchFamily="34" charset="-122"/>
                <a:cs typeface="+mn-ea"/>
              </a:rPr>
              <a:t>输入的数字等于随机数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，则程序提示</a:t>
            </a:r>
            <a:r>
              <a:rPr lang="zh-CN" altLang="zh-CN" sz="2000" dirty="0">
                <a:solidFill>
                  <a:srgbClr val="1369B2"/>
                </a:solidFill>
                <a:latin typeface="微软雅黑" panose="020B0503020204020204" pitchFamily="34" charset="-122"/>
                <a:ea typeface="微软雅黑" panose="020B0503020204020204" pitchFamily="34" charset="-122"/>
                <a:cs typeface="+mn-ea"/>
              </a:rPr>
              <a:t>“恭喜，猜对了”</a:t>
            </a:r>
            <a:r>
              <a:rPr lang="zh-CN" altLang="zh-CN" sz="2000" dirty="0">
                <a:solidFill>
                  <a:srgbClr val="595959"/>
                </a:solidFill>
                <a:latin typeface="微软雅黑" panose="020B0503020204020204" pitchFamily="34" charset="-122"/>
                <a:ea typeface="微软雅黑" panose="020B0503020204020204" pitchFamily="34" charset="-122"/>
                <a:cs typeface="+mn-ea"/>
              </a:rPr>
              <a:t>，结束</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程序</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2"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猜数字游戏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猜数字游戏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0790" y="1773610"/>
            <a:ext cx="7319222" cy="367240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5.4.3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猜数字游戏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0790" y="1773610"/>
            <a:ext cx="7272808" cy="3649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3205208" cy="830997"/>
          </a:xfrm>
          <a:prstGeom prst="rect">
            <a:avLst/>
          </a:prstGeom>
          <a:noFill/>
        </p:spPr>
        <p:txBody>
          <a:bodyPr wrap="square" lIns="91443" tIns="45720" rIns="91443" bIns="45720" rtlCol="0">
            <a:spAutoFit/>
          </a:bodyPr>
          <a:lstStyle/>
          <a:p>
            <a:r>
              <a:rPr lang="zh-CN" altLang="en-US" sz="4800" b="1" smtClean="0">
                <a:solidFill>
                  <a:srgbClr val="1369B2"/>
                </a:solidFill>
                <a:latin typeface="微软雅黑" panose="020B0503020204020204" pitchFamily="34" charset="-122"/>
                <a:ea typeface="微软雅黑" panose="020B0503020204020204" pitchFamily="34" charset="-122"/>
                <a:cs typeface="+mn-ea"/>
                <a:sym typeface="+mn-lt"/>
              </a:rPr>
              <a:t>日期</a:t>
            </a:r>
            <a:r>
              <a:rPr lang="zh-CN" altLang="en-US" sz="4800" b="1">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a:solidFill>
                  <a:srgbClr val="FAFAFA"/>
                </a:solidFill>
                <a:latin typeface="微软雅黑" panose="020B0503020204020204" pitchFamily="34" charset="-122"/>
                <a:ea typeface="微软雅黑" panose="020B0503020204020204" pitchFamily="34" charset="-122"/>
                <a:cs typeface="+mn-ea"/>
                <a:sym typeface="+mn-lt"/>
              </a:rPr>
              <a:t>5</a:t>
            </a:r>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smtClean="0">
                <a:solidFill>
                  <a:srgbClr val="1369B2"/>
                </a:solidFill>
                <a:latin typeface="微软雅黑" panose="020B0503020204020204" pitchFamily="34" charset="-122"/>
                <a:ea typeface="微软雅黑" panose="020B0503020204020204" pitchFamily="34" charset="-122"/>
                <a:cs typeface="+mn-ea"/>
              </a:rPr>
              <a:t>日期</a:t>
            </a:r>
            <a:r>
              <a:rPr lang="zh-CN" altLang="zh-CN" sz="2000">
                <a:solidFill>
                  <a:srgbClr val="1369B2"/>
                </a:solidFill>
                <a:latin typeface="微软雅黑" panose="020B0503020204020204" pitchFamily="34" charset="-122"/>
                <a:ea typeface="微软雅黑" panose="020B0503020204020204" pitchFamily="34" charset="-122"/>
                <a:cs typeface="+mn-ea"/>
              </a:rPr>
              <a:t>对象的使用</a:t>
            </a:r>
            <a:r>
              <a:rPr lang="zh-CN" altLang="zh-CN" sz="2000">
                <a:solidFill>
                  <a:srgbClr val="595959"/>
                </a:solidFill>
                <a:latin typeface="微软雅黑" panose="020B0503020204020204" pitchFamily="34" charset="-122"/>
                <a:ea typeface="微软雅黑" panose="020B0503020204020204" pitchFamily="34" charset="-122"/>
                <a:cs typeface="+mn-ea"/>
              </a:rPr>
              <a:t>，能够使用日期对象的常用方法</a:t>
            </a:r>
            <a:r>
              <a:rPr lang="zh-CN" altLang="zh-CN" sz="2000">
                <a:solidFill>
                  <a:srgbClr val="1369B2"/>
                </a:solidFill>
                <a:latin typeface="微软雅黑" panose="020B0503020204020204" pitchFamily="34" charset="-122"/>
                <a:ea typeface="微软雅黑" panose="020B0503020204020204" pitchFamily="34" charset="-122"/>
                <a:cs typeface="+mn-ea"/>
              </a:rPr>
              <a:t>处理日期和时间</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7" y="1985401"/>
            <a:ext cx="6668367" cy="2380498"/>
            <a:chOff x="4899446" y="1985401"/>
            <a:chExt cx="6740375" cy="3637641"/>
          </a:xfrm>
        </p:grpSpPr>
        <p:sp>
          <p:nvSpPr>
            <p:cNvPr id="24" name="圆角矩形标注 11"/>
            <p:cNvSpPr/>
            <p:nvPr/>
          </p:nvSpPr>
          <p:spPr bwMode="auto">
            <a:xfrm rot="5400000">
              <a:off x="6450813" y="434034"/>
              <a:ext cx="3637641"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30197" y="2310321"/>
              <a:ext cx="5945696" cy="305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a:t>
              </a:r>
              <a:r>
                <a:rPr lang="zh-CN" altLang="zh-CN" sz="2000" dirty="0">
                  <a:solidFill>
                    <a:srgbClr val="1369B2"/>
                  </a:solidFill>
                  <a:latin typeface="微软雅黑" panose="020B0503020204020204" pitchFamily="34" charset="-122"/>
                  <a:ea typeface="微软雅黑" panose="020B0503020204020204" pitchFamily="34" charset="-122"/>
                </a:rPr>
                <a:t>日期对象用于处理日期和时间</a:t>
              </a:r>
              <a:r>
                <a:rPr lang="zh-CN" altLang="zh-CN" sz="2000" dirty="0">
                  <a:solidFill>
                    <a:srgbClr val="595959"/>
                  </a:solidFill>
                  <a:latin typeface="微软雅黑" panose="020B0503020204020204" pitchFamily="34" charset="-122"/>
                  <a:ea typeface="微软雅黑" panose="020B0503020204020204" pitchFamily="34" charset="-122"/>
                </a:rPr>
                <a:t>，需要使用</a:t>
              </a:r>
              <a:r>
                <a:rPr lang="en-US" altLang="zh-CN" sz="2000" dirty="0">
                  <a:solidFill>
                    <a:srgbClr val="1369B2"/>
                  </a:solidFill>
                  <a:latin typeface="微软雅黑" panose="020B0503020204020204" pitchFamily="34" charset="-122"/>
                  <a:ea typeface="微软雅黑" panose="020B0503020204020204" pitchFamily="34" charset="-122"/>
                </a:rPr>
                <a:t>Date()</a:t>
              </a:r>
              <a:r>
                <a:rPr lang="zh-CN" altLang="zh-CN" sz="2000" dirty="0">
                  <a:solidFill>
                    <a:srgbClr val="1369B2"/>
                  </a:solidFill>
                  <a:latin typeface="微软雅黑" panose="020B0503020204020204" pitchFamily="34" charset="-122"/>
                  <a:ea typeface="微软雅黑" panose="020B0503020204020204" pitchFamily="34" charset="-122"/>
                </a:rPr>
                <a:t>构造函数</a:t>
              </a:r>
              <a:r>
                <a:rPr lang="zh-CN" altLang="zh-CN" sz="2000" dirty="0">
                  <a:solidFill>
                    <a:srgbClr val="595959"/>
                  </a:solidFill>
                  <a:latin typeface="微软雅黑" panose="020B0503020204020204" pitchFamily="34" charset="-122"/>
                  <a:ea typeface="微软雅黑" panose="020B0503020204020204" pitchFamily="34" charset="-122"/>
                </a:rPr>
                <a:t>创建后才能使用。在创建日期对象时，</a:t>
              </a:r>
              <a:r>
                <a:rPr lang="zh-CN" altLang="zh-CN" sz="2000" dirty="0" smtClean="0">
                  <a:solidFill>
                    <a:srgbClr val="595959"/>
                  </a:solidFill>
                  <a:latin typeface="微软雅黑" panose="020B0503020204020204" pitchFamily="34" charset="-122"/>
                  <a:ea typeface="微软雅黑" panose="020B0503020204020204" pitchFamily="34" charset="-122"/>
                </a:rPr>
                <a:t>可以</a:t>
              </a:r>
              <a:r>
                <a:rPr lang="zh-CN" altLang="en-US" sz="2000" dirty="0" smtClean="0">
                  <a:solidFill>
                    <a:srgbClr val="595959"/>
                  </a:solidFill>
                  <a:latin typeface="微软雅黑" panose="020B0503020204020204" pitchFamily="34" charset="-122"/>
                  <a:ea typeface="微软雅黑" panose="020B0503020204020204" pitchFamily="34" charset="-122"/>
                </a:rPr>
                <a:t>向</a:t>
              </a:r>
              <a:r>
                <a:rPr lang="en-US" altLang="zh-CN" sz="2000" dirty="0" smtClean="0">
                  <a:solidFill>
                    <a:srgbClr val="595959"/>
                  </a:solidFill>
                  <a:latin typeface="微软雅黑" panose="020B0503020204020204" pitchFamily="34" charset="-122"/>
                  <a:ea typeface="微软雅黑" panose="020B0503020204020204" pitchFamily="34" charset="-122"/>
                </a:rPr>
                <a:t>Date</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构造函数中传入表示</a:t>
              </a:r>
              <a:r>
                <a:rPr lang="zh-CN" altLang="zh-CN" sz="2000" dirty="0">
                  <a:solidFill>
                    <a:srgbClr val="1369B2"/>
                  </a:solidFill>
                  <a:latin typeface="微软雅黑" panose="020B0503020204020204" pitchFamily="34" charset="-122"/>
                  <a:ea typeface="微软雅黑" panose="020B0503020204020204" pitchFamily="34" charset="-122"/>
                </a:rPr>
                <a:t>具体日期</a:t>
              </a:r>
              <a:r>
                <a:rPr lang="zh-CN" altLang="zh-CN" sz="2000" dirty="0">
                  <a:solidFill>
                    <a:srgbClr val="595959"/>
                  </a:solidFill>
                  <a:latin typeface="微软雅黑" panose="020B0503020204020204" pitchFamily="34" charset="-122"/>
                  <a:ea typeface="微软雅黑" panose="020B0503020204020204" pitchFamily="34" charset="-122"/>
                </a:rPr>
                <a:t>的参数。</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133649"/>
            <a:ext cx="6768752" cy="2016225"/>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799062" y="2370260"/>
            <a:ext cx="6336704" cy="1477328"/>
          </a:xfrm>
          <a:prstGeom prst="rect">
            <a:avLst/>
          </a:prstGeom>
          <a:noFill/>
        </p:spPr>
        <p:txBody>
          <a:bodyPr wrap="square" rtlCol="0">
            <a:spAutoFit/>
          </a:bodyPr>
          <a:lstStyle/>
          <a:p>
            <a:pPr>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Date</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构造函数有</a:t>
            </a:r>
            <a:r>
              <a:rPr lang="en-US" altLang="zh-CN" sz="2000">
                <a:solidFill>
                  <a:srgbClr val="595959"/>
                </a:solidFill>
                <a:latin typeface="微软雅黑" panose="020B0503020204020204" pitchFamily="34" charset="-122"/>
                <a:ea typeface="微软雅黑" panose="020B0503020204020204" pitchFamily="34" charset="-122"/>
                <a:cs typeface="+mn-ea"/>
              </a:rPr>
              <a:t>3</a:t>
            </a:r>
            <a:r>
              <a:rPr lang="zh-CN" altLang="zh-CN" sz="2000">
                <a:solidFill>
                  <a:srgbClr val="595959"/>
                </a:solidFill>
                <a:latin typeface="微软雅黑" panose="020B0503020204020204" pitchFamily="34" charset="-122"/>
                <a:ea typeface="微软雅黑" panose="020B0503020204020204" pitchFamily="34" charset="-122"/>
                <a:cs typeface="+mn-ea"/>
              </a:rPr>
              <a:t>种使用方式，第</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种方式是</a:t>
            </a:r>
            <a:r>
              <a:rPr lang="zh-CN" altLang="zh-CN" sz="2000">
                <a:solidFill>
                  <a:srgbClr val="1369B2"/>
                </a:solidFill>
                <a:latin typeface="微软雅黑" panose="020B0503020204020204" pitchFamily="34" charset="-122"/>
                <a:ea typeface="微软雅黑" panose="020B0503020204020204" pitchFamily="34" charset="-122"/>
                <a:cs typeface="+mn-ea"/>
              </a:rPr>
              <a:t>省略参数</a:t>
            </a:r>
            <a:r>
              <a:rPr lang="zh-CN" altLang="zh-CN" sz="2000">
                <a:solidFill>
                  <a:srgbClr val="595959"/>
                </a:solidFill>
                <a:latin typeface="微软雅黑" panose="020B0503020204020204" pitchFamily="34" charset="-122"/>
                <a:ea typeface="微软雅黑" panose="020B0503020204020204" pitchFamily="34" charset="-122"/>
                <a:cs typeface="+mn-ea"/>
              </a:rPr>
              <a:t>；第</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种方式是</a:t>
            </a:r>
            <a:r>
              <a:rPr lang="zh-CN" altLang="zh-CN" sz="2000">
                <a:solidFill>
                  <a:srgbClr val="1369B2"/>
                </a:solidFill>
                <a:latin typeface="微软雅黑" panose="020B0503020204020204" pitchFamily="34" charset="-122"/>
                <a:ea typeface="微软雅黑" panose="020B0503020204020204" pitchFamily="34" charset="-122"/>
                <a:cs typeface="+mn-ea"/>
              </a:rPr>
              <a:t>传入数字型参数</a:t>
            </a:r>
            <a:r>
              <a:rPr lang="zh-CN" altLang="zh-CN" sz="2000">
                <a:solidFill>
                  <a:srgbClr val="595959"/>
                </a:solidFill>
                <a:latin typeface="微软雅黑" panose="020B0503020204020204" pitchFamily="34" charset="-122"/>
                <a:ea typeface="微软雅黑" panose="020B0503020204020204" pitchFamily="34" charset="-122"/>
                <a:cs typeface="+mn-ea"/>
              </a:rPr>
              <a:t>；第</a:t>
            </a:r>
            <a:r>
              <a:rPr lang="en-US" altLang="zh-CN" sz="2000">
                <a:solidFill>
                  <a:srgbClr val="595959"/>
                </a:solidFill>
                <a:latin typeface="微软雅黑" panose="020B0503020204020204" pitchFamily="34" charset="-122"/>
                <a:ea typeface="微软雅黑" panose="020B0503020204020204" pitchFamily="34" charset="-122"/>
                <a:cs typeface="+mn-ea"/>
              </a:rPr>
              <a:t>3</a:t>
            </a:r>
            <a:r>
              <a:rPr lang="zh-CN" altLang="zh-CN" sz="2000">
                <a:solidFill>
                  <a:srgbClr val="595959"/>
                </a:solidFill>
                <a:latin typeface="微软雅黑" panose="020B0503020204020204" pitchFamily="34" charset="-122"/>
                <a:ea typeface="微软雅黑" panose="020B0503020204020204" pitchFamily="34" charset="-122"/>
                <a:cs typeface="+mn-ea"/>
              </a:rPr>
              <a:t>种方式是</a:t>
            </a:r>
            <a:r>
              <a:rPr lang="zh-CN" altLang="zh-CN" sz="2000">
                <a:solidFill>
                  <a:srgbClr val="1369B2"/>
                </a:solidFill>
                <a:latin typeface="微软雅黑" panose="020B0503020204020204" pitchFamily="34" charset="-122"/>
                <a:ea typeface="微软雅黑" panose="020B0503020204020204" pitchFamily="34" charset="-122"/>
                <a:cs typeface="+mn-ea"/>
              </a:rPr>
              <a:t>传入字符串型参数</a:t>
            </a:r>
            <a:r>
              <a:rPr lang="zh-CN" altLang="en-US"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0789" y="2205658"/>
            <a:ext cx="10138993"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Date()</a:t>
            </a:r>
            <a:r>
              <a:rPr lang="zh-CN" altLang="zh-CN" sz="2000">
                <a:solidFill>
                  <a:srgbClr val="1369B2"/>
                </a:solidFill>
                <a:latin typeface="微软雅黑" panose="020B0503020204020204" pitchFamily="34" charset="-122"/>
                <a:ea typeface="微软雅黑" panose="020B0503020204020204" pitchFamily="34" charset="-122"/>
                <a:cs typeface="+mn-ea"/>
              </a:rPr>
              <a:t>构造函数</a:t>
            </a:r>
            <a:r>
              <a:rPr lang="zh-CN" altLang="zh-CN" sz="2000">
                <a:solidFill>
                  <a:srgbClr val="595959"/>
                </a:solidFill>
                <a:latin typeface="微软雅黑" panose="020B0503020204020204" pitchFamily="34" charset="-122"/>
                <a:ea typeface="微软雅黑" panose="020B0503020204020204" pitchFamily="34" charset="-122"/>
                <a:cs typeface="+mn-ea"/>
              </a:rPr>
              <a:t>创建日期对象时，</a:t>
            </a:r>
            <a:r>
              <a:rPr lang="zh-CN" altLang="zh-CN" sz="2000">
                <a:solidFill>
                  <a:srgbClr val="1369B2"/>
                </a:solidFill>
                <a:latin typeface="微软雅黑" panose="020B0503020204020204" pitchFamily="34" charset="-122"/>
                <a:ea typeface="微软雅黑" panose="020B0503020204020204" pitchFamily="34" charset="-122"/>
                <a:cs typeface="+mn-ea"/>
              </a:rPr>
              <a:t>省略参数</a:t>
            </a:r>
            <a:r>
              <a:rPr lang="zh-CN" altLang="zh-CN" sz="2000">
                <a:solidFill>
                  <a:srgbClr val="595959"/>
                </a:solidFill>
                <a:latin typeface="微软雅黑" panose="020B0503020204020204" pitchFamily="34" charset="-122"/>
                <a:ea typeface="微软雅黑" panose="020B0503020204020204" pitchFamily="34" charset="-122"/>
                <a:cs typeface="+mn-ea"/>
              </a:rPr>
              <a:t>表示</a:t>
            </a:r>
            <a:r>
              <a:rPr lang="zh-CN" altLang="zh-CN" sz="2000">
                <a:solidFill>
                  <a:srgbClr val="1369B2"/>
                </a:solidFill>
                <a:latin typeface="微软雅黑" panose="020B0503020204020204" pitchFamily="34" charset="-122"/>
                <a:ea typeface="微软雅黑" panose="020B0503020204020204" pitchFamily="34" charset="-122"/>
                <a:cs typeface="+mn-ea"/>
              </a:rPr>
              <a:t>使用系统当前时间</a:t>
            </a:r>
            <a:r>
              <a:rPr lang="zh-CN" altLang="zh-CN" sz="2000">
                <a:solidFill>
                  <a:srgbClr val="595959"/>
                </a:solidFill>
                <a:latin typeface="微软雅黑" panose="020B0503020204020204" pitchFamily="34" charset="-122"/>
                <a:ea typeface="微软雅黑" panose="020B0503020204020204" pitchFamily="34" charset="-122"/>
                <a:cs typeface="+mn-ea"/>
              </a:rPr>
              <a:t>，示例代码如下</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140789" y="1303980"/>
            <a:ext cx="172785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FFFFF"/>
                </a:solidFill>
                <a:latin typeface="微软雅黑" panose="020B0503020204020204" pitchFamily="34" charset="-122"/>
                <a:ea typeface="微软雅黑" panose="020B0503020204020204" pitchFamily="34" charset="-122"/>
              </a:rPr>
              <a:t>1</a:t>
            </a:r>
            <a:r>
              <a:rPr lang="en-US" altLang="zh-CN" sz="2000" smtClean="0">
                <a:solidFill>
                  <a:srgbClr val="FFFFFF"/>
                </a:solidFill>
                <a:latin typeface="微软雅黑" panose="020B0503020204020204" pitchFamily="34" charset="-122"/>
                <a:ea typeface="微软雅黑" panose="020B0503020204020204" pitchFamily="34" charset="-122"/>
              </a:rPr>
              <a:t>.</a:t>
            </a:r>
            <a:r>
              <a:rPr lang="zh-CN" altLang="en-US" sz="2000" smtClean="0">
                <a:solidFill>
                  <a:srgbClr val="FFFFFF"/>
                </a:solidFill>
                <a:latin typeface="微软雅黑" panose="020B0503020204020204" pitchFamily="34" charset="-122"/>
                <a:ea typeface="微软雅黑" panose="020B0503020204020204" pitchFamily="34" charset="-122"/>
              </a:rPr>
              <a:t>省略参数</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707459" y="3240190"/>
            <a:ext cx="9005652" cy="1476375"/>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date01 = new Date();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console.log(date01);</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Wed</a:t>
            </a:r>
            <a:r>
              <a:rPr lang="en-US" altLang="zh-CN" sz="2000">
                <a:solidFill>
                  <a:srgbClr val="595959"/>
                </a:solidFill>
                <a:latin typeface="微软雅黑" panose="020B0503020204020204" pitchFamily="34" charset="-122"/>
                <a:ea typeface="微软雅黑" panose="020B0503020204020204" pitchFamily="34" charset="-122"/>
                <a:cs typeface="+mn-ea"/>
              </a:rPr>
              <a:t> Apr 23 2025 09:36:37 GMT+0800 (</a:t>
            </a:r>
            <a:r>
              <a:rPr lang="zh-CN" altLang="zh-CN" sz="2000">
                <a:solidFill>
                  <a:srgbClr val="595959"/>
                </a:solidFill>
                <a:latin typeface="微软雅黑" panose="020B0503020204020204" pitchFamily="34" charset="-122"/>
                <a:ea typeface="微软雅黑" panose="020B0503020204020204" pitchFamily="34" charset="-122"/>
                <a:cs typeface="+mn-ea"/>
              </a:rPr>
              <a:t>中国标准时间</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1" y="2133650"/>
            <a:ext cx="10280107" cy="1477328"/>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Date()</a:t>
            </a:r>
            <a:r>
              <a:rPr lang="zh-CN" altLang="zh-CN" sz="2000" dirty="0">
                <a:solidFill>
                  <a:srgbClr val="595959"/>
                </a:solidFill>
                <a:latin typeface="微软雅黑" panose="020B0503020204020204" pitchFamily="34" charset="-122"/>
                <a:ea typeface="微软雅黑" panose="020B0503020204020204" pitchFamily="34" charset="-122"/>
                <a:cs typeface="+mn-ea"/>
              </a:rPr>
              <a:t>构造函数创建</a:t>
            </a:r>
            <a:r>
              <a:rPr lang="zh-CN" altLang="zh-CN" sz="2000" dirty="0">
                <a:solidFill>
                  <a:srgbClr val="1369B2"/>
                </a:solidFill>
                <a:latin typeface="微软雅黑" panose="020B0503020204020204" pitchFamily="34" charset="-122"/>
                <a:ea typeface="微软雅黑" panose="020B0503020204020204" pitchFamily="34" charset="-122"/>
                <a:cs typeface="+mn-ea"/>
              </a:rPr>
              <a:t>日期对象</a:t>
            </a:r>
            <a:r>
              <a:rPr lang="zh-CN" altLang="zh-CN" sz="2000" dirty="0">
                <a:solidFill>
                  <a:srgbClr val="595959"/>
                </a:solidFill>
                <a:latin typeface="微软雅黑" panose="020B0503020204020204" pitchFamily="34" charset="-122"/>
                <a:ea typeface="微软雅黑" panose="020B0503020204020204" pitchFamily="34" charset="-122"/>
                <a:cs typeface="+mn-ea"/>
              </a:rPr>
              <a:t>时，可以传入以</a:t>
            </a:r>
            <a:r>
              <a:rPr lang="zh-CN" altLang="zh-CN" sz="2000" dirty="0">
                <a:solidFill>
                  <a:srgbClr val="1369B2"/>
                </a:solidFill>
                <a:latin typeface="微软雅黑" panose="020B0503020204020204" pitchFamily="34" charset="-122"/>
                <a:ea typeface="微软雅黑" panose="020B0503020204020204" pitchFamily="34" charset="-122"/>
                <a:cs typeface="+mn-ea"/>
              </a:rPr>
              <a:t>数字</a:t>
            </a:r>
            <a:r>
              <a:rPr lang="zh-CN" altLang="zh-CN" sz="2000" dirty="0">
                <a:solidFill>
                  <a:srgbClr val="595959"/>
                </a:solidFill>
                <a:latin typeface="微软雅黑" panose="020B0503020204020204" pitchFamily="34" charset="-122"/>
                <a:ea typeface="微软雅黑" panose="020B0503020204020204" pitchFamily="34" charset="-122"/>
                <a:cs typeface="+mn-ea"/>
              </a:rPr>
              <a:t>表示的</a:t>
            </a:r>
            <a:r>
              <a:rPr lang="zh-CN" altLang="zh-CN" sz="2000" dirty="0">
                <a:solidFill>
                  <a:srgbClr val="1369B2"/>
                </a:solidFill>
                <a:latin typeface="微软雅黑" panose="020B0503020204020204" pitchFamily="34" charset="-122"/>
                <a:ea typeface="微软雅黑" panose="020B0503020204020204" pitchFamily="34" charset="-122"/>
                <a:cs typeface="+mn-ea"/>
              </a:rPr>
              <a:t>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月</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日</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时</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分</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秒</a:t>
            </a:r>
            <a:r>
              <a:rPr lang="zh-CN" altLang="zh-CN" sz="2000" dirty="0">
                <a:solidFill>
                  <a:srgbClr val="595959"/>
                </a:solidFill>
                <a:latin typeface="微软雅黑" panose="020B0503020204020204" pitchFamily="34" charset="-122"/>
                <a:ea typeface="微软雅黑" panose="020B0503020204020204" pitchFamily="34" charset="-122"/>
                <a:cs typeface="+mn-ea"/>
              </a:rPr>
              <a:t>参数，并且最少需要指定</a:t>
            </a:r>
            <a:r>
              <a:rPr lang="zh-CN" altLang="zh-CN" sz="2000" dirty="0">
                <a:solidFill>
                  <a:srgbClr val="1369B2"/>
                </a:solidFill>
                <a:latin typeface="微软雅黑" panose="020B0503020204020204" pitchFamily="34" charset="-122"/>
                <a:ea typeface="微软雅黑" panose="020B0503020204020204" pitchFamily="34" charset="-122"/>
                <a:cs typeface="+mn-ea"/>
              </a:rPr>
              <a:t>年</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月</a:t>
            </a:r>
            <a:r>
              <a:rPr lang="zh-CN" altLang="zh-CN" sz="2000" dirty="0">
                <a:solidFill>
                  <a:srgbClr val="595959"/>
                </a:solidFill>
                <a:latin typeface="微软雅黑" panose="020B0503020204020204" pitchFamily="34" charset="-122"/>
                <a:ea typeface="微软雅黑" panose="020B0503020204020204" pitchFamily="34" charset="-122"/>
                <a:cs typeface="+mn-ea"/>
              </a:rPr>
              <a:t>两个参数，若省略日、时、分、秒参数会自动使用默认值，即当前的日期和时间</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143691" y="1275572"/>
            <a:ext cx="2226756"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smtClean="0">
                <a:solidFill>
                  <a:srgbClr val="FFFFFF"/>
                </a:solidFill>
                <a:latin typeface="微软雅黑" panose="020B0503020204020204" pitchFamily="34" charset="-122"/>
                <a:ea typeface="微软雅黑" panose="020B0503020204020204" pitchFamily="34" charset="-122"/>
              </a:rPr>
              <a:t>2.</a:t>
            </a:r>
            <a:r>
              <a:rPr lang="zh-CN" altLang="en-US" sz="2000" dirty="0" smtClean="0">
                <a:solidFill>
                  <a:srgbClr val="FFFFFF"/>
                </a:solidFill>
                <a:latin typeface="微软雅黑" panose="020B0503020204020204" pitchFamily="34" charset="-122"/>
                <a:ea typeface="微软雅黑" panose="020B0503020204020204" pitchFamily="34" charset="-122"/>
              </a:rPr>
              <a:t>传入数字型参数</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9" name="矩形: 圆角 38"/>
          <p:cNvSpPr/>
          <p:nvPr/>
        </p:nvSpPr>
        <p:spPr>
          <a:xfrm>
            <a:off x="1143691" y="4241660"/>
            <a:ext cx="10009112" cy="145484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10" name="流程图: 资料带 9"/>
          <p:cNvSpPr/>
          <p:nvPr/>
        </p:nvSpPr>
        <p:spPr>
          <a:xfrm>
            <a:off x="944703" y="4005858"/>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注意</a:t>
            </a:r>
            <a:endParaRPr lang="zh-CN" altLang="en-US" sz="2000" dirty="0">
              <a:latin typeface="微软雅黑" panose="020B0503020204020204" pitchFamily="34" charset="-122"/>
              <a:ea typeface="微软雅黑" panose="020B0503020204020204" pitchFamily="34" charset="-122"/>
            </a:endParaRPr>
          </a:p>
        </p:txBody>
      </p:sp>
      <p:sp>
        <p:nvSpPr>
          <p:cNvPr id="11" name="矩形 10"/>
          <p:cNvSpPr/>
          <p:nvPr/>
        </p:nvSpPr>
        <p:spPr>
          <a:xfrm>
            <a:off x="1719756" y="4219178"/>
            <a:ext cx="9433048" cy="1477328"/>
          </a:xfrm>
          <a:prstGeom prst="rect">
            <a:avLst/>
          </a:prstGeom>
        </p:spPr>
        <p:txBody>
          <a:bodyPr wrap="square">
            <a:spAutoFit/>
          </a:bodyPr>
          <a:lstStyle/>
          <a:p>
            <a:pPr>
              <a:lnSpc>
                <a:spcPct val="150000"/>
              </a:lnSpc>
            </a:pPr>
            <a:r>
              <a:rPr lang="zh-CN" altLang="zh-CN" sz="2000" smtClean="0">
                <a:solidFill>
                  <a:srgbClr val="FF0000"/>
                </a:solidFill>
                <a:latin typeface="微软雅黑" panose="020B0503020204020204" pitchFamily="34" charset="-122"/>
                <a:ea typeface="微软雅黑" panose="020B0503020204020204" pitchFamily="34" charset="-122"/>
                <a:cs typeface="+mn-ea"/>
              </a:rPr>
              <a:t>月</a:t>
            </a:r>
            <a:r>
              <a:rPr lang="zh-CN" altLang="zh-CN" sz="2000">
                <a:solidFill>
                  <a:srgbClr val="FF0000"/>
                </a:solidFill>
                <a:latin typeface="微软雅黑" panose="020B0503020204020204" pitchFamily="34" charset="-122"/>
                <a:ea typeface="微软雅黑" panose="020B0503020204020204" pitchFamily="34" charset="-122"/>
                <a:cs typeface="+mn-ea"/>
              </a:rPr>
              <a:t>的取值范围是</a:t>
            </a:r>
            <a:r>
              <a:rPr lang="en-US" altLang="zh-CN" sz="2000">
                <a:solidFill>
                  <a:srgbClr val="FF0000"/>
                </a:solidFill>
                <a:latin typeface="微软雅黑" panose="020B0503020204020204" pitchFamily="34" charset="-122"/>
                <a:ea typeface="微软雅黑" panose="020B0503020204020204" pitchFamily="34" charset="-122"/>
                <a:cs typeface="+mn-ea"/>
              </a:rPr>
              <a:t>0~11</a:t>
            </a:r>
            <a:r>
              <a:rPr lang="zh-CN" altLang="zh-CN" sz="2000">
                <a:solidFill>
                  <a:srgbClr val="FF0000"/>
                </a:solidFill>
                <a:latin typeface="微软雅黑" panose="020B0503020204020204" pitchFamily="34" charset="-122"/>
                <a:ea typeface="微软雅黑" panose="020B0503020204020204" pitchFamily="34" charset="-122"/>
                <a:cs typeface="+mn-ea"/>
              </a:rPr>
              <a:t>，其中</a:t>
            </a:r>
            <a:r>
              <a:rPr lang="en-US" altLang="zh-CN" sz="2000">
                <a:solidFill>
                  <a:srgbClr val="FF0000"/>
                </a:solidFill>
                <a:latin typeface="微软雅黑" panose="020B0503020204020204" pitchFamily="34" charset="-122"/>
                <a:ea typeface="微软雅黑" panose="020B0503020204020204" pitchFamily="34" charset="-122"/>
                <a:cs typeface="+mn-ea"/>
              </a:rPr>
              <a:t>0</a:t>
            </a:r>
            <a:r>
              <a:rPr lang="zh-CN" altLang="zh-CN" sz="2000">
                <a:solidFill>
                  <a:srgbClr val="FF0000"/>
                </a:solidFill>
                <a:latin typeface="微软雅黑" panose="020B0503020204020204" pitchFamily="34" charset="-122"/>
                <a:ea typeface="微软雅黑" panose="020B0503020204020204" pitchFamily="34" charset="-122"/>
                <a:cs typeface="+mn-ea"/>
              </a:rPr>
              <a:t>表示</a:t>
            </a:r>
            <a:r>
              <a:rPr lang="en-US" altLang="zh-CN" sz="2000">
                <a:solidFill>
                  <a:srgbClr val="FF0000"/>
                </a:solidFill>
                <a:latin typeface="微软雅黑" panose="020B0503020204020204" pitchFamily="34" charset="-122"/>
                <a:ea typeface="微软雅黑" panose="020B0503020204020204" pitchFamily="34" charset="-122"/>
                <a:cs typeface="+mn-ea"/>
              </a:rPr>
              <a:t>1</a:t>
            </a:r>
            <a:r>
              <a:rPr lang="zh-CN" altLang="zh-CN" sz="2000">
                <a:solidFill>
                  <a:srgbClr val="FF0000"/>
                </a:solidFill>
                <a:latin typeface="微软雅黑" panose="020B0503020204020204" pitchFamily="34" charset="-122"/>
                <a:ea typeface="微软雅黑" panose="020B0503020204020204" pitchFamily="34" charset="-122"/>
                <a:cs typeface="+mn-ea"/>
              </a:rPr>
              <a:t>月，</a:t>
            </a:r>
            <a:r>
              <a:rPr lang="en-US" altLang="zh-CN" sz="2000">
                <a:solidFill>
                  <a:srgbClr val="FF0000"/>
                </a:solidFill>
                <a:latin typeface="微软雅黑" panose="020B0503020204020204" pitchFamily="34" charset="-122"/>
                <a:ea typeface="微软雅黑" panose="020B0503020204020204" pitchFamily="34" charset="-122"/>
                <a:cs typeface="+mn-ea"/>
              </a:rPr>
              <a:t>1</a:t>
            </a:r>
            <a:r>
              <a:rPr lang="zh-CN" altLang="zh-CN" sz="2000">
                <a:solidFill>
                  <a:srgbClr val="FF0000"/>
                </a:solidFill>
                <a:latin typeface="微软雅黑" panose="020B0503020204020204" pitchFamily="34" charset="-122"/>
                <a:ea typeface="微软雅黑" panose="020B0503020204020204" pitchFamily="34" charset="-122"/>
                <a:cs typeface="+mn-ea"/>
              </a:rPr>
              <a:t>表示</a:t>
            </a:r>
            <a:r>
              <a:rPr lang="en-US" altLang="zh-CN" sz="2000">
                <a:solidFill>
                  <a:srgbClr val="FF0000"/>
                </a:solidFill>
                <a:latin typeface="微软雅黑" panose="020B0503020204020204" pitchFamily="34" charset="-122"/>
                <a:ea typeface="微软雅黑" panose="020B0503020204020204" pitchFamily="34" charset="-122"/>
                <a:cs typeface="+mn-ea"/>
              </a:rPr>
              <a:t>2</a:t>
            </a:r>
            <a:r>
              <a:rPr lang="zh-CN" altLang="zh-CN" sz="2000">
                <a:solidFill>
                  <a:srgbClr val="FF0000"/>
                </a:solidFill>
                <a:latin typeface="微软雅黑" panose="020B0503020204020204" pitchFamily="34" charset="-122"/>
                <a:ea typeface="微软雅黑" panose="020B0503020204020204" pitchFamily="34" charset="-122"/>
                <a:cs typeface="+mn-ea"/>
              </a:rPr>
              <a:t>月，以此类推。当传入的数字大于取值范围时，会自动转换成相邻数字，例如，将月份设置为</a:t>
            </a:r>
            <a:r>
              <a:rPr lang="en-US" altLang="zh-CN" sz="2000">
                <a:solidFill>
                  <a:srgbClr val="FF0000"/>
                </a:solidFill>
                <a:latin typeface="微软雅黑" panose="020B0503020204020204" pitchFamily="34" charset="-122"/>
                <a:ea typeface="微软雅黑" panose="020B0503020204020204" pitchFamily="34" charset="-122"/>
                <a:cs typeface="+mn-ea"/>
              </a:rPr>
              <a:t>12</a:t>
            </a:r>
            <a:r>
              <a:rPr lang="zh-CN" altLang="zh-CN" sz="2000">
                <a:solidFill>
                  <a:srgbClr val="FF0000"/>
                </a:solidFill>
                <a:latin typeface="微软雅黑" panose="020B0503020204020204" pitchFamily="34" charset="-122"/>
                <a:ea typeface="微软雅黑" panose="020B0503020204020204" pitchFamily="34" charset="-122"/>
                <a:cs typeface="+mn-ea"/>
              </a:rPr>
              <a:t>表示明年</a:t>
            </a:r>
            <a:r>
              <a:rPr lang="en-US" altLang="zh-CN" sz="2000">
                <a:solidFill>
                  <a:srgbClr val="FF0000"/>
                </a:solidFill>
                <a:latin typeface="微软雅黑" panose="020B0503020204020204" pitchFamily="34" charset="-122"/>
                <a:ea typeface="微软雅黑" panose="020B0503020204020204" pitchFamily="34" charset="-122"/>
                <a:cs typeface="+mn-ea"/>
              </a:rPr>
              <a:t>1</a:t>
            </a:r>
            <a:r>
              <a:rPr lang="zh-CN" altLang="zh-CN" sz="2000">
                <a:solidFill>
                  <a:srgbClr val="FF0000"/>
                </a:solidFill>
                <a:latin typeface="微软雅黑" panose="020B0503020204020204" pitchFamily="34" charset="-122"/>
                <a:ea typeface="微软雅黑" panose="020B0503020204020204" pitchFamily="34" charset="-122"/>
                <a:cs typeface="+mn-ea"/>
              </a:rPr>
              <a:t>月，将月份设置为</a:t>
            </a:r>
            <a:r>
              <a:rPr lang="en-US" altLang="zh-CN" sz="2000">
                <a:solidFill>
                  <a:srgbClr val="FF0000"/>
                </a:solidFill>
                <a:latin typeface="微软雅黑" panose="020B0503020204020204" pitchFamily="34" charset="-122"/>
                <a:ea typeface="微软雅黑" panose="020B0503020204020204" pitchFamily="34" charset="-122"/>
                <a:cs typeface="+mn-ea"/>
              </a:rPr>
              <a:t>-1</a:t>
            </a:r>
            <a:r>
              <a:rPr lang="zh-CN" altLang="zh-CN" sz="2000">
                <a:solidFill>
                  <a:srgbClr val="FF0000"/>
                </a:solidFill>
                <a:latin typeface="微软雅黑" panose="020B0503020204020204" pitchFamily="34" charset="-122"/>
                <a:ea typeface="微软雅黑" panose="020B0503020204020204" pitchFamily="34" charset="-122"/>
                <a:cs typeface="+mn-ea"/>
              </a:rPr>
              <a:t>表示去年</a:t>
            </a:r>
            <a:r>
              <a:rPr lang="en-US" altLang="zh-CN" sz="2000">
                <a:solidFill>
                  <a:srgbClr val="FF0000"/>
                </a:solidFill>
                <a:latin typeface="微软雅黑" panose="020B0503020204020204" pitchFamily="34" charset="-122"/>
                <a:ea typeface="微软雅黑" panose="020B0503020204020204" pitchFamily="34" charset="-122"/>
                <a:cs typeface="+mn-ea"/>
              </a:rPr>
              <a:t>12</a:t>
            </a:r>
            <a:r>
              <a:rPr lang="zh-CN" altLang="zh-CN" sz="2000">
                <a:solidFill>
                  <a:srgbClr val="FF0000"/>
                </a:solidFill>
                <a:latin typeface="微软雅黑" panose="020B0503020204020204" pitchFamily="34" charset="-122"/>
                <a:ea typeface="微软雅黑" panose="020B0503020204020204" pitchFamily="34" charset="-122"/>
                <a:cs typeface="+mn-ea"/>
              </a:rPr>
              <a:t>月。</a:t>
            </a:r>
            <a:endParaRPr lang="zh-CN" altLang="zh-CN" sz="2000">
              <a:solidFill>
                <a:srgbClr val="FF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54646" y="1578112"/>
            <a:ext cx="9149642"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为</a:t>
            </a:r>
            <a:r>
              <a:rPr lang="en-US" altLang="zh-CN" sz="2000">
                <a:solidFill>
                  <a:srgbClr val="1369B2"/>
                </a:solidFill>
                <a:latin typeface="微软雅黑" panose="020B0503020204020204" pitchFamily="34" charset="-122"/>
                <a:ea typeface="微软雅黑" panose="020B0503020204020204" pitchFamily="34" charset="-122"/>
                <a:cs typeface="+mn-ea"/>
              </a:rPr>
              <a:t>Date()</a:t>
            </a:r>
            <a:r>
              <a:rPr lang="zh-CN" altLang="zh-CN" sz="2000">
                <a:solidFill>
                  <a:srgbClr val="1369B2"/>
                </a:solidFill>
                <a:latin typeface="微软雅黑" panose="020B0503020204020204" pitchFamily="34" charset="-122"/>
                <a:ea typeface="微软雅黑" panose="020B0503020204020204" pitchFamily="34" charset="-122"/>
                <a:cs typeface="+mn-ea"/>
              </a:rPr>
              <a:t>构造函数传入数字型参数</a:t>
            </a:r>
            <a:r>
              <a:rPr lang="zh-CN" altLang="zh-CN" sz="2000">
                <a:solidFill>
                  <a:srgbClr val="595959"/>
                </a:solidFill>
                <a:latin typeface="微软雅黑" panose="020B0503020204020204" pitchFamily="34" charset="-122"/>
                <a:ea typeface="微软雅黑" panose="020B0503020204020204" pitchFamily="34" charset="-122"/>
                <a:cs typeface="+mn-ea"/>
              </a:rPr>
              <a:t>的示例代码如下</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198636" y="2565698"/>
            <a:ext cx="9005652"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date02 = new Date(2023, </a:t>
            </a:r>
            <a:r>
              <a:rPr lang="en-US" altLang="zh-CN" sz="2000" smtClean="0">
                <a:solidFill>
                  <a:srgbClr val="595959"/>
                </a:solidFill>
                <a:latin typeface="微软雅黑" panose="020B0503020204020204" pitchFamily="34" charset="-122"/>
                <a:ea typeface="微软雅黑" panose="020B0503020204020204" pitchFamily="34" charset="-122"/>
                <a:cs typeface="+mn-ea"/>
              </a:rPr>
              <a:t>12-1, </a:t>
            </a:r>
            <a:r>
              <a:rPr lang="en-US" altLang="zh-CN" sz="2000">
                <a:solidFill>
                  <a:srgbClr val="595959"/>
                </a:solidFill>
                <a:latin typeface="微软雅黑" panose="020B0503020204020204" pitchFamily="34" charset="-122"/>
                <a:ea typeface="微软雅黑" panose="020B0503020204020204" pitchFamily="34" charset="-122"/>
                <a:cs typeface="+mn-ea"/>
              </a:rPr>
              <a:t>13, 09, 35, 40);</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console.log(date02);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Wed Dec 13 2023 09:35:40 GMT+0800 (</a:t>
            </a:r>
            <a:r>
              <a:rPr lang="zh-CN" altLang="zh-CN" sz="2000">
                <a:solidFill>
                  <a:srgbClr val="595959"/>
                </a:solidFill>
                <a:latin typeface="微软雅黑" panose="020B0503020204020204" pitchFamily="34" charset="-122"/>
                <a:ea typeface="微软雅黑" panose="020B0503020204020204" pitchFamily="34" charset="-122"/>
                <a:cs typeface="+mn-ea"/>
              </a:rPr>
              <a:t>中国标准时间</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32405" y="2061642"/>
            <a:ext cx="10435409" cy="1477328"/>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1369B2"/>
                </a:solidFill>
                <a:latin typeface="微软雅黑" panose="020B0503020204020204" pitchFamily="34" charset="-122"/>
                <a:ea typeface="微软雅黑" panose="020B0503020204020204" pitchFamily="34" charset="-122"/>
                <a:cs typeface="+mn-ea"/>
              </a:rPr>
              <a:t>Date()</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a:t>
            </a:r>
            <a:r>
              <a:rPr lang="zh-CN" altLang="zh-CN" sz="2000" dirty="0">
                <a:solidFill>
                  <a:srgbClr val="595959"/>
                </a:solidFill>
                <a:latin typeface="微软雅黑" panose="020B0503020204020204" pitchFamily="34" charset="-122"/>
                <a:ea typeface="微软雅黑" panose="020B0503020204020204" pitchFamily="34" charset="-122"/>
                <a:cs typeface="+mn-ea"/>
              </a:rPr>
              <a:t>创建日期对象时，可以传入以</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表示的</a:t>
            </a:r>
            <a:r>
              <a:rPr lang="zh-CN" altLang="zh-CN" sz="2000" dirty="0">
                <a:solidFill>
                  <a:srgbClr val="1369B2"/>
                </a:solidFill>
                <a:latin typeface="微软雅黑" panose="020B0503020204020204" pitchFamily="34" charset="-122"/>
                <a:ea typeface="微软雅黑" panose="020B0503020204020204" pitchFamily="34" charset="-122"/>
                <a:cs typeface="+mn-ea"/>
              </a:rPr>
              <a:t>日期和时间</a:t>
            </a:r>
            <a:r>
              <a:rPr lang="zh-CN" altLang="zh-CN" sz="2000" dirty="0">
                <a:solidFill>
                  <a:srgbClr val="595959"/>
                </a:solidFill>
                <a:latin typeface="微软雅黑" panose="020B0503020204020204" pitchFamily="34" charset="-122"/>
                <a:ea typeface="微软雅黑" panose="020B0503020204020204" pitchFamily="34" charset="-122"/>
                <a:cs typeface="+mn-ea"/>
              </a:rPr>
              <a:t>，字符串中最少需要</a:t>
            </a:r>
            <a:r>
              <a:rPr lang="zh-CN" altLang="zh-CN" sz="2000" dirty="0">
                <a:solidFill>
                  <a:srgbClr val="1369B2"/>
                </a:solidFill>
                <a:latin typeface="微软雅黑" panose="020B0503020204020204" pitchFamily="34" charset="-122"/>
                <a:ea typeface="微软雅黑" panose="020B0503020204020204" pitchFamily="34" charset="-122"/>
                <a:cs typeface="+mn-ea"/>
              </a:rPr>
              <a:t>指定年份</a:t>
            </a:r>
            <a:r>
              <a:rPr lang="zh-CN" altLang="zh-CN" sz="2000" dirty="0">
                <a:solidFill>
                  <a:srgbClr val="595959"/>
                </a:solidFill>
                <a:latin typeface="微软雅黑" panose="020B0503020204020204" pitchFamily="34" charset="-122"/>
                <a:ea typeface="微软雅黑" panose="020B0503020204020204" pitchFamily="34" charset="-122"/>
                <a:cs typeface="+mn-ea"/>
              </a:rPr>
              <a:t>。日期和时间的格式有多种，下面以</a:t>
            </a:r>
            <a:r>
              <a:rPr lang="zh-CN" altLang="zh-CN" sz="2000" dirty="0">
                <a:solidFill>
                  <a:srgbClr val="1369B2"/>
                </a:solidFill>
                <a:latin typeface="微软雅黑" panose="020B0503020204020204" pitchFamily="34" charset="-122"/>
                <a:ea typeface="微软雅黑" panose="020B0503020204020204" pitchFamily="34" charset="-122"/>
                <a:cs typeface="+mn-ea"/>
              </a:rPr>
              <a:t>“年</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月</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日 时</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分</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秒”</a:t>
            </a:r>
            <a:r>
              <a:rPr lang="zh-CN" altLang="zh-CN" sz="2000" dirty="0">
                <a:solidFill>
                  <a:srgbClr val="595959"/>
                </a:solidFill>
                <a:latin typeface="微软雅黑" panose="020B0503020204020204" pitchFamily="34" charset="-122"/>
                <a:ea typeface="微软雅黑" panose="020B0503020204020204" pitchFamily="34" charset="-122"/>
                <a:cs typeface="+mn-ea"/>
              </a:rPr>
              <a:t>的格式为例进行讲解</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矩形 5"/>
          <p:cNvSpPr/>
          <p:nvPr/>
        </p:nvSpPr>
        <p:spPr>
          <a:xfrm>
            <a:off x="1132405" y="1291819"/>
            <a:ext cx="2442780"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mtClean="0">
                <a:solidFill>
                  <a:srgbClr val="FFFFFF"/>
                </a:solidFill>
                <a:latin typeface="微软雅黑" panose="020B0503020204020204" pitchFamily="34" charset="-122"/>
                <a:ea typeface="微软雅黑" panose="020B0503020204020204" pitchFamily="34" charset="-122"/>
              </a:rPr>
              <a:t>3.</a:t>
            </a:r>
            <a:r>
              <a:rPr lang="zh-CN" altLang="en-US" sz="2000" smtClean="0">
                <a:solidFill>
                  <a:srgbClr val="FFFFFF"/>
                </a:solidFill>
                <a:latin typeface="微软雅黑" panose="020B0503020204020204" pitchFamily="34" charset="-122"/>
                <a:ea typeface="微软雅黑" panose="020B0503020204020204" pitchFamily="34" charset="-122"/>
              </a:rPr>
              <a:t>传入字符串型参数</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3" name="矩形 2"/>
          <p:cNvSpPr/>
          <p:nvPr/>
        </p:nvSpPr>
        <p:spPr>
          <a:xfrm>
            <a:off x="1132405" y="3748698"/>
            <a:ext cx="6092825" cy="400110"/>
          </a:xfrm>
          <a:prstGeom prst="rect">
            <a:avLst/>
          </a:prstGeom>
        </p:spPr>
        <p:txBody>
          <a:bodyPr>
            <a:spAutoFit/>
          </a:bodyPr>
          <a:lstStyle/>
          <a:p>
            <a:pPr algn="just">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为</a:t>
            </a:r>
            <a:r>
              <a:rPr lang="en-US" altLang="zh-CN" sz="2000" dirty="0">
                <a:solidFill>
                  <a:srgbClr val="1369B2"/>
                </a:solidFill>
                <a:latin typeface="微软雅黑" panose="020B0503020204020204" pitchFamily="34" charset="-122"/>
                <a:ea typeface="微软雅黑" panose="020B0503020204020204" pitchFamily="34" charset="-122"/>
                <a:cs typeface="+mn-ea"/>
              </a:rPr>
              <a:t>Date()</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构造函数传入字符串型参数</a:t>
            </a:r>
            <a:r>
              <a:rPr lang="zh-CN" altLang="zh-CN" sz="2000" dirty="0">
                <a:solidFill>
                  <a:srgbClr val="595959"/>
                </a:solidFill>
                <a:latin typeface="微软雅黑" panose="020B0503020204020204" pitchFamily="34" charset="-122"/>
                <a:ea typeface="微软雅黑" panose="020B0503020204020204" pitchFamily="34" charset="-122"/>
                <a:cs typeface="+mn-ea"/>
              </a:rPr>
              <a:t>的示例代码如下。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1166436" y="4365898"/>
            <a:ext cx="9609289"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date03 = new Date('2023-12-13 15:05:33');</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console.log(date03);</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Wed Dec 13 2023 15:05:33 GMT+0800 (</a:t>
            </a:r>
            <a:r>
              <a:rPr lang="zh-CN" altLang="zh-CN" sz="2000">
                <a:solidFill>
                  <a:srgbClr val="595959"/>
                </a:solidFill>
                <a:latin typeface="微软雅黑" panose="020B0503020204020204" pitchFamily="34" charset="-122"/>
                <a:ea typeface="微软雅黑" panose="020B0503020204020204" pitchFamily="34" charset="-122"/>
                <a:cs typeface="+mn-ea"/>
              </a:rPr>
              <a:t>中国标准时间</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910630" y="849281"/>
            <a:ext cx="10757050" cy="1015663"/>
          </a:xfrm>
          <a:prstGeom prst="rect">
            <a:avLst/>
          </a:prstGeom>
        </p:spPr>
        <p:txBody>
          <a:bodyPr wrap="square">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创建</a:t>
            </a:r>
            <a:r>
              <a:rPr lang="zh-CN" altLang="zh-CN" sz="2000" dirty="0">
                <a:solidFill>
                  <a:srgbClr val="1369B2"/>
                </a:solidFill>
                <a:latin typeface="微软雅黑" panose="020B0503020204020204" pitchFamily="34" charset="-122"/>
                <a:ea typeface="微软雅黑" panose="020B0503020204020204" pitchFamily="34" charset="-122"/>
                <a:cs typeface="+mn-ea"/>
              </a:rPr>
              <a:t>日期对象</a:t>
            </a:r>
            <a:r>
              <a:rPr lang="zh-CN" altLang="zh-CN" sz="2000" dirty="0">
                <a:solidFill>
                  <a:srgbClr val="595959"/>
                </a:solidFill>
                <a:latin typeface="微软雅黑" panose="020B0503020204020204" pitchFamily="34" charset="-122"/>
                <a:ea typeface="微软雅黑" panose="020B0503020204020204" pitchFamily="34" charset="-122"/>
                <a:cs typeface="+mn-ea"/>
              </a:rPr>
              <a:t>后，若需要</a:t>
            </a:r>
            <a:r>
              <a:rPr lang="zh-CN" altLang="zh-CN" sz="2000" dirty="0">
                <a:solidFill>
                  <a:srgbClr val="1369B2"/>
                </a:solidFill>
                <a:latin typeface="微软雅黑" panose="020B0503020204020204" pitchFamily="34" charset="-122"/>
                <a:ea typeface="微软雅黑" panose="020B0503020204020204" pitchFamily="34" charset="-122"/>
                <a:cs typeface="+mn-ea"/>
              </a:rPr>
              <a:t>单独获取或设置</a:t>
            </a:r>
            <a:r>
              <a:rPr lang="zh-CN" altLang="zh-CN" sz="2000" dirty="0">
                <a:solidFill>
                  <a:srgbClr val="595959"/>
                </a:solidFill>
                <a:latin typeface="微软雅黑" panose="020B0503020204020204" pitchFamily="34" charset="-122"/>
                <a:ea typeface="微软雅黑" panose="020B0503020204020204" pitchFamily="34" charset="-122"/>
                <a:cs typeface="+mn-ea"/>
              </a:rPr>
              <a:t>年、月、日、时、分、秒中的某一项，可以</a:t>
            </a:r>
            <a:r>
              <a:rPr lang="zh-CN" altLang="zh-CN" sz="2000" dirty="0">
                <a:solidFill>
                  <a:srgbClr val="1369B2"/>
                </a:solidFill>
                <a:latin typeface="微软雅黑" panose="020B0503020204020204" pitchFamily="34" charset="-122"/>
                <a:ea typeface="微软雅黑" panose="020B0503020204020204" pitchFamily="34" charset="-122"/>
                <a:cs typeface="+mn-ea"/>
              </a:rPr>
              <a:t>调用日期对象的相关方法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实现</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获取日期和时间的方法</a:t>
            </a:r>
            <a:r>
              <a:rPr lang="zh-CN" altLang="en-US" sz="2000" dirty="0">
                <a:solidFill>
                  <a:srgbClr val="595959"/>
                </a:solidFill>
                <a:latin typeface="微软雅黑" panose="020B0503020204020204" pitchFamily="34" charset="-122"/>
                <a:ea typeface="微软雅黑" panose="020B0503020204020204" pitchFamily="34" charset="-122"/>
                <a:cs typeface="+mn-ea"/>
              </a:rPr>
              <a:t>如下表所示。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1" name="表格 10"/>
          <p:cNvGraphicFramePr>
            <a:graphicFrameLocks noGrp="1"/>
          </p:cNvGraphicFramePr>
          <p:nvPr/>
        </p:nvGraphicFramePr>
        <p:xfrm>
          <a:off x="910630" y="1917626"/>
          <a:ext cx="10513169" cy="4131820"/>
        </p:xfrm>
        <a:graphic>
          <a:graphicData uri="http://schemas.openxmlformats.org/drawingml/2006/table">
            <a:tbl>
              <a:tblPr>
                <a:tableStyleId>{7DF18680-E054-41AD-8BC1-D1AEF772440D}</a:tableStyleId>
              </a:tblPr>
              <a:tblGrid>
                <a:gridCol w="2376264"/>
                <a:gridCol w="8136905"/>
              </a:tblGrid>
              <a:tr h="428500">
                <a:tc>
                  <a:txBody>
                    <a:bodyPr/>
                    <a:lstStyle/>
                    <a:p>
                      <a:pPr indent="127000" algn="ctr">
                        <a:lnSpc>
                          <a:spcPct val="150000"/>
                        </a:lnSpc>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50000"/>
                        </a:lnSpc>
                        <a:spcBef>
                          <a:spcPts val="0"/>
                        </a:spcBef>
                        <a:spcAft>
                          <a:spcPts val="0"/>
                        </a:spcAft>
                        <a:buClrTx/>
                        <a:buSzTx/>
                        <a:buFontTx/>
                        <a:buNone/>
                        <a:defRPr/>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getFullYear()</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获取表示年份的</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4</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位数字，如</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2023</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getMonth()</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获取月份，取值范围为</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0~11</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 </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月，</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 </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2</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月</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以此</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类推</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getDate()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获取月份中的某一天，取值范围</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1~31</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getDay()</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获取星期，取值范围为</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0~6</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表示星期日，</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表示星期一</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以此</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类推</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getHours()</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获取小时数，取值范围为</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0~23</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getMinutes()</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获取分钟数，取值范围为</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0~59</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getSeconds()</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获取秒数，取值范围为</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0~59</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getMilliseconds</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获取毫秒数，取值范围为</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0~999</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00439">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getTime()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获取从</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1970-01-01 </a:t>
                      </a:r>
                      <a:r>
                        <a:rPr 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00:00:00</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UTC</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）到日期</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对象</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中存放的时间经历的毫秒数</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982638" y="1021424"/>
            <a:ext cx="8784976" cy="553998"/>
          </a:xfrm>
          <a:prstGeom prst="rect">
            <a:avLst/>
          </a:prstGeom>
        </p:spPr>
        <p:txBody>
          <a:bodyPr wrap="square">
            <a:spAutoFit/>
          </a:bodyPr>
          <a:lstStyle/>
          <a:p>
            <a:pPr>
              <a:lnSpc>
                <a:spcPct val="150000"/>
              </a:lnSpc>
            </a:pPr>
            <a:r>
              <a:rPr lang="zh-CN" altLang="en-US" sz="2000" dirty="0" smtClean="0">
                <a:solidFill>
                  <a:srgbClr val="1369B2"/>
                </a:solidFill>
                <a:latin typeface="微软雅黑" panose="020B0503020204020204" pitchFamily="34" charset="-122"/>
                <a:ea typeface="微软雅黑" panose="020B0503020204020204" pitchFamily="34" charset="-122"/>
                <a:cs typeface="+mn-ea"/>
              </a:rPr>
              <a:t>设置</a:t>
            </a:r>
            <a:r>
              <a:rPr lang="zh-CN" altLang="zh-CN" sz="2000" dirty="0">
                <a:solidFill>
                  <a:srgbClr val="1369B2"/>
                </a:solidFill>
                <a:latin typeface="微软雅黑" panose="020B0503020204020204" pitchFamily="34" charset="-122"/>
                <a:ea typeface="微软雅黑" panose="020B0503020204020204" pitchFamily="34" charset="-122"/>
                <a:cs typeface="+mn-ea"/>
              </a:rPr>
              <a:t>日期和时间</a:t>
            </a:r>
            <a:r>
              <a:rPr lang="zh-CN" altLang="zh-CN" sz="2000" dirty="0">
                <a:solidFill>
                  <a:srgbClr val="595959"/>
                </a:solidFill>
                <a:latin typeface="微软雅黑" panose="020B0503020204020204" pitchFamily="34" charset="-122"/>
                <a:ea typeface="微软雅黑" panose="020B0503020204020204" pitchFamily="34" charset="-122"/>
                <a:cs typeface="+mn-ea"/>
              </a:rPr>
              <a:t>的方法</a:t>
            </a:r>
            <a:r>
              <a:rPr lang="zh-CN" altLang="en-US" sz="2000" dirty="0">
                <a:solidFill>
                  <a:srgbClr val="595959"/>
                </a:solidFill>
                <a:latin typeface="微软雅黑" panose="020B0503020204020204" pitchFamily="34" charset="-122"/>
                <a:ea typeface="微软雅黑" panose="020B0503020204020204" pitchFamily="34" charset="-122"/>
                <a:cs typeface="+mn-ea"/>
              </a:rPr>
              <a:t>如下表所示。</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1" name="表格 10"/>
          <p:cNvGraphicFramePr>
            <a:graphicFrameLocks noGrp="1"/>
          </p:cNvGraphicFramePr>
          <p:nvPr/>
        </p:nvGraphicFramePr>
        <p:xfrm>
          <a:off x="910630" y="1773610"/>
          <a:ext cx="10657184" cy="3888430"/>
        </p:xfrm>
        <a:graphic>
          <a:graphicData uri="http://schemas.openxmlformats.org/drawingml/2006/table">
            <a:tbl>
              <a:tblPr>
                <a:tableStyleId>{7DF18680-E054-41AD-8BC1-D1AEF772440D}</a:tableStyleId>
              </a:tblPr>
              <a:tblGrid>
                <a:gridCol w="3086909"/>
                <a:gridCol w="7570275"/>
              </a:tblGrid>
              <a:tr h="467438">
                <a:tc>
                  <a:txBody>
                    <a:bodyPr/>
                    <a:lstStyle/>
                    <a:p>
                      <a:pPr indent="127000" algn="ctr">
                        <a:lnSpc>
                          <a:spcPct val="150000"/>
                        </a:lnSpc>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50000"/>
                        </a:lnSpc>
                        <a:spcBef>
                          <a:spcPts val="0"/>
                        </a:spcBef>
                        <a:spcAft>
                          <a:spcPts val="0"/>
                        </a:spcAft>
                        <a:buClrTx/>
                        <a:buSzTx/>
                        <a:buFontTx/>
                        <a:buNone/>
                        <a:defRPr/>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setFullYear(value)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altLang="en-US"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a:t>
                      </a:r>
                      <a:r>
                        <a:rPr 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年份</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setMonth(value)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altLang="en-US"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a:t>
                      </a:r>
                      <a:r>
                        <a:rPr lang="zh-CN" sz="18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月份</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setDate(value)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设置月份中的某一天</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setHours(value)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设置小时数</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setMinutes(value)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设置分钟数</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setSeconds(value)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设置秒数</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setMilliseconds(value)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设置毫秒数</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27624">
                <a:tc>
                  <a:txBody>
                    <a:bodyPr/>
                    <a:lstStyle/>
                    <a:p>
                      <a:pPr marL="0" indent="127000" algn="ctr" defTabSz="1219200" rtl="0" eaLnBrk="1" latinLnBrk="0" hangingPunct="1">
                        <a:lnSpc>
                          <a:spcPct val="150000"/>
                        </a:lnSpc>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setTime(value)</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通过从</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1970-01-01 </a:t>
                      </a:r>
                      <a:r>
                        <a:rPr 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00:00:00</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UTC</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开始</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计时的毫秒数来设置时间</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0630" y="977747"/>
            <a:ext cx="10369152" cy="507831"/>
          </a:xfrm>
          <a:prstGeom prst="rect">
            <a:avLst/>
          </a:prstGeom>
          <a:noFill/>
        </p:spPr>
        <p:txBody>
          <a:bodyPr wrap="square" rtlCol="0">
            <a:spAutoFit/>
          </a:bodyPr>
          <a:lstStyle/>
          <a:p>
            <a:pPr>
              <a:lnSpc>
                <a:spcPct val="150000"/>
              </a:lnSpc>
            </a:pPr>
            <a:r>
              <a:rPr lang="zh-CN" altLang="zh-CN" sz="18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1800" dirty="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1800" dirty="0">
                <a:solidFill>
                  <a:srgbClr val="1369B2"/>
                </a:solidFill>
                <a:latin typeface="微软雅黑" panose="020B0503020204020204" pitchFamily="34" charset="-122"/>
                <a:ea typeface="微软雅黑" panose="020B0503020204020204" pitchFamily="34" charset="-122"/>
                <a:cs typeface="+mn-ea"/>
              </a:rPr>
              <a:t>使用日期对象提供的方法设置和获取日期</a:t>
            </a:r>
            <a:r>
              <a:rPr lang="zh-CN" altLang="zh-CN" sz="1800" dirty="0">
                <a:solidFill>
                  <a:srgbClr val="595959"/>
                </a:solidFill>
                <a:latin typeface="微软雅黑" panose="020B0503020204020204" pitchFamily="34" charset="-122"/>
                <a:ea typeface="微软雅黑" panose="020B0503020204020204" pitchFamily="34" charset="-122"/>
                <a:cs typeface="+mn-ea"/>
              </a:rPr>
              <a:t>，并将获取到的日期输出到</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控制台。</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795659" y="1682517"/>
            <a:ext cx="8599093" cy="4542397"/>
          </a:xfrm>
          <a:prstGeom prst="rect">
            <a:avLst/>
          </a:prstGeom>
          <a:solidFill>
            <a:srgbClr val="F2F2F2"/>
          </a:solidFill>
        </p:spPr>
        <p:txBody>
          <a:bodyPr wrap="square" rtlCol="0">
            <a:spAutoFit/>
          </a:bodyPr>
          <a:lstStyle/>
          <a:p>
            <a:pPr lvl="1">
              <a:lnSpc>
                <a:spcPct val="130000"/>
              </a:lnSpc>
            </a:pPr>
            <a:r>
              <a:rPr lang="en-US" altLang="zh-CN" sz="16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1600" dirty="0">
                <a:solidFill>
                  <a:srgbClr val="595959"/>
                </a:solidFill>
                <a:latin typeface="微软雅黑" panose="020B0503020204020204" pitchFamily="34" charset="-122"/>
                <a:ea typeface="微软雅黑" panose="020B0503020204020204" pitchFamily="34" charset="-122"/>
                <a:cs typeface="+mn-ea"/>
              </a:rPr>
              <a:t>script&gt;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date = new Date();</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设置年、月、日</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date.setFullYear</a:t>
            </a:r>
            <a:r>
              <a:rPr lang="en-US" altLang="zh-CN" sz="1600" dirty="0">
                <a:solidFill>
                  <a:srgbClr val="595959"/>
                </a:solidFill>
                <a:latin typeface="微软雅黑" panose="020B0503020204020204" pitchFamily="34" charset="-122"/>
                <a:ea typeface="微软雅黑" panose="020B0503020204020204" pitchFamily="34" charset="-122"/>
                <a:cs typeface="+mn-ea"/>
              </a:rPr>
              <a:t>(2023);</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date.setMonth</a:t>
            </a:r>
            <a:r>
              <a:rPr lang="en-US" altLang="zh-CN" sz="1600" dirty="0">
                <a:solidFill>
                  <a:srgbClr val="595959"/>
                </a:solidFill>
                <a:latin typeface="微软雅黑" panose="020B0503020204020204" pitchFamily="34" charset="-122"/>
                <a:ea typeface="微软雅黑" panose="020B0503020204020204" pitchFamily="34" charset="-122"/>
                <a:cs typeface="+mn-ea"/>
              </a:rPr>
              <a:t>(8 - 1);</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date.setDate</a:t>
            </a:r>
            <a:r>
              <a:rPr lang="en-US" altLang="zh-CN" sz="1600" dirty="0">
                <a:solidFill>
                  <a:srgbClr val="595959"/>
                </a:solidFill>
                <a:latin typeface="微软雅黑" panose="020B0503020204020204" pitchFamily="34" charset="-122"/>
                <a:ea typeface="微软雅黑" panose="020B0503020204020204" pitchFamily="34" charset="-122"/>
                <a:cs typeface="+mn-ea"/>
              </a:rPr>
              <a:t>(1);</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获取年、月、日</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year =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date.getFullYear</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month =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date.getMonth</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()+1;</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day = </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date.getDate</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通过数组将星期值转换为字符串</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week = ['</a:t>
            </a:r>
            <a:r>
              <a:rPr lang="zh-CN" altLang="zh-CN" sz="1600" dirty="0">
                <a:solidFill>
                  <a:srgbClr val="595959"/>
                </a:solidFill>
                <a:latin typeface="微软雅黑" panose="020B0503020204020204" pitchFamily="34" charset="-122"/>
                <a:ea typeface="微软雅黑" panose="020B0503020204020204" pitchFamily="34" charset="-122"/>
                <a:cs typeface="+mn-ea"/>
              </a:rPr>
              <a:t>星期日</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星期一</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星期二</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星期三</a:t>
            </a: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星期四</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星期五</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星期六</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console.log(`${year}</a:t>
            </a:r>
            <a:r>
              <a:rPr lang="zh-CN" altLang="zh-CN" sz="1600" dirty="0">
                <a:solidFill>
                  <a:srgbClr val="595959"/>
                </a:solidFill>
                <a:latin typeface="微软雅黑" panose="020B0503020204020204" pitchFamily="34" charset="-122"/>
                <a:ea typeface="微软雅黑" panose="020B0503020204020204" pitchFamily="34" charset="-122"/>
                <a:cs typeface="+mn-ea"/>
              </a:rPr>
              <a:t>年</a:t>
            </a:r>
            <a:r>
              <a:rPr lang="en-US" altLang="zh-CN" sz="1600" dirty="0">
                <a:solidFill>
                  <a:srgbClr val="595959"/>
                </a:solidFill>
                <a:latin typeface="微软雅黑" panose="020B0503020204020204" pitchFamily="34" charset="-122"/>
                <a:ea typeface="微软雅黑" panose="020B0503020204020204" pitchFamily="34" charset="-122"/>
                <a:cs typeface="+mn-ea"/>
              </a:rPr>
              <a:t>${</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month}</a:t>
            </a:r>
            <a:r>
              <a:rPr lang="zh-CN" altLang="zh-CN" sz="1600" dirty="0">
                <a:solidFill>
                  <a:srgbClr val="595959"/>
                </a:solidFill>
                <a:latin typeface="微软雅黑" panose="020B0503020204020204" pitchFamily="34" charset="-122"/>
                <a:ea typeface="微软雅黑" panose="020B0503020204020204" pitchFamily="34" charset="-122"/>
                <a:cs typeface="+mn-ea"/>
              </a:rPr>
              <a:t>月</a:t>
            </a:r>
            <a:r>
              <a:rPr lang="en-US" altLang="zh-CN" sz="1600" dirty="0">
                <a:solidFill>
                  <a:srgbClr val="595959"/>
                </a:solidFill>
                <a:latin typeface="微软雅黑" panose="020B0503020204020204" pitchFamily="34" charset="-122"/>
                <a:ea typeface="微软雅黑" panose="020B0503020204020204" pitchFamily="34" charset="-122"/>
                <a:cs typeface="+mn-ea"/>
              </a:rPr>
              <a:t>${day}</a:t>
            </a:r>
            <a:r>
              <a:rPr lang="zh-CN" altLang="zh-CN" sz="1600" dirty="0">
                <a:solidFill>
                  <a:srgbClr val="595959"/>
                </a:solidFill>
                <a:latin typeface="微软雅黑" panose="020B0503020204020204" pitchFamily="34" charset="-122"/>
                <a:ea typeface="微软雅黑" panose="020B0503020204020204" pitchFamily="34" charset="-122"/>
                <a:cs typeface="+mn-ea"/>
              </a:rPr>
              <a:t>日 </a:t>
            </a:r>
            <a:r>
              <a:rPr lang="en-US" altLang="zh-CN" sz="1600" dirty="0">
                <a:solidFill>
                  <a:srgbClr val="595959"/>
                </a:solidFill>
                <a:latin typeface="微软雅黑" panose="020B0503020204020204" pitchFamily="34" charset="-122"/>
                <a:ea typeface="微软雅黑" panose="020B0503020204020204" pitchFamily="34" charset="-122"/>
                <a:cs typeface="+mn-ea"/>
              </a:rPr>
              <a:t>` + week[</a:t>
            </a:r>
            <a:r>
              <a:rPr lang="en-US" altLang="zh-CN" sz="1600" dirty="0" err="1">
                <a:solidFill>
                  <a:srgbClr val="595959"/>
                </a:solidFill>
                <a:latin typeface="微软雅黑" panose="020B0503020204020204" pitchFamily="34" charset="-122"/>
                <a:ea typeface="微软雅黑" panose="020B0503020204020204" pitchFamily="34" charset="-122"/>
                <a:cs typeface="+mn-ea"/>
              </a:rPr>
              <a:t>date.getDay</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&lt;/script&gt;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1" y="920045"/>
            <a:ext cx="8496944" cy="507831"/>
          </a:xfrm>
          <a:prstGeom prst="rect">
            <a:avLst/>
          </a:prstGeom>
          <a:noFill/>
        </p:spPr>
        <p:txBody>
          <a:bodyPr wrap="square" rtlCol="0">
            <a:spAutoFit/>
          </a:bodyPr>
          <a:lstStyle/>
          <a:p>
            <a:pPr>
              <a:lnSpc>
                <a:spcPct val="150000"/>
              </a:lnSpc>
            </a:pPr>
            <a:r>
              <a:rPr lang="zh-CN" altLang="zh-CN" sz="1800" smtClean="0">
                <a:solidFill>
                  <a:srgbClr val="595959"/>
                </a:solidFill>
                <a:latin typeface="微软雅黑" panose="020B0503020204020204" pitchFamily="34" charset="-122"/>
                <a:ea typeface="微软雅黑" panose="020B0503020204020204" pitchFamily="34" charset="-122"/>
                <a:cs typeface="+mn-ea"/>
              </a:rPr>
              <a:t>在</a:t>
            </a:r>
            <a:r>
              <a:rPr lang="zh-CN" altLang="zh-CN" sz="1800">
                <a:solidFill>
                  <a:srgbClr val="595959"/>
                </a:solidFill>
                <a:latin typeface="微软雅黑" panose="020B0503020204020204" pitchFamily="34" charset="-122"/>
                <a:ea typeface="微软雅黑" panose="020B0503020204020204" pitchFamily="34" charset="-122"/>
                <a:cs typeface="+mn-ea"/>
              </a:rPr>
              <a:t>实际开发中，还经常需要</a:t>
            </a:r>
            <a:r>
              <a:rPr lang="zh-CN" altLang="zh-CN" sz="1800">
                <a:solidFill>
                  <a:srgbClr val="1369B2"/>
                </a:solidFill>
                <a:latin typeface="微软雅黑" panose="020B0503020204020204" pitchFamily="34" charset="-122"/>
                <a:ea typeface="微软雅黑" panose="020B0503020204020204" pitchFamily="34" charset="-122"/>
                <a:cs typeface="+mn-ea"/>
              </a:rPr>
              <a:t>将日期对象中的时间转换成指定的格式</a:t>
            </a:r>
            <a:r>
              <a:rPr lang="zh-CN" altLang="zh-CN" sz="1800">
                <a:solidFill>
                  <a:srgbClr val="595959"/>
                </a:solidFill>
                <a:latin typeface="微软雅黑" panose="020B0503020204020204" pitchFamily="34" charset="-122"/>
                <a:ea typeface="微软雅黑" panose="020B0503020204020204" pitchFamily="34" charset="-122"/>
                <a:cs typeface="+mn-ea"/>
              </a:rPr>
              <a:t>，示例代码如下</a:t>
            </a:r>
            <a:r>
              <a:rPr lang="zh-CN" altLang="zh-CN" sz="1800" smtClean="0">
                <a:solidFill>
                  <a:srgbClr val="595959"/>
                </a:solidFill>
                <a:latin typeface="微软雅黑" panose="020B0503020204020204" pitchFamily="34" charset="-122"/>
                <a:ea typeface="微软雅黑" panose="020B0503020204020204" pitchFamily="34" charset="-122"/>
                <a:cs typeface="+mn-ea"/>
              </a:rPr>
              <a:t>。</a:t>
            </a:r>
            <a:endParaRPr lang="zh-CN" altLang="zh-CN" sz="18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27730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日期对象的使用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2151803" y="1496748"/>
            <a:ext cx="7488832" cy="5029390"/>
          </a:xfrm>
          <a:prstGeom prst="rect">
            <a:avLst/>
          </a:prstGeom>
          <a:solidFill>
            <a:srgbClr val="F2F2F2"/>
          </a:solidFill>
        </p:spPr>
        <p:txBody>
          <a:bodyPr wrap="square" rtlCol="0">
            <a:spAutoFit/>
          </a:bodyPr>
          <a:lstStyle/>
          <a:p>
            <a:pPr lvl="1">
              <a:lnSpc>
                <a:spcPct val="150000"/>
              </a:lnSpc>
            </a:pPr>
            <a:r>
              <a:rPr lang="en-US" altLang="zh-CN" sz="1800" smtClean="0">
                <a:solidFill>
                  <a:srgbClr val="595959"/>
                </a:solidFill>
                <a:latin typeface="微软雅黑" panose="020B0503020204020204" pitchFamily="34" charset="-122"/>
                <a:ea typeface="微软雅黑" panose="020B0503020204020204" pitchFamily="34" charset="-122"/>
                <a:cs typeface="+mn-ea"/>
              </a:rPr>
              <a:t>// </a:t>
            </a:r>
            <a:r>
              <a:rPr lang="zh-CN" altLang="zh-CN" sz="1800">
                <a:solidFill>
                  <a:srgbClr val="595959"/>
                </a:solidFill>
                <a:latin typeface="微软雅黑" panose="020B0503020204020204" pitchFamily="34" charset="-122"/>
                <a:ea typeface="微软雅黑" panose="020B0503020204020204" pitchFamily="34" charset="-122"/>
                <a:cs typeface="+mn-ea"/>
              </a:rPr>
              <a:t>返回当前时间，格式为“时</a:t>
            </a:r>
            <a:r>
              <a:rPr lang="en-US" altLang="zh-CN" sz="1800">
                <a:solidFill>
                  <a:srgbClr val="595959"/>
                </a:solidFill>
                <a:latin typeface="微软雅黑" panose="020B0503020204020204" pitchFamily="34" charset="-122"/>
                <a:ea typeface="微软雅黑" panose="020B0503020204020204" pitchFamily="34" charset="-122"/>
                <a:cs typeface="+mn-ea"/>
              </a:rPr>
              <a:t>:</a:t>
            </a:r>
            <a:r>
              <a:rPr lang="zh-CN" altLang="zh-CN" sz="1800">
                <a:solidFill>
                  <a:srgbClr val="595959"/>
                </a:solidFill>
                <a:latin typeface="微软雅黑" panose="020B0503020204020204" pitchFamily="34" charset="-122"/>
                <a:ea typeface="微软雅黑" panose="020B0503020204020204" pitchFamily="34" charset="-122"/>
                <a:cs typeface="+mn-ea"/>
              </a:rPr>
              <a:t>分</a:t>
            </a:r>
            <a:r>
              <a:rPr lang="en-US" altLang="zh-CN" sz="1800">
                <a:solidFill>
                  <a:srgbClr val="595959"/>
                </a:solidFill>
                <a:latin typeface="微软雅黑" panose="020B0503020204020204" pitchFamily="34" charset="-122"/>
                <a:ea typeface="微软雅黑" panose="020B0503020204020204" pitchFamily="34" charset="-122"/>
                <a:cs typeface="+mn-ea"/>
              </a:rPr>
              <a:t>:</a:t>
            </a:r>
            <a:r>
              <a:rPr lang="zh-CN" altLang="zh-CN" sz="1800">
                <a:solidFill>
                  <a:srgbClr val="595959"/>
                </a:solidFill>
                <a:latin typeface="微软雅黑" panose="020B0503020204020204" pitchFamily="34" charset="-122"/>
                <a:ea typeface="微软雅黑" panose="020B0503020204020204" pitchFamily="34" charset="-122"/>
                <a:cs typeface="+mn-ea"/>
              </a:rPr>
              <a:t>秒”，用两位数字表示</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function getTime() {</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var time = new Date();</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var h = time.getHours();</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h = h &lt; 10 ? '0' + h : h;</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var m = time.getMinutes();</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m = m &lt; 10 ? '0' + m : m;</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var s = time.getSeconds();</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s = s &lt; 10 ? '0' + s : s;</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return h + ':' + m + ':' + s;</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console.log(getTime());	</a:t>
            </a:r>
            <a:r>
              <a:rPr lang="en-US" altLang="zh-CN" sz="1800" smtClean="0">
                <a:solidFill>
                  <a:srgbClr val="595959"/>
                </a:solidFill>
                <a:latin typeface="微软雅黑" panose="020B0503020204020204" pitchFamily="34" charset="-122"/>
                <a:ea typeface="微软雅黑" panose="020B0503020204020204" pitchFamily="34" charset="-122"/>
                <a:cs typeface="+mn-ea"/>
              </a:rPr>
              <a:t>// </a:t>
            </a:r>
            <a:r>
              <a:rPr lang="zh-CN" altLang="zh-CN" sz="1800">
                <a:solidFill>
                  <a:srgbClr val="595959"/>
                </a:solidFill>
                <a:latin typeface="微软雅黑" panose="020B0503020204020204" pitchFamily="34" charset="-122"/>
                <a:ea typeface="微软雅黑" panose="020B0503020204020204" pitchFamily="34" charset="-122"/>
                <a:cs typeface="+mn-ea"/>
              </a:rPr>
              <a:t>输出结果示例：</a:t>
            </a:r>
            <a:r>
              <a:rPr lang="en-US" altLang="zh-CN" sz="1800" smtClean="0">
                <a:solidFill>
                  <a:srgbClr val="595959"/>
                </a:solidFill>
                <a:latin typeface="微软雅黑" panose="020B0503020204020204" pitchFamily="34" charset="-122"/>
                <a:ea typeface="微软雅黑" panose="020B0503020204020204" pitchFamily="34" charset="-122"/>
                <a:cs typeface="+mn-ea"/>
              </a:rPr>
              <a:t>14:45:23</a:t>
            </a:r>
            <a:endParaRPr lang="zh-CN" altLang="zh-CN" sz="18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a:solidFill>
                  <a:srgbClr val="1369B2"/>
                </a:solidFill>
                <a:latin typeface="微软雅黑" panose="020B0503020204020204" pitchFamily="34" charset="-122"/>
                <a:ea typeface="微软雅黑" panose="020B0503020204020204" pitchFamily="34" charset="-122"/>
                <a:cs typeface="+mn-ea"/>
              </a:rPr>
              <a:t>统计代码运行时间</a:t>
            </a:r>
            <a:r>
              <a:rPr lang="zh-CN" altLang="en-US" sz="2000" smtClean="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统计代码运行时间</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259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539407" y="1985402"/>
            <a:ext cx="6668367" cy="2524514"/>
            <a:chOff x="4899446" y="1985402"/>
            <a:chExt cx="6740375" cy="3857712"/>
          </a:xfrm>
        </p:grpSpPr>
        <p:sp>
          <p:nvSpPr>
            <p:cNvPr id="24" name="圆角矩形标注 11"/>
            <p:cNvSpPr/>
            <p:nvPr/>
          </p:nvSpPr>
          <p:spPr bwMode="auto">
            <a:xfrm rot="5400000">
              <a:off x="6340778" y="544070"/>
              <a:ext cx="3857712"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30197" y="2439994"/>
              <a:ext cx="5945696" cy="296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通过</a:t>
              </a:r>
              <a:r>
                <a:rPr lang="zh-CN" altLang="zh-CN" sz="2000">
                  <a:solidFill>
                    <a:srgbClr val="595959"/>
                  </a:solidFill>
                  <a:latin typeface="微软雅黑" panose="020B0503020204020204" pitchFamily="34" charset="-122"/>
                  <a:ea typeface="微软雅黑" panose="020B0503020204020204" pitchFamily="34" charset="-122"/>
                </a:rPr>
                <a:t>日期对象可以获取从</a:t>
              </a:r>
              <a:r>
                <a:rPr lang="en-US" altLang="zh-CN" sz="2000">
                  <a:solidFill>
                    <a:srgbClr val="595959"/>
                  </a:solidFill>
                  <a:latin typeface="微软雅黑" panose="020B0503020204020204" pitchFamily="34" charset="-122"/>
                  <a:ea typeface="微软雅黑" panose="020B0503020204020204" pitchFamily="34" charset="-122"/>
                </a:rPr>
                <a:t>1970</a:t>
              </a:r>
              <a:r>
                <a:rPr lang="zh-CN" altLang="zh-CN" sz="2000">
                  <a:solidFill>
                    <a:srgbClr val="595959"/>
                  </a:solidFill>
                  <a:latin typeface="微软雅黑" panose="020B0503020204020204" pitchFamily="34" charset="-122"/>
                  <a:ea typeface="微软雅黑" panose="020B0503020204020204" pitchFamily="34" charset="-122"/>
                </a:rPr>
                <a:t>年</a:t>
              </a:r>
              <a:r>
                <a:rPr lang="en-US" altLang="zh-CN" sz="2000">
                  <a:solidFill>
                    <a:srgbClr val="595959"/>
                  </a:solidFill>
                  <a:latin typeface="微软雅黑" panose="020B0503020204020204" pitchFamily="34" charset="-122"/>
                  <a:ea typeface="微软雅黑" panose="020B0503020204020204" pitchFamily="34" charset="-122"/>
                </a:rPr>
                <a:t>1</a:t>
              </a:r>
              <a:r>
                <a:rPr lang="zh-CN" altLang="zh-CN" sz="2000">
                  <a:solidFill>
                    <a:srgbClr val="595959"/>
                  </a:solidFill>
                  <a:latin typeface="微软雅黑" panose="020B0503020204020204" pitchFamily="34" charset="-122"/>
                  <a:ea typeface="微软雅黑" panose="020B0503020204020204" pitchFamily="34" charset="-122"/>
                </a:rPr>
                <a:t>月</a:t>
              </a:r>
              <a:r>
                <a:rPr lang="en-US" altLang="zh-CN" sz="2000">
                  <a:solidFill>
                    <a:srgbClr val="595959"/>
                  </a:solidFill>
                  <a:latin typeface="微软雅黑" panose="020B0503020204020204" pitchFamily="34" charset="-122"/>
                  <a:ea typeface="微软雅黑" panose="020B0503020204020204" pitchFamily="34" charset="-122"/>
                </a:rPr>
                <a:t>1</a:t>
              </a:r>
              <a:r>
                <a:rPr lang="zh-CN" altLang="zh-CN" sz="2000">
                  <a:solidFill>
                    <a:srgbClr val="595959"/>
                  </a:solidFill>
                  <a:latin typeface="微软雅黑" panose="020B0503020204020204" pitchFamily="34" charset="-122"/>
                  <a:ea typeface="微软雅黑" panose="020B0503020204020204" pitchFamily="34" charset="-122"/>
                </a:rPr>
                <a:t>日</a:t>
              </a:r>
              <a:r>
                <a:rPr lang="en-US" altLang="zh-CN" sz="2000">
                  <a:solidFill>
                    <a:srgbClr val="595959"/>
                  </a:solidFill>
                  <a:latin typeface="微软雅黑" panose="020B0503020204020204" pitchFamily="34" charset="-122"/>
                  <a:ea typeface="微软雅黑" panose="020B0503020204020204" pitchFamily="34" charset="-122"/>
                </a:rPr>
                <a:t>0</a:t>
              </a:r>
              <a:r>
                <a:rPr lang="zh-CN" altLang="zh-CN" sz="2000">
                  <a:solidFill>
                    <a:srgbClr val="595959"/>
                  </a:solidFill>
                  <a:latin typeface="微软雅黑" panose="020B0503020204020204" pitchFamily="34" charset="-122"/>
                  <a:ea typeface="微软雅黑" panose="020B0503020204020204" pitchFamily="34" charset="-122"/>
                </a:rPr>
                <a:t>时</a:t>
              </a:r>
              <a:r>
                <a:rPr lang="en-US" altLang="zh-CN" sz="2000">
                  <a:solidFill>
                    <a:srgbClr val="595959"/>
                  </a:solidFill>
                  <a:latin typeface="微软雅黑" panose="020B0503020204020204" pitchFamily="34" charset="-122"/>
                  <a:ea typeface="微软雅黑" panose="020B0503020204020204" pitchFamily="34" charset="-122"/>
                </a:rPr>
                <a:t>0</a:t>
              </a:r>
              <a:r>
                <a:rPr lang="zh-CN" altLang="zh-CN" sz="2000">
                  <a:solidFill>
                    <a:srgbClr val="595959"/>
                  </a:solidFill>
                  <a:latin typeface="微软雅黑" panose="020B0503020204020204" pitchFamily="34" charset="-122"/>
                  <a:ea typeface="微软雅黑" panose="020B0503020204020204" pitchFamily="34" charset="-122"/>
                </a:rPr>
                <a:t>分</a:t>
              </a:r>
              <a:r>
                <a:rPr lang="en-US" altLang="zh-CN" sz="2000">
                  <a:solidFill>
                    <a:srgbClr val="595959"/>
                  </a:solidFill>
                  <a:latin typeface="微软雅黑" panose="020B0503020204020204" pitchFamily="34" charset="-122"/>
                  <a:ea typeface="微软雅黑" panose="020B0503020204020204" pitchFamily="34" charset="-122"/>
                </a:rPr>
                <a:t>0</a:t>
              </a:r>
              <a:r>
                <a:rPr lang="zh-CN" altLang="zh-CN" sz="2000">
                  <a:solidFill>
                    <a:srgbClr val="595959"/>
                  </a:solidFill>
                  <a:latin typeface="微软雅黑" panose="020B0503020204020204" pitchFamily="34" charset="-122"/>
                  <a:ea typeface="微软雅黑" panose="020B0503020204020204" pitchFamily="34" charset="-122"/>
                </a:rPr>
                <a:t>秒到当前</a:t>
              </a:r>
              <a:r>
                <a:rPr lang="en-US" altLang="zh-CN" sz="2000" smtClean="0">
                  <a:solidFill>
                    <a:srgbClr val="595959"/>
                  </a:solidFill>
                  <a:latin typeface="微软雅黑" panose="020B0503020204020204" pitchFamily="34" charset="-122"/>
                  <a:ea typeface="微软雅黑" panose="020B0503020204020204" pitchFamily="34" charset="-122"/>
                </a:rPr>
                <a:t>UTC</a:t>
              </a:r>
              <a:r>
                <a:rPr lang="zh-CN" altLang="en-US" sz="2000" smtClean="0">
                  <a:solidFill>
                    <a:srgbClr val="595959"/>
                  </a:solidFill>
                  <a:latin typeface="微软雅黑" panose="020B0503020204020204" pitchFamily="34" charset="-122"/>
                  <a:ea typeface="微软雅黑" panose="020B0503020204020204" pitchFamily="34" charset="-122"/>
                </a:rPr>
                <a:t>（</a:t>
              </a:r>
              <a:r>
                <a:rPr lang="en-US" altLang="zh-CN" sz="2000" smtClean="0">
                  <a:solidFill>
                    <a:srgbClr val="595959"/>
                  </a:solidFill>
                  <a:latin typeface="微软雅黑" panose="020B0503020204020204" pitchFamily="34" charset="-122"/>
                  <a:ea typeface="微软雅黑" panose="020B0503020204020204" pitchFamily="34" charset="-122"/>
                </a:rPr>
                <a:t>Coordinated Universal Time</a:t>
              </a:r>
              <a:r>
                <a:rPr lang="zh-CN" altLang="en-US" sz="2000" smtClean="0">
                  <a:solidFill>
                    <a:srgbClr val="595959"/>
                  </a:solidFill>
                  <a:latin typeface="微软雅黑" panose="020B0503020204020204" pitchFamily="34" charset="-122"/>
                  <a:ea typeface="微软雅黑" panose="020B0503020204020204" pitchFamily="34" charset="-122"/>
                </a:rPr>
                <a:t>，协调时间时）</a:t>
              </a:r>
              <a:r>
                <a:rPr lang="zh-CN" altLang="zh-CN" sz="2000" smtClean="0">
                  <a:solidFill>
                    <a:srgbClr val="595959"/>
                  </a:solidFill>
                  <a:latin typeface="微软雅黑" panose="020B0503020204020204" pitchFamily="34" charset="-122"/>
                  <a:ea typeface="微软雅黑" panose="020B0503020204020204" pitchFamily="34" charset="-122"/>
                </a:rPr>
                <a:t>所</a:t>
              </a:r>
              <a:r>
                <a:rPr lang="zh-CN" altLang="zh-CN" sz="2000">
                  <a:solidFill>
                    <a:srgbClr val="595959"/>
                  </a:solidFill>
                  <a:latin typeface="微软雅黑" panose="020B0503020204020204" pitchFamily="34" charset="-122"/>
                  <a:ea typeface="微软雅黑" panose="020B0503020204020204" pitchFamily="34" charset="-122"/>
                </a:rPr>
                <a:t>经过的毫秒数，这个值可以作为</a:t>
              </a:r>
              <a:r>
                <a:rPr lang="zh-CN" altLang="zh-CN" sz="2000">
                  <a:solidFill>
                    <a:srgbClr val="1369B2"/>
                  </a:solidFill>
                  <a:latin typeface="微软雅黑" panose="020B0503020204020204" pitchFamily="34" charset="-122"/>
                  <a:ea typeface="微软雅黑" panose="020B0503020204020204" pitchFamily="34" charset="-122"/>
                </a:rPr>
                <a:t>时间戳</a:t>
              </a:r>
              <a:r>
                <a:rPr lang="zh-CN" altLang="zh-CN" sz="2000">
                  <a:solidFill>
                    <a:srgbClr val="595959"/>
                  </a:solidFill>
                  <a:latin typeface="微软雅黑" panose="020B0503020204020204" pitchFamily="34" charset="-122"/>
                  <a:ea typeface="微软雅黑" panose="020B0503020204020204" pitchFamily="34" charset="-122"/>
                </a:rPr>
                <a:t>使用。通过时间戳可以</a:t>
              </a:r>
              <a:r>
                <a:rPr lang="zh-CN" altLang="zh-CN" sz="2000">
                  <a:solidFill>
                    <a:srgbClr val="1369B2"/>
                  </a:solidFill>
                  <a:latin typeface="微软雅黑" panose="020B0503020204020204" pitchFamily="34" charset="-122"/>
                  <a:ea typeface="微软雅黑" panose="020B0503020204020204" pitchFamily="34" charset="-122"/>
                </a:rPr>
                <a:t>计算两个时间的时间差</a:t>
              </a:r>
              <a:r>
                <a:rPr lang="zh-CN" altLang="zh-CN" sz="200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grpSp>
      <p:sp>
        <p:nvSpPr>
          <p:cNvPr id="8"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统计代码运行时间</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133649"/>
            <a:ext cx="6768752" cy="280831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799062" y="2370260"/>
            <a:ext cx="6336704" cy="2400657"/>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获取</a:t>
            </a:r>
            <a:r>
              <a:rPr lang="zh-CN" altLang="zh-CN" sz="2000">
                <a:solidFill>
                  <a:srgbClr val="595959"/>
                </a:solidFill>
                <a:latin typeface="微软雅黑" panose="020B0503020204020204" pitchFamily="34" charset="-122"/>
                <a:ea typeface="微软雅黑" panose="020B0503020204020204" pitchFamily="34" charset="-122"/>
                <a:cs typeface="+mn-ea"/>
              </a:rPr>
              <a:t>时间戳的常见方式有</a:t>
            </a:r>
            <a:r>
              <a:rPr lang="en-US" altLang="zh-CN" sz="2000">
                <a:solidFill>
                  <a:srgbClr val="595959"/>
                </a:solidFill>
                <a:latin typeface="微软雅黑" panose="020B0503020204020204" pitchFamily="34" charset="-122"/>
                <a:ea typeface="微软雅黑" panose="020B0503020204020204" pitchFamily="34" charset="-122"/>
                <a:cs typeface="+mn-ea"/>
              </a:rPr>
              <a:t>3</a:t>
            </a:r>
            <a:r>
              <a:rPr lang="zh-CN" altLang="zh-CN" sz="2000">
                <a:solidFill>
                  <a:srgbClr val="595959"/>
                </a:solidFill>
                <a:latin typeface="微软雅黑" panose="020B0503020204020204" pitchFamily="34" charset="-122"/>
                <a:ea typeface="微软雅黑" panose="020B0503020204020204" pitchFamily="34" charset="-122"/>
                <a:cs typeface="+mn-ea"/>
              </a:rPr>
              <a:t>种，第</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种方式是通过日期对象的</a:t>
            </a:r>
            <a:r>
              <a:rPr lang="en-US" altLang="zh-CN" sz="2000">
                <a:solidFill>
                  <a:srgbClr val="1369B2"/>
                </a:solidFill>
                <a:latin typeface="微软雅黑" panose="020B0503020204020204" pitchFamily="34" charset="-122"/>
                <a:ea typeface="微软雅黑" panose="020B0503020204020204" pitchFamily="34" charset="-122"/>
                <a:cs typeface="+mn-ea"/>
              </a:rPr>
              <a:t>valueOf()</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或</a:t>
            </a:r>
            <a:r>
              <a:rPr lang="en-US" altLang="zh-CN" sz="2000">
                <a:solidFill>
                  <a:srgbClr val="1369B2"/>
                </a:solidFill>
                <a:latin typeface="微软雅黑" panose="020B0503020204020204" pitchFamily="34" charset="-122"/>
                <a:ea typeface="微软雅黑" panose="020B0503020204020204" pitchFamily="34" charset="-122"/>
                <a:cs typeface="+mn-ea"/>
              </a:rPr>
              <a:t>getTime()</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获取，第</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种方式是通过使用</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en-US"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运算符将</a:t>
            </a:r>
            <a:r>
              <a:rPr lang="zh-CN" altLang="zh-CN" sz="2000">
                <a:solidFill>
                  <a:srgbClr val="1369B2"/>
                </a:solidFill>
                <a:latin typeface="微软雅黑" panose="020B0503020204020204" pitchFamily="34" charset="-122"/>
                <a:ea typeface="微软雅黑" panose="020B0503020204020204" pitchFamily="34" charset="-122"/>
                <a:cs typeface="+mn-ea"/>
              </a:rPr>
              <a:t>日期对象转换为数字</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r>
              <a:rPr lang="zh-CN" altLang="en-US" sz="2000" smtClean="0">
                <a:solidFill>
                  <a:srgbClr val="595959"/>
                </a:solidFill>
                <a:latin typeface="微软雅黑" panose="020B0503020204020204" pitchFamily="34" charset="-122"/>
                <a:ea typeface="微软雅黑" panose="020B0503020204020204" pitchFamily="34" charset="-122"/>
                <a:cs typeface="+mn-ea"/>
              </a:rPr>
              <a:t>这个</a:t>
            </a:r>
            <a:r>
              <a:rPr lang="zh-CN" altLang="zh-CN" sz="2000" smtClean="0">
                <a:solidFill>
                  <a:srgbClr val="595959"/>
                </a:solidFill>
                <a:latin typeface="微软雅黑" panose="020B0503020204020204" pitchFamily="34" charset="-122"/>
                <a:ea typeface="微软雅黑" panose="020B0503020204020204" pitchFamily="34" charset="-122"/>
                <a:cs typeface="+mn-ea"/>
              </a:rPr>
              <a:t>数字</a:t>
            </a:r>
            <a:r>
              <a:rPr lang="zh-CN" altLang="zh-CN" sz="2000">
                <a:solidFill>
                  <a:srgbClr val="595959"/>
                </a:solidFill>
                <a:latin typeface="微软雅黑" panose="020B0503020204020204" pitchFamily="34" charset="-122"/>
                <a:ea typeface="微软雅黑" panose="020B0503020204020204" pitchFamily="34" charset="-122"/>
                <a:cs typeface="+mn-ea"/>
              </a:rPr>
              <a:t>代表的就是时间戳，第</a:t>
            </a:r>
            <a:r>
              <a:rPr lang="en-US" altLang="zh-CN" sz="2000">
                <a:solidFill>
                  <a:srgbClr val="595959"/>
                </a:solidFill>
                <a:latin typeface="微软雅黑" panose="020B0503020204020204" pitchFamily="34" charset="-122"/>
                <a:ea typeface="微软雅黑" panose="020B0503020204020204" pitchFamily="34" charset="-122"/>
                <a:cs typeface="+mn-ea"/>
              </a:rPr>
              <a:t>3</a:t>
            </a:r>
            <a:r>
              <a:rPr lang="zh-CN" altLang="zh-CN" sz="2000">
                <a:solidFill>
                  <a:srgbClr val="595959"/>
                </a:solidFill>
                <a:latin typeface="微软雅黑" panose="020B0503020204020204" pitchFamily="34" charset="-122"/>
                <a:ea typeface="微软雅黑" panose="020B0503020204020204" pitchFamily="34" charset="-122"/>
                <a:cs typeface="+mn-ea"/>
              </a:rPr>
              <a:t>种方式是使用</a:t>
            </a:r>
            <a:r>
              <a:rPr lang="en-US" altLang="zh-CN" sz="2000">
                <a:solidFill>
                  <a:srgbClr val="595959"/>
                </a:solidFill>
                <a:latin typeface="微软雅黑" panose="020B0503020204020204" pitchFamily="34" charset="-122"/>
                <a:ea typeface="微软雅黑" panose="020B0503020204020204" pitchFamily="34" charset="-122"/>
                <a:cs typeface="+mn-ea"/>
              </a:rPr>
              <a:t>HTML5</a:t>
            </a:r>
            <a:r>
              <a:rPr lang="zh-CN" altLang="zh-CN" sz="2000">
                <a:solidFill>
                  <a:srgbClr val="595959"/>
                </a:solidFill>
                <a:latin typeface="微软雅黑" panose="020B0503020204020204" pitchFamily="34" charset="-122"/>
                <a:ea typeface="微软雅黑" panose="020B0503020204020204" pitchFamily="34" charset="-122"/>
                <a:cs typeface="+mn-ea"/>
              </a:rPr>
              <a:t>新增的</a:t>
            </a:r>
            <a:r>
              <a:rPr lang="en-US" altLang="zh-CN" sz="2000">
                <a:solidFill>
                  <a:srgbClr val="1369B2"/>
                </a:solidFill>
                <a:latin typeface="微软雅黑" panose="020B0503020204020204" pitchFamily="34" charset="-122"/>
                <a:ea typeface="微软雅黑" panose="020B0503020204020204" pitchFamily="34" charset="-122"/>
                <a:cs typeface="+mn-ea"/>
              </a:rPr>
              <a:t>Date.now()</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获取。</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统计代码运行时间</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0670" y="1023777"/>
            <a:ext cx="8640960" cy="553998"/>
          </a:xfrm>
          <a:prstGeom prst="rect">
            <a:avLst/>
          </a:prstGeom>
          <a:noFill/>
        </p:spPr>
        <p:txBody>
          <a:bodyPr wrap="square" rtlCol="0">
            <a:spAutoFit/>
          </a:bodyPr>
          <a:lstStyle/>
          <a:p>
            <a:pPr>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mn-ea"/>
              </a:rPr>
              <a:t>获取时间戳</a:t>
            </a:r>
            <a:r>
              <a:rPr lang="zh-CN" altLang="en-US" sz="2000" smtClean="0">
                <a:solidFill>
                  <a:srgbClr val="595959"/>
                </a:solidFill>
                <a:latin typeface="微软雅黑" panose="020B0503020204020204" pitchFamily="34" charset="-122"/>
                <a:ea typeface="微软雅黑" panose="020B0503020204020204" pitchFamily="34" charset="-122"/>
                <a:cs typeface="+mn-ea"/>
              </a:rPr>
              <a:t>的</a:t>
            </a:r>
            <a:r>
              <a:rPr lang="zh-CN" altLang="zh-CN" sz="2000" smtClean="0">
                <a:solidFill>
                  <a:srgbClr val="595959"/>
                </a:solidFill>
                <a:latin typeface="微软雅黑" panose="020B0503020204020204" pitchFamily="34" charset="-122"/>
                <a:ea typeface="微软雅黑" panose="020B0503020204020204" pitchFamily="34" charset="-122"/>
                <a:cs typeface="+mn-ea"/>
              </a:rPr>
              <a:t>示例</a:t>
            </a:r>
            <a:r>
              <a:rPr lang="zh-CN" altLang="zh-CN" sz="2000">
                <a:solidFill>
                  <a:srgbClr val="595959"/>
                </a:solidFill>
                <a:latin typeface="微软雅黑" panose="020B0503020204020204" pitchFamily="34" charset="-122"/>
                <a:ea typeface="微软雅黑" panose="020B0503020204020204" pitchFamily="34" charset="-122"/>
                <a:cs typeface="+mn-ea"/>
              </a:rPr>
              <a:t>代码如下</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414686" y="1771583"/>
            <a:ext cx="9433048" cy="4247317"/>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方式</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：通过日期对象的</a:t>
            </a:r>
            <a:r>
              <a:rPr lang="en-US" altLang="zh-CN" sz="2000" dirty="0" err="1">
                <a:solidFill>
                  <a:srgbClr val="595959"/>
                </a:solidFill>
                <a:latin typeface="微软雅黑" panose="020B0503020204020204" pitchFamily="34" charset="-122"/>
                <a:ea typeface="微软雅黑" panose="020B0503020204020204" pitchFamily="34" charset="-122"/>
                <a:cs typeface="+mn-ea"/>
              </a:rPr>
              <a:t>valueOf</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方法或</a:t>
            </a:r>
            <a:r>
              <a:rPr lang="en-US" altLang="zh-CN" sz="2000" dirty="0" err="1">
                <a:solidFill>
                  <a:srgbClr val="595959"/>
                </a:solidFill>
                <a:latin typeface="微软雅黑" panose="020B0503020204020204" pitchFamily="34" charset="-122"/>
                <a:ea typeface="微软雅黑" panose="020B0503020204020204" pitchFamily="34" charset="-122"/>
                <a:cs typeface="+mn-ea"/>
              </a:rPr>
              <a:t>getTime</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方法获取</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date1 = new Date();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console.log(date1.valueOf());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输出结果示例：</a:t>
            </a:r>
            <a:r>
              <a:rPr lang="en-US" altLang="zh-CN" sz="2000" dirty="0">
                <a:solidFill>
                  <a:srgbClr val="595959"/>
                </a:solidFill>
                <a:latin typeface="微软雅黑" panose="020B0503020204020204" pitchFamily="34" charset="-122"/>
                <a:ea typeface="微软雅黑" panose="020B0503020204020204" pitchFamily="34" charset="-122"/>
                <a:cs typeface="+mn-ea"/>
              </a:rPr>
              <a:t>1678440875203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console.log(date1.getTime());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输出结果示例：</a:t>
            </a:r>
            <a:r>
              <a:rPr lang="en-US" altLang="zh-CN" sz="2000" dirty="0">
                <a:solidFill>
                  <a:srgbClr val="595959"/>
                </a:solidFill>
                <a:latin typeface="微软雅黑" panose="020B0503020204020204" pitchFamily="34" charset="-122"/>
                <a:ea typeface="微软雅黑" panose="020B0503020204020204" pitchFamily="34" charset="-122"/>
                <a:cs typeface="+mn-ea"/>
              </a:rPr>
              <a:t>1678440875203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方式</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”运算符将日期对象转换为数字</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date2 = +new Date();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console.log(date2);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输出结果示例：</a:t>
            </a:r>
            <a:r>
              <a:rPr lang="en-US" altLang="zh-CN" sz="2000" dirty="0">
                <a:solidFill>
                  <a:srgbClr val="595959"/>
                </a:solidFill>
                <a:latin typeface="微软雅黑" panose="020B0503020204020204" pitchFamily="34" charset="-122"/>
                <a:ea typeface="微软雅黑" panose="020B0503020204020204" pitchFamily="34" charset="-122"/>
                <a:cs typeface="+mn-ea"/>
              </a:rPr>
              <a:t>1678440875203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方式</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HTML5</a:t>
            </a:r>
            <a:r>
              <a:rPr lang="zh-CN" altLang="zh-CN" sz="2000" dirty="0">
                <a:solidFill>
                  <a:srgbClr val="595959"/>
                </a:solidFill>
                <a:latin typeface="微软雅黑" panose="020B0503020204020204" pitchFamily="34" charset="-122"/>
                <a:ea typeface="微软雅黑" panose="020B0503020204020204" pitchFamily="34" charset="-122"/>
                <a:cs typeface="+mn-ea"/>
              </a:rPr>
              <a:t>新增的</a:t>
            </a:r>
            <a:r>
              <a:rPr lang="en-US" altLang="zh-CN" sz="2000" dirty="0" err="1">
                <a:solidFill>
                  <a:srgbClr val="595959"/>
                </a:solidFill>
                <a:latin typeface="微软雅黑" panose="020B0503020204020204" pitchFamily="34" charset="-122"/>
                <a:ea typeface="微软雅黑" panose="020B0503020204020204" pitchFamily="34" charset="-122"/>
                <a:cs typeface="+mn-ea"/>
              </a:rPr>
              <a:t>Date.now</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方法获取</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Date.now</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输出结果示例：</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1678440875203</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统计代码运行时间</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9085" y="1054547"/>
            <a:ext cx="10049768" cy="499624"/>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595959"/>
                </a:solidFill>
                <a:latin typeface="微软雅黑" panose="020B0503020204020204" pitchFamily="34" charset="-122"/>
                <a:ea typeface="微软雅黑" panose="020B0503020204020204" pitchFamily="34" charset="-122"/>
                <a:cs typeface="+mn-ea"/>
              </a:rPr>
              <a:t>获取时间戳的方式后，下面通过代码演示如何</a:t>
            </a:r>
            <a:r>
              <a:rPr lang="zh-CN" altLang="zh-CN" sz="2000" dirty="0">
                <a:solidFill>
                  <a:srgbClr val="1369B2"/>
                </a:solidFill>
                <a:latin typeface="微软雅黑" panose="020B0503020204020204" pitchFamily="34" charset="-122"/>
                <a:ea typeface="微软雅黑" panose="020B0503020204020204" pitchFamily="34" charset="-122"/>
                <a:cs typeface="+mn-ea"/>
              </a:rPr>
              <a:t>统计代码</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运行时间</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统计代码运行时间</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218990" y="1835637"/>
            <a:ext cx="9577064" cy="378565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script&gt;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timestamp1 = +new Date();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for (</a:t>
            </a: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i</a:t>
            </a:r>
            <a:r>
              <a:rPr lang="en-US" altLang="zh-CN" sz="2000" dirty="0">
                <a:solidFill>
                  <a:srgbClr val="595959"/>
                </a:solidFill>
                <a:latin typeface="微软雅黑" panose="020B0503020204020204" pitchFamily="34" charset="-122"/>
                <a:ea typeface="微软雅黑" panose="020B0503020204020204" pitchFamily="34" charset="-122"/>
                <a:cs typeface="+mn-ea"/>
              </a:rPr>
              <a:t> = 1,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 </a:t>
            </a:r>
            <a:r>
              <a:rPr lang="en-US" altLang="zh-CN" sz="2000" dirty="0" err="1">
                <a:solidFill>
                  <a:srgbClr val="595959"/>
                </a:solidFill>
                <a:latin typeface="微软雅黑" panose="020B0503020204020204" pitchFamily="34" charset="-122"/>
                <a:ea typeface="微软雅黑" panose="020B0503020204020204" pitchFamily="34" charset="-122"/>
                <a:cs typeface="+mn-ea"/>
              </a:rPr>
              <a:t>i</a:t>
            </a:r>
            <a:r>
              <a:rPr lang="en-US" altLang="zh-CN" sz="2000" dirty="0">
                <a:solidFill>
                  <a:srgbClr val="595959"/>
                </a:solidFill>
                <a:latin typeface="微软雅黑" panose="020B0503020204020204" pitchFamily="34" charset="-122"/>
                <a:ea typeface="微软雅黑" panose="020B0503020204020204" pitchFamily="34" charset="-122"/>
                <a:cs typeface="+mn-ea"/>
              </a:rPr>
              <a:t> &lt;= 60000; </a:t>
            </a:r>
            <a:r>
              <a:rPr lang="en-US" altLang="zh-CN" sz="2000" dirty="0" err="1">
                <a:solidFill>
                  <a:srgbClr val="595959"/>
                </a:solidFill>
                <a:latin typeface="微软雅黑" panose="020B0503020204020204" pitchFamily="34" charset="-122"/>
                <a:ea typeface="微软雅黑" panose="020B0503020204020204" pitchFamily="34" charset="-122"/>
                <a:cs typeface="+mn-ea"/>
              </a:rPr>
              <a:t>i</a:t>
            </a:r>
            <a:r>
              <a:rPr lang="en-US" altLang="zh-CN" sz="2000" dirty="0">
                <a:solidFill>
                  <a:srgbClr val="595959"/>
                </a:solidFill>
                <a:latin typeface="微软雅黑" panose="020B0503020204020204" pitchFamily="34" charset="-122"/>
                <a:ea typeface="微软雅黑" panose="020B0503020204020204" pitchFamily="34" charset="-122"/>
                <a:cs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str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i</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timestamp2 = +new Date();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代码运行时间为：</a:t>
            </a:r>
            <a:r>
              <a:rPr lang="en-US" altLang="zh-CN" sz="2000" dirty="0">
                <a:solidFill>
                  <a:srgbClr val="595959"/>
                </a:solidFill>
                <a:latin typeface="微软雅黑" panose="020B0503020204020204" pitchFamily="34" charset="-122"/>
                <a:ea typeface="微软雅黑" panose="020B0503020204020204" pitchFamily="34" charset="-122"/>
                <a:cs typeface="+mn-ea"/>
              </a:rPr>
              <a:t>${(timestamp2 - timestamp1)}</a:t>
            </a:r>
            <a:r>
              <a:rPr lang="zh-CN" altLang="zh-CN" sz="2000" dirty="0">
                <a:solidFill>
                  <a:srgbClr val="595959"/>
                </a:solidFill>
                <a:latin typeface="微软雅黑" panose="020B0503020204020204" pitchFamily="34" charset="-122"/>
                <a:ea typeface="微软雅黑" panose="020B0503020204020204" pitchFamily="34" charset="-122"/>
                <a:cs typeface="+mn-ea"/>
              </a:rPr>
              <a:t>毫秒</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&lt;/</a:t>
            </a:r>
            <a:r>
              <a:rPr lang="en-US" altLang="zh-CN" sz="2000" dirty="0">
                <a:solidFill>
                  <a:srgbClr val="595959"/>
                </a:solidFill>
                <a:latin typeface="微软雅黑" panose="020B0503020204020204" pitchFamily="34" charset="-122"/>
                <a:ea typeface="微软雅黑" panose="020B0503020204020204" pitchFamily="34" charset="-122"/>
                <a:cs typeface="+mn-ea"/>
              </a:rPr>
              <a:t>script</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&gt;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99500"/>
            <a:ext cx="5429568"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倒计时</a:t>
            </a:r>
            <a:r>
              <a:rPr lang="zh-CN" altLang="en-US" sz="2000" smtClean="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倒计时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614"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683423" y="1773610"/>
            <a:ext cx="6308327" cy="3676640"/>
            <a:chOff x="4899446" y="1985402"/>
            <a:chExt cx="6376447" cy="8236869"/>
          </a:xfrm>
        </p:grpSpPr>
        <p:sp>
          <p:nvSpPr>
            <p:cNvPr id="24" name="圆角矩形标注 11"/>
            <p:cNvSpPr/>
            <p:nvPr/>
          </p:nvSpPr>
          <p:spPr bwMode="auto">
            <a:xfrm rot="5400000">
              <a:off x="3969235" y="2915613"/>
              <a:ext cx="8236869" cy="6376447"/>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30197" y="2452817"/>
              <a:ext cx="5581769" cy="744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用户</a:t>
              </a:r>
              <a:r>
                <a:rPr lang="zh-CN" altLang="zh-CN" sz="2000" dirty="0">
                  <a:solidFill>
                    <a:srgbClr val="595959"/>
                  </a:solidFill>
                  <a:latin typeface="微软雅黑" panose="020B0503020204020204" pitchFamily="34" charset="-122"/>
                  <a:ea typeface="微软雅黑" panose="020B0503020204020204" pitchFamily="34" charset="-122"/>
                </a:rPr>
                <a:t>在电商网站购物时，经常会看到商家推出一些</a:t>
              </a:r>
              <a:r>
                <a:rPr lang="zh-CN" altLang="zh-CN" sz="2000" dirty="0">
                  <a:solidFill>
                    <a:srgbClr val="1369B2"/>
                  </a:solidFill>
                  <a:latin typeface="微软雅黑" panose="020B0503020204020204" pitchFamily="34" charset="-122"/>
                  <a:ea typeface="微软雅黑" panose="020B0503020204020204" pitchFamily="34" charset="-122"/>
                </a:rPr>
                <a:t>抢购活动</a:t>
              </a:r>
              <a:r>
                <a:rPr lang="zh-CN" altLang="zh-CN" sz="2000" dirty="0">
                  <a:solidFill>
                    <a:srgbClr val="595959"/>
                  </a:solidFill>
                  <a:latin typeface="微软雅黑" panose="020B0503020204020204" pitchFamily="34" charset="-122"/>
                  <a:ea typeface="微软雅黑" panose="020B0503020204020204" pitchFamily="34" charset="-122"/>
                </a:rPr>
                <a:t>，电商网站页面上会显示抢购活动开始时间的</a:t>
              </a:r>
              <a:r>
                <a:rPr lang="zh-CN" altLang="zh-CN" sz="2000" dirty="0">
                  <a:solidFill>
                    <a:srgbClr val="1369B2"/>
                  </a:solidFill>
                  <a:latin typeface="微软雅黑" panose="020B0503020204020204" pitchFamily="34" charset="-122"/>
                  <a:ea typeface="微软雅黑" panose="020B0503020204020204" pitchFamily="34" charset="-122"/>
                </a:rPr>
                <a:t>倒计时</a:t>
              </a:r>
              <a:r>
                <a:rPr lang="zh-CN" altLang="zh-CN" sz="2000" dirty="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1369B2"/>
                  </a:solidFill>
                  <a:latin typeface="微软雅黑" panose="020B0503020204020204" pitchFamily="34" charset="-122"/>
                  <a:ea typeface="微软雅黑" panose="020B0503020204020204" pitchFamily="34" charset="-122"/>
                </a:rPr>
                <a:t>“距离抢购活动开始</a:t>
              </a:r>
              <a:r>
                <a:rPr lang="zh-CN" altLang="zh-CN" sz="2000" dirty="0" smtClean="0">
                  <a:solidFill>
                    <a:srgbClr val="1369B2"/>
                  </a:solidFill>
                  <a:latin typeface="微软雅黑" panose="020B0503020204020204" pitchFamily="34" charset="-122"/>
                  <a:ea typeface="微软雅黑" panose="020B0503020204020204" pitchFamily="34" charset="-122"/>
                </a:rPr>
                <a:t>还有</a:t>
              </a:r>
              <a:r>
                <a:rPr lang="en-US" altLang="zh-CN" sz="2000" dirty="0" smtClean="0">
                  <a:solidFill>
                    <a:srgbClr val="1369B2"/>
                  </a:solidFill>
                  <a:latin typeface="微软雅黑" panose="020B0503020204020204" pitchFamily="34" charset="-122"/>
                  <a:ea typeface="微软雅黑" panose="020B0503020204020204" pitchFamily="34" charset="-122"/>
                </a:rPr>
                <a:t>02</a:t>
              </a:r>
              <a:r>
                <a:rPr lang="zh-CN" altLang="zh-CN" sz="2000" dirty="0">
                  <a:solidFill>
                    <a:srgbClr val="1369B2"/>
                  </a:solidFill>
                  <a:latin typeface="微软雅黑" panose="020B0503020204020204" pitchFamily="34" charset="-122"/>
                  <a:ea typeface="微软雅黑" panose="020B0503020204020204" pitchFamily="34" charset="-122"/>
                </a:rPr>
                <a:t>天</a:t>
              </a:r>
              <a:r>
                <a:rPr lang="en-US" altLang="zh-CN" sz="2000" dirty="0">
                  <a:solidFill>
                    <a:srgbClr val="1369B2"/>
                  </a:solidFill>
                  <a:latin typeface="微软雅黑" panose="020B0503020204020204" pitchFamily="34" charset="-122"/>
                  <a:ea typeface="微软雅黑" panose="020B0503020204020204" pitchFamily="34" charset="-122"/>
                </a:rPr>
                <a:t>23</a:t>
              </a:r>
              <a:r>
                <a:rPr lang="zh-CN" altLang="zh-CN" sz="2000" dirty="0">
                  <a:solidFill>
                    <a:srgbClr val="1369B2"/>
                  </a:solidFill>
                  <a:latin typeface="微软雅黑" panose="020B0503020204020204" pitchFamily="34" charset="-122"/>
                  <a:ea typeface="微软雅黑" panose="020B0503020204020204" pitchFamily="34" charset="-122"/>
                </a:rPr>
                <a:t>小时</a:t>
              </a:r>
              <a:r>
                <a:rPr lang="en-US" altLang="zh-CN" sz="2000" dirty="0">
                  <a:solidFill>
                    <a:srgbClr val="1369B2"/>
                  </a:solidFill>
                  <a:latin typeface="微软雅黑" panose="020B0503020204020204" pitchFamily="34" charset="-122"/>
                  <a:ea typeface="微软雅黑" panose="020B0503020204020204" pitchFamily="34" charset="-122"/>
                </a:rPr>
                <a:t>09</a:t>
              </a:r>
              <a:r>
                <a:rPr lang="zh-CN" altLang="zh-CN" sz="2000" dirty="0">
                  <a:solidFill>
                    <a:srgbClr val="1369B2"/>
                  </a:solidFill>
                  <a:latin typeface="微软雅黑" panose="020B0503020204020204" pitchFamily="34" charset="-122"/>
                  <a:ea typeface="微软雅黑" panose="020B0503020204020204" pitchFamily="34" charset="-122"/>
                </a:rPr>
                <a:t>分</a:t>
              </a:r>
              <a:r>
                <a:rPr lang="en-US" altLang="zh-CN" sz="2000" dirty="0">
                  <a:solidFill>
                    <a:srgbClr val="1369B2"/>
                  </a:solidFill>
                  <a:latin typeface="微软雅黑" panose="020B0503020204020204" pitchFamily="34" charset="-122"/>
                  <a:ea typeface="微软雅黑" panose="020B0503020204020204" pitchFamily="34" charset="-122"/>
                </a:rPr>
                <a:t>25</a:t>
              </a:r>
              <a:r>
                <a:rPr lang="zh-CN" altLang="zh-CN" sz="2000" dirty="0">
                  <a:solidFill>
                    <a:srgbClr val="1369B2"/>
                  </a:solidFill>
                  <a:latin typeface="微软雅黑" panose="020B0503020204020204" pitchFamily="34" charset="-122"/>
                  <a:ea typeface="微软雅黑" panose="020B0503020204020204" pitchFamily="34" charset="-122"/>
                </a:rPr>
                <a:t>秒”</a:t>
              </a:r>
              <a:r>
                <a:rPr lang="zh-CN" altLang="zh-CN" sz="2000" dirty="0">
                  <a:solidFill>
                    <a:srgbClr val="595959"/>
                  </a:solidFill>
                  <a:latin typeface="微软雅黑" panose="020B0503020204020204" pitchFamily="34" charset="-122"/>
                  <a:ea typeface="微软雅黑" panose="020B0503020204020204" pitchFamily="34" charset="-122"/>
                </a:rPr>
                <a:t>，像这样的倒计时效果就可以通过</a:t>
              </a:r>
              <a:r>
                <a:rPr lang="zh-CN" altLang="zh-CN" sz="2000" dirty="0">
                  <a:solidFill>
                    <a:srgbClr val="1369B2"/>
                  </a:solidFill>
                  <a:latin typeface="微软雅黑" panose="020B0503020204020204" pitchFamily="34" charset="-122"/>
                  <a:ea typeface="微软雅黑" panose="020B0503020204020204" pitchFamily="34" charset="-122"/>
                </a:rPr>
                <a:t>日期对象</a:t>
              </a:r>
              <a:r>
                <a:rPr lang="zh-CN" altLang="zh-CN" sz="2000" dirty="0">
                  <a:solidFill>
                    <a:srgbClr val="595959"/>
                  </a:solidFill>
                  <a:latin typeface="微软雅黑" panose="020B0503020204020204" pitchFamily="34" charset="-122"/>
                  <a:ea typeface="微软雅黑" panose="020B0503020204020204" pitchFamily="34" charset="-122"/>
                </a:rPr>
                <a:t>实现。倒计时的核心算法是</a:t>
              </a:r>
              <a:r>
                <a:rPr lang="zh-CN" altLang="zh-CN" sz="2000" dirty="0">
                  <a:solidFill>
                    <a:srgbClr val="1369B2"/>
                  </a:solidFill>
                  <a:latin typeface="微软雅黑" panose="020B0503020204020204" pitchFamily="34" charset="-122"/>
                  <a:ea typeface="微软雅黑" panose="020B0503020204020204" pitchFamily="34" charset="-122"/>
                </a:rPr>
                <a:t>用抢购活动的开始时间减去当前的时间</a:t>
              </a:r>
              <a:r>
                <a:rPr lang="zh-CN" altLang="zh-CN" sz="2000" dirty="0">
                  <a:solidFill>
                    <a:srgbClr val="595959"/>
                  </a:solidFill>
                  <a:latin typeface="微软雅黑" panose="020B0503020204020204" pitchFamily="34" charset="-122"/>
                  <a:ea typeface="微软雅黑" panose="020B0503020204020204" pitchFamily="34" charset="-122"/>
                </a:rPr>
                <a:t>，得到的结果就是</a:t>
              </a:r>
              <a:r>
                <a:rPr lang="zh-CN" altLang="zh-CN" sz="2000" dirty="0" smtClean="0">
                  <a:solidFill>
                    <a:srgbClr val="1369B2"/>
                  </a:solidFill>
                  <a:latin typeface="微软雅黑" panose="020B0503020204020204" pitchFamily="34" charset="-122"/>
                  <a:ea typeface="微软雅黑" panose="020B0503020204020204" pitchFamily="34" charset="-122"/>
                </a:rPr>
                <a:t>倒计时</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pSp>
      <p:sp>
        <p:nvSpPr>
          <p:cNvPr id="7"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倒计时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0630" y="2277666"/>
            <a:ext cx="10414077"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定义</a:t>
            </a:r>
            <a:r>
              <a:rPr lang="zh-CN" altLang="zh-CN" sz="2000" dirty="0">
                <a:solidFill>
                  <a:srgbClr val="595959"/>
                </a:solidFill>
                <a:latin typeface="微软雅黑" panose="020B0503020204020204" pitchFamily="34" charset="-122"/>
                <a:ea typeface="微软雅黑" panose="020B0503020204020204" pitchFamily="34" charset="-122"/>
                <a:cs typeface="+mn-ea"/>
              </a:rPr>
              <a:t>一个</a:t>
            </a:r>
            <a:r>
              <a:rPr lang="zh-CN" altLang="zh-CN" sz="2000" dirty="0">
                <a:solidFill>
                  <a:srgbClr val="1369B2"/>
                </a:solidFill>
                <a:latin typeface="微软雅黑" panose="020B0503020204020204" pitchFamily="34" charset="-122"/>
                <a:ea typeface="微软雅黑" panose="020B0503020204020204" pitchFamily="34" charset="-122"/>
                <a:cs typeface="+mn-ea"/>
              </a:rPr>
              <a:t>函数</a:t>
            </a:r>
            <a:r>
              <a:rPr lang="zh-CN" altLang="zh-CN" sz="2000" dirty="0">
                <a:solidFill>
                  <a:srgbClr val="595959"/>
                </a:solidFill>
                <a:latin typeface="微软雅黑" panose="020B0503020204020204" pitchFamily="34" charset="-122"/>
                <a:ea typeface="微软雅黑" panose="020B0503020204020204" pitchFamily="34" charset="-122"/>
                <a:cs typeface="+mn-ea"/>
              </a:rPr>
              <a:t>，该函数的参数表示抢购活动的</a:t>
            </a:r>
            <a:r>
              <a:rPr lang="zh-CN" altLang="zh-CN" sz="2000" dirty="0">
                <a:solidFill>
                  <a:srgbClr val="1369B2"/>
                </a:solidFill>
                <a:latin typeface="微软雅黑" panose="020B0503020204020204" pitchFamily="34" charset="-122"/>
                <a:ea typeface="微软雅黑" panose="020B0503020204020204" pitchFamily="34" charset="-122"/>
                <a:cs typeface="+mn-ea"/>
              </a:rPr>
              <a:t>开始时间</a:t>
            </a:r>
            <a:r>
              <a:rPr lang="zh-CN" altLang="zh-CN" sz="2000" dirty="0">
                <a:solidFill>
                  <a:srgbClr val="595959"/>
                </a:solidFill>
                <a:latin typeface="微软雅黑" panose="020B0503020204020204" pitchFamily="34" charset="-122"/>
                <a:ea typeface="微软雅黑" panose="020B0503020204020204" pitchFamily="34" charset="-122"/>
                <a:cs typeface="+mn-ea"/>
              </a:rPr>
              <a:t>，在函数内</a:t>
            </a:r>
            <a:r>
              <a:rPr lang="zh-CN" altLang="zh-CN" sz="2000" dirty="0">
                <a:solidFill>
                  <a:srgbClr val="1369B2"/>
                </a:solidFill>
                <a:latin typeface="微软雅黑" panose="020B0503020204020204" pitchFamily="34" charset="-122"/>
                <a:ea typeface="微软雅黑" panose="020B0503020204020204" pitchFamily="34" charset="-122"/>
                <a:cs typeface="+mn-ea"/>
              </a:rPr>
              <a:t>获取当前的时间</a:t>
            </a:r>
            <a:r>
              <a:rPr lang="zh-CN" altLang="zh-CN" sz="2000" dirty="0">
                <a:solidFill>
                  <a:srgbClr val="595959"/>
                </a:solidFill>
                <a:latin typeface="微软雅黑" panose="020B0503020204020204" pitchFamily="34" charset="-122"/>
                <a:ea typeface="微软雅黑" panose="020B0503020204020204" pitchFamily="34" charset="-122"/>
                <a:cs typeface="+mn-ea"/>
              </a:rPr>
              <a:t>，并计算当前时间到抢购活动开始时间还有多长时间，以</a:t>
            </a:r>
            <a:r>
              <a:rPr lang="en-US" altLang="zh-CN" sz="2000" dirty="0">
                <a:solidFill>
                  <a:srgbClr val="1369B2"/>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天</a:t>
            </a:r>
            <a:r>
              <a:rPr lang="en-US" altLang="zh-CN" sz="2000" dirty="0">
                <a:solidFill>
                  <a:srgbClr val="1369B2"/>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小时</a:t>
            </a:r>
            <a:r>
              <a:rPr lang="en-US" altLang="zh-CN" sz="2000" dirty="0">
                <a:solidFill>
                  <a:srgbClr val="1369B2"/>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分</a:t>
            </a:r>
            <a:r>
              <a:rPr lang="en-US" altLang="zh-CN" sz="2000" dirty="0">
                <a:solidFill>
                  <a:srgbClr val="1369B2"/>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zh-CN" altLang="zh-CN" sz="2000" dirty="0">
                <a:solidFill>
                  <a:srgbClr val="1369B2"/>
                </a:solidFill>
                <a:latin typeface="微软雅黑" panose="020B0503020204020204" pitchFamily="34" charset="-122"/>
                <a:ea typeface="微软雅黑" panose="020B0503020204020204" pitchFamily="34" charset="-122"/>
                <a:cs typeface="+mn-ea"/>
              </a:rPr>
              <a:t>秒</a:t>
            </a:r>
            <a:r>
              <a:rPr lang="zh-CN" altLang="zh-CN" sz="2000" dirty="0">
                <a:solidFill>
                  <a:srgbClr val="595959"/>
                </a:solidFill>
                <a:latin typeface="微软雅黑" panose="020B0503020204020204" pitchFamily="34" charset="-122"/>
                <a:ea typeface="微软雅黑" panose="020B0503020204020204" pitchFamily="34" charset="-122"/>
                <a:cs typeface="+mn-ea"/>
              </a:rPr>
              <a:t>的格式返回计算</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结果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5.5.3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倒计时</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3205208" cy="830997"/>
          </a:xfrm>
          <a:prstGeom prst="rect">
            <a:avLst/>
          </a:prstGeom>
          <a:noFill/>
        </p:spPr>
        <p:txBody>
          <a:bodyPr wrap="square" lIns="91443" tIns="45720" rIns="91443" bIns="45720" rtlCol="0">
            <a:spAutoFit/>
          </a:bodyPr>
          <a:lstStyle/>
          <a:p>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数组</a:t>
            </a: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5.6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数组对象</a:t>
            </a:r>
            <a:r>
              <a:rPr lang="zh-CN" altLang="en-US" sz="2000">
                <a:solidFill>
                  <a:srgbClr val="1369B2"/>
                </a:solidFill>
                <a:latin typeface="微软雅黑" panose="020B0503020204020204" pitchFamily="34" charset="-122"/>
                <a:ea typeface="微软雅黑" panose="020B0503020204020204" pitchFamily="34" charset="-122"/>
                <a:cs typeface="+mn-ea"/>
              </a:rPr>
              <a:t>的创建</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Array()</a:t>
            </a:r>
            <a:r>
              <a:rPr lang="zh-CN" altLang="zh-CN" sz="2000">
                <a:solidFill>
                  <a:srgbClr val="1369B2"/>
                </a:solidFill>
                <a:latin typeface="微软雅黑" panose="020B0503020204020204" pitchFamily="34" charset="-122"/>
                <a:ea typeface="微软雅黑" panose="020B0503020204020204" pitchFamily="34" charset="-122"/>
                <a:cs typeface="+mn-ea"/>
              </a:rPr>
              <a:t>构造函数</a:t>
            </a:r>
            <a:r>
              <a:rPr lang="zh-CN" altLang="zh-CN" sz="2000">
                <a:solidFill>
                  <a:srgbClr val="595959"/>
                </a:solidFill>
                <a:latin typeface="微软雅黑" panose="020B0503020204020204" pitchFamily="34" charset="-122"/>
                <a:ea typeface="微软雅黑" panose="020B0503020204020204" pitchFamily="34" charset="-122"/>
                <a:cs typeface="+mn-ea"/>
              </a:rPr>
              <a:t>创建数组对象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创建数组对象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6197" y="1367451"/>
            <a:ext cx="9210285"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Array()</a:t>
            </a:r>
            <a:r>
              <a:rPr lang="zh-CN" altLang="zh-CN" sz="2000">
                <a:solidFill>
                  <a:srgbClr val="1369B2"/>
                </a:solidFill>
                <a:latin typeface="微软雅黑" panose="020B0503020204020204" pitchFamily="34" charset="-122"/>
                <a:ea typeface="微软雅黑" panose="020B0503020204020204" pitchFamily="34" charset="-122"/>
                <a:cs typeface="+mn-ea"/>
              </a:rPr>
              <a:t>构造函数创建数组对象</a:t>
            </a:r>
            <a:r>
              <a:rPr lang="zh-CN" altLang="zh-CN" sz="2000">
                <a:solidFill>
                  <a:srgbClr val="595959"/>
                </a:solidFill>
                <a:latin typeface="微软雅黑" panose="020B0503020204020204" pitchFamily="34" charset="-122"/>
                <a:ea typeface="微软雅黑" panose="020B0503020204020204" pitchFamily="34" charset="-122"/>
                <a:cs typeface="+mn-ea"/>
              </a:rPr>
              <a:t>的语法格式如下。</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198193" y="2371740"/>
            <a:ext cx="8933657" cy="55399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new </a:t>
            </a:r>
            <a:r>
              <a:rPr lang="en-US" altLang="zh-CN" sz="2000">
                <a:solidFill>
                  <a:srgbClr val="595959"/>
                </a:solidFill>
                <a:latin typeface="微软雅黑" panose="020B0503020204020204" pitchFamily="34" charset="-122"/>
                <a:ea typeface="微软雅黑" panose="020B0503020204020204" pitchFamily="34" charset="-122"/>
                <a:cs typeface="+mn-ea"/>
              </a:rPr>
              <a:t>Array(</a:t>
            </a:r>
            <a:r>
              <a:rPr lang="zh-CN" altLang="zh-CN" sz="2000">
                <a:solidFill>
                  <a:srgbClr val="595959"/>
                </a:solidFill>
                <a:latin typeface="微软雅黑" panose="020B0503020204020204" pitchFamily="34" charset="-122"/>
                <a:ea typeface="微软雅黑" panose="020B0503020204020204" pitchFamily="34" charset="-122"/>
                <a:cs typeface="+mn-ea"/>
              </a:rPr>
              <a:t>元素</a:t>
            </a:r>
            <a:r>
              <a:rPr lang="en-US" altLang="zh-CN" sz="2000">
                <a:solidFill>
                  <a:srgbClr val="595959"/>
                </a:solidFill>
                <a:latin typeface="微软雅黑" panose="020B0503020204020204" pitchFamily="34" charset="-122"/>
                <a:ea typeface="微软雅黑" panose="020B0503020204020204" pitchFamily="34" charset="-122"/>
                <a:cs typeface="+mn-ea"/>
              </a:rPr>
              <a:t>1, </a:t>
            </a:r>
            <a:r>
              <a:rPr lang="zh-CN" altLang="zh-CN" sz="2000">
                <a:solidFill>
                  <a:srgbClr val="595959"/>
                </a:solidFill>
                <a:latin typeface="微软雅黑" panose="020B0503020204020204" pitchFamily="34" charset="-122"/>
                <a:ea typeface="微软雅黑" panose="020B0503020204020204" pitchFamily="34" charset="-122"/>
                <a:cs typeface="+mn-ea"/>
              </a:rPr>
              <a:t>元素</a:t>
            </a:r>
            <a:r>
              <a:rPr lang="en-US" altLang="zh-CN" sz="2000">
                <a:solidFill>
                  <a:srgbClr val="595959"/>
                </a:solidFill>
                <a:latin typeface="微软雅黑" panose="020B0503020204020204" pitchFamily="34" charset="-122"/>
                <a:ea typeface="微软雅黑" panose="020B0503020204020204" pitchFamily="34" charset="-122"/>
                <a:cs typeface="+mn-ea"/>
              </a:rPr>
              <a:t>2, …)</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9"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创建数组对象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3691" y="3494251"/>
            <a:ext cx="9992075" cy="1015663"/>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在上述语法格式中，</a:t>
            </a:r>
            <a:r>
              <a:rPr lang="zh-CN" altLang="zh-CN" sz="2000" dirty="0">
                <a:solidFill>
                  <a:srgbClr val="1369B2"/>
                </a:solidFill>
                <a:latin typeface="微软雅黑" panose="020B0503020204020204" pitchFamily="34" charset="-122"/>
                <a:ea typeface="微软雅黑" panose="020B0503020204020204" pitchFamily="34" charset="-122"/>
                <a:cs typeface="+mn-ea"/>
              </a:rPr>
              <a:t>“元素</a:t>
            </a:r>
            <a:r>
              <a:rPr lang="en-US" altLang="zh-CN" sz="2000" dirty="0">
                <a:solidFill>
                  <a:srgbClr val="1369B2"/>
                </a:solidFill>
                <a:latin typeface="微软雅黑" panose="020B0503020204020204" pitchFamily="34" charset="-122"/>
                <a:ea typeface="微软雅黑" panose="020B0503020204020204" pitchFamily="34" charset="-122"/>
                <a:cs typeface="+mn-ea"/>
              </a:rPr>
              <a:t>1, </a:t>
            </a:r>
            <a:r>
              <a:rPr lang="zh-CN" altLang="zh-CN" sz="2000" dirty="0">
                <a:solidFill>
                  <a:srgbClr val="1369B2"/>
                </a:solidFill>
                <a:latin typeface="微软雅黑" panose="020B0503020204020204" pitchFamily="34" charset="-122"/>
                <a:ea typeface="微软雅黑" panose="020B0503020204020204" pitchFamily="34" charset="-122"/>
                <a:cs typeface="+mn-ea"/>
              </a:rPr>
              <a:t>元素</a:t>
            </a:r>
            <a:r>
              <a:rPr lang="en-US" altLang="zh-CN" sz="2000" dirty="0">
                <a:solidFill>
                  <a:srgbClr val="1369B2"/>
                </a:solidFill>
                <a:latin typeface="微软雅黑" panose="020B0503020204020204" pitchFamily="34" charset="-122"/>
                <a:ea typeface="微软雅黑" panose="020B0503020204020204" pitchFamily="34" charset="-122"/>
                <a:cs typeface="+mn-ea"/>
              </a:rPr>
              <a:t>2, …</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是指数组中</a:t>
            </a:r>
            <a:r>
              <a:rPr lang="zh-CN" altLang="zh-CN" sz="2000" dirty="0">
                <a:solidFill>
                  <a:srgbClr val="1369B2"/>
                </a:solidFill>
                <a:latin typeface="微软雅黑" panose="020B0503020204020204" pitchFamily="34" charset="-122"/>
                <a:ea typeface="微软雅黑" panose="020B0503020204020204" pitchFamily="34" charset="-122"/>
                <a:cs typeface="+mn-ea"/>
              </a:rPr>
              <a:t>实际保存的元素</a:t>
            </a:r>
            <a:r>
              <a:rPr lang="zh-CN" altLang="zh-CN" sz="2000" dirty="0">
                <a:solidFill>
                  <a:srgbClr val="595959"/>
                </a:solidFill>
                <a:latin typeface="微软雅黑" panose="020B0503020204020204" pitchFamily="34" charset="-122"/>
                <a:ea typeface="微软雅黑" panose="020B0503020204020204" pitchFamily="34" charset="-122"/>
                <a:cs typeface="+mn-ea"/>
              </a:rPr>
              <a:t>，元素的数量可以是</a:t>
            </a:r>
            <a:r>
              <a:rPr lang="en-US" altLang="zh-CN" sz="2000" dirty="0">
                <a:solidFill>
                  <a:srgbClr val="1369B2"/>
                </a:solidFill>
                <a:latin typeface="微软雅黑" panose="020B0503020204020204" pitchFamily="34" charset="-122"/>
                <a:ea typeface="微软雅黑" panose="020B0503020204020204" pitchFamily="34" charset="-122"/>
                <a:cs typeface="+mn-ea"/>
              </a:rPr>
              <a:t>0</a:t>
            </a:r>
            <a:r>
              <a:rPr lang="zh-CN" altLang="zh-CN" sz="2000" dirty="0">
                <a:solidFill>
                  <a:srgbClr val="1369B2"/>
                </a:solidFill>
                <a:latin typeface="微软雅黑" panose="020B0503020204020204" pitchFamily="34" charset="-122"/>
                <a:ea typeface="微软雅黑" panose="020B0503020204020204" pitchFamily="34" charset="-122"/>
                <a:cs typeface="+mn-ea"/>
              </a:rPr>
              <a:t>个</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多个</a:t>
            </a:r>
            <a:r>
              <a:rPr lang="zh-CN" altLang="zh-CN" sz="2000" dirty="0">
                <a:solidFill>
                  <a:srgbClr val="595959"/>
                </a:solidFill>
                <a:latin typeface="微软雅黑" panose="020B0503020204020204" pitchFamily="34" charset="-122"/>
                <a:ea typeface="微软雅黑" panose="020B0503020204020204" pitchFamily="34" charset="-122"/>
                <a:cs typeface="+mn-ea"/>
              </a:rPr>
              <a:t>，各元素之间使用</a:t>
            </a:r>
            <a:r>
              <a:rPr lang="zh-CN" altLang="zh-CN" sz="2000" dirty="0">
                <a:solidFill>
                  <a:srgbClr val="1369B2"/>
                </a:solidFill>
                <a:latin typeface="微软雅黑" panose="020B0503020204020204" pitchFamily="34" charset="-122"/>
                <a:ea typeface="微软雅黑" panose="020B0503020204020204" pitchFamily="34" charset="-122"/>
                <a:cs typeface="+mn-ea"/>
              </a:rPr>
              <a:t>逗号</a:t>
            </a:r>
            <a:r>
              <a:rPr lang="zh-CN" altLang="zh-CN" sz="2000" dirty="0">
                <a:solidFill>
                  <a:srgbClr val="595959"/>
                </a:solidFill>
                <a:latin typeface="微软雅黑" panose="020B0503020204020204" pitchFamily="34" charset="-122"/>
                <a:ea typeface="微软雅黑" panose="020B0503020204020204" pitchFamily="34" charset="-122"/>
                <a:cs typeface="+mn-ea"/>
              </a:rPr>
              <a:t>分隔。若元素的数量是</a:t>
            </a:r>
            <a:r>
              <a:rPr lang="en-US" altLang="zh-CN" sz="2000" dirty="0">
                <a:solidFill>
                  <a:srgbClr val="595959"/>
                </a:solidFill>
                <a:latin typeface="微软雅黑" panose="020B0503020204020204" pitchFamily="34" charset="-122"/>
                <a:ea typeface="微软雅黑" panose="020B0503020204020204" pitchFamily="34" charset="-122"/>
                <a:cs typeface="+mn-ea"/>
              </a:rPr>
              <a:t>0</a:t>
            </a:r>
            <a:r>
              <a:rPr lang="zh-CN" altLang="zh-CN" sz="2000" dirty="0">
                <a:solidFill>
                  <a:srgbClr val="595959"/>
                </a:solidFill>
                <a:latin typeface="微软雅黑" panose="020B0503020204020204" pitchFamily="34" charset="-122"/>
                <a:ea typeface="微软雅黑" panose="020B0503020204020204" pitchFamily="34" charset="-122"/>
                <a:cs typeface="+mn-ea"/>
              </a:rPr>
              <a:t>个，则表示创建一个</a:t>
            </a:r>
            <a:r>
              <a:rPr lang="zh-CN" altLang="zh-CN" sz="2000" dirty="0">
                <a:solidFill>
                  <a:srgbClr val="1369B2"/>
                </a:solidFill>
                <a:latin typeface="微软雅黑" panose="020B0503020204020204" pitchFamily="34" charset="-122"/>
                <a:ea typeface="微软雅黑" panose="020B0503020204020204" pitchFamily="34" charset="-122"/>
                <a:cs typeface="+mn-ea"/>
              </a:rPr>
              <a:t>空数组</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0670" y="994809"/>
            <a:ext cx="8562213"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通过代码演示如何</a:t>
            </a:r>
            <a:r>
              <a:rPr lang="zh-CN" altLang="zh-CN" sz="2000">
                <a:solidFill>
                  <a:srgbClr val="1369B2"/>
                </a:solidFill>
                <a:latin typeface="微软雅黑" panose="020B0503020204020204" pitchFamily="34" charset="-122"/>
                <a:ea typeface="微软雅黑" panose="020B0503020204020204" pitchFamily="34" charset="-122"/>
                <a:cs typeface="+mn-ea"/>
              </a:rPr>
              <a:t>使用</a:t>
            </a:r>
            <a:r>
              <a:rPr lang="en-US" altLang="zh-CN" sz="2000">
                <a:solidFill>
                  <a:srgbClr val="1369B2"/>
                </a:solidFill>
                <a:latin typeface="微软雅黑" panose="020B0503020204020204" pitchFamily="34" charset="-122"/>
                <a:ea typeface="微软雅黑" panose="020B0503020204020204" pitchFamily="34" charset="-122"/>
                <a:cs typeface="+mn-ea"/>
              </a:rPr>
              <a:t>Array()</a:t>
            </a:r>
            <a:r>
              <a:rPr lang="zh-CN" altLang="zh-CN" sz="2000">
                <a:solidFill>
                  <a:srgbClr val="1369B2"/>
                </a:solidFill>
                <a:latin typeface="微软雅黑" panose="020B0503020204020204" pitchFamily="34" charset="-122"/>
                <a:ea typeface="微软雅黑" panose="020B0503020204020204" pitchFamily="34" charset="-122"/>
                <a:cs typeface="+mn-ea"/>
              </a:rPr>
              <a:t>构造函数创建数组</a:t>
            </a:r>
            <a:r>
              <a:rPr lang="zh-CN" altLang="zh-CN" sz="2000" smtClean="0">
                <a:solidFill>
                  <a:srgbClr val="1369B2"/>
                </a:solidFill>
                <a:latin typeface="微软雅黑" panose="020B0503020204020204" pitchFamily="34" charset="-122"/>
                <a:ea typeface="微软雅黑" panose="020B0503020204020204" pitchFamily="34" charset="-122"/>
                <a:cs typeface="+mn-ea"/>
              </a:rPr>
              <a:t>对象</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270670" y="1707035"/>
            <a:ext cx="10081120" cy="4708981"/>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a:solidFill>
                  <a:srgbClr val="595959"/>
                </a:solidFill>
                <a:latin typeface="微软雅黑" panose="020B0503020204020204" pitchFamily="34" charset="-122"/>
                <a:ea typeface="微软雅黑" panose="020B0503020204020204" pitchFamily="34" charset="-122"/>
                <a:cs typeface="+mn-ea"/>
              </a:rPr>
              <a:t>arr01 = new Array();</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arr02 = new Array(2);</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arr03 = new Array('</a:t>
            </a:r>
            <a:r>
              <a:rPr lang="zh-CN" altLang="zh-CN" sz="2000" dirty="0">
                <a:solidFill>
                  <a:srgbClr val="595959"/>
                </a:solidFill>
                <a:latin typeface="微软雅黑" panose="020B0503020204020204" pitchFamily="34" charset="-122"/>
                <a:ea typeface="微软雅黑" panose="020B0503020204020204" pitchFamily="34" charset="-122"/>
                <a:cs typeface="+mn-ea"/>
              </a:rPr>
              <a:t>土豆</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黄瓜</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玉米</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arr04 = new Array(13, '</a:t>
            </a:r>
            <a:r>
              <a:rPr lang="zh-CN" altLang="zh-CN" sz="2000" dirty="0">
                <a:solidFill>
                  <a:srgbClr val="595959"/>
                </a:solidFill>
                <a:latin typeface="微软雅黑" panose="020B0503020204020204" pitchFamily="34" charset="-122"/>
                <a:ea typeface="微软雅黑" panose="020B0503020204020204" pitchFamily="34" charset="-122"/>
                <a:cs typeface="+mn-ea"/>
              </a:rPr>
              <a:t>苹果</a:t>
            </a:r>
            <a:r>
              <a:rPr lang="en-US" altLang="zh-CN" sz="2000" dirty="0">
                <a:solidFill>
                  <a:srgbClr val="595959"/>
                </a:solidFill>
                <a:latin typeface="微软雅黑" panose="020B0503020204020204" pitchFamily="34" charset="-122"/>
                <a:ea typeface="微软雅黑" panose="020B0503020204020204" pitchFamily="34" charset="-122"/>
                <a:cs typeface="+mn-ea"/>
              </a:rPr>
              <a:t>', true, null, undefined);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arr05 = new Array(11, new Array(22, 33), 44);</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console.log(arr01);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console.log(arr02);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(2) [empty × 2]</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console.log(arr03);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(3) ['</a:t>
            </a:r>
            <a:r>
              <a:rPr lang="zh-CN" altLang="zh-CN" sz="2000" dirty="0">
                <a:solidFill>
                  <a:srgbClr val="595959"/>
                </a:solidFill>
                <a:latin typeface="微软雅黑" panose="020B0503020204020204" pitchFamily="34" charset="-122"/>
                <a:ea typeface="微软雅黑" panose="020B0503020204020204" pitchFamily="34" charset="-122"/>
                <a:cs typeface="+mn-ea"/>
              </a:rPr>
              <a:t>土豆</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黄瓜</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玉米</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console.log(arr04);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(5) [13, '</a:t>
            </a:r>
            <a:r>
              <a:rPr lang="zh-CN" altLang="zh-CN" sz="2000" dirty="0">
                <a:solidFill>
                  <a:srgbClr val="595959"/>
                </a:solidFill>
                <a:latin typeface="微软雅黑" panose="020B0503020204020204" pitchFamily="34" charset="-122"/>
                <a:ea typeface="微软雅黑" panose="020B0503020204020204" pitchFamily="34" charset="-122"/>
                <a:cs typeface="+mn-ea"/>
              </a:rPr>
              <a:t>苹果</a:t>
            </a:r>
            <a:r>
              <a:rPr lang="en-US" altLang="zh-CN" sz="2000" dirty="0">
                <a:solidFill>
                  <a:srgbClr val="595959"/>
                </a:solidFill>
                <a:latin typeface="微软雅黑" panose="020B0503020204020204" pitchFamily="34" charset="-122"/>
                <a:ea typeface="微软雅黑" panose="020B0503020204020204" pitchFamily="34" charset="-122"/>
                <a:cs typeface="+mn-ea"/>
              </a:rPr>
              <a:t>', true, null, undefined]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console.log(arr05);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(3) [11, Array(2), 44]</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创建数组对象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a:stretch>
            <a:fillRect/>
          </a:stretch>
        </p:blipFill>
        <p:spPr>
          <a:xfrm>
            <a:off x="971712" y="1352729"/>
            <a:ext cx="1015842" cy="1015842"/>
          </a:xfrm>
          <a:prstGeom prst="rect">
            <a:avLst/>
          </a:prstGeom>
        </p:spPr>
      </p:pic>
      <p:sp>
        <p:nvSpPr>
          <p:cNvPr id="12" name="矩形 11"/>
          <p:cNvSpPr/>
          <p:nvPr/>
        </p:nvSpPr>
        <p:spPr>
          <a:xfrm>
            <a:off x="2150110" y="1607820"/>
            <a:ext cx="2360920"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35549" y="1746206"/>
            <a:ext cx="2375481"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数组类型的检测</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4608438"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4783437"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143691" y="2781722"/>
            <a:ext cx="10136091" cy="147732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实际开发中，有时候需要</a:t>
            </a:r>
            <a:r>
              <a:rPr lang="zh-CN" altLang="zh-CN" sz="2000" dirty="0">
                <a:solidFill>
                  <a:srgbClr val="1369B2"/>
                </a:solidFill>
                <a:latin typeface="微软雅黑" panose="020B0503020204020204" pitchFamily="34" charset="-122"/>
                <a:ea typeface="微软雅黑" panose="020B0503020204020204" pitchFamily="34" charset="-122"/>
              </a:rPr>
              <a:t>检测变量的类型是否为数组类型</a:t>
            </a:r>
            <a:r>
              <a:rPr lang="zh-CN" altLang="zh-CN" sz="2000" dirty="0">
                <a:solidFill>
                  <a:srgbClr val="595959"/>
                </a:solidFill>
                <a:latin typeface="微软雅黑" panose="020B0503020204020204" pitchFamily="34" charset="-122"/>
                <a:ea typeface="微软雅黑" panose="020B0503020204020204" pitchFamily="34" charset="-122"/>
              </a:rPr>
              <a:t>。例如，在函数中，要求传入的参数必须是一个数组，不能传入其他类型的值，否则会出错，此种情况就可以在函数中检测参数的类型是否为数组类型。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创建数组对象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982980" y="1557586"/>
            <a:ext cx="10512825" cy="1015663"/>
          </a:xfrm>
          <a:prstGeom prst="rect">
            <a:avLst/>
          </a:prstGeom>
          <a:noFill/>
        </p:spPr>
        <p:txBody>
          <a:bodyPr wrap="square">
            <a:spAutoFit/>
          </a:bodyPr>
          <a:lstStyle/>
          <a:p>
            <a:pPr>
              <a:lnSpc>
                <a:spcPct val="150000"/>
              </a:lnSpc>
            </a:pPr>
            <a:r>
              <a:rPr lang="zh-CN" altLang="zh-CN" sz="2000" smtClean="0">
                <a:solidFill>
                  <a:srgbClr val="1369B2"/>
                </a:solidFill>
                <a:latin typeface="微软雅黑" panose="020B0503020204020204" pitchFamily="34" charset="-122"/>
                <a:ea typeface="微软雅黑" panose="020B0503020204020204" pitchFamily="34" charset="-122"/>
              </a:rPr>
              <a:t>数组</a:t>
            </a:r>
            <a:r>
              <a:rPr lang="zh-CN" altLang="zh-CN" sz="2000">
                <a:solidFill>
                  <a:srgbClr val="1369B2"/>
                </a:solidFill>
                <a:latin typeface="微软雅黑" panose="020B0503020204020204" pitchFamily="34" charset="-122"/>
                <a:ea typeface="微软雅黑" panose="020B0503020204020204" pitchFamily="34" charset="-122"/>
              </a:rPr>
              <a:t>类型检测</a:t>
            </a:r>
            <a:r>
              <a:rPr lang="zh-CN" altLang="zh-CN" sz="2000">
                <a:solidFill>
                  <a:srgbClr val="595959"/>
                </a:solidFill>
                <a:latin typeface="微软雅黑" panose="020B0503020204020204" pitchFamily="34" charset="-122"/>
                <a:ea typeface="微软雅黑" panose="020B0503020204020204" pitchFamily="34" charset="-122"/>
              </a:rPr>
              <a:t>有两种常用的方式，分别是使用</a:t>
            </a:r>
            <a:r>
              <a:rPr lang="en-US" altLang="zh-CN" sz="2000">
                <a:solidFill>
                  <a:srgbClr val="1369B2"/>
                </a:solidFill>
                <a:latin typeface="微软雅黑" panose="020B0503020204020204" pitchFamily="34" charset="-122"/>
                <a:ea typeface="微软雅黑" panose="020B0503020204020204" pitchFamily="34" charset="-122"/>
              </a:rPr>
              <a:t>instanceof</a:t>
            </a:r>
            <a:r>
              <a:rPr lang="zh-CN" altLang="zh-CN" sz="2000">
                <a:solidFill>
                  <a:srgbClr val="1369B2"/>
                </a:solidFill>
                <a:latin typeface="微软雅黑" panose="020B0503020204020204" pitchFamily="34" charset="-122"/>
                <a:ea typeface="微软雅黑" panose="020B0503020204020204" pitchFamily="34" charset="-122"/>
              </a:rPr>
              <a:t>运算符</a:t>
            </a:r>
            <a:r>
              <a:rPr lang="zh-CN" altLang="zh-CN" sz="2000">
                <a:solidFill>
                  <a:srgbClr val="595959"/>
                </a:solidFill>
                <a:latin typeface="微软雅黑" panose="020B0503020204020204" pitchFamily="34" charset="-122"/>
                <a:ea typeface="微软雅黑" panose="020B0503020204020204" pitchFamily="34" charset="-122"/>
              </a:rPr>
              <a:t>和使用</a:t>
            </a:r>
            <a:r>
              <a:rPr lang="en-US" altLang="zh-CN" sz="2000">
                <a:solidFill>
                  <a:srgbClr val="1369B2"/>
                </a:solidFill>
                <a:latin typeface="微软雅黑" panose="020B0503020204020204" pitchFamily="34" charset="-122"/>
                <a:ea typeface="微软雅黑" panose="020B0503020204020204" pitchFamily="34" charset="-122"/>
              </a:rPr>
              <a:t>Array.isArray()</a:t>
            </a:r>
            <a:r>
              <a:rPr lang="zh-CN" altLang="zh-CN" sz="2000">
                <a:solidFill>
                  <a:srgbClr val="1369B2"/>
                </a:solidFill>
                <a:latin typeface="微软雅黑" panose="020B0503020204020204" pitchFamily="34" charset="-122"/>
                <a:ea typeface="微软雅黑" panose="020B0503020204020204" pitchFamily="34" charset="-122"/>
              </a:rPr>
              <a:t>方法</a:t>
            </a:r>
            <a:r>
              <a:rPr lang="zh-CN" altLang="zh-CN" sz="2000">
                <a:solidFill>
                  <a:srgbClr val="595959"/>
                </a:solidFill>
                <a:latin typeface="微软雅黑" panose="020B0503020204020204" pitchFamily="34" charset="-122"/>
                <a:ea typeface="微软雅黑" panose="020B0503020204020204" pitchFamily="34" charset="-122"/>
              </a:rPr>
              <a:t>，示例代码如下</a:t>
            </a:r>
            <a:r>
              <a:rPr lang="zh-CN" altLang="zh-CN" sz="2000" smtClean="0">
                <a:solidFill>
                  <a:srgbClr val="595959"/>
                </a:solidFill>
                <a:latin typeface="微软雅黑" panose="020B0503020204020204" pitchFamily="34" charset="-122"/>
                <a:ea typeface="微软雅黑" panose="020B0503020204020204" pitchFamily="34" charset="-122"/>
              </a:rPr>
              <a:t>。</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9"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5.6.1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创建数组对象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1702718" y="2709714"/>
            <a:ext cx="8933657" cy="378565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arr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obj =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第</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种方式</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 instanceof Array);        // </a:t>
            </a:r>
            <a:r>
              <a:rPr lang="zh-CN" altLang="zh-CN" sz="2000">
                <a:solidFill>
                  <a:srgbClr val="595959"/>
                </a:solidFill>
                <a:latin typeface="微软雅黑" panose="020B0503020204020204" pitchFamily="34" charset="-122"/>
                <a:ea typeface="微软雅黑" panose="020B0503020204020204" pitchFamily="34" charset="-122"/>
                <a:cs typeface="+mn-ea"/>
              </a:rPr>
              <a:t>输出结果：</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console.log(obj instanceof Array);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输出结果：</a:t>
            </a:r>
            <a:r>
              <a:rPr lang="en-US" altLang="zh-CN" sz="2000">
                <a:solidFill>
                  <a:srgbClr val="595959"/>
                </a:solidFill>
                <a:latin typeface="微软雅黑" panose="020B0503020204020204" pitchFamily="34" charset="-122"/>
                <a:ea typeface="微软雅黑" panose="020B0503020204020204" pitchFamily="34" charset="-122"/>
                <a:cs typeface="+mn-ea"/>
              </a:rPr>
              <a:t>false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第</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种方式</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console.log(Array.isArray(arr));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a:t>
            </a:r>
            <a:r>
              <a:rPr lang="en-US" altLang="zh-CN" sz="2000">
                <a:solidFill>
                  <a:srgbClr val="595959"/>
                </a:solidFill>
                <a:latin typeface="微软雅黑" panose="020B0503020204020204" pitchFamily="34" charset="-122"/>
                <a:ea typeface="微软雅黑" panose="020B0503020204020204" pitchFamily="34" charset="-122"/>
                <a:cs typeface="+mn-ea"/>
              </a:rPr>
              <a:t>true</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console.log(Array.isArray(obj));         </a:t>
            </a: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en-US" altLang="zh-CN" sz="200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a:t>
            </a:r>
            <a:r>
              <a:rPr lang="en-US" altLang="zh-CN" sz="2000">
                <a:solidFill>
                  <a:srgbClr val="595959"/>
                </a:solidFill>
                <a:latin typeface="微软雅黑" panose="020B0503020204020204" pitchFamily="34" charset="-122"/>
                <a:ea typeface="微软雅黑" panose="020B0503020204020204" pitchFamily="34" charset="-122"/>
                <a:cs typeface="+mn-ea"/>
              </a:rPr>
              <a:t>false</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添加或删除数组元素</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，能够使用</a:t>
            </a:r>
            <a:r>
              <a:rPr lang="zh-CN" altLang="en-US" sz="2000">
                <a:solidFill>
                  <a:srgbClr val="595959"/>
                </a:solidFill>
                <a:latin typeface="微软雅黑" panose="020B0503020204020204" pitchFamily="34" charset="-122"/>
                <a:ea typeface="微软雅黑" panose="020B0503020204020204" pitchFamily="34" charset="-122"/>
                <a:cs typeface="+mn-ea"/>
              </a:rPr>
              <a:t>数组对象提供的方法实现数组元素的</a:t>
            </a:r>
            <a:r>
              <a:rPr lang="zh-CN" altLang="en-US" sz="2000">
                <a:solidFill>
                  <a:srgbClr val="1369B2"/>
                </a:solidFill>
                <a:latin typeface="微软雅黑" panose="020B0503020204020204" pitchFamily="34" charset="-122"/>
                <a:ea typeface="微软雅黑" panose="020B0503020204020204" pitchFamily="34" charset="-122"/>
                <a:cs typeface="+mn-ea"/>
              </a:rPr>
              <a:t>添加</a:t>
            </a:r>
            <a:r>
              <a:rPr lang="zh-CN" altLang="en-US" sz="2000">
                <a:solidFill>
                  <a:srgbClr val="595959"/>
                </a:solidFill>
                <a:latin typeface="微软雅黑" panose="020B0503020204020204" pitchFamily="34" charset="-122"/>
                <a:ea typeface="微软雅黑" panose="020B0503020204020204" pitchFamily="34" charset="-122"/>
                <a:cs typeface="+mn-ea"/>
              </a:rPr>
              <a:t>或</a:t>
            </a:r>
            <a:r>
              <a:rPr lang="zh-CN" altLang="en-US" sz="2000">
                <a:solidFill>
                  <a:srgbClr val="1369B2"/>
                </a:solidFill>
                <a:latin typeface="微软雅黑" panose="020B0503020204020204" pitchFamily="34" charset="-122"/>
                <a:ea typeface="微软雅黑" panose="020B0503020204020204" pitchFamily="34" charset="-122"/>
                <a:cs typeface="+mn-ea"/>
              </a:rPr>
              <a:t>删除</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添加或删除数组元素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10630" y="895831"/>
            <a:ext cx="10513167" cy="954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18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1800" dirty="0">
                <a:solidFill>
                  <a:srgbClr val="595959"/>
                </a:solidFill>
                <a:latin typeface="微软雅黑" panose="020B0503020204020204" pitchFamily="34" charset="-122"/>
                <a:ea typeface="微软雅黑" panose="020B0503020204020204" pitchFamily="34" charset="-122"/>
                <a:cs typeface="+mn-ea"/>
              </a:rPr>
              <a:t>JavaScript</a:t>
            </a:r>
            <a:r>
              <a:rPr lang="zh-CN" altLang="zh-CN" sz="1800" dirty="0">
                <a:solidFill>
                  <a:srgbClr val="595959"/>
                </a:solidFill>
                <a:latin typeface="微软雅黑" panose="020B0503020204020204" pitchFamily="34" charset="-122"/>
                <a:ea typeface="微软雅黑" panose="020B0503020204020204" pitchFamily="34" charset="-122"/>
                <a:cs typeface="+mn-ea"/>
              </a:rPr>
              <a:t>中，</a:t>
            </a:r>
            <a:r>
              <a:rPr lang="zh-CN" altLang="zh-CN" sz="1800" dirty="0">
                <a:solidFill>
                  <a:srgbClr val="1369B2"/>
                </a:solidFill>
                <a:latin typeface="微软雅黑" panose="020B0503020204020204" pitchFamily="34" charset="-122"/>
                <a:ea typeface="微软雅黑" panose="020B0503020204020204" pitchFamily="34" charset="-122"/>
                <a:cs typeface="+mn-ea"/>
              </a:rPr>
              <a:t>数组对象</a:t>
            </a:r>
            <a:r>
              <a:rPr lang="zh-CN" altLang="zh-CN" sz="1800" dirty="0">
                <a:solidFill>
                  <a:srgbClr val="595959"/>
                </a:solidFill>
                <a:latin typeface="微软雅黑" panose="020B0503020204020204" pitchFamily="34" charset="-122"/>
                <a:ea typeface="微软雅黑" panose="020B0503020204020204" pitchFamily="34" charset="-122"/>
                <a:cs typeface="+mn-ea"/>
              </a:rPr>
              <a:t>提供了</a:t>
            </a:r>
            <a:r>
              <a:rPr lang="zh-CN" altLang="zh-CN" sz="1800" dirty="0">
                <a:solidFill>
                  <a:srgbClr val="1369B2"/>
                </a:solidFill>
                <a:latin typeface="微软雅黑" panose="020B0503020204020204" pitchFamily="34" charset="-122"/>
                <a:ea typeface="微软雅黑" panose="020B0503020204020204" pitchFamily="34" charset="-122"/>
                <a:cs typeface="+mn-ea"/>
              </a:rPr>
              <a:t>添加</a:t>
            </a:r>
            <a:r>
              <a:rPr lang="zh-CN" altLang="zh-CN" sz="1800" dirty="0">
                <a:solidFill>
                  <a:srgbClr val="595959"/>
                </a:solidFill>
                <a:latin typeface="微软雅黑" panose="020B0503020204020204" pitchFamily="34" charset="-122"/>
                <a:ea typeface="微软雅黑" panose="020B0503020204020204" pitchFamily="34" charset="-122"/>
                <a:cs typeface="+mn-ea"/>
              </a:rPr>
              <a:t>或</a:t>
            </a:r>
            <a:r>
              <a:rPr lang="zh-CN" altLang="zh-CN" sz="1800" dirty="0">
                <a:solidFill>
                  <a:srgbClr val="1369B2"/>
                </a:solidFill>
                <a:latin typeface="微软雅黑" panose="020B0503020204020204" pitchFamily="34" charset="-122"/>
                <a:ea typeface="微软雅黑" panose="020B0503020204020204" pitchFamily="34" charset="-122"/>
                <a:cs typeface="+mn-ea"/>
              </a:rPr>
              <a:t>删除</a:t>
            </a:r>
            <a:r>
              <a:rPr lang="zh-CN" altLang="zh-CN" sz="1800" dirty="0">
                <a:solidFill>
                  <a:srgbClr val="595959"/>
                </a:solidFill>
                <a:latin typeface="微软雅黑" panose="020B0503020204020204" pitchFamily="34" charset="-122"/>
                <a:ea typeface="微软雅黑" panose="020B0503020204020204" pitchFamily="34" charset="-122"/>
                <a:cs typeface="+mn-ea"/>
              </a:rPr>
              <a:t>数组元素的方法，可以实现在数组的</a:t>
            </a:r>
            <a:r>
              <a:rPr lang="zh-CN" altLang="zh-CN" sz="1800" dirty="0">
                <a:solidFill>
                  <a:srgbClr val="1369B2"/>
                </a:solidFill>
                <a:latin typeface="微软雅黑" panose="020B0503020204020204" pitchFamily="34" charset="-122"/>
                <a:ea typeface="微软雅黑" panose="020B0503020204020204" pitchFamily="34" charset="-122"/>
                <a:cs typeface="+mn-ea"/>
              </a:rPr>
              <a:t>末尾</a:t>
            </a:r>
            <a:r>
              <a:rPr lang="zh-CN" altLang="zh-CN" sz="1800" dirty="0">
                <a:solidFill>
                  <a:srgbClr val="595959"/>
                </a:solidFill>
                <a:latin typeface="微软雅黑" panose="020B0503020204020204" pitchFamily="34" charset="-122"/>
                <a:ea typeface="微软雅黑" panose="020B0503020204020204" pitchFamily="34" charset="-122"/>
                <a:cs typeface="+mn-ea"/>
              </a:rPr>
              <a:t>或</a:t>
            </a:r>
            <a:r>
              <a:rPr lang="zh-CN" altLang="zh-CN" sz="1800" dirty="0">
                <a:solidFill>
                  <a:srgbClr val="1369B2"/>
                </a:solidFill>
                <a:latin typeface="微软雅黑" panose="020B0503020204020204" pitchFamily="34" charset="-122"/>
                <a:ea typeface="微软雅黑" panose="020B0503020204020204" pitchFamily="34" charset="-122"/>
                <a:cs typeface="+mn-ea"/>
              </a:rPr>
              <a:t>开头</a:t>
            </a:r>
            <a:r>
              <a:rPr lang="zh-CN" altLang="zh-CN" sz="1800" dirty="0">
                <a:solidFill>
                  <a:srgbClr val="595959"/>
                </a:solidFill>
                <a:latin typeface="微软雅黑" panose="020B0503020204020204" pitchFamily="34" charset="-122"/>
                <a:ea typeface="微软雅黑" panose="020B0503020204020204" pitchFamily="34" charset="-122"/>
                <a:cs typeface="+mn-ea"/>
              </a:rPr>
              <a:t>添加新的数组元素，以及在数组的末尾或开头删除数组元素</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1369B2"/>
                </a:solidFill>
                <a:latin typeface="微软雅黑" panose="020B0503020204020204" pitchFamily="34" charset="-122"/>
                <a:ea typeface="微软雅黑" panose="020B0503020204020204" pitchFamily="34" charset="-122"/>
                <a:cs typeface="+mn-ea"/>
              </a:rPr>
              <a:t>添加或删除数组元素的方法</a:t>
            </a:r>
            <a:r>
              <a:rPr lang="zh-CN" altLang="en-US" sz="1800" dirty="0" smtClean="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添加或删除数组元素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10" name="表格 9"/>
          <p:cNvGraphicFramePr>
            <a:graphicFrameLocks noGrp="1"/>
          </p:cNvGraphicFramePr>
          <p:nvPr/>
        </p:nvGraphicFramePr>
        <p:xfrm>
          <a:off x="1520602" y="1913434"/>
          <a:ext cx="9630877" cy="4656618"/>
        </p:xfrm>
        <a:graphic>
          <a:graphicData uri="http://schemas.openxmlformats.org/drawingml/2006/table">
            <a:tbl>
              <a:tblPr>
                <a:tableStyleId>{7DF18680-E054-41AD-8BC1-D1AEF772440D}</a:tableStyleId>
              </a:tblPr>
              <a:tblGrid>
                <a:gridCol w="3114467"/>
                <a:gridCol w="6516410"/>
              </a:tblGrid>
              <a:tr h="541818">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779735">
                <a:tc>
                  <a:txBody>
                    <a:bodyPr/>
                    <a:lstStyle/>
                    <a:p>
                      <a:pPr marL="0" indent="127000" algn="l" defTabSz="1219200" rtl="0" eaLnBrk="1" latinLnBrk="0" hangingPunct="1">
                        <a:spcAft>
                          <a:spcPts val="0"/>
                        </a:spcAft>
                      </a:pP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push(element1, …)</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在数组末尾添加一个或多个元素，会修改原数组，返回值为数组的新长度</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779735">
                <a:tc>
                  <a:txBody>
                    <a:bodyPr/>
                    <a:lstStyle/>
                    <a:p>
                      <a:pPr marL="0" indent="127000" algn="l" defTabSz="1219200" rtl="0" eaLnBrk="1" latinLnBrk="0" hangingPunct="1">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unshift(element1, …)</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在数组开头添加一个或多个元素，会修改原数组，返回值为数组的新长度</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707024">
                <a:tc>
                  <a:txBody>
                    <a:bodyPr/>
                    <a:lstStyle/>
                    <a:p>
                      <a:pPr marL="0" indent="127000" algn="l" defTabSz="1219200" rtl="0" eaLnBrk="1" latinLnBrk="0" hangingPunct="1">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pop()</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删除数组的最后一个元素，会修改原数组，若是空数组则返回</a:t>
                      </a: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undefined</a:t>
                      </a:r>
                      <a:r>
                        <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，否则返回值为删除的元素</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688996">
                <a:tc>
                  <a:txBody>
                    <a:bodyPr/>
                    <a:lstStyle/>
                    <a:p>
                      <a:pPr marL="0" indent="127000" algn="l" defTabSz="1219200" rtl="0" eaLnBrk="1" latinLnBrk="0" hangingPunct="1">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shift()</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删除数组的第一个元素，会修改原数组，若是空数组则返回</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undefined</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，否则返回值为删除的元素</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679156">
                <a:tc>
                  <a:txBody>
                    <a:bodyPr/>
                    <a:lstStyle/>
                    <a:p>
                      <a:pPr marL="0" indent="127000" algn="l" defTabSz="1219200" rtl="0" eaLnBrk="1" latinLnBrk="0" hangingPunct="1">
                        <a:spcAft>
                          <a:spcPts val="0"/>
                        </a:spcAft>
                      </a:pP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splice(start[, </a:t>
                      </a:r>
                      <a:r>
                        <a:rPr lang="en-US" sz="18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deleteCount</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item1][, …])</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在指定索引处删除或添加数组元素，会修改原数组，返回值是一个由被删除的元素组成的新元素</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558702" y="1027588"/>
            <a:ext cx="7997540" cy="553998"/>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a:t>
            </a:r>
            <a:r>
              <a:rPr lang="zh-CN" altLang="zh-CN" sz="2000" dirty="0">
                <a:solidFill>
                  <a:srgbClr val="1369B2"/>
                </a:solidFill>
                <a:latin typeface="微软雅黑" panose="020B0503020204020204" pitchFamily="34" charset="-122"/>
                <a:ea typeface="微软雅黑" panose="020B0503020204020204" pitchFamily="34" charset="-122"/>
                <a:cs typeface="+mn-ea"/>
              </a:rPr>
              <a:t>添加或删除数组元素的方法的</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使用</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添加或删除数组元素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702718" y="1845618"/>
            <a:ext cx="9149681" cy="4247317"/>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push()</a:t>
            </a:r>
            <a:r>
              <a:rPr lang="zh-CN" altLang="zh-CN" sz="2000" dirty="0">
                <a:solidFill>
                  <a:srgbClr val="595959"/>
                </a:solidFill>
                <a:latin typeface="微软雅黑" panose="020B0503020204020204" pitchFamily="34" charset="-122"/>
                <a:ea typeface="微软雅黑" panose="020B0503020204020204" pitchFamily="34" charset="-122"/>
                <a:cs typeface="+mn-ea"/>
              </a:rPr>
              <a:t>方法和</a:t>
            </a:r>
            <a:r>
              <a:rPr lang="en-US" altLang="zh-CN" sz="2000" dirty="0" err="1">
                <a:solidFill>
                  <a:srgbClr val="595959"/>
                </a:solidFill>
                <a:latin typeface="微软雅黑" panose="020B0503020204020204" pitchFamily="34" charset="-122"/>
                <a:ea typeface="微软雅黑" panose="020B0503020204020204" pitchFamily="34" charset="-122"/>
                <a:cs typeface="+mn-ea"/>
              </a:rPr>
              <a:t>unshift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方法添加数组元素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arr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星期一</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星期二</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星期三</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星期四</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星期五</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arr.push</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星期六</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6</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arr.unshift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星期日</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7</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pop()</a:t>
            </a:r>
            <a:r>
              <a:rPr lang="zh-CN" altLang="zh-CN" sz="2000" dirty="0">
                <a:solidFill>
                  <a:srgbClr val="595959"/>
                </a:solidFill>
                <a:latin typeface="微软雅黑" panose="020B0503020204020204" pitchFamily="34" charset="-122"/>
                <a:ea typeface="微软雅黑" panose="020B0503020204020204" pitchFamily="34" charset="-122"/>
                <a:cs typeface="+mn-ea"/>
              </a:rPr>
              <a:t>方法和</a:t>
            </a:r>
            <a:r>
              <a:rPr lang="en-US" altLang="zh-CN" sz="2000" dirty="0">
                <a:solidFill>
                  <a:srgbClr val="595959"/>
                </a:solidFill>
                <a:latin typeface="微软雅黑" panose="020B0503020204020204" pitchFamily="34" charset="-122"/>
                <a:ea typeface="微软雅黑" panose="020B0503020204020204" pitchFamily="34" charset="-122"/>
                <a:cs typeface="+mn-ea"/>
              </a:rPr>
              <a:t>shift()</a:t>
            </a:r>
            <a:r>
              <a:rPr lang="zh-CN" altLang="zh-CN" sz="2000" dirty="0">
                <a:solidFill>
                  <a:srgbClr val="595959"/>
                </a:solidFill>
                <a:latin typeface="微软雅黑" panose="020B0503020204020204" pitchFamily="34" charset="-122"/>
                <a:ea typeface="微软雅黑" panose="020B0503020204020204" pitchFamily="34" charset="-122"/>
                <a:cs typeface="+mn-ea"/>
              </a:rPr>
              <a:t>方法删除数组元素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arr.pop</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输出结果为：星期六</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arr.shift</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输出结果为：星期日</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splice()</a:t>
            </a:r>
            <a:r>
              <a:rPr lang="zh-CN" altLang="zh-CN" sz="2000" dirty="0">
                <a:solidFill>
                  <a:srgbClr val="595959"/>
                </a:solidFill>
                <a:latin typeface="微软雅黑" panose="020B0503020204020204" pitchFamily="34" charset="-122"/>
                <a:ea typeface="微软雅黑" panose="020B0503020204020204" pitchFamily="34" charset="-122"/>
                <a:cs typeface="+mn-ea"/>
              </a:rPr>
              <a:t>方法在数组的指定索引处添加或删除数组元素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arr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老虎</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熊猫</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狮子</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大象</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02718" y="1053530"/>
            <a:ext cx="7997540" cy="499624"/>
          </a:xfrm>
          <a:prstGeom prst="rect">
            <a:avLst/>
          </a:prstGeom>
          <a:noFill/>
        </p:spPr>
        <p:txBody>
          <a:bodyPr wrap="square" rtlCol="0">
            <a:spAutoFit/>
          </a:body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&gt;&gt;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续上一页代码</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5.6.2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添加或删除数组元素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702718" y="1773610"/>
            <a:ext cx="8933657" cy="4247317"/>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从索引</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开始，删除</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个元素</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arr.splice(2, 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 ['</a:t>
            </a:r>
            <a:r>
              <a:rPr lang="zh-CN" altLang="zh-CN" sz="2000">
                <a:solidFill>
                  <a:srgbClr val="595959"/>
                </a:solidFill>
                <a:latin typeface="微软雅黑" panose="020B0503020204020204" pitchFamily="34" charset="-122"/>
                <a:ea typeface="微软雅黑" panose="020B0503020204020204" pitchFamily="34" charset="-122"/>
                <a:cs typeface="+mn-ea"/>
              </a:rPr>
              <a:t>老虎</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熊猫</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从索引</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开始，删除</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个元素，再添加狮子元素</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arr.splice(1, 1, '</a:t>
            </a:r>
            <a:r>
              <a:rPr lang="zh-CN" altLang="zh-CN" sz="2000">
                <a:solidFill>
                  <a:srgbClr val="595959"/>
                </a:solidFill>
                <a:latin typeface="微软雅黑" panose="020B0503020204020204" pitchFamily="34" charset="-122"/>
                <a:ea typeface="微软雅黑" panose="020B0503020204020204" pitchFamily="34" charset="-122"/>
                <a:cs typeface="+mn-ea"/>
              </a:rPr>
              <a:t>狮子</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 ['</a:t>
            </a:r>
            <a:r>
              <a:rPr lang="zh-CN" altLang="zh-CN" sz="2000">
                <a:solidFill>
                  <a:srgbClr val="595959"/>
                </a:solidFill>
                <a:latin typeface="微软雅黑" panose="020B0503020204020204" pitchFamily="34" charset="-122"/>
                <a:ea typeface="微软雅黑" panose="020B0503020204020204" pitchFamily="34" charset="-122"/>
                <a:cs typeface="+mn-ea"/>
              </a:rPr>
              <a:t>老虎</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狮子</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从索引</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处添加斑马和狮子元素</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arr.splice(1, 0, '</a:t>
            </a:r>
            <a:r>
              <a:rPr lang="zh-CN" altLang="zh-CN" sz="2000">
                <a:solidFill>
                  <a:srgbClr val="595959"/>
                </a:solidFill>
                <a:latin typeface="微软雅黑" panose="020B0503020204020204" pitchFamily="34" charset="-122"/>
                <a:ea typeface="微软雅黑" panose="020B0503020204020204" pitchFamily="34" charset="-122"/>
                <a:cs typeface="+mn-ea"/>
              </a:rPr>
              <a:t>斑马</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猴子</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(4) ['</a:t>
            </a:r>
            <a:r>
              <a:rPr lang="zh-CN" altLang="zh-CN" sz="2000">
                <a:solidFill>
                  <a:srgbClr val="595959"/>
                </a:solidFill>
                <a:latin typeface="微软雅黑" panose="020B0503020204020204" pitchFamily="34" charset="-122"/>
                <a:ea typeface="微软雅黑" panose="020B0503020204020204" pitchFamily="34" charset="-122"/>
                <a:cs typeface="+mn-ea"/>
              </a:rPr>
              <a:t>老虎</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斑马</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猴子</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狮子</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筛选数组元素</a:t>
            </a:r>
            <a:r>
              <a:rPr lang="zh-CN" altLang="en-US" sz="200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筛选数组元素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10630" y="1773610"/>
            <a:ext cx="9937104"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通过一个案例演示</a:t>
            </a:r>
            <a:r>
              <a:rPr lang="zh-CN" altLang="zh-CN" sz="2000" dirty="0">
                <a:solidFill>
                  <a:srgbClr val="1369B2"/>
                </a:solidFill>
                <a:latin typeface="微软雅黑" panose="020B0503020204020204" pitchFamily="34" charset="-122"/>
                <a:ea typeface="微软雅黑" panose="020B0503020204020204" pitchFamily="34" charset="-122"/>
                <a:cs typeface="+mn-ea"/>
              </a:rPr>
              <a:t>数组对象的使用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。本案例要求</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保存</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学生</a:t>
            </a:r>
            <a:r>
              <a:rPr lang="zh-CN" altLang="zh-CN" sz="2000" dirty="0">
                <a:solidFill>
                  <a:srgbClr val="595959"/>
                </a:solidFill>
                <a:latin typeface="微软雅黑" panose="020B0503020204020204" pitchFamily="34" charset="-122"/>
                <a:ea typeface="微软雅黑" panose="020B0503020204020204" pitchFamily="34" charset="-122"/>
                <a:cs typeface="+mn-ea"/>
              </a:rPr>
              <a:t>成绩的数组中，对每个成绩进行判断，然后</a:t>
            </a:r>
            <a:r>
              <a:rPr lang="zh-CN" altLang="zh-CN" sz="2000" dirty="0">
                <a:solidFill>
                  <a:srgbClr val="1369B2"/>
                </a:solidFill>
                <a:latin typeface="微软雅黑" panose="020B0503020204020204" pitchFamily="34" charset="-122"/>
                <a:ea typeface="微软雅黑" panose="020B0503020204020204" pitchFamily="34" charset="-122"/>
                <a:cs typeface="+mn-ea"/>
              </a:rPr>
              <a:t>筛选大于或等于</a:t>
            </a:r>
            <a:r>
              <a:rPr lang="en-US" altLang="zh-CN" sz="2000" dirty="0">
                <a:solidFill>
                  <a:srgbClr val="1369B2"/>
                </a:solidFill>
                <a:latin typeface="微软雅黑" panose="020B0503020204020204" pitchFamily="34" charset="-122"/>
                <a:ea typeface="微软雅黑" panose="020B0503020204020204" pitchFamily="34" charset="-122"/>
                <a:cs typeface="+mn-ea"/>
              </a:rPr>
              <a:t>90</a:t>
            </a:r>
            <a:r>
              <a:rPr lang="zh-CN" altLang="zh-CN" sz="2000" dirty="0">
                <a:solidFill>
                  <a:srgbClr val="1369B2"/>
                </a:solidFill>
                <a:latin typeface="微软雅黑" panose="020B0503020204020204" pitchFamily="34" charset="-122"/>
                <a:ea typeface="微软雅黑" panose="020B0503020204020204" pitchFamily="34" charset="-122"/>
                <a:cs typeface="+mn-ea"/>
              </a:rPr>
              <a:t>分的学生成绩</a:t>
            </a:r>
            <a:r>
              <a:rPr lang="zh-CN" altLang="zh-CN" sz="2000" dirty="0">
                <a:solidFill>
                  <a:srgbClr val="595959"/>
                </a:solidFill>
                <a:latin typeface="微软雅黑" panose="020B0503020204020204" pitchFamily="34" charset="-122"/>
                <a:ea typeface="微软雅黑" panose="020B0503020204020204" pitchFamily="34" charset="-122"/>
                <a:cs typeface="+mn-ea"/>
              </a:rPr>
              <a:t>，并将筛选出来的成绩放到一个新的数组中</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其中</a:t>
            </a:r>
            <a:r>
              <a:rPr lang="zh-CN" altLang="zh-CN" sz="2000" dirty="0">
                <a:solidFill>
                  <a:srgbClr val="595959"/>
                </a:solidFill>
                <a:latin typeface="微软雅黑" panose="020B0503020204020204" pitchFamily="34" charset="-122"/>
                <a:ea typeface="微软雅黑" panose="020B0503020204020204" pitchFamily="34" charset="-122"/>
                <a:cs typeface="+mn-ea"/>
              </a:rPr>
              <a:t>学生成绩的数组为</a:t>
            </a:r>
            <a:r>
              <a:rPr lang="en-US" altLang="zh-CN" sz="2000" dirty="0">
                <a:solidFill>
                  <a:srgbClr val="1369B2"/>
                </a:solidFill>
                <a:latin typeface="微软雅黑" panose="020B0503020204020204" pitchFamily="34" charset="-122"/>
                <a:ea typeface="微软雅黑" panose="020B0503020204020204" pitchFamily="34" charset="-122"/>
                <a:cs typeface="+mn-ea"/>
              </a:rPr>
              <a:t>[83, 92, 88, 76, 93, 90, 84, 77, 96, 90</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5.6.3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筛选数组元素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数组元素排序</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1369B2"/>
                </a:solidFill>
                <a:latin typeface="微软雅黑" panose="020B0503020204020204" pitchFamily="34" charset="-122"/>
                <a:ea typeface="微软雅黑" panose="020B0503020204020204" pitchFamily="34" charset="-122"/>
                <a:cs typeface="+mn-ea"/>
              </a:rPr>
              <a:t>灵活应用数组元素排序方法</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数组元素排序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82637" y="1146171"/>
            <a:ext cx="10297144"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实际开发中，有时候需要对数组元素进行排序。数组对象提供</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了</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数组元素排序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595959"/>
                </a:solidFill>
                <a:latin typeface="微软雅黑" panose="020B0503020204020204" pitchFamily="34" charset="-122"/>
                <a:ea typeface="微软雅黑" panose="020B0503020204020204" pitchFamily="34" charset="-122"/>
                <a:cs typeface="+mn-ea"/>
              </a:rPr>
              <a:t>方法，可以实现</a:t>
            </a:r>
            <a:r>
              <a:rPr lang="zh-CN" altLang="zh-CN" sz="2000" dirty="0">
                <a:solidFill>
                  <a:srgbClr val="1369B2"/>
                </a:solidFill>
                <a:latin typeface="微软雅黑" panose="020B0503020204020204" pitchFamily="34" charset="-122"/>
                <a:ea typeface="微软雅黑" panose="020B0503020204020204" pitchFamily="34" charset="-122"/>
                <a:cs typeface="+mn-ea"/>
              </a:rPr>
              <a:t>数组元素排序</a:t>
            </a:r>
            <a:r>
              <a:rPr lang="zh-CN" altLang="zh-CN" sz="2000" dirty="0">
                <a:solidFill>
                  <a:srgbClr val="595959"/>
                </a:solidFill>
                <a:latin typeface="微软雅黑" panose="020B0503020204020204" pitchFamily="34" charset="-122"/>
                <a:ea typeface="微软雅黑" panose="020B0503020204020204" pitchFamily="34" charset="-122"/>
                <a:cs typeface="+mn-ea"/>
              </a:rPr>
              <a:t>或者</a:t>
            </a:r>
            <a:r>
              <a:rPr lang="zh-CN" altLang="zh-CN" sz="2000" dirty="0">
                <a:solidFill>
                  <a:srgbClr val="1369B2"/>
                </a:solidFill>
                <a:latin typeface="微软雅黑" panose="020B0503020204020204" pitchFamily="34" charset="-122"/>
                <a:ea typeface="微软雅黑" panose="020B0503020204020204" pitchFamily="34" charset="-122"/>
                <a:cs typeface="+mn-ea"/>
              </a:rPr>
              <a:t>颠倒数组元素的顺序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数组元素排序</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r>
              <a:rPr lang="zh-CN" altLang="en-US" sz="2000" dirty="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数组元素排序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10" name="表格 9"/>
          <p:cNvGraphicFramePr>
            <a:graphicFrameLocks noGrp="1"/>
          </p:cNvGraphicFramePr>
          <p:nvPr/>
        </p:nvGraphicFramePr>
        <p:xfrm>
          <a:off x="1306672" y="2493690"/>
          <a:ext cx="9973109" cy="3045251"/>
        </p:xfrm>
        <a:graphic>
          <a:graphicData uri="http://schemas.openxmlformats.org/drawingml/2006/table">
            <a:tbl>
              <a:tblPr>
                <a:tableStyleId>{7DF18680-E054-41AD-8BC1-D1AEF772440D}</a:tableStyleId>
              </a:tblPr>
              <a:tblGrid>
                <a:gridCol w="3492389"/>
                <a:gridCol w="6480720"/>
              </a:tblGrid>
              <a:tr h="620861">
                <a:tc>
                  <a:txBody>
                    <a:bodyPr/>
                    <a:lstStyle/>
                    <a:p>
                      <a:pPr indent="127000" algn="ctr">
                        <a:spcAft>
                          <a:spcPts val="0"/>
                        </a:spcAft>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20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893486">
                <a:tc>
                  <a:txBody>
                    <a:bodyPr/>
                    <a:lstStyle/>
                    <a:p>
                      <a:pPr marL="0" indent="127000" algn="ctr" defTabSz="1219200" rtl="0" eaLnBrk="1" latinLnBrk="0" hangingPunct="1">
                        <a:spcAft>
                          <a:spcPts val="0"/>
                        </a:spcAft>
                      </a:pP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reverse()</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颠倒数组中元素</a:t>
                      </a:r>
                      <a:r>
                        <a:rPr 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a:t>
                      </a:r>
                      <a:r>
                        <a:rPr lang="zh-CN" altLang="en-US"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顺序</a:t>
                      </a:r>
                      <a:r>
                        <a:rPr 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该方法会改变原数组，返回新数组</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509990">
                <a:tc>
                  <a:txBody>
                    <a:bodyPr/>
                    <a:lstStyle/>
                    <a:p>
                      <a:pPr marL="0" indent="127000" algn="ctr" defTabSz="1219200" rtl="0" eaLnBrk="1" latinLnBrk="0" hangingPunct="1">
                        <a:spcAft>
                          <a:spcPts val="0"/>
                        </a:spcAft>
                      </a:pP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sort([compareFunction])</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对数组的元素进行排序，返回新数组。</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compareFunction</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为可选参数，它是一个用于指定按某种顺序排列元素的函数</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061643"/>
            <a:ext cx="6768752" cy="3096344"/>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871070" y="2179083"/>
            <a:ext cx="6192688" cy="2862322"/>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当</a:t>
            </a:r>
            <a:r>
              <a:rPr lang="en-US" altLang="zh-CN" sz="2000">
                <a:solidFill>
                  <a:srgbClr val="1369B2"/>
                </a:solidFill>
                <a:latin typeface="微软雅黑" panose="020B0503020204020204" pitchFamily="34" charset="-122"/>
                <a:ea typeface="微软雅黑" panose="020B0503020204020204" pitchFamily="34" charset="-122"/>
                <a:cs typeface="+mn-ea"/>
              </a:rPr>
              <a:t>sort()</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没有传入参数时，会先将元素转换为</a:t>
            </a:r>
            <a:r>
              <a:rPr lang="zh-CN" altLang="zh-CN" sz="2000">
                <a:solidFill>
                  <a:srgbClr val="1369B2"/>
                </a:solidFill>
                <a:latin typeface="微软雅黑" panose="020B0503020204020204" pitchFamily="34" charset="-122"/>
                <a:ea typeface="微软雅黑" panose="020B0503020204020204" pitchFamily="34" charset="-122"/>
                <a:cs typeface="+mn-ea"/>
              </a:rPr>
              <a:t>字符串</a:t>
            </a:r>
            <a:r>
              <a:rPr lang="zh-CN" altLang="zh-CN" sz="2000">
                <a:solidFill>
                  <a:srgbClr val="595959"/>
                </a:solidFill>
                <a:latin typeface="微软雅黑" panose="020B0503020204020204" pitchFamily="34" charset="-122"/>
                <a:ea typeface="微软雅黑" panose="020B0503020204020204" pitchFamily="34" charset="-122"/>
                <a:cs typeface="+mn-ea"/>
              </a:rPr>
              <a:t>，然后根据字符的</a:t>
            </a:r>
            <a:r>
              <a:rPr lang="en-US" altLang="zh-CN" sz="2000">
                <a:solidFill>
                  <a:srgbClr val="1369B2"/>
                </a:solidFill>
                <a:latin typeface="微软雅黑" panose="020B0503020204020204" pitchFamily="34" charset="-122"/>
                <a:ea typeface="微软雅黑" panose="020B0503020204020204" pitchFamily="34" charset="-122"/>
                <a:cs typeface="+mn-ea"/>
              </a:rPr>
              <a:t>Unicode</a:t>
            </a:r>
            <a:r>
              <a:rPr lang="zh-CN" altLang="zh-CN" sz="2000">
                <a:solidFill>
                  <a:srgbClr val="595959"/>
                </a:solidFill>
                <a:latin typeface="微软雅黑" panose="020B0503020204020204" pitchFamily="34" charset="-122"/>
                <a:ea typeface="微软雅黑" panose="020B0503020204020204" pitchFamily="34" charset="-122"/>
                <a:cs typeface="+mn-ea"/>
              </a:rPr>
              <a:t>代码点进行排序。如果让元素按某种顺序进行排序，可以在</a:t>
            </a:r>
            <a:r>
              <a:rPr lang="en-US" altLang="zh-CN" sz="2000">
                <a:solidFill>
                  <a:srgbClr val="595959"/>
                </a:solidFill>
                <a:latin typeface="微软雅黑" panose="020B0503020204020204" pitchFamily="34" charset="-122"/>
                <a:ea typeface="微软雅黑" panose="020B0503020204020204" pitchFamily="34" charset="-122"/>
                <a:cs typeface="+mn-ea"/>
              </a:rPr>
              <a:t>sort()</a:t>
            </a:r>
            <a:r>
              <a:rPr lang="zh-CN" altLang="zh-CN" sz="2000">
                <a:solidFill>
                  <a:srgbClr val="595959"/>
                </a:solidFill>
                <a:latin typeface="微软雅黑" panose="020B0503020204020204" pitchFamily="34" charset="-122"/>
                <a:ea typeface="微软雅黑" panose="020B0503020204020204" pitchFamily="34" charset="-122"/>
                <a:cs typeface="+mn-ea"/>
              </a:rPr>
              <a:t>方法中传入</a:t>
            </a:r>
            <a:r>
              <a:rPr lang="en-US" altLang="zh-CN" sz="2000">
                <a:solidFill>
                  <a:srgbClr val="1369B2"/>
                </a:solidFill>
                <a:latin typeface="微软雅黑" panose="020B0503020204020204" pitchFamily="34" charset="-122"/>
                <a:ea typeface="微软雅黑" panose="020B0503020204020204" pitchFamily="34" charset="-122"/>
                <a:cs typeface="+mn-ea"/>
              </a:rPr>
              <a:t>compareFunction</a:t>
            </a:r>
            <a:r>
              <a:rPr lang="zh-CN" altLang="zh-CN" sz="2000">
                <a:solidFill>
                  <a:srgbClr val="595959"/>
                </a:solidFill>
                <a:latin typeface="微软雅黑" panose="020B0503020204020204" pitchFamily="34" charset="-122"/>
                <a:ea typeface="微软雅黑" panose="020B0503020204020204" pitchFamily="34" charset="-122"/>
                <a:cs typeface="+mn-ea"/>
              </a:rPr>
              <a:t>参数，该参数是一个函数，会被</a:t>
            </a:r>
            <a:r>
              <a:rPr lang="en-US" altLang="zh-CN" sz="2000">
                <a:solidFill>
                  <a:srgbClr val="595959"/>
                </a:solidFill>
                <a:latin typeface="微软雅黑" panose="020B0503020204020204" pitchFamily="34" charset="-122"/>
                <a:ea typeface="微软雅黑" panose="020B0503020204020204" pitchFamily="34" charset="-122"/>
                <a:cs typeface="+mn-ea"/>
              </a:rPr>
              <a:t>sort()</a:t>
            </a:r>
            <a:r>
              <a:rPr lang="zh-CN" altLang="zh-CN" sz="2000">
                <a:solidFill>
                  <a:srgbClr val="595959"/>
                </a:solidFill>
                <a:latin typeface="微软雅黑" panose="020B0503020204020204" pitchFamily="34" charset="-122"/>
                <a:ea typeface="微软雅黑" panose="020B0503020204020204" pitchFamily="34" charset="-122"/>
                <a:cs typeface="+mn-ea"/>
              </a:rPr>
              <a:t>方法</a:t>
            </a:r>
            <a:r>
              <a:rPr lang="zh-CN" altLang="zh-CN" sz="2000">
                <a:solidFill>
                  <a:srgbClr val="1369B2"/>
                </a:solidFill>
                <a:latin typeface="微软雅黑" panose="020B0503020204020204" pitchFamily="34" charset="-122"/>
                <a:ea typeface="微软雅黑" panose="020B0503020204020204" pitchFamily="34" charset="-122"/>
                <a:cs typeface="+mn-ea"/>
              </a:rPr>
              <a:t>多次调用</a:t>
            </a:r>
            <a:r>
              <a:rPr lang="zh-CN" altLang="zh-CN" sz="2000">
                <a:solidFill>
                  <a:srgbClr val="595959"/>
                </a:solidFill>
                <a:latin typeface="微软雅黑" panose="020B0503020204020204" pitchFamily="34" charset="-122"/>
                <a:ea typeface="微软雅黑" panose="020B0503020204020204" pitchFamily="34" charset="-122"/>
                <a:cs typeface="+mn-ea"/>
              </a:rPr>
              <a:t>，每次调用时选取数组中的两个元素进行排序，直到</a:t>
            </a:r>
            <a:r>
              <a:rPr lang="zh-CN" altLang="zh-CN" sz="2000" smtClean="0">
                <a:solidFill>
                  <a:srgbClr val="595959"/>
                </a:solidFill>
                <a:latin typeface="微软雅黑" panose="020B0503020204020204" pitchFamily="34" charset="-122"/>
                <a:ea typeface="微软雅黑" panose="020B0503020204020204" pitchFamily="34" charset="-122"/>
                <a:cs typeface="+mn-ea"/>
              </a:rPr>
              <a:t>整个</a:t>
            </a:r>
            <a:r>
              <a:rPr lang="zh-CN" altLang="en-US" sz="2000" smtClean="0">
                <a:solidFill>
                  <a:srgbClr val="595959"/>
                </a:solidFill>
                <a:latin typeface="微软雅黑" panose="020B0503020204020204" pitchFamily="34" charset="-122"/>
                <a:ea typeface="微软雅黑" panose="020B0503020204020204" pitchFamily="34" charset="-122"/>
                <a:cs typeface="+mn-ea"/>
              </a:rPr>
              <a:t>数组元素排序</a:t>
            </a:r>
            <a:r>
              <a:rPr lang="zh-CN" altLang="zh-CN" sz="2000" smtClean="0">
                <a:solidFill>
                  <a:srgbClr val="595959"/>
                </a:solidFill>
                <a:latin typeface="微软雅黑" panose="020B0503020204020204" pitchFamily="34" charset="-122"/>
                <a:ea typeface="微软雅黑" panose="020B0503020204020204" pitchFamily="34" charset="-122"/>
                <a:cs typeface="+mn-ea"/>
              </a:rPr>
              <a:t>完成</a:t>
            </a:r>
            <a:r>
              <a:rPr lang="zh-CN"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数组元素排序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54646" y="1101929"/>
            <a:ext cx="9210285"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通过</a:t>
            </a:r>
            <a:r>
              <a:rPr lang="en-US" altLang="zh-CN" sz="2000">
                <a:solidFill>
                  <a:srgbClr val="1369B2"/>
                </a:solidFill>
                <a:latin typeface="微软雅黑" panose="020B0503020204020204" pitchFamily="34" charset="-122"/>
                <a:ea typeface="微软雅黑" panose="020B0503020204020204" pitchFamily="34" charset="-122"/>
                <a:cs typeface="+mn-ea"/>
              </a:rPr>
              <a:t>compareFunction</a:t>
            </a:r>
            <a:r>
              <a:rPr lang="zh-CN" altLang="zh-CN" sz="2000">
                <a:solidFill>
                  <a:srgbClr val="1369B2"/>
                </a:solidFill>
                <a:latin typeface="微软雅黑" panose="020B0503020204020204" pitchFamily="34" charset="-122"/>
                <a:ea typeface="微软雅黑" panose="020B0503020204020204" pitchFamily="34" charset="-122"/>
                <a:cs typeface="+mn-ea"/>
              </a:rPr>
              <a:t>参数传入函数</a:t>
            </a:r>
            <a:r>
              <a:rPr lang="zh-CN" altLang="zh-CN" sz="2000">
                <a:solidFill>
                  <a:srgbClr val="595959"/>
                </a:solidFill>
                <a:latin typeface="微软雅黑" panose="020B0503020204020204" pitchFamily="34" charset="-122"/>
                <a:ea typeface="微软雅黑" panose="020B0503020204020204" pitchFamily="34" charset="-122"/>
                <a:cs typeface="+mn-ea"/>
              </a:rPr>
              <a:t>的语法格式如下</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3443633" y="1925690"/>
            <a:ext cx="5048969"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function </a:t>
            </a:r>
            <a:r>
              <a:rPr lang="en-US"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595959"/>
                </a:solidFill>
                <a:latin typeface="微软雅黑" panose="020B0503020204020204" pitchFamily="34" charset="-122"/>
                <a:ea typeface="微软雅黑" panose="020B0503020204020204" pitchFamily="34" charset="-122"/>
                <a:cs typeface="+mn-ea"/>
              </a:rPr>
              <a:t>参数</a:t>
            </a:r>
            <a:r>
              <a:rPr lang="en-US" altLang="zh-CN" sz="2000">
                <a:solidFill>
                  <a:srgbClr val="595959"/>
                </a:solidFill>
                <a:latin typeface="微软雅黑" panose="020B0503020204020204" pitchFamily="34" charset="-122"/>
                <a:ea typeface="微软雅黑" panose="020B0503020204020204" pitchFamily="34" charset="-122"/>
                <a:cs typeface="+mn-ea"/>
              </a:rPr>
              <a:t>1, </a:t>
            </a:r>
            <a:r>
              <a:rPr lang="zh-CN" altLang="zh-CN" sz="2000">
                <a:solidFill>
                  <a:srgbClr val="595959"/>
                </a:solidFill>
                <a:latin typeface="微软雅黑" panose="020B0503020204020204" pitchFamily="34" charset="-122"/>
                <a:ea typeface="微软雅黑" panose="020B0503020204020204" pitchFamily="34" charset="-122"/>
                <a:cs typeface="+mn-ea"/>
              </a:rPr>
              <a:t>参数</a:t>
            </a:r>
            <a:r>
              <a:rPr lang="en-US" altLang="zh-CN" sz="2000">
                <a:solidFill>
                  <a:srgbClr val="595959"/>
                </a:solidFill>
                <a:latin typeface="微软雅黑" panose="020B0503020204020204" pitchFamily="34" charset="-122"/>
                <a:ea typeface="微软雅黑" panose="020B0503020204020204" pitchFamily="34" charset="-122"/>
                <a:cs typeface="+mn-ea"/>
              </a:rPr>
              <a:t>2) {</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return </a:t>
            </a:r>
            <a:r>
              <a:rPr lang="zh-CN" altLang="zh-CN" sz="2000">
                <a:solidFill>
                  <a:srgbClr val="595959"/>
                </a:solidFill>
                <a:latin typeface="微软雅黑" panose="020B0503020204020204" pitchFamily="34" charset="-122"/>
                <a:ea typeface="微软雅黑" panose="020B0503020204020204" pitchFamily="34" charset="-122"/>
                <a:cs typeface="+mn-ea"/>
              </a:rPr>
              <a:t>值</a:t>
            </a: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数组元素排序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4" name="矩形 3"/>
          <p:cNvSpPr/>
          <p:nvPr/>
        </p:nvSpPr>
        <p:spPr>
          <a:xfrm>
            <a:off x="1054646" y="3621425"/>
            <a:ext cx="10009112" cy="2400657"/>
          </a:xfrm>
          <a:prstGeom prst="rect">
            <a:avLst/>
          </a:prstGeom>
        </p:spPr>
        <p:txBody>
          <a:bodyPr wrap="square">
            <a:spAutoFit/>
          </a:bodyPr>
          <a:lstStyle/>
          <a:p>
            <a:pPr algn="just">
              <a:lnSpc>
                <a:spcPct val="150000"/>
              </a:lnSpc>
              <a:spcAft>
                <a:spcPts val="0"/>
              </a:spcAft>
            </a:pPr>
            <a:r>
              <a:rPr lang="zh-CN" altLang="zh-CN" sz="2000" dirty="0">
                <a:solidFill>
                  <a:srgbClr val="595959"/>
                </a:solidFill>
                <a:latin typeface="微软雅黑" panose="020B0503020204020204" pitchFamily="34" charset="-122"/>
                <a:ea typeface="微软雅黑" panose="020B0503020204020204" pitchFamily="34" charset="-122"/>
                <a:cs typeface="+mn-ea"/>
              </a:rPr>
              <a:t>在上述语法格式中，</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参数</a:t>
            </a:r>
            <a:r>
              <a:rPr lang="en-US" altLang="zh-CN" sz="2000" dirty="0">
                <a:solidFill>
                  <a:srgbClr val="1369B2"/>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由</a:t>
            </a:r>
            <a:r>
              <a:rPr lang="en-US" altLang="zh-CN" sz="2000" dirty="0">
                <a:solidFill>
                  <a:srgbClr val="1369B2"/>
                </a:solidFill>
                <a:latin typeface="微软雅黑" panose="020B0503020204020204" pitchFamily="34" charset="-122"/>
                <a:ea typeface="微软雅黑" panose="020B0503020204020204" pitchFamily="34" charset="-122"/>
                <a:cs typeface="+mn-ea"/>
              </a:rPr>
              <a:t>sort()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传入，表示数组中</a:t>
            </a:r>
            <a:r>
              <a:rPr lang="zh-CN" altLang="zh-CN" sz="2000" dirty="0">
                <a:solidFill>
                  <a:srgbClr val="1369B2"/>
                </a:solidFill>
                <a:latin typeface="微软雅黑" panose="020B0503020204020204" pitchFamily="34" charset="-122"/>
                <a:ea typeface="微软雅黑" panose="020B0503020204020204" pitchFamily="34" charset="-122"/>
                <a:cs typeface="+mn-ea"/>
              </a:rPr>
              <a:t>待排序的两个元素</a:t>
            </a:r>
            <a:r>
              <a:rPr lang="zh-CN" altLang="zh-CN" sz="2000" dirty="0">
                <a:solidFill>
                  <a:srgbClr val="595959"/>
                </a:solidFill>
                <a:latin typeface="微软雅黑" panose="020B0503020204020204" pitchFamily="34" charset="-122"/>
                <a:ea typeface="微软雅黑" panose="020B0503020204020204" pitchFamily="34" charset="-122"/>
                <a:cs typeface="+mn-ea"/>
              </a:rPr>
              <a:t>，函数的</a:t>
            </a:r>
            <a:r>
              <a:rPr lang="zh-CN" altLang="zh-CN" sz="2000" dirty="0">
                <a:solidFill>
                  <a:srgbClr val="1369B2"/>
                </a:solidFill>
                <a:latin typeface="微软雅黑" panose="020B0503020204020204" pitchFamily="34" charset="-122"/>
                <a:ea typeface="微软雅黑" panose="020B0503020204020204" pitchFamily="34" charset="-122"/>
                <a:cs typeface="+mn-ea"/>
              </a:rPr>
              <a:t>返回值</a:t>
            </a:r>
            <a:r>
              <a:rPr lang="zh-CN" altLang="zh-CN" sz="2000" dirty="0">
                <a:solidFill>
                  <a:srgbClr val="595959"/>
                </a:solidFill>
                <a:latin typeface="微软雅黑" panose="020B0503020204020204" pitchFamily="34" charset="-122"/>
                <a:ea typeface="微软雅黑" panose="020B0503020204020204" pitchFamily="34" charset="-122"/>
                <a:cs typeface="+mn-ea"/>
              </a:rPr>
              <a:t>决定了两个元素的排列顺序，具体规则如下。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返回值是</a:t>
            </a:r>
            <a:r>
              <a:rPr lang="zh-CN" altLang="zh-CN" sz="2000" dirty="0">
                <a:solidFill>
                  <a:srgbClr val="1369B2"/>
                </a:solidFill>
                <a:latin typeface="微软雅黑" panose="020B0503020204020204" pitchFamily="34" charset="-122"/>
                <a:ea typeface="微软雅黑" panose="020B0503020204020204" pitchFamily="34" charset="-122"/>
                <a:cs typeface="+mn-ea"/>
              </a:rPr>
              <a:t>正数</a:t>
            </a:r>
            <a:r>
              <a:rPr lang="zh-CN" altLang="zh-CN" sz="2000" dirty="0">
                <a:solidFill>
                  <a:srgbClr val="595959"/>
                </a:solidFill>
                <a:latin typeface="微软雅黑" panose="020B0503020204020204" pitchFamily="34" charset="-122"/>
                <a:ea typeface="微软雅黑" panose="020B0503020204020204" pitchFamily="34" charset="-122"/>
                <a:cs typeface="+mn-ea"/>
              </a:rPr>
              <a:t>，第</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个元素会被排列到第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个元素之前。</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返回值是</a:t>
            </a:r>
            <a:r>
              <a:rPr lang="en-US" altLang="zh-CN" sz="2000" dirty="0">
                <a:solidFill>
                  <a:srgbClr val="1369B2"/>
                </a:solidFill>
                <a:latin typeface="微软雅黑" panose="020B0503020204020204" pitchFamily="34" charset="-122"/>
                <a:ea typeface="微软雅黑" panose="020B0503020204020204" pitchFamily="34" charset="-122"/>
                <a:cs typeface="+mn-ea"/>
              </a:rPr>
              <a:t>0</a:t>
            </a:r>
            <a:r>
              <a:rPr lang="zh-CN" altLang="zh-CN" sz="2000" dirty="0">
                <a:solidFill>
                  <a:srgbClr val="595959"/>
                </a:solidFill>
                <a:latin typeface="微软雅黑" panose="020B0503020204020204" pitchFamily="34" charset="-122"/>
                <a:ea typeface="微软雅黑" panose="020B0503020204020204" pitchFamily="34" charset="-122"/>
                <a:cs typeface="+mn-ea"/>
              </a:rPr>
              <a:t>，两个元素的顺序不变。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marL="342900" lvl="0" indent="-342900" algn="just">
              <a:lnSpc>
                <a:spcPct val="150000"/>
              </a:lnSpc>
              <a:spcAft>
                <a:spcPts val="0"/>
              </a:spcAft>
              <a:buFont typeface="Wingdings" panose="05000000000000000000" pitchFamily="2" charset="2"/>
              <a:buChar char=""/>
            </a:pPr>
            <a:r>
              <a:rPr lang="zh-CN" altLang="zh-CN" sz="2000" dirty="0">
                <a:solidFill>
                  <a:srgbClr val="595959"/>
                </a:solidFill>
                <a:latin typeface="微软雅黑" panose="020B0503020204020204" pitchFamily="34" charset="-122"/>
                <a:ea typeface="微软雅黑" panose="020B0503020204020204" pitchFamily="34" charset="-122"/>
                <a:cs typeface="+mn-ea"/>
              </a:rPr>
              <a:t>返回值是</a:t>
            </a:r>
            <a:r>
              <a:rPr lang="zh-CN" altLang="zh-CN" sz="2000" dirty="0">
                <a:solidFill>
                  <a:srgbClr val="1369B2"/>
                </a:solidFill>
                <a:latin typeface="微软雅黑" panose="020B0503020204020204" pitchFamily="34" charset="-122"/>
                <a:ea typeface="微软雅黑" panose="020B0503020204020204" pitchFamily="34" charset="-122"/>
                <a:cs typeface="+mn-ea"/>
              </a:rPr>
              <a:t>负数</a:t>
            </a:r>
            <a:r>
              <a:rPr lang="zh-CN" altLang="zh-CN" sz="2000" dirty="0">
                <a:solidFill>
                  <a:srgbClr val="595959"/>
                </a:solidFill>
                <a:latin typeface="微软雅黑" panose="020B0503020204020204" pitchFamily="34" charset="-122"/>
                <a:ea typeface="微软雅黑" panose="020B0503020204020204" pitchFamily="34" charset="-122"/>
                <a:cs typeface="+mn-ea"/>
              </a:rPr>
              <a:t>，第</a:t>
            </a:r>
            <a:r>
              <a:rPr lang="en-US" altLang="zh-CN"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595959"/>
                </a:solidFill>
                <a:latin typeface="微软雅黑" panose="020B0503020204020204" pitchFamily="34" charset="-122"/>
                <a:ea typeface="微软雅黑" panose="020B0503020204020204" pitchFamily="34" charset="-122"/>
                <a:cs typeface="+mn-ea"/>
              </a:rPr>
              <a:t>个元素会被排列到第</a:t>
            </a:r>
            <a:r>
              <a:rPr lang="en-US" altLang="zh-CN" sz="2000" dirty="0">
                <a:solidFill>
                  <a:srgbClr val="595959"/>
                </a:solidFill>
                <a:latin typeface="微软雅黑" panose="020B0503020204020204" pitchFamily="34" charset="-122"/>
                <a:ea typeface="微软雅黑" panose="020B0503020204020204" pitchFamily="34" charset="-122"/>
                <a:cs typeface="+mn-ea"/>
              </a:rPr>
              <a:t>2</a:t>
            </a:r>
            <a:r>
              <a:rPr lang="zh-CN" altLang="zh-CN" sz="2000" dirty="0">
                <a:solidFill>
                  <a:srgbClr val="595959"/>
                </a:solidFill>
                <a:latin typeface="微软雅黑" panose="020B0503020204020204" pitchFamily="34" charset="-122"/>
                <a:ea typeface="微软雅黑" panose="020B0503020204020204" pitchFamily="34" charset="-122"/>
                <a:cs typeface="+mn-ea"/>
              </a:rPr>
              <a:t>个元素之前。</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1603115" y="946973"/>
            <a:ext cx="8280920" cy="538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18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1800" dirty="0">
                <a:solidFill>
                  <a:srgbClr val="595959"/>
                </a:solidFill>
                <a:latin typeface="微软雅黑" panose="020B0503020204020204" pitchFamily="34" charset="-122"/>
                <a:ea typeface="微软雅黑" panose="020B0503020204020204" pitchFamily="34" charset="-122"/>
                <a:cs typeface="+mn-ea"/>
              </a:rPr>
              <a:t>通过代码</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演示</a:t>
            </a:r>
            <a:r>
              <a:rPr lang="zh-CN" altLang="en-US" sz="1800" dirty="0" smtClean="0">
                <a:solidFill>
                  <a:srgbClr val="1369B2"/>
                </a:solidFill>
                <a:latin typeface="微软雅黑" panose="020B0503020204020204" pitchFamily="34" charset="-122"/>
                <a:ea typeface="微软雅黑" panose="020B0503020204020204" pitchFamily="34" charset="-122"/>
                <a:cs typeface="+mn-ea"/>
              </a:rPr>
              <a:t>数组元素排序</a:t>
            </a:r>
            <a:r>
              <a:rPr lang="zh-CN" altLang="zh-CN" sz="1800" dirty="0" smtClean="0">
                <a:solidFill>
                  <a:srgbClr val="1369B2"/>
                </a:solidFill>
                <a:latin typeface="微软雅黑" panose="020B0503020204020204" pitchFamily="34" charset="-122"/>
                <a:ea typeface="微软雅黑" panose="020B0503020204020204" pitchFamily="34" charset="-122"/>
                <a:cs typeface="+mn-ea"/>
              </a:rPr>
              <a:t>方法</a:t>
            </a:r>
            <a:r>
              <a:rPr lang="zh-CN" altLang="zh-CN" sz="1800" dirty="0">
                <a:solidFill>
                  <a:srgbClr val="1369B2"/>
                </a:solidFill>
                <a:latin typeface="微软雅黑" panose="020B0503020204020204" pitchFamily="34" charset="-122"/>
                <a:ea typeface="微软雅黑" panose="020B0503020204020204" pitchFamily="34" charset="-122"/>
                <a:cs typeface="+mn-ea"/>
              </a:rPr>
              <a:t>的</a:t>
            </a:r>
            <a:r>
              <a:rPr lang="zh-CN" altLang="zh-CN" sz="1800" dirty="0" smtClean="0">
                <a:solidFill>
                  <a:srgbClr val="1369B2"/>
                </a:solidFill>
                <a:latin typeface="微软雅黑" panose="020B0503020204020204" pitchFamily="34" charset="-122"/>
                <a:ea typeface="微软雅黑" panose="020B0503020204020204" pitchFamily="34" charset="-122"/>
                <a:cs typeface="+mn-ea"/>
              </a:rPr>
              <a:t>使用</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数组元素排序</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1846735" y="1519637"/>
            <a:ext cx="7992888" cy="4862485"/>
          </a:xfrm>
          <a:prstGeom prst="rect">
            <a:avLst/>
          </a:prstGeom>
          <a:solidFill>
            <a:srgbClr val="F2F2F2"/>
          </a:solidFill>
        </p:spPr>
        <p:txBody>
          <a:bodyPr wrap="square" rtlCol="0">
            <a:spAutoFit/>
          </a:bodyPr>
          <a:lstStyle/>
          <a:p>
            <a:pPr lvl="1">
              <a:lnSpc>
                <a:spcPct val="130000"/>
              </a:lnSpc>
            </a:pPr>
            <a:r>
              <a:rPr lang="en-US" altLang="zh-CN" sz="16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反转数组</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err="1">
                <a:solidFill>
                  <a:srgbClr val="595959"/>
                </a:solidFill>
                <a:latin typeface="微软雅黑" panose="020B0503020204020204" pitchFamily="34" charset="-122"/>
                <a:ea typeface="微软雅黑" panose="020B0503020204020204" pitchFamily="34" charset="-122"/>
                <a:cs typeface="+mn-ea"/>
              </a:rPr>
              <a:t>arr</a:t>
            </a:r>
            <a:r>
              <a:rPr lang="en-US" altLang="zh-CN" sz="1600" dirty="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苹果</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香蕉</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芒果</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雪梨</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err="1">
                <a:solidFill>
                  <a:srgbClr val="595959"/>
                </a:solidFill>
                <a:latin typeface="微软雅黑" panose="020B0503020204020204" pitchFamily="34" charset="-122"/>
                <a:ea typeface="微软雅黑" panose="020B0503020204020204" pitchFamily="34" charset="-122"/>
                <a:cs typeface="+mn-ea"/>
              </a:rPr>
              <a:t>arr.reverse</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console.log(</a:t>
            </a:r>
            <a:r>
              <a:rPr lang="en-US" altLang="zh-CN" sz="1600" dirty="0" err="1">
                <a:solidFill>
                  <a:srgbClr val="595959"/>
                </a:solidFill>
                <a:latin typeface="微软雅黑" panose="020B0503020204020204" pitchFamily="34" charset="-122"/>
                <a:ea typeface="微软雅黑" panose="020B0503020204020204" pitchFamily="34" charset="-122"/>
                <a:cs typeface="+mn-ea"/>
              </a:rPr>
              <a:t>arr</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1600" dirty="0">
                <a:solidFill>
                  <a:srgbClr val="595959"/>
                </a:solidFill>
                <a:latin typeface="微软雅黑" panose="020B0503020204020204" pitchFamily="34" charset="-122"/>
                <a:ea typeface="微软雅黑" panose="020B0503020204020204" pitchFamily="34" charset="-122"/>
                <a:cs typeface="+mn-ea"/>
              </a:rPr>
              <a:t>(4) ['</a:t>
            </a:r>
            <a:r>
              <a:rPr lang="zh-CN" altLang="zh-CN" sz="1600" dirty="0">
                <a:solidFill>
                  <a:srgbClr val="595959"/>
                </a:solidFill>
                <a:latin typeface="微软雅黑" panose="020B0503020204020204" pitchFamily="34" charset="-122"/>
                <a:ea typeface="微软雅黑" panose="020B0503020204020204" pitchFamily="34" charset="-122"/>
                <a:cs typeface="+mn-ea"/>
              </a:rPr>
              <a:t>雪梨</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芒果</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香蕉</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苹果</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升序排序</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err="1">
                <a:solidFill>
                  <a:srgbClr val="595959"/>
                </a:solidFill>
                <a:latin typeface="微软雅黑" panose="020B0503020204020204" pitchFamily="34" charset="-122"/>
                <a:ea typeface="微软雅黑" panose="020B0503020204020204" pitchFamily="34" charset="-122"/>
                <a:cs typeface="+mn-ea"/>
              </a:rPr>
              <a:t>var</a:t>
            </a:r>
            <a:r>
              <a:rPr lang="en-US" altLang="zh-CN" sz="1600" dirty="0">
                <a:solidFill>
                  <a:srgbClr val="595959"/>
                </a:solidFill>
                <a:latin typeface="微软雅黑" panose="020B0503020204020204" pitchFamily="34" charset="-122"/>
                <a:ea typeface="微软雅黑" panose="020B0503020204020204" pitchFamily="34" charset="-122"/>
                <a:cs typeface="+mn-ea"/>
              </a:rPr>
              <a:t> arr01 =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[23</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3</a:t>
            </a: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43</a:t>
            </a:r>
            <a:r>
              <a:rPr lang="en-US" altLang="zh-CN" sz="1600" dirty="0">
                <a:solidFill>
                  <a:srgbClr val="595959"/>
                </a:solidFill>
                <a:latin typeface="微软雅黑" panose="020B0503020204020204" pitchFamily="34" charset="-122"/>
                <a:ea typeface="微软雅黑" panose="020B0503020204020204" pitchFamily="34" charset="-122"/>
                <a:cs typeface="+mn-ea"/>
              </a:rPr>
              <a:t>, 33,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13</a:t>
            </a: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arr01.sort(function (a, b)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return a - b;</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console.log(arr01);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1600" dirty="0">
                <a:solidFill>
                  <a:srgbClr val="595959"/>
                </a:solidFill>
                <a:latin typeface="微软雅黑" panose="020B0503020204020204" pitchFamily="34" charset="-122"/>
                <a:ea typeface="微软雅黑" panose="020B0503020204020204" pitchFamily="34" charset="-122"/>
                <a:cs typeface="+mn-ea"/>
              </a:rPr>
              <a:t>(5) [3, 13, 23, 33, 43]</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a:t>
            </a:r>
            <a:r>
              <a:rPr lang="zh-CN" altLang="zh-CN" sz="1600" dirty="0">
                <a:solidFill>
                  <a:srgbClr val="595959"/>
                </a:solidFill>
                <a:latin typeface="微软雅黑" panose="020B0503020204020204" pitchFamily="34" charset="-122"/>
                <a:ea typeface="微软雅黑" panose="020B0503020204020204" pitchFamily="34" charset="-122"/>
                <a:cs typeface="+mn-ea"/>
              </a:rPr>
              <a:t>降序排序</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arr01.sort(function (a, b) {</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  return b - a;</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a:p>
            <a:pPr lvl="1">
              <a:lnSpc>
                <a:spcPct val="130000"/>
              </a:lnSpc>
            </a:pPr>
            <a:r>
              <a:rPr lang="en-US" altLang="zh-CN" sz="1600" dirty="0">
                <a:solidFill>
                  <a:srgbClr val="595959"/>
                </a:solidFill>
                <a:latin typeface="微软雅黑" panose="020B0503020204020204" pitchFamily="34" charset="-122"/>
                <a:ea typeface="微软雅黑" panose="020B0503020204020204" pitchFamily="34" charset="-122"/>
                <a:cs typeface="+mn-ea"/>
              </a:rPr>
              <a:t>console.log(arr01);    </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16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1600" dirty="0">
                <a:solidFill>
                  <a:srgbClr val="595959"/>
                </a:solidFill>
                <a:latin typeface="微软雅黑" panose="020B0503020204020204" pitchFamily="34" charset="-122"/>
                <a:ea typeface="微软雅黑" panose="020B0503020204020204" pitchFamily="34" charset="-122"/>
                <a:cs typeface="+mn-ea"/>
              </a:rPr>
              <a:t>(5) [43, 33, 23, 13, 3</a:t>
            </a:r>
            <a:r>
              <a:rPr lang="en-US" altLang="zh-CN" sz="16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16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数组元素索引</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1369B2"/>
                </a:solidFill>
                <a:latin typeface="微软雅黑" panose="020B0503020204020204" pitchFamily="34" charset="-122"/>
                <a:ea typeface="微软雅黑" panose="020B0503020204020204" pitchFamily="34" charset="-122"/>
                <a:cs typeface="+mn-ea"/>
              </a:rPr>
              <a:t>灵活应用获取数组元素索引的方法</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82638" y="1182175"/>
            <a:ext cx="105131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zh-CN" altLang="zh-CN" sz="2000">
                <a:solidFill>
                  <a:srgbClr val="595959"/>
                </a:solidFill>
                <a:latin typeface="微软雅黑" panose="020B0503020204020204" pitchFamily="34" charset="-122"/>
                <a:ea typeface="微软雅黑" panose="020B0503020204020204" pitchFamily="34" charset="-122"/>
                <a:cs typeface="+mn-ea"/>
              </a:rPr>
              <a:t>实际开发中，若要查找指定的元素在数组中的索引，可以使用数组对象提供的</a:t>
            </a:r>
            <a:r>
              <a:rPr lang="zh-CN" altLang="zh-CN" sz="2000" smtClean="0">
                <a:solidFill>
                  <a:srgbClr val="1369B2"/>
                </a:solidFill>
                <a:latin typeface="微软雅黑" panose="020B0503020204020204" pitchFamily="34" charset="-122"/>
                <a:ea typeface="微软雅黑" panose="020B0503020204020204" pitchFamily="34" charset="-122"/>
                <a:cs typeface="+mn-ea"/>
              </a:rPr>
              <a:t>获取</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数组元素索引</a:t>
            </a:r>
            <a:r>
              <a:rPr lang="zh-CN" altLang="zh-CN" sz="2000" smtClean="0">
                <a:solidFill>
                  <a:srgbClr val="1369B2"/>
                </a:solidFill>
                <a:latin typeface="微软雅黑" panose="020B0503020204020204" pitchFamily="34" charset="-122"/>
                <a:ea typeface="微软雅黑" panose="020B0503020204020204" pitchFamily="34" charset="-122"/>
                <a:cs typeface="+mn-ea"/>
              </a:rPr>
              <a:t>的</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，具体</a:t>
            </a:r>
            <a:r>
              <a:rPr lang="zh-CN" altLang="en-US" sz="200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10" name="表格 9"/>
          <p:cNvGraphicFramePr>
            <a:graphicFrameLocks noGrp="1"/>
          </p:cNvGraphicFramePr>
          <p:nvPr/>
        </p:nvGraphicFramePr>
        <p:xfrm>
          <a:off x="1378682" y="2493690"/>
          <a:ext cx="9721080" cy="2927458"/>
        </p:xfrm>
        <a:graphic>
          <a:graphicData uri="http://schemas.openxmlformats.org/drawingml/2006/table">
            <a:tbl>
              <a:tblPr>
                <a:tableStyleId>{7DF18680-E054-41AD-8BC1-D1AEF772440D}</a:tableStyleId>
              </a:tblPr>
              <a:tblGrid>
                <a:gridCol w="3362178"/>
                <a:gridCol w="6358902"/>
              </a:tblGrid>
              <a:tr h="576066">
                <a:tc>
                  <a:txBody>
                    <a:bodyPr/>
                    <a:lstStyle/>
                    <a:p>
                      <a:pPr indent="127000" algn="ctr">
                        <a:spcAft>
                          <a:spcPts val="0"/>
                        </a:spcAft>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20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175696">
                <a:tc>
                  <a:txBody>
                    <a:bodyPr/>
                    <a:lstStyle/>
                    <a:p>
                      <a:pPr marL="0" indent="127000" algn="ctr" defTabSz="1219200" rtl="0" eaLnBrk="1" latinLnBrk="0" hangingPunct="1">
                        <a:lnSpc>
                          <a:spcPct val="150000"/>
                        </a:lnSpc>
                        <a:spcAft>
                          <a:spcPts val="0"/>
                        </a:spcAft>
                      </a:pP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indexOf(searchElement[, fromIndex])</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返回指定元素在数组中第一次出现的索引，若不存在，返回</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175696">
                <a:tc>
                  <a:txBody>
                    <a:bodyPr/>
                    <a:lstStyle/>
                    <a:p>
                      <a:pPr marL="0" indent="127000" algn="ctr" defTabSz="1219200" rtl="0" eaLnBrk="1" latinLnBrk="0" hangingPunct="1">
                        <a:lnSpc>
                          <a:spcPct val="150000"/>
                        </a:lnSpc>
                        <a:spcAft>
                          <a:spcPts val="0"/>
                        </a:spcAft>
                      </a:pP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lastIndexOf(searchElement[, fromIndex])</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返回指定元素在数组中最后一次出现的索引，若不存在，返回</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82638" y="1485578"/>
            <a:ext cx="10297144"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dirty="0" err="1" smtClean="0">
                <a:solidFill>
                  <a:srgbClr val="1369B2"/>
                </a:solidFill>
                <a:latin typeface="微软雅黑" panose="020B0503020204020204" pitchFamily="34" charset="-122"/>
                <a:ea typeface="微软雅黑" panose="020B0503020204020204" pitchFamily="34" charset="-122"/>
                <a:cs typeface="+mn-ea"/>
              </a:rPr>
              <a:t>searchElement</a:t>
            </a:r>
            <a:r>
              <a:rPr lang="zh-CN" altLang="zh-CN" sz="2000" dirty="0">
                <a:solidFill>
                  <a:srgbClr val="595959"/>
                </a:solidFill>
                <a:latin typeface="微软雅黑" panose="020B0503020204020204" pitchFamily="34" charset="-122"/>
                <a:ea typeface="微软雅黑" panose="020B0503020204020204" pitchFamily="34" charset="-122"/>
                <a:cs typeface="+mn-ea"/>
              </a:rPr>
              <a:t>参数表示</a:t>
            </a:r>
            <a:r>
              <a:rPr lang="zh-CN" altLang="zh-CN" sz="2000" dirty="0">
                <a:solidFill>
                  <a:srgbClr val="1369B2"/>
                </a:solidFill>
                <a:latin typeface="微软雅黑" panose="020B0503020204020204" pitchFamily="34" charset="-122"/>
                <a:ea typeface="微软雅黑" panose="020B0503020204020204" pitchFamily="34" charset="-122"/>
                <a:cs typeface="+mn-ea"/>
              </a:rPr>
              <a:t>要查找的元素</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1369B2"/>
                </a:solidFill>
                <a:latin typeface="微软雅黑" panose="020B0503020204020204" pitchFamily="34" charset="-122"/>
                <a:ea typeface="微软雅黑" panose="020B0503020204020204" pitchFamily="34" charset="-122"/>
                <a:cs typeface="+mn-ea"/>
              </a:rPr>
              <a:t>fromIndex</a:t>
            </a:r>
            <a:r>
              <a:rPr lang="zh-CN" altLang="zh-CN" sz="2000" dirty="0">
                <a:solidFill>
                  <a:srgbClr val="595959"/>
                </a:solidFill>
                <a:latin typeface="微软雅黑" panose="020B0503020204020204" pitchFamily="34" charset="-122"/>
                <a:ea typeface="微软雅黑" panose="020B0503020204020204" pitchFamily="34" charset="-122"/>
                <a:cs typeface="+mn-ea"/>
              </a:rPr>
              <a:t>参数为</a:t>
            </a:r>
            <a:r>
              <a:rPr lang="zh-CN" altLang="zh-CN" sz="2000" dirty="0">
                <a:solidFill>
                  <a:srgbClr val="1369B2"/>
                </a:solidFill>
                <a:latin typeface="微软雅黑" panose="020B0503020204020204" pitchFamily="34" charset="-122"/>
                <a:ea typeface="微软雅黑" panose="020B0503020204020204" pitchFamily="34" charset="-122"/>
                <a:cs typeface="+mn-ea"/>
              </a:rPr>
              <a:t>可选参数</a:t>
            </a:r>
            <a:r>
              <a:rPr lang="zh-CN" altLang="zh-CN" sz="2000" dirty="0">
                <a:solidFill>
                  <a:srgbClr val="595959"/>
                </a:solidFill>
                <a:latin typeface="微软雅黑" panose="020B0503020204020204" pitchFamily="34" charset="-122"/>
                <a:ea typeface="微软雅黑" panose="020B0503020204020204" pitchFamily="34" charset="-122"/>
                <a:cs typeface="+mn-ea"/>
              </a:rPr>
              <a:t>，表示</a:t>
            </a:r>
            <a:r>
              <a:rPr lang="zh-CN" altLang="zh-CN" sz="2000" dirty="0">
                <a:solidFill>
                  <a:srgbClr val="1369B2"/>
                </a:solidFill>
                <a:latin typeface="微软雅黑" panose="020B0503020204020204" pitchFamily="34" charset="-122"/>
                <a:ea typeface="微软雅黑" panose="020B0503020204020204" pitchFamily="34" charset="-122"/>
                <a:cs typeface="+mn-ea"/>
              </a:rPr>
              <a:t>从指定索引开始查找</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需要</a:t>
            </a:r>
            <a:r>
              <a:rPr lang="zh-CN" altLang="zh-CN" sz="2000" dirty="0">
                <a:solidFill>
                  <a:srgbClr val="595959"/>
                </a:solidFill>
                <a:latin typeface="微软雅黑" panose="020B0503020204020204" pitchFamily="34" charset="-122"/>
                <a:ea typeface="微软雅黑" panose="020B0503020204020204" pitchFamily="34" charset="-122"/>
                <a:cs typeface="+mn-ea"/>
              </a:rPr>
              <a:t>注意的是，</a:t>
            </a:r>
            <a:r>
              <a:rPr lang="en-US" altLang="zh-CN" sz="2000" dirty="0" err="1">
                <a:solidFill>
                  <a:srgbClr val="1369B2"/>
                </a:solidFill>
                <a:latin typeface="微软雅黑" panose="020B0503020204020204" pitchFamily="34" charset="-122"/>
                <a:ea typeface="微软雅黑" panose="020B0503020204020204" pitchFamily="34" charset="-122"/>
                <a:cs typeface="+mn-ea"/>
              </a:rPr>
              <a:t>indexOf</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方法用于</a:t>
            </a:r>
            <a:r>
              <a:rPr lang="zh-CN" altLang="zh-CN" sz="2000" dirty="0">
                <a:solidFill>
                  <a:srgbClr val="1369B2"/>
                </a:solidFill>
                <a:latin typeface="微软雅黑" panose="020B0503020204020204" pitchFamily="34" charset="-122"/>
                <a:ea typeface="微软雅黑" panose="020B0503020204020204" pitchFamily="34" charset="-122"/>
                <a:cs typeface="+mn-ea"/>
              </a:rPr>
              <a:t>逆向查找</a:t>
            </a:r>
            <a:r>
              <a:rPr lang="zh-CN" altLang="zh-CN" sz="2000" dirty="0">
                <a:solidFill>
                  <a:srgbClr val="595959"/>
                </a:solidFill>
                <a:latin typeface="微软雅黑" panose="020B0503020204020204" pitchFamily="34" charset="-122"/>
                <a:ea typeface="微软雅黑" panose="020B0503020204020204" pitchFamily="34" charset="-122"/>
                <a:cs typeface="+mn-ea"/>
              </a:rPr>
              <a:t>，即从后向前查找，当</a:t>
            </a:r>
            <a:r>
              <a:rPr lang="zh-CN" altLang="zh-CN" sz="2000" dirty="0">
                <a:solidFill>
                  <a:srgbClr val="1369B2"/>
                </a:solidFill>
                <a:latin typeface="微软雅黑" panose="020B0503020204020204" pitchFamily="34" charset="-122"/>
                <a:ea typeface="微软雅黑" panose="020B0503020204020204" pitchFamily="34" charset="-122"/>
                <a:cs typeface="+mn-ea"/>
              </a:rPr>
              <a:t>第一次</a:t>
            </a:r>
            <a:r>
              <a:rPr lang="zh-CN" altLang="zh-CN" sz="2000" dirty="0">
                <a:solidFill>
                  <a:srgbClr val="595959"/>
                </a:solidFill>
                <a:latin typeface="微软雅黑" panose="020B0503020204020204" pitchFamily="34" charset="-122"/>
                <a:ea typeface="微软雅黑" panose="020B0503020204020204" pitchFamily="34" charset="-122"/>
                <a:cs typeface="+mn-ea"/>
              </a:rPr>
              <a:t>找到元素时就</a:t>
            </a:r>
            <a:r>
              <a:rPr lang="zh-CN" altLang="zh-CN" sz="2000" dirty="0">
                <a:solidFill>
                  <a:srgbClr val="1369B2"/>
                </a:solidFill>
                <a:latin typeface="微软雅黑" panose="020B0503020204020204" pitchFamily="34" charset="-122"/>
                <a:ea typeface="微软雅黑" panose="020B0503020204020204" pitchFamily="34" charset="-122"/>
                <a:cs typeface="+mn-ea"/>
              </a:rPr>
              <a:t>返回其索引</a:t>
            </a:r>
            <a:r>
              <a:rPr lang="zh-CN" altLang="zh-CN" sz="2000" dirty="0">
                <a:solidFill>
                  <a:srgbClr val="595959"/>
                </a:solidFill>
                <a:latin typeface="微软雅黑" panose="020B0503020204020204" pitchFamily="34" charset="-122"/>
                <a:ea typeface="微软雅黑" panose="020B0503020204020204" pitchFamily="34" charset="-122"/>
                <a:cs typeface="+mn-ea"/>
              </a:rPr>
              <a:t>，此时找到的元素刚好是数组中最后一次出现的元素</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indexOf</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方法和</a:t>
            </a:r>
            <a:r>
              <a:rPr lang="en-US" altLang="zh-CN" sz="2000" dirty="0" err="1">
                <a:solidFill>
                  <a:srgbClr val="1369B2"/>
                </a:solidFill>
                <a:latin typeface="微软雅黑" panose="020B0503020204020204" pitchFamily="34" charset="-122"/>
                <a:ea typeface="微软雅黑" panose="020B0503020204020204" pitchFamily="34" charset="-122"/>
                <a:cs typeface="+mn-ea"/>
              </a:rPr>
              <a:t>lastIndexOf</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方法查找元素索引时，默认是</a:t>
            </a:r>
            <a:r>
              <a:rPr lang="zh-CN" altLang="zh-CN" sz="2000" dirty="0">
                <a:solidFill>
                  <a:srgbClr val="1369B2"/>
                </a:solidFill>
                <a:latin typeface="微软雅黑" panose="020B0503020204020204" pitchFamily="34" charset="-122"/>
                <a:ea typeface="微软雅黑" panose="020B0503020204020204" pitchFamily="34" charset="-122"/>
                <a:cs typeface="+mn-ea"/>
              </a:rPr>
              <a:t>从指定数组索引的位置开始检索</a:t>
            </a:r>
            <a:r>
              <a:rPr lang="zh-CN" altLang="zh-CN" sz="2000" dirty="0">
                <a:solidFill>
                  <a:srgbClr val="595959"/>
                </a:solidFill>
                <a:latin typeface="微软雅黑" panose="020B0503020204020204" pitchFamily="34" charset="-122"/>
                <a:ea typeface="微软雅黑" panose="020B0503020204020204" pitchFamily="34" charset="-122"/>
                <a:cs typeface="+mn-ea"/>
              </a:rPr>
              <a:t>，并且检索方式与运算符</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相同，即查找的元素值与数组元素值全等时才查找成功。</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5624" y="1413570"/>
            <a:ext cx="9210285"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通过代码演示</a:t>
            </a:r>
            <a:r>
              <a:rPr lang="zh-CN" altLang="zh-CN" sz="2000" smtClean="0">
                <a:solidFill>
                  <a:srgbClr val="1369B2"/>
                </a:solidFill>
                <a:latin typeface="微软雅黑" panose="020B0503020204020204" pitchFamily="34" charset="-122"/>
                <a:ea typeface="微软雅黑" panose="020B0503020204020204" pitchFamily="34" charset="-122"/>
                <a:cs typeface="+mn-ea"/>
              </a:rPr>
              <a:t>获取</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数组元素索引</a:t>
            </a:r>
            <a:r>
              <a:rPr lang="zh-CN" altLang="zh-CN" sz="2000" smtClean="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1369B2"/>
                </a:solidFill>
                <a:latin typeface="微软雅黑" panose="020B0503020204020204" pitchFamily="34" charset="-122"/>
                <a:ea typeface="微软雅黑" panose="020B0503020204020204" pitchFamily="34" charset="-122"/>
                <a:cs typeface="+mn-ea"/>
              </a:rPr>
              <a:t>的</a:t>
            </a:r>
            <a:r>
              <a:rPr lang="zh-CN" altLang="zh-CN" sz="2000" smtClean="0">
                <a:solidFill>
                  <a:srgbClr val="1369B2"/>
                </a:solidFill>
                <a:latin typeface="微软雅黑" panose="020B0503020204020204" pitchFamily="34" charset="-122"/>
                <a:ea typeface="微软雅黑" panose="020B0503020204020204" pitchFamily="34" charset="-122"/>
                <a:cs typeface="+mn-ea"/>
              </a:rPr>
              <a:t>使用</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276746" y="2421682"/>
            <a:ext cx="8933657" cy="1477328"/>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var </a:t>
            </a:r>
            <a:r>
              <a:rPr lang="en-US" altLang="zh-CN" sz="2000">
                <a:solidFill>
                  <a:srgbClr val="595959"/>
                </a:solidFill>
                <a:latin typeface="微软雅黑" panose="020B0503020204020204" pitchFamily="34" charset="-122"/>
                <a:ea typeface="微软雅黑" panose="020B0503020204020204" pitchFamily="34" charset="-122"/>
                <a:cs typeface="+mn-ea"/>
              </a:rPr>
              <a:t>arr = ['Monday', 'Wednesday', 'Friday', 'Monday'];</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console.log(arr.indexOf('Friday'));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2</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console.log(arr.lastIndexOf('Monday</a:t>
            </a:r>
            <a:r>
              <a:rPr lang="en-US" altLang="zh-CN" sz="2000" smtClean="0">
                <a:solidFill>
                  <a:srgbClr val="595959"/>
                </a:solidFill>
                <a:latin typeface="微软雅黑" panose="020B0503020204020204" pitchFamily="34" charset="-122"/>
                <a:ea typeface="微软雅黑" panose="020B0503020204020204" pitchFamily="34" charset="-122"/>
                <a:cs typeface="+mn-ea"/>
              </a:rPr>
              <a:t>'));</a:t>
            </a:r>
            <a:r>
              <a:rPr lang="en-US" altLang="zh-CN" sz="2000">
                <a:solidFill>
                  <a:srgbClr val="595959"/>
                </a:solidFill>
                <a:latin typeface="微软雅黑" panose="020B0503020204020204" pitchFamily="34" charset="-122"/>
                <a:ea typeface="微软雅黑" panose="020B0503020204020204" pitchFamily="34" charset="-122"/>
                <a:cs typeface="+mn-ea"/>
              </a:rPr>
              <a:t>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smtClean="0">
                <a:solidFill>
                  <a:srgbClr val="595959"/>
                </a:solidFill>
                <a:latin typeface="微软雅黑" panose="020B0503020204020204" pitchFamily="34" charset="-122"/>
                <a:ea typeface="微软雅黑" panose="020B0503020204020204" pitchFamily="34" charset="-122"/>
                <a:cs typeface="+mn-ea"/>
              </a:rPr>
              <a:t>3</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7" name="Title 1"/>
          <p:cNvSpPr txBox="1"/>
          <p:nvPr/>
        </p:nvSpPr>
        <p:spPr>
          <a:xfrm>
            <a:off x="1143691" y="266995"/>
            <a:ext cx="459988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数组元素索引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去除数组中重复元素</a:t>
            </a:r>
            <a:r>
              <a:rPr lang="zh-CN" altLang="en-US" sz="200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538356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去除数组中的重复元素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1128832" y="1629594"/>
            <a:ext cx="9992076" cy="2431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某</a:t>
            </a:r>
            <a:r>
              <a:rPr lang="zh-CN" altLang="zh-CN" sz="2000" dirty="0">
                <a:solidFill>
                  <a:srgbClr val="595959"/>
                </a:solidFill>
                <a:latin typeface="微软雅黑" panose="020B0503020204020204" pitchFamily="34" charset="-122"/>
                <a:ea typeface="微软雅黑" panose="020B0503020204020204" pitchFamily="34" charset="-122"/>
                <a:cs typeface="+mn-ea"/>
              </a:rPr>
              <a:t>学校将根据学生的需求开设选修课，</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选修课由</a:t>
            </a:r>
            <a:r>
              <a:rPr lang="zh-CN" altLang="zh-CN" sz="2000" dirty="0">
                <a:solidFill>
                  <a:srgbClr val="595959"/>
                </a:solidFill>
                <a:latin typeface="微软雅黑" panose="020B0503020204020204" pitchFamily="34" charset="-122"/>
                <a:ea typeface="微软雅黑" panose="020B0503020204020204" pitchFamily="34" charset="-122"/>
                <a:cs typeface="+mn-ea"/>
              </a:rPr>
              <a:t>各个班级提交的课程名单决定，由于每个班级提交的</a:t>
            </a:r>
            <a:r>
              <a:rPr lang="zh-CN" altLang="zh-CN" sz="2000" dirty="0">
                <a:solidFill>
                  <a:srgbClr val="1369B2"/>
                </a:solidFill>
                <a:latin typeface="微软雅黑" panose="020B0503020204020204" pitchFamily="34" charset="-122"/>
                <a:ea typeface="微软雅黑" panose="020B0503020204020204" pitchFamily="34" charset="-122"/>
                <a:cs typeface="+mn-ea"/>
              </a:rPr>
              <a:t>课程</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名单</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中有些课程</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可能</a:t>
            </a:r>
            <a:r>
              <a:rPr lang="zh-CN" altLang="zh-CN" sz="2000" dirty="0">
                <a:solidFill>
                  <a:srgbClr val="1369B2"/>
                </a:solidFill>
                <a:latin typeface="微软雅黑" panose="020B0503020204020204" pitchFamily="34" charset="-122"/>
                <a:ea typeface="微软雅黑" panose="020B0503020204020204" pitchFamily="34" charset="-122"/>
                <a:cs typeface="+mn-ea"/>
              </a:rPr>
              <a:t>会</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重复</a:t>
            </a:r>
            <a:r>
              <a:rPr lang="zh-CN" altLang="en-US" sz="2000" dirty="0">
                <a:solidFill>
                  <a:srgbClr val="1369B2"/>
                </a:solidFill>
                <a:latin typeface="微软雅黑" panose="020B0503020204020204" pitchFamily="34" charset="-122"/>
                <a:ea typeface="微软雅黑" panose="020B0503020204020204" pitchFamily="34" charset="-122"/>
                <a:cs typeface="+mn-ea"/>
              </a:rPr>
              <a:t>出现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所以需要</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去除</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名单中</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重复</a:t>
            </a:r>
            <a:r>
              <a:rPr lang="zh-CN" altLang="zh-CN" sz="2000" dirty="0">
                <a:solidFill>
                  <a:srgbClr val="1369B2"/>
                </a:solidFill>
                <a:latin typeface="微软雅黑" panose="020B0503020204020204" pitchFamily="34" charset="-122"/>
                <a:ea typeface="微软雅黑" panose="020B0503020204020204" pitchFamily="34" charset="-122"/>
                <a:cs typeface="+mn-ea"/>
              </a:rPr>
              <a:t>的</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课程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通过一个案例演示如何使用</a:t>
            </a:r>
            <a:r>
              <a:rPr lang="zh-CN" altLang="zh-CN" sz="2000" dirty="0">
                <a:solidFill>
                  <a:srgbClr val="1369B2"/>
                </a:solidFill>
                <a:latin typeface="微软雅黑" panose="020B0503020204020204" pitchFamily="34" charset="-122"/>
                <a:ea typeface="微软雅黑" panose="020B0503020204020204" pitchFamily="34" charset="-122"/>
                <a:cs typeface="+mn-ea"/>
              </a:rPr>
              <a:t>数组索引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去除</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名单中的重复课程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其中选修课数组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为</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新闻摄影</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音乐鉴赏</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话剧表演</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古典诗词</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营养</a:t>
            </a:r>
            <a:r>
              <a:rPr lang="zh-CN" altLang="zh-CN" sz="2000" dirty="0">
                <a:solidFill>
                  <a:srgbClr val="1369B2"/>
                </a:solidFill>
                <a:latin typeface="微软雅黑" panose="020B0503020204020204" pitchFamily="34" charset="-122"/>
                <a:ea typeface="微软雅黑" panose="020B0503020204020204" pitchFamily="34" charset="-122"/>
                <a:cs typeface="+mn-ea"/>
              </a:rPr>
              <a:t>与</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健康</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音乐鉴赏</a:t>
            </a:r>
            <a:r>
              <a:rPr lang="en-US" altLang="zh-CN" sz="2000" dirty="0">
                <a:solidFill>
                  <a:srgbClr val="1369B2"/>
                </a:solidFill>
                <a:latin typeface="微软雅黑" panose="020B0503020204020204" pitchFamily="34" charset="-122"/>
                <a:ea typeface="微软雅黑" panose="020B0503020204020204" pitchFamily="34" charset="-122"/>
                <a:cs typeface="+mn-ea"/>
              </a:rPr>
              <a:t>', '</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话剧表演</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0" y="266995"/>
            <a:ext cx="5383564"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去除数组中的重复元素</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数组转换为字符串</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595959"/>
                </a:solidFill>
                <a:latin typeface="微软雅黑" panose="020B0503020204020204" pitchFamily="34" charset="-122"/>
                <a:ea typeface="微软雅黑" panose="020B0503020204020204" pitchFamily="34" charset="-122"/>
                <a:cs typeface="+mn-ea"/>
              </a:rPr>
              <a:t>灵活应用</a:t>
            </a:r>
            <a:r>
              <a:rPr lang="zh-CN" altLang="zh-CN" sz="2000">
                <a:solidFill>
                  <a:srgbClr val="1369B2"/>
                </a:solidFill>
                <a:latin typeface="微软雅黑" panose="020B0503020204020204" pitchFamily="34" charset="-122"/>
                <a:ea typeface="微软雅黑" panose="020B0503020204020204" pitchFamily="34" charset="-122"/>
                <a:cs typeface="+mn-ea"/>
              </a:rPr>
              <a:t>数组转换为字符串的方法</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3"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5.6.7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数组转换为字符串</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989277" y="1007970"/>
            <a:ext cx="10211855"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在实际开发中，若要实现数组转换为字符串，不仅可以使用</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还</a:t>
            </a:r>
            <a:r>
              <a:rPr lang="zh-CN" altLang="zh-CN" sz="2000" dirty="0">
                <a:solidFill>
                  <a:srgbClr val="595959"/>
                </a:solidFill>
                <a:latin typeface="微软雅黑" panose="020B0503020204020204" pitchFamily="34" charset="-122"/>
                <a:ea typeface="微软雅黑" panose="020B0503020204020204" pitchFamily="34" charset="-122"/>
                <a:cs typeface="+mn-ea"/>
              </a:rPr>
              <a:t>可以使用数组对象的</a:t>
            </a:r>
            <a:r>
              <a:rPr lang="en-US" altLang="zh-CN" sz="2000" dirty="0">
                <a:solidFill>
                  <a:srgbClr val="1369B2"/>
                </a:solidFill>
                <a:latin typeface="微软雅黑" panose="020B0503020204020204" pitchFamily="34" charset="-122"/>
                <a:ea typeface="微软雅黑" panose="020B0503020204020204" pitchFamily="34" charset="-122"/>
                <a:cs typeface="+mn-ea"/>
              </a:rPr>
              <a:t>join()</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err="1">
                <a:solidFill>
                  <a:srgbClr val="1369B2"/>
                </a:solidFill>
                <a:latin typeface="微软雅黑" panose="020B0503020204020204" pitchFamily="34" charset="-122"/>
                <a:ea typeface="微软雅黑" panose="020B0503020204020204" pitchFamily="34" charset="-122"/>
                <a:cs typeface="+mn-ea"/>
              </a:rPr>
              <a:t>toString</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方法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数组转换为字符串的方法</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0" name="表格 9"/>
          <p:cNvGraphicFramePr>
            <a:graphicFrameLocks noGrp="1"/>
          </p:cNvGraphicFramePr>
          <p:nvPr/>
        </p:nvGraphicFramePr>
        <p:xfrm>
          <a:off x="1143690" y="2200710"/>
          <a:ext cx="10009114" cy="2808312"/>
        </p:xfrm>
        <a:graphic>
          <a:graphicData uri="http://schemas.openxmlformats.org/drawingml/2006/table">
            <a:tbl>
              <a:tblPr>
                <a:tableStyleId>{7DF18680-E054-41AD-8BC1-D1AEF772440D}</a:tableStyleId>
              </a:tblPr>
              <a:tblGrid>
                <a:gridCol w="2359228"/>
                <a:gridCol w="7649886"/>
              </a:tblGrid>
              <a:tr h="724124">
                <a:tc>
                  <a:txBody>
                    <a:bodyPr/>
                    <a:lstStyle/>
                    <a:p>
                      <a:pPr indent="127000" algn="ctr">
                        <a:spcAft>
                          <a:spcPts val="0"/>
                        </a:spcAft>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20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20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20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042094">
                <a:tc>
                  <a:txBody>
                    <a:bodyPr/>
                    <a:lstStyle/>
                    <a:p>
                      <a:pPr marL="0" indent="127000" algn="ctr" defTabSz="1219200" rtl="0" eaLnBrk="1" latinLnBrk="0" hangingPunct="1">
                        <a:spcAft>
                          <a:spcPts val="0"/>
                        </a:spcAft>
                      </a:pP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join([separator])</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将数组的所有元素连接成一个字符串，默认使用逗号分隔数组中的每个元素。</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separator</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为可选参数，用于指定字符串的分隔符</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042094">
                <a:tc>
                  <a:txBody>
                    <a:bodyPr/>
                    <a:lstStyle/>
                    <a:p>
                      <a:pPr marL="0" indent="127000" algn="ctr" defTabSz="1219200" rtl="0" eaLnBrk="1" latinLnBrk="0" hangingPunct="1">
                        <a:spcAft>
                          <a:spcPts val="0"/>
                        </a:spcAft>
                      </a:pP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toString</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将数组转换为字符串，使用逗号分隔数组中的每个元素</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
        <p:nvSpPr>
          <p:cNvPr id="5"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5.6.7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数组转换为字符串</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 name="矩形: 圆角 38"/>
          <p:cNvSpPr/>
          <p:nvPr/>
        </p:nvSpPr>
        <p:spPr>
          <a:xfrm>
            <a:off x="1469658" y="5465796"/>
            <a:ext cx="9666111" cy="82364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7" name="流程图: 资料带 6"/>
          <p:cNvSpPr/>
          <p:nvPr/>
        </p:nvSpPr>
        <p:spPr>
          <a:xfrm>
            <a:off x="1270670" y="5229994"/>
            <a:ext cx="775053" cy="504056"/>
          </a:xfrm>
          <a:prstGeom prst="flowChartPunchedTape">
            <a:avLst/>
          </a:prstGeom>
          <a:solidFill>
            <a:srgbClr val="1369B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smtClean="0">
                <a:latin typeface="微软雅黑" panose="020B0503020204020204" pitchFamily="34" charset="-122"/>
                <a:ea typeface="微软雅黑" panose="020B0503020204020204" pitchFamily="34" charset="-122"/>
              </a:rPr>
              <a:t>注意</a:t>
            </a:r>
            <a:endParaRPr lang="zh-CN" altLang="en-US" sz="2000" dirty="0">
              <a:latin typeface="微软雅黑" panose="020B0503020204020204" pitchFamily="34" charset="-122"/>
              <a:ea typeface="微软雅黑" panose="020B0503020204020204" pitchFamily="34" charset="-122"/>
            </a:endParaRPr>
          </a:p>
        </p:txBody>
      </p:sp>
      <p:sp>
        <p:nvSpPr>
          <p:cNvPr id="8" name="矩形 7"/>
          <p:cNvSpPr/>
          <p:nvPr/>
        </p:nvSpPr>
        <p:spPr>
          <a:xfrm>
            <a:off x="2045723" y="5612100"/>
            <a:ext cx="9433048" cy="553998"/>
          </a:xfrm>
          <a:prstGeom prst="rect">
            <a:avLst/>
          </a:prstGeom>
        </p:spPr>
        <p:txBody>
          <a:bodyPr wrap="square">
            <a:spAutoFit/>
          </a:bodyPr>
          <a:lstStyle/>
          <a:p>
            <a:pPr>
              <a:lnSpc>
                <a:spcPct val="150000"/>
              </a:lnSpc>
            </a:pPr>
            <a:r>
              <a:rPr lang="zh-CN" altLang="zh-CN" sz="2000" smtClean="0">
                <a:solidFill>
                  <a:srgbClr val="FF0000"/>
                </a:solidFill>
                <a:latin typeface="微软雅黑" panose="020B0503020204020204" pitchFamily="34" charset="-122"/>
                <a:ea typeface="微软雅黑" panose="020B0503020204020204" pitchFamily="34" charset="-122"/>
                <a:cs typeface="+mn-ea"/>
              </a:rPr>
              <a:t>当</a:t>
            </a:r>
            <a:r>
              <a:rPr lang="zh-CN" altLang="zh-CN" sz="2000">
                <a:solidFill>
                  <a:srgbClr val="FF0000"/>
                </a:solidFill>
                <a:latin typeface="微软雅黑" panose="020B0503020204020204" pitchFamily="34" charset="-122"/>
                <a:ea typeface="微软雅黑" panose="020B0503020204020204" pitchFamily="34" charset="-122"/>
                <a:cs typeface="+mn-ea"/>
              </a:rPr>
              <a:t>数组元素为</a:t>
            </a:r>
            <a:r>
              <a:rPr lang="en-US" altLang="zh-CN" sz="2000">
                <a:solidFill>
                  <a:srgbClr val="FF0000"/>
                </a:solidFill>
                <a:latin typeface="微软雅黑" panose="020B0503020204020204" pitchFamily="34" charset="-122"/>
                <a:ea typeface="微软雅黑" panose="020B0503020204020204" pitchFamily="34" charset="-122"/>
                <a:cs typeface="+mn-ea"/>
              </a:rPr>
              <a:t>undefined</a:t>
            </a:r>
            <a:r>
              <a:rPr lang="zh-CN" altLang="zh-CN" sz="2000">
                <a:solidFill>
                  <a:srgbClr val="FF0000"/>
                </a:solidFill>
                <a:latin typeface="微软雅黑" panose="020B0503020204020204" pitchFamily="34" charset="-122"/>
                <a:ea typeface="微软雅黑" panose="020B0503020204020204" pitchFamily="34" charset="-122"/>
                <a:cs typeface="+mn-ea"/>
              </a:rPr>
              <a:t>、</a:t>
            </a:r>
            <a:r>
              <a:rPr lang="en-US" altLang="zh-CN" sz="2000">
                <a:solidFill>
                  <a:srgbClr val="FF0000"/>
                </a:solidFill>
                <a:latin typeface="微软雅黑" panose="020B0503020204020204" pitchFamily="34" charset="-122"/>
                <a:ea typeface="微软雅黑" panose="020B0503020204020204" pitchFamily="34" charset="-122"/>
                <a:cs typeface="+mn-ea"/>
              </a:rPr>
              <a:t>null</a:t>
            </a:r>
            <a:r>
              <a:rPr lang="zh-CN" altLang="zh-CN" sz="2000">
                <a:solidFill>
                  <a:srgbClr val="FF0000"/>
                </a:solidFill>
                <a:latin typeface="微软雅黑" panose="020B0503020204020204" pitchFamily="34" charset="-122"/>
                <a:ea typeface="微软雅黑" panose="020B0503020204020204" pitchFamily="34" charset="-122"/>
                <a:cs typeface="+mn-ea"/>
              </a:rPr>
              <a:t>或空数组时，对应的元素会被转换为空字符串。</a:t>
            </a:r>
            <a:endParaRPr lang="zh-CN" altLang="zh-CN" sz="2000">
              <a:solidFill>
                <a:srgbClr val="FF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6654" y="1125538"/>
            <a:ext cx="9210285"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通过代码</a:t>
            </a:r>
            <a:r>
              <a:rPr lang="zh-CN" altLang="zh-CN" sz="2000" smtClean="0">
                <a:solidFill>
                  <a:srgbClr val="595959"/>
                </a:solidFill>
                <a:latin typeface="微软雅黑" panose="020B0503020204020204" pitchFamily="34" charset="-122"/>
                <a:ea typeface="微软雅黑" panose="020B0503020204020204" pitchFamily="34" charset="-122"/>
                <a:cs typeface="+mn-ea"/>
              </a:rPr>
              <a:t>演示</a:t>
            </a:r>
            <a:r>
              <a:rPr lang="zh-CN" altLang="zh-CN" sz="2000">
                <a:solidFill>
                  <a:srgbClr val="1369B2"/>
                </a:solidFill>
                <a:latin typeface="微软雅黑" panose="020B0503020204020204" pitchFamily="34" charset="-122"/>
                <a:ea typeface="微软雅黑" panose="020B0503020204020204" pitchFamily="34" charset="-122"/>
                <a:cs typeface="+mn-ea"/>
              </a:rPr>
              <a:t>数组转换为字符串的方法的</a:t>
            </a:r>
            <a:r>
              <a:rPr lang="zh-CN" altLang="zh-CN" sz="2000" smtClean="0">
                <a:solidFill>
                  <a:srgbClr val="1369B2"/>
                </a:solidFill>
                <a:latin typeface="微软雅黑" panose="020B0503020204020204" pitchFamily="34" charset="-122"/>
                <a:ea typeface="微软雅黑" panose="020B0503020204020204" pitchFamily="34" charset="-122"/>
                <a:cs typeface="+mn-ea"/>
              </a:rPr>
              <a:t>使用</a:t>
            </a:r>
            <a:r>
              <a:rPr lang="zh-CN" altLang="zh-CN" sz="200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126654" y="1845618"/>
            <a:ext cx="9505056" cy="3323987"/>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arr</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莫等闲</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白了少年头</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空悲切</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a:solidFill>
                  <a:srgbClr val="595959"/>
                </a:solidFill>
                <a:latin typeface="微软雅黑" panose="020B0503020204020204" pitchFamily="34" charset="-122"/>
                <a:ea typeface="微软雅黑" panose="020B0503020204020204" pitchFamily="34" charset="-122"/>
                <a:cs typeface="+mn-ea"/>
              </a:rPr>
              <a:t>join()</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arr.join</a:t>
            </a:r>
            <a:r>
              <a:rPr lang="en-US" altLang="zh-CN" sz="2000" dirty="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输出结果为：莫等闲</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白了少年头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空悲切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arr.join</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输出结果为：莫等闲白了少年头空悲切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arr.join</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输出结果为：莫等闲</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白了少年头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空悲切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toString</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arr.toString</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输出结果为：莫等闲</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白了少年头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空悲切</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5.6.7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数组转换为字符串</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22" descr="讲故事"/>
          <p:cNvPicPr>
            <a:picLocks noChangeAspect="1"/>
          </p:cNvPicPr>
          <p:nvPr/>
        </p:nvPicPr>
        <p:blipFill>
          <a:blip/>
          <a:stretch>
            <a:fillRect/>
          </a:stretch>
        </p:blipFill>
        <p:spPr>
          <a:xfrm>
            <a:off x="971712" y="1352729"/>
            <a:ext cx="1015842" cy="1015842"/>
          </a:xfrm>
          <a:prstGeom prst="rect">
            <a:avLst/>
          </a:prstGeom>
        </p:spPr>
      </p:pic>
      <p:sp>
        <p:nvSpPr>
          <p:cNvPr id="12" name="矩形 11"/>
          <p:cNvSpPr/>
          <p:nvPr/>
        </p:nvSpPr>
        <p:spPr>
          <a:xfrm>
            <a:off x="2150110" y="1607820"/>
            <a:ext cx="2753537" cy="6705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186349" y="1746206"/>
            <a:ext cx="2663513" cy="400110"/>
          </a:xfrm>
          <a:prstGeom prst="rect">
            <a:avLst/>
          </a:prstGeom>
          <a:noFill/>
        </p:spPr>
        <p:txBody>
          <a:bodyPr wrap="square" rtlCol="0">
            <a:spAutoFit/>
          </a:bodyPr>
          <a:lstStyle/>
          <a:p>
            <a:pPr algn="ctr"/>
            <a:r>
              <a:rPr lang="zh-CN" altLang="en-US" sz="2000"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数组对象的其他方法</a:t>
            </a:r>
            <a:endParaRPr lang="zh-CN" altLang="en-US" sz="2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006905"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18190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054646" y="2349674"/>
            <a:ext cx="8572148" cy="55399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JavaScript</a:t>
            </a:r>
            <a:r>
              <a:rPr lang="zh-CN" altLang="zh-CN" sz="2000" dirty="0">
                <a:solidFill>
                  <a:srgbClr val="595959"/>
                </a:solidFill>
                <a:latin typeface="微软雅黑" panose="020B0503020204020204" pitchFamily="34" charset="-122"/>
                <a:ea typeface="微软雅黑" panose="020B0503020204020204" pitchFamily="34" charset="-122"/>
              </a:rPr>
              <a:t>中还提供</a:t>
            </a:r>
            <a:r>
              <a:rPr lang="zh-CN" altLang="zh-CN" sz="2000" dirty="0" smtClean="0">
                <a:solidFill>
                  <a:srgbClr val="595959"/>
                </a:solidFill>
                <a:latin typeface="微软雅黑" panose="020B0503020204020204" pitchFamily="34" charset="-122"/>
                <a:ea typeface="微软雅黑" panose="020B0503020204020204" pitchFamily="34" charset="-122"/>
              </a:rPr>
              <a:t>了</a:t>
            </a:r>
            <a:r>
              <a:rPr lang="zh-CN" altLang="zh-CN" sz="2000" dirty="0" smtClean="0">
                <a:solidFill>
                  <a:srgbClr val="1369B2"/>
                </a:solidFill>
                <a:latin typeface="微软雅黑" panose="020B0503020204020204" pitchFamily="34" charset="-122"/>
                <a:ea typeface="微软雅黑" panose="020B0503020204020204" pitchFamily="34" charset="-122"/>
              </a:rPr>
              <a:t>数组</a:t>
            </a:r>
            <a:r>
              <a:rPr lang="zh-CN" altLang="zh-CN" sz="2000" dirty="0">
                <a:solidFill>
                  <a:srgbClr val="1369B2"/>
                </a:solidFill>
                <a:latin typeface="微软雅黑" panose="020B0503020204020204" pitchFamily="34" charset="-122"/>
                <a:ea typeface="微软雅黑" panose="020B0503020204020204" pitchFamily="34" charset="-122"/>
              </a:rPr>
              <a:t>对象的其他常用方法</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595959"/>
                </a:solidFill>
                <a:latin typeface="微软雅黑" panose="020B0503020204020204" pitchFamily="34" charset="-122"/>
                <a:ea typeface="微软雅黑" panose="020B0503020204020204" pitchFamily="34" charset="-122"/>
              </a:rPr>
              <a:t>具体如下表所示。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5.6.7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数组转换为字符串</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18" name="表格 17"/>
          <p:cNvGraphicFramePr>
            <a:graphicFrameLocks noGrp="1"/>
          </p:cNvGraphicFramePr>
          <p:nvPr/>
        </p:nvGraphicFramePr>
        <p:xfrm>
          <a:off x="766615" y="2997746"/>
          <a:ext cx="10873208" cy="3328949"/>
        </p:xfrm>
        <a:graphic>
          <a:graphicData uri="http://schemas.openxmlformats.org/drawingml/2006/table">
            <a:tbl>
              <a:tblPr>
                <a:tableStyleId>{7DF18680-E054-41AD-8BC1-D1AEF772440D}</a:tableStyleId>
              </a:tblPr>
              <a:tblGrid>
                <a:gridCol w="3240359"/>
                <a:gridCol w="7632849"/>
              </a:tblGrid>
              <a:tr h="448589">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18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48589">
                <a:tc>
                  <a:txBody>
                    <a:bodyPr/>
                    <a:lstStyle/>
                    <a:p>
                      <a:pPr marL="0" indent="127000" algn="l" defTabSz="1219200" rtl="0" eaLnBrk="1" latinLnBrk="0" hangingPunct="1">
                        <a:spcAft>
                          <a:spcPts val="0"/>
                        </a:spcAft>
                      </a:pP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fill(value[, start][, end])</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用一个固定值填充数组中从起始索引到终止索引内的全部元素，不包括终止</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索引</a:t>
                      </a:r>
                      <a:r>
                        <a:rPr lang="zh-CN" alt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的值</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返回填充后的数组。</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value</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表示要填充的数组元素值，</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和</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end</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为可选参数，分别表示填充的起始索引和终止索引</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48589">
                <a:tc>
                  <a:txBody>
                    <a:bodyPr/>
                    <a:lstStyle/>
                    <a:p>
                      <a:pPr marL="0" indent="0" algn="l" defTabSz="1219200" rtl="0" eaLnBrk="1" latinLnBrk="0" hangingPunct="1">
                        <a:lnSpc>
                          <a:spcPct val="150000"/>
                        </a:lnSpc>
                        <a:spcAft>
                          <a:spcPts val="0"/>
                        </a:spcAft>
                      </a:pPr>
                      <a:r>
                        <a:rPr 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slice</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([begin][,end])</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截取数组元素，返回被截取元素组成的新数组。</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begin</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和</a:t>
                      </a:r>
                      <a:r>
                        <a:rPr lang="en-US"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end</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为可选参数，表示截取的起始索引和终止索引，截取的结果不包含终止索引的值</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448589">
                <a:tc>
                  <a:txBody>
                    <a:bodyPr/>
                    <a:lstStyle/>
                    <a:p>
                      <a:pPr marL="0" indent="127000" algn="l" defTabSz="1219200" rtl="0" eaLnBrk="1" latinLnBrk="0" hangingPunct="1">
                        <a:spcAft>
                          <a:spcPts val="0"/>
                        </a:spcAft>
                      </a:pPr>
                      <a:r>
                        <a:rPr lang="en-US"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concat(value1[, value2][, …][, valueN])</a:t>
                      </a:r>
                      <a:endParaRPr lang="zh-CN" sz="18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连接两个或多个数组，或者将值添加到数组中，不影响原数组，返回一个新数组</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value1, </a:t>
                      </a:r>
                      <a:r>
                        <a:rPr lang="en-US"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value2</a:t>
                      </a:r>
                      <a:r>
                        <a:rPr lang="en-US" alt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 </a:t>
                      </a:r>
                      <a:r>
                        <a:rPr lang="en-US" altLang="zh-CN" sz="1800" b="0" kern="1200" dirty="0" err="1"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valueN</a:t>
                      </a:r>
                      <a:r>
                        <a:rPr lang="zh-CN" sz="18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为</a:t>
                      </a:r>
                      <a:r>
                        <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数组或值</a:t>
                      </a:r>
                      <a:endParaRPr lang="zh-CN" sz="18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endParaRPr lang="zh-CN" dirty="0">
              <a:solidFill>
                <a:srgbClr val="59595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563367" y="1360373"/>
            <a:ext cx="9073008" cy="553998"/>
          </a:xfrm>
          <a:prstGeom prst="rect">
            <a:avLst/>
          </a:prstGeom>
          <a:noFill/>
        </p:spPr>
        <p:txBody>
          <a:bodyPr wrap="square">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rPr>
              <a:t>下面</a:t>
            </a:r>
            <a:r>
              <a:rPr lang="zh-CN" altLang="zh-CN" sz="2000">
                <a:solidFill>
                  <a:srgbClr val="595959"/>
                </a:solidFill>
                <a:latin typeface="微软雅黑" panose="020B0503020204020204" pitchFamily="34" charset="-122"/>
                <a:ea typeface="微软雅黑" panose="020B0503020204020204" pitchFamily="34" charset="-122"/>
              </a:rPr>
              <a:t>通过代码演示</a:t>
            </a:r>
            <a:r>
              <a:rPr lang="en-US" altLang="zh-CN" sz="2000">
                <a:solidFill>
                  <a:srgbClr val="1369B2"/>
                </a:solidFill>
                <a:latin typeface="微软雅黑" panose="020B0503020204020204" pitchFamily="34" charset="-122"/>
                <a:ea typeface="微软雅黑" panose="020B0503020204020204" pitchFamily="34" charset="-122"/>
              </a:rPr>
              <a:t>fill()</a:t>
            </a:r>
            <a:r>
              <a:rPr lang="zh-CN" altLang="zh-CN" sz="2000">
                <a:solidFill>
                  <a:srgbClr val="1369B2"/>
                </a:solidFill>
                <a:latin typeface="微软雅黑" panose="020B0503020204020204" pitchFamily="34" charset="-122"/>
                <a:ea typeface="微软雅黑" panose="020B0503020204020204" pitchFamily="34" charset="-122"/>
              </a:rPr>
              <a:t>方法、</a:t>
            </a:r>
            <a:r>
              <a:rPr lang="en-US" altLang="zh-CN" sz="2000">
                <a:solidFill>
                  <a:srgbClr val="1369B2"/>
                </a:solidFill>
                <a:latin typeface="微软雅黑" panose="020B0503020204020204" pitchFamily="34" charset="-122"/>
                <a:ea typeface="微软雅黑" panose="020B0503020204020204" pitchFamily="34" charset="-122"/>
              </a:rPr>
              <a:t>slice()</a:t>
            </a:r>
            <a:r>
              <a:rPr lang="zh-CN" altLang="zh-CN" sz="2000">
                <a:solidFill>
                  <a:srgbClr val="1369B2"/>
                </a:solidFill>
                <a:latin typeface="微软雅黑" panose="020B0503020204020204" pitchFamily="34" charset="-122"/>
                <a:ea typeface="微软雅黑" panose="020B0503020204020204" pitchFamily="34" charset="-122"/>
              </a:rPr>
              <a:t>方法</a:t>
            </a:r>
            <a:r>
              <a:rPr lang="zh-CN" altLang="zh-CN" sz="2000">
                <a:solidFill>
                  <a:srgbClr val="595959"/>
                </a:solidFill>
                <a:latin typeface="微软雅黑" panose="020B0503020204020204" pitchFamily="34" charset="-122"/>
                <a:ea typeface="微软雅黑" panose="020B0503020204020204" pitchFamily="34" charset="-122"/>
              </a:rPr>
              <a:t>和</a:t>
            </a:r>
            <a:r>
              <a:rPr lang="en-US" altLang="zh-CN" sz="2000">
                <a:solidFill>
                  <a:srgbClr val="1369B2"/>
                </a:solidFill>
                <a:latin typeface="微软雅黑" panose="020B0503020204020204" pitchFamily="34" charset="-122"/>
                <a:ea typeface="微软雅黑" panose="020B0503020204020204" pitchFamily="34" charset="-122"/>
              </a:rPr>
              <a:t>concat()</a:t>
            </a:r>
            <a:r>
              <a:rPr lang="zh-CN" altLang="zh-CN" sz="2000">
                <a:solidFill>
                  <a:srgbClr val="1369B2"/>
                </a:solidFill>
                <a:latin typeface="微软雅黑" panose="020B0503020204020204" pitchFamily="34" charset="-122"/>
                <a:ea typeface="微软雅黑" panose="020B0503020204020204" pitchFamily="34" charset="-122"/>
              </a:rPr>
              <a:t>方法</a:t>
            </a:r>
            <a:r>
              <a:rPr lang="zh-CN" altLang="zh-CN" sz="2000">
                <a:solidFill>
                  <a:srgbClr val="595959"/>
                </a:solidFill>
                <a:latin typeface="微软雅黑" panose="020B0503020204020204" pitchFamily="34" charset="-122"/>
                <a:ea typeface="微软雅黑" panose="020B0503020204020204" pitchFamily="34" charset="-122"/>
              </a:rPr>
              <a:t>的</a:t>
            </a:r>
            <a:r>
              <a:rPr lang="zh-CN" altLang="zh-CN" sz="2000" smtClean="0">
                <a:solidFill>
                  <a:srgbClr val="595959"/>
                </a:solidFill>
                <a:latin typeface="微软雅黑" panose="020B0503020204020204" pitchFamily="34" charset="-122"/>
                <a:ea typeface="微软雅黑" panose="020B0503020204020204" pitchFamily="34" charset="-122"/>
              </a:rPr>
              <a:t>使用。</a:t>
            </a:r>
            <a:endParaRPr lang="zh-CN" altLang="zh-CN" sz="200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5.6.7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数组转换为字符串</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1702718" y="1914371"/>
            <a:ext cx="8933657" cy="4662815"/>
          </a:xfrm>
          <a:prstGeom prst="rect">
            <a:avLst/>
          </a:prstGeom>
          <a:solidFill>
            <a:srgbClr val="F2F2F2"/>
          </a:solidFill>
        </p:spPr>
        <p:txBody>
          <a:bodyPr wrap="square" rtlCol="0">
            <a:spAutoFit/>
          </a:bodyPr>
          <a:lstStyle/>
          <a:p>
            <a:pPr lvl="1">
              <a:lnSpc>
                <a:spcPct val="150000"/>
              </a:lnSpc>
            </a:pPr>
            <a:r>
              <a:rPr lang="en-US" altLang="zh-CN" sz="1800" smtClean="0">
                <a:solidFill>
                  <a:srgbClr val="595959"/>
                </a:solidFill>
                <a:latin typeface="微软雅黑" panose="020B0503020204020204" pitchFamily="34" charset="-122"/>
                <a:ea typeface="微软雅黑" panose="020B0503020204020204" pitchFamily="34" charset="-122"/>
                <a:cs typeface="+mn-ea"/>
              </a:rPr>
              <a:t>// </a:t>
            </a:r>
            <a:r>
              <a:rPr lang="zh-CN" altLang="zh-CN" sz="1800">
                <a:solidFill>
                  <a:srgbClr val="595959"/>
                </a:solidFill>
                <a:latin typeface="微软雅黑" panose="020B0503020204020204" pitchFamily="34" charset="-122"/>
                <a:ea typeface="微软雅黑" panose="020B0503020204020204" pitchFamily="34" charset="-122"/>
                <a:cs typeface="+mn-ea"/>
              </a:rPr>
              <a:t>使用</a:t>
            </a:r>
            <a:r>
              <a:rPr lang="en-US" altLang="zh-CN" sz="1800">
                <a:solidFill>
                  <a:srgbClr val="595959"/>
                </a:solidFill>
                <a:latin typeface="微软雅黑" panose="020B0503020204020204" pitchFamily="34" charset="-122"/>
                <a:ea typeface="微软雅黑" panose="020B0503020204020204" pitchFamily="34" charset="-122"/>
                <a:cs typeface="+mn-ea"/>
              </a:rPr>
              <a:t>fill()</a:t>
            </a:r>
            <a:r>
              <a:rPr lang="zh-CN" altLang="zh-CN" sz="1800">
                <a:solidFill>
                  <a:srgbClr val="595959"/>
                </a:solidFill>
                <a:latin typeface="微软雅黑" panose="020B0503020204020204" pitchFamily="34" charset="-122"/>
                <a:ea typeface="微软雅黑" panose="020B0503020204020204" pitchFamily="34" charset="-122"/>
                <a:cs typeface="+mn-ea"/>
              </a:rPr>
              <a:t>方法填充数组元素</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2].fill(4));	 </a:t>
            </a:r>
            <a:r>
              <a:rPr lang="en-US" altLang="zh-CN" sz="1800" smtClean="0">
                <a:solidFill>
                  <a:srgbClr val="595959"/>
                </a:solidFill>
                <a:latin typeface="微软雅黑" panose="020B0503020204020204" pitchFamily="34" charset="-122"/>
                <a:ea typeface="微软雅黑" panose="020B0503020204020204" pitchFamily="34" charset="-122"/>
                <a:cs typeface="+mn-ea"/>
              </a:rPr>
              <a:t>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(3) [4, 4, 4]</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2].fill(4, 1));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(3) [0, 4, 4]</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2].fill(4, 1, 2));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(3) [0, 4, 2]</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a:t>
            </a:r>
            <a:r>
              <a:rPr lang="zh-CN" altLang="zh-CN" sz="1800">
                <a:solidFill>
                  <a:srgbClr val="595959"/>
                </a:solidFill>
                <a:latin typeface="微软雅黑" panose="020B0503020204020204" pitchFamily="34" charset="-122"/>
                <a:ea typeface="微软雅黑" panose="020B0503020204020204" pitchFamily="34" charset="-122"/>
                <a:cs typeface="+mn-ea"/>
              </a:rPr>
              <a:t>使用</a:t>
            </a:r>
            <a:r>
              <a:rPr lang="en-US" altLang="zh-CN" sz="1800">
                <a:solidFill>
                  <a:srgbClr val="595959"/>
                </a:solidFill>
                <a:latin typeface="微软雅黑" panose="020B0503020204020204" pitchFamily="34" charset="-122"/>
                <a:ea typeface="微软雅黑" panose="020B0503020204020204" pitchFamily="34" charset="-122"/>
                <a:cs typeface="+mn-ea"/>
              </a:rPr>
              <a:t>slice()</a:t>
            </a:r>
            <a:r>
              <a:rPr lang="zh-CN" altLang="zh-CN" sz="1800">
                <a:solidFill>
                  <a:srgbClr val="595959"/>
                </a:solidFill>
                <a:latin typeface="微软雅黑" panose="020B0503020204020204" pitchFamily="34" charset="-122"/>
                <a:ea typeface="微软雅黑" panose="020B0503020204020204" pitchFamily="34" charset="-122"/>
                <a:cs typeface="+mn-ea"/>
              </a:rPr>
              <a:t>方法截取数组元素</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2].slice());           </a:t>
            </a:r>
            <a:r>
              <a:rPr lang="en-US" altLang="zh-CN" sz="1800" smtClean="0">
                <a:solidFill>
                  <a:srgbClr val="595959"/>
                </a:solidFill>
                <a:latin typeface="微软雅黑" panose="020B0503020204020204" pitchFamily="34" charset="-122"/>
                <a:ea typeface="微软雅黑" panose="020B0503020204020204" pitchFamily="34" charset="-122"/>
                <a:cs typeface="+mn-ea"/>
              </a:rPr>
              <a:t>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(3) [0, 1, 2]</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2].slice(1));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(2) [1, 2]</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2].slice(1, 2));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[1]</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 </a:t>
            </a:r>
            <a:r>
              <a:rPr lang="zh-CN" altLang="zh-CN" sz="1800">
                <a:solidFill>
                  <a:srgbClr val="595959"/>
                </a:solidFill>
                <a:latin typeface="微软雅黑" panose="020B0503020204020204" pitchFamily="34" charset="-122"/>
                <a:ea typeface="微软雅黑" panose="020B0503020204020204" pitchFamily="34" charset="-122"/>
                <a:cs typeface="+mn-ea"/>
              </a:rPr>
              <a:t>使用</a:t>
            </a:r>
            <a:r>
              <a:rPr lang="en-US" altLang="zh-CN" sz="1800">
                <a:solidFill>
                  <a:srgbClr val="595959"/>
                </a:solidFill>
                <a:latin typeface="微软雅黑" panose="020B0503020204020204" pitchFamily="34" charset="-122"/>
                <a:ea typeface="微软雅黑" panose="020B0503020204020204" pitchFamily="34" charset="-122"/>
                <a:cs typeface="+mn-ea"/>
              </a:rPr>
              <a:t>concat()</a:t>
            </a:r>
            <a:r>
              <a:rPr lang="zh-CN" altLang="zh-CN" sz="1800">
                <a:solidFill>
                  <a:srgbClr val="595959"/>
                </a:solidFill>
                <a:latin typeface="微软雅黑" panose="020B0503020204020204" pitchFamily="34" charset="-122"/>
                <a:ea typeface="微软雅黑" panose="020B0503020204020204" pitchFamily="34" charset="-122"/>
                <a:cs typeface="+mn-ea"/>
              </a:rPr>
              <a:t>方法将元素添加到数组中并连接两个数组</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2].concat(3</a:t>
            </a:r>
            <a:r>
              <a:rPr lang="en-US" altLang="zh-CN" sz="1800" smtClean="0">
                <a:solidFill>
                  <a:srgbClr val="595959"/>
                </a:solidFill>
                <a:latin typeface="微软雅黑" panose="020B0503020204020204" pitchFamily="34" charset="-122"/>
                <a:ea typeface="微软雅黑" panose="020B0503020204020204" pitchFamily="34" charset="-122"/>
                <a:cs typeface="+mn-ea"/>
              </a:rPr>
              <a:t>));</a:t>
            </a:r>
            <a:r>
              <a:rPr lang="en-US" altLang="zh-CN" sz="1800">
                <a:solidFill>
                  <a:srgbClr val="595959"/>
                </a:solidFill>
                <a:latin typeface="微软雅黑" panose="020B0503020204020204" pitchFamily="34" charset="-122"/>
                <a:ea typeface="微软雅黑" panose="020B0503020204020204" pitchFamily="34" charset="-122"/>
                <a:cs typeface="+mn-ea"/>
              </a:rPr>
              <a:t> </a:t>
            </a:r>
            <a:r>
              <a:rPr lang="en-US" altLang="zh-CN" sz="1800" smtClean="0">
                <a:solidFill>
                  <a:srgbClr val="595959"/>
                </a:solidFill>
                <a:latin typeface="微软雅黑" panose="020B0503020204020204" pitchFamily="34" charset="-122"/>
                <a:ea typeface="微软雅黑" panose="020B0503020204020204" pitchFamily="34" charset="-122"/>
                <a:cs typeface="+mn-ea"/>
              </a:rPr>
              <a:t>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(4) [0, 1, 2, 3]</a:t>
            </a:r>
            <a:endParaRPr lang="zh-CN" altLang="zh-CN" sz="18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mn-ea"/>
              </a:rPr>
              <a:t>console.log([0, 1, 2].concat([3, 4</a:t>
            </a:r>
            <a:r>
              <a:rPr lang="en-US" altLang="zh-CN" sz="1800" smtClean="0">
                <a:solidFill>
                  <a:srgbClr val="595959"/>
                </a:solidFill>
                <a:latin typeface="微软雅黑" panose="020B0503020204020204" pitchFamily="34" charset="-122"/>
                <a:ea typeface="微软雅黑" panose="020B0503020204020204" pitchFamily="34" charset="-122"/>
                <a:cs typeface="+mn-ea"/>
              </a:rPr>
              <a:t>]));   // </a:t>
            </a:r>
            <a:r>
              <a:rPr lang="zh-CN" altLang="zh-CN" sz="1800">
                <a:solidFill>
                  <a:srgbClr val="595959"/>
                </a:solidFill>
                <a:latin typeface="微软雅黑" panose="020B0503020204020204" pitchFamily="34" charset="-122"/>
                <a:ea typeface="微软雅黑" panose="020B0503020204020204" pitchFamily="34" charset="-122"/>
                <a:cs typeface="+mn-ea"/>
              </a:rPr>
              <a:t>输出结果为：</a:t>
            </a:r>
            <a:r>
              <a:rPr lang="en-US" altLang="zh-CN" sz="1800">
                <a:solidFill>
                  <a:srgbClr val="595959"/>
                </a:solidFill>
                <a:latin typeface="微软雅黑" panose="020B0503020204020204" pitchFamily="34" charset="-122"/>
                <a:ea typeface="微软雅黑" panose="020B0503020204020204" pitchFamily="34" charset="-122"/>
                <a:cs typeface="+mn-ea"/>
              </a:rPr>
              <a:t>(5) [0, 1, 2, 3, 4]</a:t>
            </a:r>
            <a:endParaRPr lang="zh-CN" altLang="zh-CN" sz="180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3637256" cy="830997"/>
          </a:xfrm>
          <a:prstGeom prst="rect">
            <a:avLst/>
          </a:prstGeom>
          <a:noFill/>
        </p:spPr>
        <p:txBody>
          <a:bodyPr wrap="square" lIns="91443" tIns="45720" rIns="91443" bIns="45720" rtlCol="0">
            <a:spAutoFit/>
          </a:bodyPr>
          <a:lstStyle/>
          <a:p>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字符串</a:t>
            </a:r>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对象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5.7</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a:solidFill>
                  <a:srgbClr val="1369B2"/>
                </a:solidFill>
                <a:latin typeface="微软雅黑" panose="020B0503020204020204" pitchFamily="34" charset="-122"/>
                <a:ea typeface="微软雅黑" panose="020B0503020204020204" pitchFamily="34" charset="-122"/>
                <a:cs typeface="+mn-ea"/>
              </a:rPr>
              <a:t>字符串对象的创建</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595959"/>
                </a:solidFill>
                <a:latin typeface="微软雅黑" panose="020B0503020204020204" pitchFamily="34" charset="-122"/>
                <a:ea typeface="微软雅黑" panose="020B0503020204020204" pitchFamily="34" charset="-122"/>
                <a:cs typeface="+mn-ea"/>
              </a:rPr>
              <a:t>灵活应用</a:t>
            </a:r>
            <a:r>
              <a:rPr lang="en-US" altLang="zh-CN" sz="2000">
                <a:solidFill>
                  <a:srgbClr val="1369B2"/>
                </a:solidFill>
                <a:latin typeface="微软雅黑" panose="020B0503020204020204" pitchFamily="34" charset="-122"/>
                <a:ea typeface="微软雅黑" panose="020B0503020204020204" pitchFamily="34" charset="-122"/>
                <a:cs typeface="+mn-ea"/>
              </a:rPr>
              <a:t>String()</a:t>
            </a:r>
            <a:r>
              <a:rPr lang="zh-CN" altLang="zh-CN" sz="2000">
                <a:solidFill>
                  <a:srgbClr val="1369B2"/>
                </a:solidFill>
                <a:latin typeface="微软雅黑" panose="020B0503020204020204" pitchFamily="34" charset="-122"/>
                <a:ea typeface="微软雅黑" panose="020B0503020204020204" pitchFamily="34" charset="-122"/>
                <a:cs typeface="+mn-ea"/>
              </a:rPr>
              <a:t>构造函数</a:t>
            </a:r>
            <a:r>
              <a:rPr lang="zh-CN" altLang="en-US" sz="2000">
                <a:solidFill>
                  <a:srgbClr val="595959"/>
                </a:solidFill>
                <a:latin typeface="微软雅黑" panose="020B0503020204020204" pitchFamily="34" charset="-122"/>
                <a:ea typeface="微软雅黑" panose="020B0503020204020204" pitchFamily="34" charset="-122"/>
                <a:cs typeface="+mn-ea"/>
              </a:rPr>
              <a:t>创建字符串对象</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0" y="1493129"/>
            <a:ext cx="10136092"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对象使用</a:t>
            </a:r>
            <a:r>
              <a:rPr lang="en-US" altLang="zh-CN" sz="2000" dirty="0">
                <a:solidFill>
                  <a:srgbClr val="1369B2"/>
                </a:solidFill>
                <a:latin typeface="微软雅黑" panose="020B0503020204020204" pitchFamily="34" charset="-122"/>
                <a:ea typeface="微软雅黑" panose="020B0503020204020204" pitchFamily="34" charset="-122"/>
                <a:cs typeface="+mn-ea"/>
              </a:rPr>
              <a:t>String()</a:t>
            </a:r>
            <a:r>
              <a:rPr lang="zh-CN" altLang="zh-CN" sz="2000" dirty="0">
                <a:solidFill>
                  <a:srgbClr val="1369B2"/>
                </a:solidFill>
                <a:latin typeface="微软雅黑" panose="020B0503020204020204" pitchFamily="34" charset="-122"/>
                <a:ea typeface="微软雅黑" panose="020B0503020204020204" pitchFamily="34" charset="-122"/>
                <a:cs typeface="+mn-ea"/>
              </a:rPr>
              <a:t>构造函数</a:t>
            </a:r>
            <a:r>
              <a:rPr lang="zh-CN" altLang="zh-CN" sz="2000" dirty="0">
                <a:solidFill>
                  <a:srgbClr val="595959"/>
                </a:solidFill>
                <a:latin typeface="微软雅黑" panose="020B0503020204020204" pitchFamily="34" charset="-122"/>
                <a:ea typeface="微软雅黑" panose="020B0503020204020204" pitchFamily="34" charset="-122"/>
                <a:cs typeface="+mn-ea"/>
              </a:rPr>
              <a:t>来创建，在</a:t>
            </a:r>
            <a:r>
              <a:rPr lang="en-US" altLang="zh-CN" sz="2000" dirty="0">
                <a:solidFill>
                  <a:srgbClr val="595959"/>
                </a:solidFill>
                <a:latin typeface="微软雅黑" panose="020B0503020204020204" pitchFamily="34" charset="-122"/>
                <a:ea typeface="微软雅黑" panose="020B0503020204020204" pitchFamily="34" charset="-122"/>
                <a:cs typeface="+mn-ea"/>
              </a:rPr>
              <a:t>String()</a:t>
            </a:r>
            <a:r>
              <a:rPr lang="zh-CN" altLang="zh-CN" sz="2000" dirty="0">
                <a:solidFill>
                  <a:srgbClr val="595959"/>
                </a:solidFill>
                <a:latin typeface="微软雅黑" panose="020B0503020204020204" pitchFamily="34" charset="-122"/>
                <a:ea typeface="微软雅黑" panose="020B0503020204020204" pitchFamily="34" charset="-122"/>
                <a:cs typeface="+mn-ea"/>
              </a:rPr>
              <a:t>构造函数中传入</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a:t>
            </a:r>
            <a:r>
              <a:rPr lang="zh-CN" altLang="zh-CN" sz="2000" dirty="0">
                <a:solidFill>
                  <a:srgbClr val="595959"/>
                </a:solidFill>
                <a:latin typeface="微软雅黑" panose="020B0503020204020204" pitchFamily="34" charset="-122"/>
                <a:ea typeface="微软雅黑" panose="020B0503020204020204" pitchFamily="34" charset="-122"/>
                <a:cs typeface="+mn-ea"/>
              </a:rPr>
              <a:t>，就会在创建的字符串对象中保存传入的字符串，示例代码如下。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143690" y="2853730"/>
            <a:ext cx="9416012" cy="1015663"/>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new String('Monday');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创建字符串对象</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String {'Monday</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0" y="1346442"/>
            <a:ext cx="10064083"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首先创建</a:t>
            </a:r>
            <a:r>
              <a:rPr lang="zh-CN" altLang="zh-CN" sz="2000" dirty="0">
                <a:solidFill>
                  <a:srgbClr val="595959"/>
                </a:solidFill>
                <a:latin typeface="微软雅黑" panose="020B0503020204020204" pitchFamily="34" charset="-122"/>
                <a:ea typeface="微软雅黑" panose="020B0503020204020204" pitchFamily="34" charset="-122"/>
                <a:cs typeface="+mn-ea"/>
              </a:rPr>
              <a:t>一个字符串对象，然后访问该字符串对象的</a:t>
            </a:r>
            <a:r>
              <a:rPr lang="en-US" altLang="zh-CN" sz="2000" dirty="0">
                <a:solidFill>
                  <a:srgbClr val="1369B2"/>
                </a:solidFill>
                <a:latin typeface="微软雅黑" panose="020B0503020204020204" pitchFamily="34" charset="-122"/>
                <a:ea typeface="微软雅黑" panose="020B0503020204020204" pitchFamily="34" charset="-122"/>
                <a:cs typeface="+mn-ea"/>
              </a:rPr>
              <a:t>length</a:t>
            </a:r>
            <a:r>
              <a:rPr lang="zh-CN" altLang="zh-CN" sz="2000" dirty="0">
                <a:solidFill>
                  <a:srgbClr val="1369B2"/>
                </a:solidFill>
                <a:latin typeface="微软雅黑" panose="020B0503020204020204" pitchFamily="34" charset="-122"/>
                <a:ea typeface="微软雅黑" panose="020B0503020204020204" pitchFamily="34" charset="-122"/>
                <a:cs typeface="+mn-ea"/>
              </a:rPr>
              <a:t>属性</a:t>
            </a:r>
            <a:r>
              <a:rPr lang="zh-CN" altLang="zh-CN" sz="2000" dirty="0">
                <a:solidFill>
                  <a:srgbClr val="595959"/>
                </a:solidFill>
                <a:latin typeface="微软雅黑" panose="020B0503020204020204" pitchFamily="34" charset="-122"/>
                <a:ea typeface="微软雅黑" panose="020B0503020204020204" pitchFamily="34" charset="-122"/>
                <a:cs typeface="+mn-ea"/>
              </a:rPr>
              <a:t>，并使用</a:t>
            </a:r>
            <a:r>
              <a:rPr lang="en-US" altLang="zh-CN" sz="2000" dirty="0" err="1">
                <a:solidFill>
                  <a:srgbClr val="1369B2"/>
                </a:solidFill>
                <a:latin typeface="微软雅黑" panose="020B0503020204020204" pitchFamily="34" charset="-122"/>
                <a:ea typeface="微软雅黑" panose="020B0503020204020204" pitchFamily="34" charset="-122"/>
                <a:cs typeface="+mn-ea"/>
              </a:rPr>
              <a:t>typeof</a:t>
            </a:r>
            <a:r>
              <a:rPr lang="zh-CN" altLang="zh-CN" sz="2000" dirty="0">
                <a:solidFill>
                  <a:srgbClr val="1369B2"/>
                </a:solidFill>
                <a:latin typeface="微软雅黑" panose="020B0503020204020204" pitchFamily="34" charset="-122"/>
                <a:ea typeface="微软雅黑" panose="020B0503020204020204" pitchFamily="34" charset="-122"/>
                <a:cs typeface="+mn-ea"/>
              </a:rPr>
              <a:t>运算符</a:t>
            </a:r>
            <a:r>
              <a:rPr lang="zh-CN" altLang="zh-CN" sz="2000" dirty="0">
                <a:solidFill>
                  <a:srgbClr val="595959"/>
                </a:solidFill>
                <a:latin typeface="微软雅黑" panose="020B0503020204020204" pitchFamily="34" charset="-122"/>
                <a:ea typeface="微软雅黑" panose="020B0503020204020204" pitchFamily="34" charset="-122"/>
                <a:cs typeface="+mn-ea"/>
              </a:rPr>
              <a:t>检测字符串对象的数据类型，示例代码如下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774725" y="2637706"/>
            <a:ext cx="8933657" cy="2862322"/>
          </a:xfrm>
          <a:prstGeom prst="rect">
            <a:avLst/>
          </a:prstGeom>
          <a:solidFill>
            <a:srgbClr val="F2F2F2"/>
          </a:solidFill>
        </p:spPr>
        <p:txBody>
          <a:bodyPr wrap="square" rtlCol="0">
            <a:spAutoFit/>
          </a:bodyPr>
          <a:lstStyle/>
          <a:p>
            <a:pPr lvl="1">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创建字符串对象</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str01 = new String('Tuesday');</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访问字符串对象的</a:t>
            </a:r>
            <a:r>
              <a:rPr lang="en-US" altLang="zh-CN" sz="2000" dirty="0">
                <a:solidFill>
                  <a:srgbClr val="595959"/>
                </a:solidFill>
                <a:latin typeface="微软雅黑" panose="020B0503020204020204" pitchFamily="34" charset="-122"/>
                <a:ea typeface="微软雅黑" panose="020B0503020204020204" pitchFamily="34" charset="-122"/>
                <a:cs typeface="+mn-ea"/>
              </a:rPr>
              <a:t>length</a:t>
            </a:r>
            <a:r>
              <a:rPr lang="zh-CN" altLang="zh-CN" sz="2000" dirty="0">
                <a:solidFill>
                  <a:srgbClr val="595959"/>
                </a:solidFill>
                <a:latin typeface="微软雅黑" panose="020B0503020204020204" pitchFamily="34" charset="-122"/>
                <a:ea typeface="微软雅黑" panose="020B0503020204020204" pitchFamily="34" charset="-122"/>
                <a:cs typeface="+mn-ea"/>
              </a:rPr>
              <a:t>属性</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console.log(str01.length);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7</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typeof</a:t>
            </a:r>
            <a:r>
              <a:rPr lang="zh-CN" altLang="zh-CN" sz="2000" dirty="0">
                <a:solidFill>
                  <a:srgbClr val="595959"/>
                </a:solidFill>
                <a:latin typeface="微软雅黑" panose="020B0503020204020204" pitchFamily="34" charset="-122"/>
                <a:ea typeface="微软雅黑" panose="020B0503020204020204" pitchFamily="34" charset="-122"/>
                <a:cs typeface="+mn-ea"/>
              </a:rPr>
              <a:t>运算符检测字符串对象的数据类型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typeof</a:t>
            </a:r>
            <a:r>
              <a:rPr lang="en-US" altLang="zh-CN" sz="2000" dirty="0">
                <a:solidFill>
                  <a:srgbClr val="595959"/>
                </a:solidFill>
                <a:latin typeface="微软雅黑" panose="020B0503020204020204" pitchFamily="34" charset="-122"/>
                <a:ea typeface="微软雅黑" panose="020B0503020204020204" pitchFamily="34" charset="-122"/>
                <a:cs typeface="+mn-ea"/>
              </a:rPr>
              <a:t> str01);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object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1" y="1413570"/>
            <a:ext cx="9562820" cy="1015663"/>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需要</a:t>
            </a:r>
            <a:r>
              <a:rPr lang="zh-CN" altLang="zh-CN" sz="2000">
                <a:solidFill>
                  <a:srgbClr val="595959"/>
                </a:solidFill>
                <a:latin typeface="微软雅黑" panose="020B0503020204020204" pitchFamily="34" charset="-122"/>
                <a:ea typeface="微软雅黑" panose="020B0503020204020204" pitchFamily="34" charset="-122"/>
                <a:cs typeface="+mn-ea"/>
              </a:rPr>
              <a:t>说明的是，通过保存了</a:t>
            </a:r>
            <a:r>
              <a:rPr lang="zh-CN" altLang="zh-CN" sz="2000">
                <a:solidFill>
                  <a:srgbClr val="1369B2"/>
                </a:solidFill>
                <a:latin typeface="微软雅黑" panose="020B0503020204020204" pitchFamily="34" charset="-122"/>
                <a:ea typeface="微软雅黑" panose="020B0503020204020204" pitchFamily="34" charset="-122"/>
                <a:cs typeface="+mn-ea"/>
              </a:rPr>
              <a:t>字符串数据的变量</a:t>
            </a:r>
            <a:r>
              <a:rPr lang="zh-CN" altLang="zh-CN" sz="2000">
                <a:solidFill>
                  <a:srgbClr val="595959"/>
                </a:solidFill>
                <a:latin typeface="微软雅黑" panose="020B0503020204020204" pitchFamily="34" charset="-122"/>
                <a:ea typeface="微软雅黑" panose="020B0503020204020204" pitchFamily="34" charset="-122"/>
                <a:cs typeface="+mn-ea"/>
              </a:rPr>
              <a:t>也可以访问字符串对象的</a:t>
            </a:r>
            <a:r>
              <a:rPr lang="zh-CN" altLang="zh-CN" sz="2000">
                <a:solidFill>
                  <a:srgbClr val="1369B2"/>
                </a:solidFill>
                <a:latin typeface="微软雅黑" panose="020B0503020204020204" pitchFamily="34" charset="-122"/>
                <a:ea typeface="微软雅黑" panose="020B0503020204020204" pitchFamily="34" charset="-122"/>
                <a:cs typeface="+mn-ea"/>
              </a:rPr>
              <a:t>属性</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方法</a:t>
            </a:r>
            <a:r>
              <a:rPr lang="zh-CN" altLang="zh-CN" sz="2000">
                <a:solidFill>
                  <a:srgbClr val="595959"/>
                </a:solidFill>
                <a:latin typeface="微软雅黑" panose="020B0503020204020204" pitchFamily="34" charset="-122"/>
                <a:ea typeface="微软雅黑" panose="020B0503020204020204" pitchFamily="34" charset="-122"/>
                <a:cs typeface="+mn-ea"/>
              </a:rPr>
              <a:t>，示例代码如下。</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342678" y="2637706"/>
            <a:ext cx="8933657" cy="2862322"/>
          </a:xfrm>
          <a:prstGeom prst="rect">
            <a:avLst/>
          </a:prstGeom>
          <a:solidFill>
            <a:srgbClr val="F2F2F2"/>
          </a:solidFill>
        </p:spPr>
        <p:txBody>
          <a:bodyPr wrap="square" rtlCol="0">
            <a:spAutoFit/>
          </a:bodyPr>
          <a:lstStyle/>
          <a:p>
            <a:pPr lvl="1">
              <a:lnSpc>
                <a:spcPct val="150000"/>
              </a:lnSpc>
            </a:pPr>
            <a:r>
              <a:rPr lang="en-US" altLang="zh-CN" sz="2000" smtClean="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定义保存了字符串数据的变量</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var str02 = 'Tuesday';</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访问变量</a:t>
            </a:r>
            <a:r>
              <a:rPr lang="en-US" altLang="zh-CN" sz="2000">
                <a:solidFill>
                  <a:srgbClr val="595959"/>
                </a:solidFill>
                <a:latin typeface="微软雅黑" panose="020B0503020204020204" pitchFamily="34" charset="-122"/>
                <a:ea typeface="微软雅黑" panose="020B0503020204020204" pitchFamily="34" charset="-122"/>
                <a:cs typeface="+mn-ea"/>
              </a:rPr>
              <a:t>str02</a:t>
            </a:r>
            <a:r>
              <a:rPr lang="zh-CN" altLang="zh-CN" sz="2000">
                <a:solidFill>
                  <a:srgbClr val="595959"/>
                </a:solidFill>
                <a:latin typeface="微软雅黑" panose="020B0503020204020204" pitchFamily="34" charset="-122"/>
                <a:ea typeface="微软雅黑" panose="020B0503020204020204" pitchFamily="34" charset="-122"/>
                <a:cs typeface="+mn-ea"/>
              </a:rPr>
              <a:t>的</a:t>
            </a:r>
            <a:r>
              <a:rPr lang="en-US" altLang="zh-CN" sz="2000">
                <a:solidFill>
                  <a:srgbClr val="595959"/>
                </a:solidFill>
                <a:latin typeface="微软雅黑" panose="020B0503020204020204" pitchFamily="34" charset="-122"/>
                <a:ea typeface="微软雅黑" panose="020B0503020204020204" pitchFamily="34" charset="-122"/>
                <a:cs typeface="+mn-ea"/>
              </a:rPr>
              <a:t>length</a:t>
            </a:r>
            <a:r>
              <a:rPr lang="zh-CN" altLang="zh-CN" sz="2000">
                <a:solidFill>
                  <a:srgbClr val="595959"/>
                </a:solidFill>
                <a:latin typeface="微软雅黑" panose="020B0503020204020204" pitchFamily="34" charset="-122"/>
                <a:ea typeface="微软雅黑" panose="020B0503020204020204" pitchFamily="34" charset="-122"/>
                <a:cs typeface="+mn-ea"/>
              </a:rPr>
              <a:t>属性</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console.log(str02.length);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7</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 </a:t>
            </a:r>
            <a:r>
              <a:rPr lang="zh-CN" altLang="zh-CN" sz="2000">
                <a:solidFill>
                  <a:srgbClr val="595959"/>
                </a:solidFill>
                <a:latin typeface="微软雅黑" panose="020B0503020204020204" pitchFamily="34" charset="-122"/>
                <a:ea typeface="微软雅黑" panose="020B0503020204020204" pitchFamily="34" charset="-122"/>
                <a:cs typeface="+mn-ea"/>
              </a:rPr>
              <a:t>使用</a:t>
            </a:r>
            <a:r>
              <a:rPr lang="en-US" altLang="zh-CN" sz="2000">
                <a:solidFill>
                  <a:srgbClr val="595959"/>
                </a:solidFill>
                <a:latin typeface="微软雅黑" panose="020B0503020204020204" pitchFamily="34" charset="-122"/>
                <a:ea typeface="微软雅黑" panose="020B0503020204020204" pitchFamily="34" charset="-122"/>
                <a:cs typeface="+mn-ea"/>
              </a:rPr>
              <a:t>typeof</a:t>
            </a:r>
            <a:r>
              <a:rPr lang="zh-CN" altLang="zh-CN" sz="2000">
                <a:solidFill>
                  <a:srgbClr val="595959"/>
                </a:solidFill>
                <a:latin typeface="微软雅黑" panose="020B0503020204020204" pitchFamily="34" charset="-122"/>
                <a:ea typeface="微软雅黑" panose="020B0503020204020204" pitchFamily="34" charset="-122"/>
                <a:cs typeface="+mn-ea"/>
              </a:rPr>
              <a:t>运算符检测变量</a:t>
            </a:r>
            <a:r>
              <a:rPr lang="en-US" altLang="zh-CN" sz="2000">
                <a:solidFill>
                  <a:srgbClr val="595959"/>
                </a:solidFill>
                <a:latin typeface="微软雅黑" panose="020B0503020204020204" pitchFamily="34" charset="-122"/>
                <a:ea typeface="微软雅黑" panose="020B0503020204020204" pitchFamily="34" charset="-122"/>
                <a:cs typeface="+mn-ea"/>
              </a:rPr>
              <a:t>str02</a:t>
            </a:r>
            <a:r>
              <a:rPr lang="zh-CN" altLang="zh-CN" sz="2000">
                <a:solidFill>
                  <a:srgbClr val="595959"/>
                </a:solidFill>
                <a:latin typeface="微软雅黑" panose="020B0503020204020204" pitchFamily="34" charset="-122"/>
                <a:ea typeface="微软雅黑" panose="020B0503020204020204" pitchFamily="34" charset="-122"/>
                <a:cs typeface="+mn-ea"/>
              </a:rPr>
              <a:t>的数据类型</a:t>
            </a:r>
            <a:endParaRPr lang="zh-CN" altLang="zh-CN" sz="200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mn-ea"/>
              </a:rPr>
              <a:t>console.log(typeof str02);                  </a:t>
            </a:r>
            <a:r>
              <a:rPr lang="en-US" altLang="zh-CN" sz="2000" smtClean="0">
                <a:solidFill>
                  <a:srgbClr val="595959"/>
                </a:solidFill>
                <a:latin typeface="微软雅黑" panose="020B0503020204020204" pitchFamily="34" charset="-122"/>
                <a:ea typeface="微软雅黑" panose="020B0503020204020204" pitchFamily="34" charset="-122"/>
                <a:cs typeface="+mn-ea"/>
              </a:rPr>
              <a:t>              // </a:t>
            </a:r>
            <a:r>
              <a:rPr lang="zh-CN" altLang="zh-CN" sz="200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a:solidFill>
                  <a:srgbClr val="595959"/>
                </a:solidFill>
                <a:latin typeface="微软雅黑" panose="020B0503020204020204" pitchFamily="34" charset="-122"/>
                <a:ea typeface="微软雅黑" panose="020B0503020204020204" pitchFamily="34" charset="-122"/>
                <a:cs typeface="+mn-ea"/>
              </a:rPr>
              <a:t>string</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5.7.1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创建</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字符串对象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根据字符返回索引</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595959"/>
                </a:solidFill>
                <a:latin typeface="微软雅黑" panose="020B0503020204020204" pitchFamily="34" charset="-122"/>
                <a:ea typeface="微软雅黑" panose="020B0503020204020204" pitchFamily="34" charset="-122"/>
                <a:cs typeface="+mn-ea"/>
              </a:rPr>
              <a:t>灵活</a:t>
            </a:r>
            <a:r>
              <a:rPr lang="zh-CN" altLang="en-US" sz="2000" smtClean="0">
                <a:solidFill>
                  <a:srgbClr val="595959"/>
                </a:solidFill>
                <a:latin typeface="微软雅黑" panose="020B0503020204020204" pitchFamily="34" charset="-122"/>
                <a:ea typeface="微软雅黑" panose="020B0503020204020204" pitchFamily="34" charset="-122"/>
                <a:cs typeface="+mn-ea"/>
              </a:rPr>
              <a:t>应用</a:t>
            </a:r>
            <a:r>
              <a:rPr lang="zh-CN" altLang="en-US" sz="2000" smtClean="0">
                <a:solidFill>
                  <a:srgbClr val="1369B2"/>
                </a:solidFill>
                <a:latin typeface="微软雅黑" panose="020B0503020204020204" pitchFamily="34" charset="-122"/>
                <a:ea typeface="微软雅黑" panose="020B0503020204020204" pitchFamily="34" charset="-122"/>
                <a:cs typeface="+mn-ea"/>
              </a:rPr>
              <a:t>根据字符返回索引</a:t>
            </a:r>
            <a:r>
              <a:rPr lang="zh-CN" altLang="en-US" sz="2000" smtClean="0">
                <a:solidFill>
                  <a:srgbClr val="595959"/>
                </a:solidFill>
                <a:latin typeface="微软雅黑" panose="020B0503020204020204" pitchFamily="34" charset="-122"/>
                <a:ea typeface="微软雅黑" panose="020B0503020204020204" pitchFamily="34" charset="-122"/>
                <a:cs typeface="+mn-ea"/>
              </a:rPr>
              <a:t>的方法</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5.7.2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字符返回索引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35"/>
          <p:cNvSpPr txBox="1">
            <a:spLocks noChangeArrowheads="1"/>
          </p:cNvSpPr>
          <p:nvPr/>
        </p:nvSpPr>
        <p:spPr bwMode="auto">
          <a:xfrm>
            <a:off x="1143690" y="1197546"/>
            <a:ext cx="8568952" cy="584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a:solidFill>
                  <a:srgbClr val="1369B2"/>
                </a:solidFill>
                <a:latin typeface="微软雅黑" panose="020B0503020204020204" pitchFamily="34" charset="-122"/>
                <a:ea typeface="微软雅黑" panose="020B0503020204020204" pitchFamily="34" charset="-122"/>
                <a:cs typeface="+mn-ea"/>
              </a:rPr>
              <a:t>字符串对象</a:t>
            </a:r>
            <a:r>
              <a:rPr lang="zh-CN" altLang="zh-CN" sz="2000">
                <a:solidFill>
                  <a:srgbClr val="595959"/>
                </a:solidFill>
                <a:latin typeface="微软雅黑" panose="020B0503020204020204" pitchFamily="34" charset="-122"/>
                <a:ea typeface="微软雅黑" panose="020B0503020204020204" pitchFamily="34" charset="-122"/>
                <a:cs typeface="+mn-ea"/>
              </a:rPr>
              <a:t>提供了用于</a:t>
            </a:r>
            <a:r>
              <a:rPr lang="zh-CN" altLang="zh-CN" sz="2000">
                <a:solidFill>
                  <a:srgbClr val="1369B2"/>
                </a:solidFill>
                <a:latin typeface="微软雅黑" panose="020B0503020204020204" pitchFamily="34" charset="-122"/>
                <a:ea typeface="微软雅黑" panose="020B0503020204020204" pitchFamily="34" charset="-122"/>
                <a:cs typeface="+mn-ea"/>
              </a:rPr>
              <a:t>根据字符串返回索引</a:t>
            </a:r>
            <a:r>
              <a:rPr lang="zh-CN" altLang="zh-CN" sz="2000">
                <a:solidFill>
                  <a:srgbClr val="595959"/>
                </a:solidFill>
                <a:latin typeface="微软雅黑" panose="020B0503020204020204" pitchFamily="34" charset="-122"/>
                <a:ea typeface="微软雅黑" panose="020B0503020204020204" pitchFamily="34" charset="-122"/>
                <a:cs typeface="+mn-ea"/>
              </a:rPr>
              <a:t>的方法，具体</a:t>
            </a:r>
            <a:r>
              <a:rPr lang="zh-CN" altLang="en-US" sz="200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0" name="表格 9"/>
          <p:cNvGraphicFramePr>
            <a:graphicFrameLocks noGrp="1"/>
          </p:cNvGraphicFramePr>
          <p:nvPr/>
        </p:nvGraphicFramePr>
        <p:xfrm>
          <a:off x="1342678" y="2061642"/>
          <a:ext cx="9649072" cy="3619333"/>
        </p:xfrm>
        <a:graphic>
          <a:graphicData uri="http://schemas.openxmlformats.org/drawingml/2006/table">
            <a:tbl>
              <a:tblPr>
                <a:tableStyleId>{7DF18680-E054-41AD-8BC1-D1AEF772440D}</a:tableStyleId>
              </a:tblPr>
              <a:tblGrid>
                <a:gridCol w="3456384"/>
                <a:gridCol w="6192688"/>
              </a:tblGrid>
              <a:tr h="648072">
                <a:tc>
                  <a:txBody>
                    <a:bodyPr/>
                    <a:lstStyle/>
                    <a:p>
                      <a:pPr indent="127000" algn="ctr">
                        <a:spcAft>
                          <a:spcPts val="0"/>
                        </a:spcAft>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20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350407">
                <a:tc>
                  <a:txBody>
                    <a:bodyPr/>
                    <a:lstStyle/>
                    <a:p>
                      <a:pPr marL="0" indent="127000" algn="l" defTabSz="1219200" rtl="0" eaLnBrk="1" latinLnBrk="0" hangingPunct="1">
                        <a:lnSpc>
                          <a:spcPct val="150000"/>
                        </a:lnSpc>
                        <a:spcAft>
                          <a:spcPts val="0"/>
                        </a:spcAft>
                      </a:pP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indexOf</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searchValue</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fromIndex</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searchValue</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在字符串中首次出现的索引，如果找不到则返回</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。可选参数</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fromIndex</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表示从指定索引开始向后搜索，默认为</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599661">
                <a:tc>
                  <a:txBody>
                    <a:bodyPr/>
                    <a:lstStyle/>
                    <a:p>
                      <a:pPr marL="0" indent="127000" algn="l" defTabSz="1219200" rtl="0" eaLnBrk="1" latinLnBrk="0" hangingPunct="1">
                        <a:lnSpc>
                          <a:spcPct val="150000"/>
                        </a:lnSpc>
                        <a:spcAft>
                          <a:spcPts val="0"/>
                        </a:spcAft>
                      </a:pP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lastIndexOf</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searchValue</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fromIndex</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searchValue</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在字符串中最后一次出现的索引，如果找不到则返回</a:t>
                      </a:r>
                      <a:r>
                        <a:rPr lang="en-US"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。可选参数</a:t>
                      </a:r>
                      <a:r>
                        <a:rPr lang="en-US" sz="2000" b="0" kern="1200" dirty="0" err="1">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fromIndex</a:t>
                      </a:r>
                      <a:r>
                        <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表示从指定索引开始向前搜索，默认为最后一个字符的索引</a:t>
                      </a:r>
                      <a:endParaRPr lang="zh-CN" sz="20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
        <p:nvSpPr>
          <p:cNvPr id="5"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5.7.2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字符返回索引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70670" y="1427230"/>
            <a:ext cx="8931785" cy="55399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a:solidFill>
                  <a:srgbClr val="595959"/>
                </a:solidFill>
                <a:latin typeface="微软雅黑" panose="020B0503020204020204" pitchFamily="34" charset="-122"/>
                <a:ea typeface="微软雅黑" panose="020B0503020204020204" pitchFamily="34" charset="-122"/>
                <a:cs typeface="+mn-ea"/>
              </a:rPr>
              <a:t>通过代码演示</a:t>
            </a:r>
            <a:r>
              <a:rPr lang="en-US" altLang="zh-CN" sz="2000">
                <a:solidFill>
                  <a:srgbClr val="1369B2"/>
                </a:solidFill>
                <a:latin typeface="微软雅黑" panose="020B0503020204020204" pitchFamily="34" charset="-122"/>
                <a:ea typeface="微软雅黑" panose="020B0503020204020204" pitchFamily="34" charset="-122"/>
                <a:cs typeface="+mn-ea"/>
              </a:rPr>
              <a:t>indexOf()</a:t>
            </a:r>
            <a:r>
              <a:rPr lang="zh-CN" altLang="zh-CN" sz="2000">
                <a:solidFill>
                  <a:srgbClr val="595959"/>
                </a:solidFill>
                <a:latin typeface="微软雅黑" panose="020B0503020204020204" pitchFamily="34" charset="-122"/>
                <a:ea typeface="微软雅黑" panose="020B0503020204020204" pitchFamily="34" charset="-122"/>
                <a:cs typeface="+mn-ea"/>
              </a:rPr>
              <a:t>方法和</a:t>
            </a:r>
            <a:r>
              <a:rPr lang="en-US" altLang="zh-CN" sz="2000">
                <a:solidFill>
                  <a:srgbClr val="1369B2"/>
                </a:solidFill>
                <a:latin typeface="微软雅黑" panose="020B0503020204020204" pitchFamily="34" charset="-122"/>
                <a:ea typeface="微软雅黑" panose="020B0503020204020204" pitchFamily="34" charset="-122"/>
                <a:cs typeface="+mn-ea"/>
              </a:rPr>
              <a:t>lastIndexOf()</a:t>
            </a:r>
            <a:r>
              <a:rPr lang="zh-CN" altLang="zh-CN" sz="2000">
                <a:solidFill>
                  <a:srgbClr val="595959"/>
                </a:solidFill>
                <a:latin typeface="微软雅黑" panose="020B0503020204020204" pitchFamily="34" charset="-122"/>
                <a:ea typeface="微软雅黑" panose="020B0503020204020204" pitchFamily="34" charset="-122"/>
                <a:cs typeface="+mn-ea"/>
              </a:rPr>
              <a:t>方法的</a:t>
            </a:r>
            <a:r>
              <a:rPr lang="zh-CN" altLang="zh-CN" sz="2000" smtClean="0">
                <a:solidFill>
                  <a:srgbClr val="595959"/>
                </a:solidFill>
                <a:latin typeface="微软雅黑" panose="020B0503020204020204" pitchFamily="34" charset="-122"/>
                <a:ea typeface="微软雅黑" panose="020B0503020204020204" pitchFamily="34" charset="-122"/>
                <a:cs typeface="+mn-ea"/>
              </a:rPr>
              <a:t>使用。</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270670" y="2456522"/>
            <a:ext cx="9506929" cy="1477328"/>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'HelloWorld';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str.indexOf</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('1');          // </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获取</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'1</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字符串中首次出现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索引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返回结果为：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2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str.lastIndexOf</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('1');    // </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获取</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'1</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字符串中最后出现</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索引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返回结果为：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8</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5.7.2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字符返回索引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0" y="930722"/>
            <a:ext cx="9961742"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要求</a:t>
            </a:r>
            <a:r>
              <a:rPr lang="zh-CN" altLang="zh-CN" sz="2000" dirty="0">
                <a:solidFill>
                  <a:srgbClr val="595959"/>
                </a:solidFill>
                <a:latin typeface="微软雅黑" panose="020B0503020204020204" pitchFamily="34" charset="-122"/>
                <a:ea typeface="微软雅黑" panose="020B0503020204020204" pitchFamily="34" charset="-122"/>
                <a:cs typeface="+mn-ea"/>
              </a:rPr>
              <a:t>在字符串</a:t>
            </a:r>
            <a:r>
              <a:rPr lang="en-US" altLang="zh-CN" sz="2000" dirty="0">
                <a:solidFill>
                  <a:srgbClr val="1369B2"/>
                </a:solidFill>
                <a:latin typeface="微软雅黑" panose="020B0503020204020204" pitchFamily="34" charset="-122"/>
                <a:ea typeface="微软雅黑" panose="020B0503020204020204" pitchFamily="34" charset="-122"/>
                <a:cs typeface="+mn-ea"/>
              </a:rPr>
              <a:t>'Hello World, Hello 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中找到</a:t>
            </a:r>
            <a:r>
              <a:rPr lang="zh-CN" altLang="zh-CN" sz="2000" dirty="0">
                <a:solidFill>
                  <a:srgbClr val="1369B2"/>
                </a:solidFill>
                <a:latin typeface="微软雅黑" panose="020B0503020204020204" pitchFamily="34" charset="-122"/>
                <a:ea typeface="微软雅黑" panose="020B0503020204020204" pitchFamily="34" charset="-122"/>
                <a:cs typeface="+mn-ea"/>
              </a:rPr>
              <a:t>所有字符</a:t>
            </a:r>
            <a:r>
              <a:rPr lang="en-US" altLang="zh-CN" sz="2000" dirty="0">
                <a:solidFill>
                  <a:srgbClr val="1369B2"/>
                </a:solidFill>
                <a:latin typeface="微软雅黑" panose="020B0503020204020204" pitchFamily="34" charset="-122"/>
                <a:ea typeface="微软雅黑" panose="020B0503020204020204" pitchFamily="34" charset="-122"/>
                <a:cs typeface="+mn-ea"/>
              </a:rPr>
              <a:t>'o'</a:t>
            </a:r>
            <a:r>
              <a:rPr lang="zh-CN" altLang="zh-CN" sz="2000" dirty="0">
                <a:solidFill>
                  <a:srgbClr val="1369B2"/>
                </a:solidFill>
                <a:latin typeface="微软雅黑" panose="020B0503020204020204" pitchFamily="34" charset="-122"/>
                <a:ea typeface="微软雅黑" panose="020B0503020204020204" pitchFamily="34" charset="-122"/>
                <a:cs typeface="+mn-ea"/>
              </a:rPr>
              <a:t>的索引</a:t>
            </a:r>
            <a:r>
              <a:rPr lang="zh-CN" altLang="zh-CN" sz="2000" dirty="0">
                <a:solidFill>
                  <a:srgbClr val="595959"/>
                </a:solidFill>
                <a:latin typeface="微软雅黑" panose="020B0503020204020204" pitchFamily="34" charset="-122"/>
                <a:ea typeface="微软雅黑" panose="020B0503020204020204" pitchFamily="34" charset="-122"/>
                <a:cs typeface="+mn-ea"/>
              </a:rPr>
              <a:t>，并</a:t>
            </a:r>
            <a:r>
              <a:rPr lang="zh-CN" altLang="zh-CN" sz="2000" dirty="0">
                <a:solidFill>
                  <a:srgbClr val="1369B2"/>
                </a:solidFill>
                <a:latin typeface="微软雅黑" panose="020B0503020204020204" pitchFamily="34" charset="-122"/>
                <a:ea typeface="微软雅黑" panose="020B0503020204020204" pitchFamily="34" charset="-122"/>
                <a:cs typeface="+mn-ea"/>
              </a:rPr>
              <a:t>统计字符</a:t>
            </a:r>
            <a:r>
              <a:rPr lang="en-US" altLang="zh-CN" sz="2000" dirty="0">
                <a:solidFill>
                  <a:srgbClr val="1369B2"/>
                </a:solidFill>
                <a:latin typeface="微软雅黑" panose="020B0503020204020204" pitchFamily="34" charset="-122"/>
                <a:ea typeface="微软雅黑" panose="020B0503020204020204" pitchFamily="34" charset="-122"/>
                <a:cs typeface="+mn-ea"/>
              </a:rPr>
              <a:t>'o'</a:t>
            </a:r>
            <a:r>
              <a:rPr lang="zh-CN" altLang="zh-CN" sz="2000" dirty="0">
                <a:solidFill>
                  <a:srgbClr val="1369B2"/>
                </a:solidFill>
                <a:latin typeface="微软雅黑" panose="020B0503020204020204" pitchFamily="34" charset="-122"/>
                <a:ea typeface="微软雅黑" panose="020B0503020204020204" pitchFamily="34" charset="-122"/>
                <a:cs typeface="+mn-ea"/>
              </a:rPr>
              <a:t>出现的次数</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2992213" y="1997185"/>
            <a:ext cx="6264695" cy="4247317"/>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'Hello World, Hello JavaScript';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index =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str.indexOf</a:t>
            </a:r>
            <a:r>
              <a:rPr lang="en-US" altLang="zh-CN" sz="2000" dirty="0">
                <a:solidFill>
                  <a:srgbClr val="595959"/>
                </a:solidFill>
                <a:latin typeface="微软雅黑" panose="020B0503020204020204" pitchFamily="34" charset="-122"/>
                <a:ea typeface="微软雅黑" panose="020B0503020204020204" pitchFamily="34" charset="-122"/>
                <a:cs typeface="+mn-ea"/>
              </a:rPr>
              <a:t>('o');</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cs typeface="+mn-ea"/>
              </a:rPr>
              <a:t>var</a:t>
            </a: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num</a:t>
            </a:r>
            <a:r>
              <a:rPr lang="en-US" altLang="zh-CN" sz="2000" dirty="0">
                <a:solidFill>
                  <a:srgbClr val="595959"/>
                </a:solidFill>
                <a:latin typeface="微软雅黑" panose="020B0503020204020204" pitchFamily="34" charset="-122"/>
                <a:ea typeface="微软雅黑" panose="020B0503020204020204" pitchFamily="34" charset="-122"/>
                <a:cs typeface="+mn-ea"/>
              </a:rPr>
              <a:t> = 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while (index != -1)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console.log(index);</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index =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str.indexOf</a:t>
            </a:r>
            <a:r>
              <a:rPr lang="en-US" altLang="zh-CN" sz="2000" dirty="0">
                <a:solidFill>
                  <a:srgbClr val="595959"/>
                </a:solidFill>
                <a:latin typeface="微软雅黑" panose="020B0503020204020204" pitchFamily="34" charset="-122"/>
                <a:ea typeface="微软雅黑" panose="020B0503020204020204" pitchFamily="34" charset="-122"/>
                <a:cs typeface="+mn-ea"/>
              </a:rPr>
              <a:t>('o', index + 1);</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num</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console.log(`o</a:t>
            </a:r>
            <a:r>
              <a:rPr lang="zh-CN" altLang="zh-CN" sz="2000" dirty="0">
                <a:solidFill>
                  <a:srgbClr val="595959"/>
                </a:solidFill>
                <a:latin typeface="微软雅黑" panose="020B0503020204020204" pitchFamily="34" charset="-122"/>
                <a:ea typeface="微软雅黑" panose="020B0503020204020204" pitchFamily="34" charset="-122"/>
                <a:cs typeface="+mn-ea"/>
              </a:rPr>
              <a:t>出现的次数是：</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en-US" altLang="zh-CN" sz="2000" dirty="0" err="1">
                <a:solidFill>
                  <a:srgbClr val="595959"/>
                </a:solidFill>
                <a:latin typeface="微软雅黑" panose="020B0503020204020204" pitchFamily="34" charset="-122"/>
                <a:ea typeface="微软雅黑" panose="020B0503020204020204" pitchFamily="34" charset="-122"/>
                <a:cs typeface="+mn-ea"/>
              </a:rPr>
              <a:t>num</a:t>
            </a:r>
            <a:r>
              <a:rPr lang="en-US"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5.7.2	</a:t>
            </a:r>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字符返回索引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根据索引返回</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字符</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dirty="0">
                <a:solidFill>
                  <a:srgbClr val="595959"/>
                </a:solidFill>
                <a:latin typeface="微软雅黑" panose="020B0503020204020204" pitchFamily="34" charset="-122"/>
                <a:ea typeface="微软雅黑" panose="020B0503020204020204" pitchFamily="34" charset="-122"/>
                <a:cs typeface="+mn-ea"/>
              </a:rPr>
              <a:t>灵活</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应用</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根据索引返回</a:t>
            </a:r>
            <a:r>
              <a:rPr lang="zh-CN" altLang="en-US" sz="2000" dirty="0" smtClean="0">
                <a:solidFill>
                  <a:srgbClr val="1369B2"/>
                </a:solidFill>
                <a:latin typeface="微软雅黑" panose="020B0503020204020204" pitchFamily="34" charset="-122"/>
                <a:ea typeface="微软雅黑" panose="020B0503020204020204" pitchFamily="34" charset="-122"/>
                <a:cs typeface="+mn-ea"/>
              </a:rPr>
              <a:t>字符</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5.7.3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根据索引返回</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3690" y="1125554"/>
            <a:ext cx="10148378" cy="1015663"/>
          </a:xfrm>
          <a:prstGeom prst="rect">
            <a:avLst/>
          </a:prstGeom>
          <a:noFill/>
        </p:spPr>
        <p:txBody>
          <a:bodyPr wrap="square" rtlCol="0">
            <a:spAutoFit/>
          </a:bodyPr>
          <a:lstStyle/>
          <a:p>
            <a:pPr>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字符串对象</a:t>
            </a:r>
            <a:r>
              <a:rPr lang="zh-CN" altLang="zh-CN" sz="2000" dirty="0">
                <a:solidFill>
                  <a:srgbClr val="595959"/>
                </a:solidFill>
                <a:latin typeface="微软雅黑" panose="020B0503020204020204" pitchFamily="34" charset="-122"/>
                <a:ea typeface="微软雅黑" panose="020B0503020204020204" pitchFamily="34" charset="-122"/>
                <a:cs typeface="+mn-ea"/>
              </a:rPr>
              <a:t>除了提供用于根据</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字符返回</a:t>
            </a:r>
            <a:r>
              <a:rPr lang="zh-CN" altLang="zh-CN" sz="2000" dirty="0">
                <a:solidFill>
                  <a:srgbClr val="595959"/>
                </a:solidFill>
                <a:latin typeface="微软雅黑" panose="020B0503020204020204" pitchFamily="34" charset="-122"/>
                <a:ea typeface="微软雅黑" panose="020B0503020204020204" pitchFamily="34" charset="-122"/>
                <a:cs typeface="+mn-ea"/>
              </a:rPr>
              <a:t>索引的方法外，还</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提供用于</a:t>
            </a:r>
            <a:r>
              <a:rPr lang="zh-CN" altLang="zh-CN" sz="2000" dirty="0">
                <a:solidFill>
                  <a:srgbClr val="1369B2"/>
                </a:solidFill>
                <a:latin typeface="微软雅黑" panose="020B0503020204020204" pitchFamily="34" charset="-122"/>
                <a:ea typeface="微软雅黑" panose="020B0503020204020204" pitchFamily="34" charset="-122"/>
                <a:cs typeface="+mn-ea"/>
              </a:rPr>
              <a:t>根据索引返回字符的方法</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具体如下表所示。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5.7.3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根据索引返回</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graphicFrame>
        <p:nvGraphicFramePr>
          <p:cNvPr id="7" name="表格 6"/>
          <p:cNvGraphicFramePr>
            <a:graphicFrameLocks noGrp="1"/>
          </p:cNvGraphicFramePr>
          <p:nvPr/>
        </p:nvGraphicFramePr>
        <p:xfrm>
          <a:off x="1625960" y="2493690"/>
          <a:ext cx="9505056" cy="2764771"/>
        </p:xfrm>
        <a:graphic>
          <a:graphicData uri="http://schemas.openxmlformats.org/drawingml/2006/table">
            <a:tbl>
              <a:tblPr>
                <a:tableStyleId>{7DF18680-E054-41AD-8BC1-D1AEF772440D}</a:tableStyleId>
              </a:tblPr>
              <a:tblGrid>
                <a:gridCol w="2736304"/>
                <a:gridCol w="6768752"/>
              </a:tblGrid>
              <a:tr h="712897">
                <a:tc>
                  <a:txBody>
                    <a:bodyPr/>
                    <a:lstStyle/>
                    <a:p>
                      <a:pPr indent="127000" algn="ctr">
                        <a:spcAft>
                          <a:spcPts val="0"/>
                        </a:spcAft>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20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20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025937">
                <a:tc>
                  <a:txBody>
                    <a:bodyPr/>
                    <a:lstStyle/>
                    <a:p>
                      <a:pPr marL="0" indent="127000" algn="ctr" defTabSz="1219200" rtl="0" eaLnBrk="1" latinLnBrk="0" hangingPunct="1">
                        <a:spcAft>
                          <a:spcPts val="0"/>
                        </a:spcAft>
                      </a:pP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charAt(index)</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spcAft>
                          <a:spcPts val="0"/>
                        </a:spcAft>
                      </a:pP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获取索引</a:t>
                      </a: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index</a:t>
                      </a: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对应的</a:t>
                      </a:r>
                      <a:r>
                        <a:rPr 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字符</a:t>
                      </a:r>
                      <a:r>
                        <a:rPr lang="zh-CN" altLang="en-US"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字符串第</a:t>
                      </a:r>
                      <a:r>
                        <a:rPr lang="en-US" alt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alt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个字符的索引为</a:t>
                      </a:r>
                      <a:r>
                        <a:rPr lang="en-US" altLang="zh-CN"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a:t>
                      </a:r>
                      <a:r>
                        <a:rPr lang="zh-CN" altLang="en-US"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1025937">
                <a:tc>
                  <a:txBody>
                    <a:bodyPr/>
                    <a:lstStyle/>
                    <a:p>
                      <a:pPr marL="0" indent="127000" algn="ctr" defTabSz="1219200" rtl="0" eaLnBrk="1" latinLnBrk="0" hangingPunct="1">
                        <a:spcAft>
                          <a:spcPts val="0"/>
                        </a:spcAft>
                      </a:pP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charCodeAt(index)</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127000" algn="l" defTabSz="1219200" rtl="0" eaLnBrk="1" latinLnBrk="0" hangingPunct="1">
                        <a:spcAft>
                          <a:spcPts val="0"/>
                        </a:spcAft>
                      </a:pP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获取索引</a:t>
                      </a:r>
                      <a:r>
                        <a:rPr lang="en-US"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index</a:t>
                      </a:r>
                      <a:r>
                        <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对应的字符的</a:t>
                      </a:r>
                      <a:r>
                        <a:rPr lang="en-US"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ASCII</a:t>
                      </a:r>
                      <a:r>
                        <a:rPr lang="zh-CN" altLang="en-US" sz="2000" b="0"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值</a:t>
                      </a:r>
                      <a:endParaRPr lang="zh-CN" sz="20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86225" y="1233566"/>
            <a:ext cx="9217960" cy="1015663"/>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以</a:t>
            </a:r>
            <a:r>
              <a:rPr lang="en-US" altLang="zh-CN" sz="2000" dirty="0" err="1">
                <a:solidFill>
                  <a:srgbClr val="1369B2"/>
                </a:solidFill>
                <a:latin typeface="微软雅黑" panose="020B0503020204020204" pitchFamily="34" charset="-122"/>
                <a:ea typeface="微软雅黑" panose="020B0503020204020204" pitchFamily="34" charset="-122"/>
                <a:cs typeface="+mn-ea"/>
              </a:rPr>
              <a:t>charAt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en-US" altLang="zh-CN" sz="2000" dirty="0" err="1">
                <a:solidFill>
                  <a:srgbClr val="1369B2"/>
                </a:solidFill>
                <a:latin typeface="微软雅黑" panose="020B0503020204020204" pitchFamily="34" charset="-122"/>
                <a:ea typeface="微软雅黑" panose="020B0503020204020204" pitchFamily="34" charset="-122"/>
                <a:cs typeface="+mn-ea"/>
              </a:rPr>
              <a:t>charCodeAt</a:t>
            </a:r>
            <a:r>
              <a:rPr lang="en-US"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为例进行演示如何根据索引返回</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字符，</a:t>
            </a:r>
            <a:r>
              <a:rPr lang="zh-CN" altLang="zh-CN" sz="2000" dirty="0">
                <a:solidFill>
                  <a:srgbClr val="595959"/>
                </a:solidFill>
                <a:latin typeface="微软雅黑" panose="020B0503020204020204" pitchFamily="34" charset="-122"/>
                <a:ea typeface="微软雅黑" panose="020B0503020204020204" pitchFamily="34" charset="-122"/>
                <a:cs typeface="+mn-ea"/>
              </a:rPr>
              <a:t>示例代码如下。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1486225" y="2709714"/>
            <a:ext cx="9506929" cy="2400657"/>
          </a:xfrm>
          <a:prstGeom prst="rect">
            <a:avLst/>
          </a:prstGeom>
          <a:solidFill>
            <a:srgbClr val="F2F2F2"/>
          </a:solidFill>
        </p:spPr>
        <p:txBody>
          <a:bodyPr wrap="square" rtlCol="0">
            <a:spAutoFit/>
          </a:bodyPr>
          <a:lstStyle/>
          <a:p>
            <a:pPr lvl="1">
              <a:lnSpc>
                <a:spcPct val="150000"/>
              </a:lnSpc>
            </a:pPr>
            <a:r>
              <a:rPr lang="en-US" altLang="zh-CN" sz="20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2000" dirty="0" err="1">
                <a:solidFill>
                  <a:srgbClr val="595959"/>
                </a:solidFill>
                <a:latin typeface="微软雅黑" panose="020B0503020204020204" pitchFamily="34" charset="-122"/>
                <a:ea typeface="微软雅黑" panose="020B0503020204020204" pitchFamily="34" charset="-122"/>
                <a:cs typeface="+mn-ea"/>
              </a:rPr>
              <a:t>str</a:t>
            </a:r>
            <a:r>
              <a:rPr lang="en-US" altLang="zh-CN" sz="2000" dirty="0">
                <a:solidFill>
                  <a:srgbClr val="595959"/>
                </a:solidFill>
                <a:latin typeface="微软雅黑" panose="020B0503020204020204" pitchFamily="34" charset="-122"/>
                <a:ea typeface="微软雅黑" panose="020B0503020204020204" pitchFamily="34" charset="-122"/>
                <a:cs typeface="+mn-ea"/>
              </a:rPr>
              <a:t> = 'Monday';</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charAt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方法查找索引为</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str.charAt</a:t>
            </a:r>
            <a:r>
              <a:rPr lang="en-US" altLang="zh-CN" sz="2000" dirty="0">
                <a:solidFill>
                  <a:srgbClr val="595959"/>
                </a:solidFill>
                <a:latin typeface="微软雅黑" panose="020B0503020204020204" pitchFamily="34" charset="-122"/>
                <a:ea typeface="微软雅黑" panose="020B0503020204020204" pitchFamily="34" charset="-122"/>
                <a:cs typeface="+mn-ea"/>
              </a:rPr>
              <a:t>(3));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d</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使用</a:t>
            </a:r>
            <a:r>
              <a:rPr lang="en-US" altLang="zh-CN" sz="2000" dirty="0" err="1">
                <a:solidFill>
                  <a:srgbClr val="595959"/>
                </a:solidFill>
                <a:latin typeface="微软雅黑" panose="020B0503020204020204" pitchFamily="34" charset="-122"/>
                <a:ea typeface="微软雅黑" panose="020B0503020204020204" pitchFamily="34" charset="-122"/>
                <a:cs typeface="+mn-ea"/>
              </a:rPr>
              <a:t>charCodeAt</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方法查找索引为</a:t>
            </a:r>
            <a:r>
              <a:rPr lang="en-US" altLang="zh-CN"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cs typeface="+mn-ea"/>
              </a:rPr>
              <a:t>的字符的</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ASCII</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值</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cs typeface="+mn-ea"/>
              </a:rPr>
              <a:t>console.log(</a:t>
            </a:r>
            <a:r>
              <a:rPr lang="en-US" altLang="zh-CN" sz="2000" dirty="0" err="1">
                <a:solidFill>
                  <a:srgbClr val="595959"/>
                </a:solidFill>
                <a:latin typeface="微软雅黑" panose="020B0503020204020204" pitchFamily="34" charset="-122"/>
                <a:ea typeface="微软雅黑" panose="020B0503020204020204" pitchFamily="34" charset="-122"/>
                <a:cs typeface="+mn-ea"/>
              </a:rPr>
              <a:t>str.charCodeAt</a:t>
            </a:r>
            <a:r>
              <a:rPr lang="en-US" altLang="zh-CN" sz="2000" dirty="0">
                <a:solidFill>
                  <a:srgbClr val="595959"/>
                </a:solidFill>
                <a:latin typeface="微软雅黑" panose="020B0503020204020204" pitchFamily="34" charset="-122"/>
                <a:ea typeface="微软雅黑" panose="020B0503020204020204" pitchFamily="34" charset="-122"/>
                <a:cs typeface="+mn-ea"/>
              </a:rPr>
              <a:t>(3));		</a:t>
            </a:r>
            <a:r>
              <a:rPr lang="en-US" altLang="zh-CN" sz="20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2000" dirty="0">
                <a:solidFill>
                  <a:srgbClr val="595959"/>
                </a:solidFill>
                <a:latin typeface="微软雅黑" panose="020B0503020204020204" pitchFamily="34" charset="-122"/>
                <a:ea typeface="微软雅黑" panose="020B0503020204020204" pitchFamily="34" charset="-122"/>
                <a:cs typeface="+mn-ea"/>
              </a:rPr>
              <a:t>输出结果为：</a:t>
            </a:r>
            <a:r>
              <a:rPr lang="en-US" altLang="zh-CN" sz="2000" dirty="0">
                <a:solidFill>
                  <a:srgbClr val="595959"/>
                </a:solidFill>
                <a:latin typeface="微软雅黑" panose="020B0503020204020204" pitchFamily="34" charset="-122"/>
                <a:ea typeface="微软雅黑" panose="020B0503020204020204" pitchFamily="34" charset="-122"/>
                <a:cs typeface="+mn-ea"/>
              </a:rPr>
              <a:t>100</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4951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5.7.3	</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根据索引返回</a:t>
            </a: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统计字符串中出现最多的字符和相应的次数</a:t>
            </a:r>
            <a:r>
              <a:rPr lang="zh-CN" altLang="en-US" sz="200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944880" y="261442"/>
            <a:ext cx="840790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统计字符串中出现最多的字符和相应的次数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944880" y="2493690"/>
            <a:ext cx="10262894" cy="961289"/>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zh-CN" altLang="zh-CN" sz="2000" dirty="0">
                <a:solidFill>
                  <a:srgbClr val="595959"/>
                </a:solidFill>
                <a:latin typeface="微软雅黑" panose="020B0503020204020204" pitchFamily="34" charset="-122"/>
                <a:ea typeface="微软雅黑" panose="020B0503020204020204" pitchFamily="34" charset="-122"/>
              </a:rPr>
              <a:t>实际开发中，有时需要统计字符串中出现最多的字符</a:t>
            </a:r>
            <a:r>
              <a:rPr lang="zh-CN" altLang="zh-CN" sz="2000" dirty="0" smtClean="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595959"/>
                </a:solidFill>
                <a:latin typeface="微软雅黑" panose="020B0503020204020204" pitchFamily="34" charset="-122"/>
                <a:ea typeface="微软雅黑" panose="020B0503020204020204" pitchFamily="34" charset="-122"/>
              </a:rPr>
              <a:t>相应的</a:t>
            </a:r>
            <a:r>
              <a:rPr lang="zh-CN" altLang="zh-CN" sz="2000" dirty="0" smtClean="0">
                <a:solidFill>
                  <a:srgbClr val="595959"/>
                </a:solidFill>
                <a:latin typeface="微软雅黑" panose="020B0503020204020204" pitchFamily="34" charset="-122"/>
                <a:ea typeface="微软雅黑" panose="020B0503020204020204" pitchFamily="34" charset="-122"/>
              </a:rPr>
              <a:t>次数，</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下面</a:t>
            </a:r>
            <a:r>
              <a:rPr lang="zh-CN" altLang="zh-CN" sz="2000" dirty="0">
                <a:solidFill>
                  <a:srgbClr val="595959"/>
                </a:solidFill>
                <a:latin typeface="微软雅黑" panose="020B0503020204020204" pitchFamily="34" charset="-122"/>
                <a:ea typeface="微软雅黑" panose="020B0503020204020204" pitchFamily="34" charset="-122"/>
              </a:rPr>
              <a:t>通过一个案例演示如何使用</a:t>
            </a:r>
            <a:r>
              <a:rPr lang="en-US" altLang="zh-CN" sz="2000" dirty="0" err="1">
                <a:solidFill>
                  <a:srgbClr val="1369B2"/>
                </a:solidFill>
                <a:latin typeface="微软雅黑" panose="020B0503020204020204" pitchFamily="34" charset="-122"/>
                <a:ea typeface="微软雅黑" panose="020B0503020204020204" pitchFamily="34" charset="-122"/>
              </a:rPr>
              <a:t>charAt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a:t>
            </a:r>
            <a:r>
              <a:rPr lang="zh-CN" altLang="zh-CN" sz="2000" dirty="0">
                <a:solidFill>
                  <a:srgbClr val="1369B2"/>
                </a:solidFill>
                <a:latin typeface="微软雅黑" panose="020B0503020204020204" pitchFamily="34" charset="-122"/>
                <a:ea typeface="微软雅黑" panose="020B0503020204020204" pitchFamily="34" charset="-122"/>
              </a:rPr>
              <a:t>统计字符串中出现最多的字符</a:t>
            </a:r>
            <a:r>
              <a:rPr lang="zh-CN" altLang="zh-CN" sz="2000" dirty="0" smtClean="0">
                <a:solidFill>
                  <a:srgbClr val="1369B2"/>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相应的</a:t>
            </a:r>
            <a:r>
              <a:rPr lang="zh-CN" altLang="zh-CN" sz="2000" dirty="0" smtClean="0">
                <a:solidFill>
                  <a:srgbClr val="1369B2"/>
                </a:solidFill>
                <a:latin typeface="微软雅黑" panose="020B0503020204020204" pitchFamily="34" charset="-122"/>
                <a:ea typeface="微软雅黑" panose="020B0503020204020204" pitchFamily="34" charset="-122"/>
              </a:rPr>
              <a:t>次数</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944880" y="261442"/>
            <a:ext cx="840790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5.7.4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统计字符串中出现最多的字符和相应的次数</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1046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字符串操作方法</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smtClean="0">
                <a:solidFill>
                  <a:srgbClr val="595959"/>
                </a:solidFill>
                <a:latin typeface="微软雅黑" panose="020B0503020204020204" pitchFamily="34" charset="-122"/>
                <a:ea typeface="微软雅黑" panose="020B0503020204020204" pitchFamily="34" charset="-122"/>
                <a:cs typeface="+mn-ea"/>
              </a:rPr>
              <a:t>灵活应用</a:t>
            </a:r>
            <a:r>
              <a:rPr lang="zh-CN" altLang="zh-CN" sz="2000">
                <a:solidFill>
                  <a:srgbClr val="1369B2"/>
                </a:solidFill>
                <a:latin typeface="微软雅黑" panose="020B0503020204020204" pitchFamily="34" charset="-122"/>
                <a:ea typeface="微软雅黑" panose="020B0503020204020204" pitchFamily="34" charset="-122"/>
                <a:cs typeface="+mn-ea"/>
              </a:rPr>
              <a:t>字符串截取</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连接</a:t>
            </a:r>
            <a:r>
              <a:rPr lang="zh-CN" altLang="zh-CN" sz="2000">
                <a:solidFill>
                  <a:srgbClr val="595959"/>
                </a:solidFill>
                <a:latin typeface="微软雅黑" panose="020B0503020204020204" pitchFamily="34" charset="-122"/>
                <a:ea typeface="微软雅黑" panose="020B0503020204020204" pitchFamily="34" charset="-122"/>
                <a:cs typeface="+mn-ea"/>
              </a:rPr>
              <a:t>、</a:t>
            </a:r>
            <a:r>
              <a:rPr lang="zh-CN" altLang="zh-CN" sz="2000">
                <a:solidFill>
                  <a:srgbClr val="1369B2"/>
                </a:solidFill>
                <a:latin typeface="微软雅黑" panose="020B0503020204020204" pitchFamily="34" charset="-122"/>
                <a:ea typeface="微软雅黑" panose="020B0503020204020204" pitchFamily="34" charset="-122"/>
                <a:cs typeface="+mn-ea"/>
              </a:rPr>
              <a:t>替换</a:t>
            </a:r>
            <a:r>
              <a:rPr lang="zh-CN" altLang="zh-CN" sz="2000">
                <a:solidFill>
                  <a:srgbClr val="595959"/>
                </a:solidFill>
                <a:latin typeface="微软雅黑" panose="020B0503020204020204" pitchFamily="34" charset="-122"/>
                <a:ea typeface="微软雅黑" panose="020B0503020204020204" pitchFamily="34" charset="-122"/>
                <a:cs typeface="+mn-ea"/>
              </a:rPr>
              <a:t>和</a:t>
            </a:r>
            <a:r>
              <a:rPr lang="zh-CN" altLang="zh-CN" sz="2000">
                <a:solidFill>
                  <a:srgbClr val="1369B2"/>
                </a:solidFill>
                <a:latin typeface="微软雅黑" panose="020B0503020204020204" pitchFamily="34" charset="-122"/>
                <a:ea typeface="微软雅黑" panose="020B0503020204020204" pitchFamily="34" charset="-122"/>
                <a:cs typeface="+mn-ea"/>
              </a:rPr>
              <a:t>大小写转换</a:t>
            </a:r>
            <a:r>
              <a:rPr lang="zh-CN" altLang="zh-CN" sz="2000">
                <a:solidFill>
                  <a:srgbClr val="595959"/>
                </a:solidFill>
                <a:latin typeface="微软雅黑" panose="020B0503020204020204" pitchFamily="34" charset="-122"/>
                <a:ea typeface="微软雅黑" panose="020B0503020204020204" pitchFamily="34" charset="-122"/>
                <a:cs typeface="+mn-ea"/>
              </a:rPr>
              <a:t>的方法</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字符串操作方法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82638" y="981522"/>
            <a:ext cx="9793088" cy="507831"/>
          </a:xfrm>
          <a:prstGeom prst="rect">
            <a:avLst/>
          </a:prstGeom>
        </p:spPr>
        <p:txBody>
          <a:bodyPr wrap="square">
            <a:spAutoFit/>
          </a:bodyPr>
          <a:lstStyle/>
          <a:p>
            <a:pPr>
              <a:lnSpc>
                <a:spcPct val="150000"/>
              </a:lnSpc>
            </a:pPr>
            <a:r>
              <a:rPr lang="zh-CN" altLang="zh-CN" sz="1800" dirty="0">
                <a:solidFill>
                  <a:srgbClr val="1369B2"/>
                </a:solidFill>
                <a:latin typeface="微软雅黑" panose="020B0503020204020204" pitchFamily="34" charset="-122"/>
                <a:ea typeface="微软雅黑" panose="020B0503020204020204" pitchFamily="34" charset="-122"/>
                <a:cs typeface="+mn-ea"/>
              </a:rPr>
              <a:t>字符串对象</a:t>
            </a:r>
            <a:r>
              <a:rPr lang="zh-CN" altLang="zh-CN" sz="1800" dirty="0">
                <a:solidFill>
                  <a:srgbClr val="595959"/>
                </a:solidFill>
                <a:latin typeface="微软雅黑" panose="020B0503020204020204" pitchFamily="34" charset="-122"/>
                <a:ea typeface="微软雅黑" panose="020B0503020204020204" pitchFamily="34" charset="-122"/>
                <a:cs typeface="+mn-ea"/>
              </a:rPr>
              <a:t>提供了一些用于字符串</a:t>
            </a:r>
            <a:r>
              <a:rPr lang="zh-CN" altLang="zh-CN" sz="1800" dirty="0">
                <a:solidFill>
                  <a:srgbClr val="1369B2"/>
                </a:solidFill>
                <a:latin typeface="微软雅黑" panose="020B0503020204020204" pitchFamily="34" charset="-122"/>
                <a:ea typeface="微软雅黑" panose="020B0503020204020204" pitchFamily="34" charset="-122"/>
                <a:cs typeface="+mn-ea"/>
              </a:rPr>
              <a:t>截取</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连接</a:t>
            </a:r>
            <a:r>
              <a:rPr lang="zh-CN" altLang="zh-CN" sz="1800" dirty="0">
                <a:solidFill>
                  <a:srgbClr val="595959"/>
                </a:solidFill>
                <a:latin typeface="微软雅黑" panose="020B0503020204020204" pitchFamily="34" charset="-122"/>
                <a:ea typeface="微软雅黑" panose="020B0503020204020204" pitchFamily="34" charset="-122"/>
                <a:cs typeface="+mn-ea"/>
              </a:rPr>
              <a:t>、</a:t>
            </a:r>
            <a:r>
              <a:rPr lang="zh-CN" altLang="zh-CN" sz="1800" dirty="0">
                <a:solidFill>
                  <a:srgbClr val="1369B2"/>
                </a:solidFill>
                <a:latin typeface="微软雅黑" panose="020B0503020204020204" pitchFamily="34" charset="-122"/>
                <a:ea typeface="微软雅黑" panose="020B0503020204020204" pitchFamily="34" charset="-122"/>
                <a:cs typeface="+mn-ea"/>
              </a:rPr>
              <a:t>替换</a:t>
            </a:r>
            <a:r>
              <a:rPr lang="zh-CN" altLang="zh-CN" sz="1800" dirty="0">
                <a:solidFill>
                  <a:srgbClr val="595959"/>
                </a:solidFill>
                <a:latin typeface="微软雅黑" panose="020B0503020204020204" pitchFamily="34" charset="-122"/>
                <a:ea typeface="微软雅黑" panose="020B0503020204020204" pitchFamily="34" charset="-122"/>
                <a:cs typeface="+mn-ea"/>
              </a:rPr>
              <a:t>和</a:t>
            </a:r>
            <a:r>
              <a:rPr lang="zh-CN" altLang="zh-CN" sz="1800" dirty="0">
                <a:solidFill>
                  <a:srgbClr val="1369B2"/>
                </a:solidFill>
                <a:latin typeface="微软雅黑" panose="020B0503020204020204" pitchFamily="34" charset="-122"/>
                <a:ea typeface="微软雅黑" panose="020B0503020204020204" pitchFamily="34" charset="-122"/>
                <a:cs typeface="+mn-ea"/>
              </a:rPr>
              <a:t>大小写转换</a:t>
            </a:r>
            <a:r>
              <a:rPr lang="zh-CN" altLang="zh-CN" sz="1800" dirty="0">
                <a:solidFill>
                  <a:srgbClr val="595959"/>
                </a:solidFill>
                <a:latin typeface="微软雅黑" panose="020B0503020204020204" pitchFamily="34" charset="-122"/>
                <a:ea typeface="微软雅黑" panose="020B0503020204020204" pitchFamily="34" charset="-122"/>
                <a:cs typeface="+mn-ea"/>
              </a:rPr>
              <a:t>的</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方法</a:t>
            </a:r>
            <a:r>
              <a:rPr lang="zh-CN" altLang="en-US" sz="1800" dirty="0" smtClean="0">
                <a:solidFill>
                  <a:srgbClr val="595959"/>
                </a:solidFill>
                <a:latin typeface="微软雅黑" panose="020B0503020204020204" pitchFamily="34" charset="-122"/>
                <a:ea typeface="微软雅黑" panose="020B0503020204020204" pitchFamily="34" charset="-122"/>
                <a:cs typeface="+mn-ea"/>
              </a:rPr>
              <a:t>，具体如下</a:t>
            </a:r>
            <a:r>
              <a:rPr lang="zh-CN" altLang="en-US" sz="1800" dirty="0">
                <a:solidFill>
                  <a:srgbClr val="595959"/>
                </a:solidFill>
                <a:latin typeface="微软雅黑" panose="020B0503020204020204" pitchFamily="34" charset="-122"/>
                <a:ea typeface="微软雅黑" panose="020B0503020204020204" pitchFamily="34" charset="-122"/>
                <a:cs typeface="+mn-ea"/>
              </a:rPr>
              <a:t>表所示。</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1" name="表格 10"/>
          <p:cNvGraphicFramePr>
            <a:graphicFrameLocks noGrp="1"/>
          </p:cNvGraphicFramePr>
          <p:nvPr/>
        </p:nvGraphicFramePr>
        <p:xfrm>
          <a:off x="982638" y="1701602"/>
          <a:ext cx="10441160" cy="4193435"/>
        </p:xfrm>
        <a:graphic>
          <a:graphicData uri="http://schemas.openxmlformats.org/drawingml/2006/table">
            <a:tbl>
              <a:tblPr>
                <a:tableStyleId>{7DF18680-E054-41AD-8BC1-D1AEF772440D}</a:tableStyleId>
              </a:tblPr>
              <a:tblGrid>
                <a:gridCol w="3096344"/>
                <a:gridCol w="7344816"/>
              </a:tblGrid>
              <a:tr h="375740">
                <a:tc>
                  <a:txBody>
                    <a:bodyPr/>
                    <a:lstStyle/>
                    <a:p>
                      <a:pPr indent="127000" algn="ctr">
                        <a:spcAft>
                          <a:spcPts val="0"/>
                        </a:spcAft>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方法</a:t>
                      </a:r>
                      <a:endParaRPr lang="zh-CN" sz="1800" b="1"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marR="0" lvl="0" indent="127000" algn="ctr" defTabSz="1219200" rtl="0" eaLnBrk="1" fontAlgn="auto" latinLnBrk="0" hangingPunct="1">
                        <a:lnSpc>
                          <a:spcPct val="100000"/>
                        </a:lnSpc>
                        <a:spcBef>
                          <a:spcPts val="0"/>
                        </a:spcBef>
                        <a:spcAft>
                          <a:spcPts val="0"/>
                        </a:spcAft>
                        <a:buClrTx/>
                        <a:buSzTx/>
                        <a:buFontTx/>
                        <a:buNone/>
                        <a:defRPr/>
                      </a:pPr>
                      <a:r>
                        <a:rPr lang="zh-CN" altLang="en-US"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endParaRPr lang="zh-CN" altLang="zh-CN" sz="1800" b="1" kern="120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concat(str1[, str2, str3, …])</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b">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连接一个或多个字符串</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slice(start[,end])</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截取从起始索引</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到终止索引</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end</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之间的</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个子字符串，若省略</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end</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则表示从起始索引</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开始截取到字符串末尾</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substring(start[, end])</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截取从起始索引</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到终止索引</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end</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之间的</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个子字符串</a:t>
                      </a:r>
                      <a:r>
                        <a:rPr lang="zh-CN"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，和</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slice()</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a:t>
                      </a:r>
                      <a:r>
                        <a:rPr lang="zh-CN"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作用</a:t>
                      </a:r>
                      <a:r>
                        <a:rPr lang="zh-CN" altLang="en-US"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相似</a:t>
                      </a:r>
                      <a:r>
                        <a:rPr lang="zh-CN"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，但是</a:t>
                      </a:r>
                      <a:r>
                        <a:rPr lang="zh-CN" altLang="zh-CN"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参数为负数时会被视为</a:t>
                      </a:r>
                      <a:r>
                        <a:rPr lang="en-US" altLang="zh-CN" sz="1600" b="0" kern="1200" dirty="0" smtClean="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0</a:t>
                      </a:r>
                      <a:endParaRPr lang="zh-CN" alt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substr(start[, length])</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截取从起始索引</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开始的长度为</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length</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的子字符串，若省略</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length</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则表示从起始索引</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start</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开始截取到字符串末尾</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toLowerCase()</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b">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获取字符串的小写形式</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toUpperCase()</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b">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获取字符串的大写形式</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split([separator[, limit]])</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使用分隔符</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separator</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将字符串分割成数组，</a:t>
                      </a: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limit</a:t>
                      </a:r>
                      <a:r>
                        <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用于限制数量</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373395">
                <a:tc>
                  <a:txBody>
                    <a:bodyPr/>
                    <a:lstStyle/>
                    <a:p>
                      <a:pPr marL="0" indent="127000" algn="ctr" defTabSz="1219200" rtl="0" eaLnBrk="1" latinLnBrk="0" hangingPunct="1">
                        <a:spcAft>
                          <a:spcPts val="0"/>
                        </a:spcAft>
                      </a:pPr>
                      <a:r>
                        <a:rPr lang="en-US"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replace(str1, str2)</a:t>
                      </a:r>
                      <a:endParaRPr lang="zh-CN" sz="1600" b="0" kern="120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marL="0" indent="0" algn="l" defTabSz="1219200" rtl="0" eaLnBrk="1" latinLnBrk="0" hangingPunct="1">
                        <a:lnSpc>
                          <a:spcPct val="150000"/>
                        </a:lnSpc>
                        <a:spcAft>
                          <a:spcPts val="0"/>
                        </a:spcAft>
                      </a:pP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使用</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str2</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替换字符串中的</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str1</a:t>
                      </a:r>
                      <a:r>
                        <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，返回替换结果，只会替换第一次出现的</a:t>
                      </a:r>
                      <a:r>
                        <a:rPr lang="en-US"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rPr>
                        <a:t>str1</a:t>
                      </a:r>
                      <a:endParaRPr lang="zh-CN" sz="1600" b="0" kern="1200" dirty="0">
                        <a:solidFill>
                          <a:srgbClr val="595959"/>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
        <p:nvSpPr>
          <p:cNvPr id="5"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字符串操作方法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923330" y="927965"/>
            <a:ext cx="8352928" cy="553998"/>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下面</a:t>
            </a:r>
            <a:r>
              <a:rPr lang="zh-CN" altLang="zh-CN" sz="2000" dirty="0">
                <a:solidFill>
                  <a:srgbClr val="595959"/>
                </a:solidFill>
                <a:latin typeface="微软雅黑" panose="020B0503020204020204" pitchFamily="34" charset="-122"/>
                <a:ea typeface="微软雅黑" panose="020B0503020204020204" pitchFamily="34" charset="-122"/>
                <a:cs typeface="+mn-ea"/>
              </a:rPr>
              <a:t>通过代码演示</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字符串截取、连接</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替换</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大小写</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转换</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5.7.5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字符串操作方法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1774726" y="1541841"/>
            <a:ext cx="9506929" cy="5029390"/>
          </a:xfrm>
          <a:prstGeom prst="rect">
            <a:avLst/>
          </a:prstGeom>
          <a:solidFill>
            <a:srgbClr val="F2F2F2"/>
          </a:solidFill>
        </p:spPr>
        <p:txBody>
          <a:bodyPr wrap="square" rtlCol="0">
            <a:spAutoFit/>
          </a:bodyPr>
          <a:lstStyle/>
          <a:p>
            <a:pPr lvl="1">
              <a:lnSpc>
                <a:spcPct val="150000"/>
              </a:lnSpc>
            </a:pPr>
            <a:r>
              <a:rPr lang="en-US" altLang="zh-CN" sz="1800" dirty="0" err="1" smtClean="0">
                <a:solidFill>
                  <a:srgbClr val="595959"/>
                </a:solidFill>
                <a:latin typeface="微软雅黑" panose="020B0503020204020204" pitchFamily="34" charset="-122"/>
                <a:ea typeface="微软雅黑" panose="020B0503020204020204" pitchFamily="34" charset="-122"/>
                <a:cs typeface="+mn-ea"/>
              </a:rPr>
              <a:t>var</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en-US" altLang="zh-CN" sz="1800" dirty="0" err="1">
                <a:solidFill>
                  <a:srgbClr val="595959"/>
                </a:solidFill>
                <a:latin typeface="微软雅黑" panose="020B0503020204020204" pitchFamily="34" charset="-122"/>
                <a:ea typeface="微软雅黑" panose="020B0503020204020204" pitchFamily="34" charset="-122"/>
                <a:cs typeface="+mn-ea"/>
              </a:rPr>
              <a:t>str</a:t>
            </a:r>
            <a:r>
              <a:rPr lang="en-US" altLang="zh-CN" sz="1800" dirty="0">
                <a:solidFill>
                  <a:srgbClr val="595959"/>
                </a:solidFill>
                <a:latin typeface="微软雅黑" panose="020B0503020204020204" pitchFamily="34" charset="-122"/>
                <a:ea typeface="微软雅黑" panose="020B0503020204020204" pitchFamily="34" charset="-122"/>
                <a:cs typeface="+mn-ea"/>
              </a:rPr>
              <a:t> = 'HelloWorld';</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str.concat</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在字符串末尾拼接字符</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str.slice</a:t>
            </a:r>
            <a:r>
              <a:rPr lang="en-US" altLang="zh-CN" sz="1800" dirty="0">
                <a:solidFill>
                  <a:srgbClr val="595959"/>
                </a:solidFill>
                <a:latin typeface="微软雅黑" panose="020B0503020204020204" pitchFamily="34" charset="-122"/>
                <a:ea typeface="微软雅黑" panose="020B0503020204020204" pitchFamily="34" charset="-122"/>
                <a:cs typeface="+mn-ea"/>
              </a:rPr>
              <a:t>(1, 6);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截取</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从</a:t>
            </a:r>
            <a:r>
              <a:rPr lang="zh-CN" altLang="en-US" sz="1800" dirty="0" smtClean="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1</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开始到</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6</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1800" dirty="0">
                <a:solidFill>
                  <a:srgbClr val="595959"/>
                </a:solidFill>
                <a:latin typeface="微软雅黑" panose="020B0503020204020204" pitchFamily="34" charset="-122"/>
                <a:ea typeface="微软雅黑" panose="020B0503020204020204" pitchFamily="34" charset="-122"/>
                <a:cs typeface="+mn-ea"/>
              </a:rPr>
              <a:t>内容</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str.substring</a:t>
            </a:r>
            <a:r>
              <a:rPr lang="en-US" altLang="zh-CN" sz="1800" dirty="0">
                <a:solidFill>
                  <a:srgbClr val="595959"/>
                </a:solidFill>
                <a:latin typeface="微软雅黑" panose="020B0503020204020204" pitchFamily="34" charset="-122"/>
                <a:ea typeface="微软雅黑" panose="020B0503020204020204" pitchFamily="34" charset="-122"/>
                <a:cs typeface="+mn-ea"/>
              </a:rPr>
              <a:t>(7);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 </a:t>
            </a:r>
            <a:r>
              <a:rPr lang="zh-CN" altLang="zh-CN" sz="1800" dirty="0">
                <a:solidFill>
                  <a:srgbClr val="595959"/>
                </a:solidFill>
                <a:latin typeface="微软雅黑" panose="020B0503020204020204" pitchFamily="34" charset="-122"/>
                <a:ea typeface="微软雅黑" panose="020B0503020204020204" pitchFamily="34" charset="-122"/>
                <a:cs typeface="+mn-ea"/>
              </a:rPr>
              <a:t>截取</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从</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7</a:t>
            </a:r>
            <a:r>
              <a:rPr lang="zh-CN" altLang="zh-CN" sz="1800" dirty="0">
                <a:solidFill>
                  <a:srgbClr val="595959"/>
                </a:solidFill>
                <a:latin typeface="微软雅黑" panose="020B0503020204020204" pitchFamily="34" charset="-122"/>
                <a:ea typeface="微软雅黑" panose="020B0503020204020204" pitchFamily="34" charset="-122"/>
                <a:cs typeface="+mn-ea"/>
              </a:rPr>
              <a:t>开始到最后的内容</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str.substring</a:t>
            </a:r>
            <a:r>
              <a:rPr lang="en-US" altLang="zh-CN" sz="1800" dirty="0">
                <a:solidFill>
                  <a:srgbClr val="595959"/>
                </a:solidFill>
                <a:latin typeface="微软雅黑" panose="020B0503020204020204" pitchFamily="34" charset="-122"/>
                <a:ea typeface="微软雅黑" panose="020B0503020204020204" pitchFamily="34" charset="-122"/>
                <a:cs typeface="+mn-ea"/>
              </a:rPr>
              <a:t>(6, 8);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截取</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从</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6</a:t>
            </a:r>
            <a:r>
              <a:rPr lang="zh-CN" altLang="zh-CN" sz="1800" dirty="0">
                <a:solidFill>
                  <a:srgbClr val="595959"/>
                </a:solidFill>
                <a:latin typeface="微软雅黑" panose="020B0503020204020204" pitchFamily="34" charset="-122"/>
                <a:ea typeface="微软雅黑" panose="020B0503020204020204" pitchFamily="34" charset="-122"/>
                <a:cs typeface="+mn-ea"/>
              </a:rPr>
              <a:t>开始</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到</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8</a:t>
            </a:r>
            <a:r>
              <a:rPr lang="zh-CN" altLang="en-US" sz="18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内容</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str.substr</a:t>
            </a:r>
            <a:r>
              <a:rPr lang="en-US" altLang="zh-CN" sz="1800" dirty="0">
                <a:solidFill>
                  <a:srgbClr val="595959"/>
                </a:solidFill>
                <a:latin typeface="微软雅黑" panose="020B0503020204020204" pitchFamily="34" charset="-122"/>
                <a:ea typeface="微软雅黑" panose="020B0503020204020204" pitchFamily="34" charset="-122"/>
                <a:cs typeface="+mn-ea"/>
              </a:rPr>
              <a:t>(3);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截取</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从</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3</a:t>
            </a:r>
            <a:r>
              <a:rPr lang="zh-CN" altLang="zh-CN" sz="1800" dirty="0">
                <a:solidFill>
                  <a:srgbClr val="595959"/>
                </a:solidFill>
                <a:latin typeface="微软雅黑" panose="020B0503020204020204" pitchFamily="34" charset="-122"/>
                <a:ea typeface="微软雅黑" panose="020B0503020204020204" pitchFamily="34" charset="-122"/>
                <a:cs typeface="+mn-ea"/>
              </a:rPr>
              <a:t>开始到字符串结尾的内容</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str.substring</a:t>
            </a:r>
            <a:r>
              <a:rPr lang="en-US" altLang="zh-CN" sz="1800" dirty="0">
                <a:solidFill>
                  <a:srgbClr val="595959"/>
                </a:solidFill>
                <a:latin typeface="微软雅黑" panose="020B0503020204020204" pitchFamily="34" charset="-122"/>
                <a:ea typeface="微软雅黑" panose="020B0503020204020204" pitchFamily="34" charset="-122"/>
                <a:cs typeface="+mn-ea"/>
              </a:rPr>
              <a:t>(5, 7);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截取</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从</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5</a:t>
            </a:r>
            <a:r>
              <a:rPr lang="zh-CN" altLang="zh-CN" sz="1800" dirty="0">
                <a:solidFill>
                  <a:srgbClr val="595959"/>
                </a:solidFill>
                <a:latin typeface="微软雅黑" panose="020B0503020204020204" pitchFamily="34" charset="-122"/>
                <a:ea typeface="微软雅黑" panose="020B0503020204020204" pitchFamily="34" charset="-122"/>
                <a:cs typeface="+mn-ea"/>
              </a:rPr>
              <a:t>开始</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到</a:t>
            </a:r>
            <a:r>
              <a:rPr lang="zh-CN" altLang="en-US" sz="1800" dirty="0">
                <a:solidFill>
                  <a:srgbClr val="595959"/>
                </a:solidFill>
                <a:latin typeface="微软雅黑" panose="020B0503020204020204" pitchFamily="34" charset="-122"/>
                <a:ea typeface="微软雅黑" panose="020B0503020204020204" pitchFamily="34" charset="-122"/>
                <a:cs typeface="+mn-ea"/>
              </a:rPr>
              <a:t>索引</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7</a:t>
            </a:r>
            <a:r>
              <a:rPr lang="zh-CN" altLang="zh-CN" sz="18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1800" dirty="0">
                <a:solidFill>
                  <a:srgbClr val="595959"/>
                </a:solidFill>
                <a:latin typeface="微软雅黑" panose="020B0503020204020204" pitchFamily="34" charset="-122"/>
                <a:ea typeface="微软雅黑" panose="020B0503020204020204" pitchFamily="34" charset="-122"/>
                <a:cs typeface="+mn-ea"/>
              </a:rPr>
              <a:t>内容</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str.toLowerCase</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将字符串转换为小写</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str.toUpperCase</a:t>
            </a:r>
            <a:r>
              <a:rPr lang="en-US" altLang="zh-CN" sz="1800" dirty="0">
                <a:solidFill>
                  <a:srgbClr val="595959"/>
                </a:solidFill>
                <a:latin typeface="微软雅黑" panose="020B0503020204020204" pitchFamily="34" charset="-122"/>
                <a:ea typeface="微软雅黑" panose="020B0503020204020204" pitchFamily="34" charset="-122"/>
                <a:cs typeface="+mn-ea"/>
              </a:rPr>
              <a:t>();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将字符串转换为大写</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str.split</a:t>
            </a:r>
            <a:r>
              <a:rPr lang="en-US" altLang="zh-CN" sz="1800" dirty="0">
                <a:solidFill>
                  <a:srgbClr val="595959"/>
                </a:solidFill>
                <a:latin typeface="微软雅黑" panose="020B0503020204020204" pitchFamily="34" charset="-122"/>
                <a:ea typeface="微软雅黑" panose="020B0503020204020204" pitchFamily="34" charset="-122"/>
                <a:cs typeface="+mn-ea"/>
              </a:rPr>
              <a:t>('l');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使用</a:t>
            </a:r>
            <a:r>
              <a:rPr lang="en-US" altLang="zh-CN" sz="1800" dirty="0">
                <a:solidFill>
                  <a:srgbClr val="595959"/>
                </a:solidFill>
                <a:latin typeface="微软雅黑" panose="020B0503020204020204" pitchFamily="34" charset="-122"/>
                <a:ea typeface="微软雅黑" panose="020B0503020204020204" pitchFamily="34" charset="-122"/>
                <a:cs typeface="+mn-ea"/>
              </a:rPr>
              <a:t>'l'</a:t>
            </a:r>
            <a:r>
              <a:rPr lang="zh-CN" altLang="zh-CN" sz="1800" dirty="0">
                <a:solidFill>
                  <a:srgbClr val="595959"/>
                </a:solidFill>
                <a:latin typeface="微软雅黑" panose="020B0503020204020204" pitchFamily="34" charset="-122"/>
                <a:ea typeface="微软雅黑" panose="020B0503020204020204" pitchFamily="34" charset="-122"/>
                <a:cs typeface="+mn-ea"/>
              </a:rPr>
              <a:t>切割字符串</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str.split</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('l', </a:t>
            </a:r>
            <a:r>
              <a:rPr lang="en-US" altLang="zh-CN" sz="1800" dirty="0">
                <a:solidFill>
                  <a:srgbClr val="595959"/>
                </a:solidFill>
                <a:latin typeface="微软雅黑" panose="020B0503020204020204" pitchFamily="34" charset="-122"/>
                <a:ea typeface="微软雅黑" panose="020B0503020204020204" pitchFamily="34" charset="-122"/>
                <a:cs typeface="+mn-ea"/>
              </a:rPr>
              <a:t>3);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限制最多切割</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3</a:t>
            </a:r>
            <a:r>
              <a:rPr lang="zh-CN" altLang="en-US" sz="1800" dirty="0">
                <a:solidFill>
                  <a:srgbClr val="595959"/>
                </a:solidFill>
                <a:latin typeface="微软雅黑" panose="020B0503020204020204" pitchFamily="34" charset="-122"/>
                <a:ea typeface="微软雅黑" panose="020B0503020204020204" pitchFamily="34" charset="-122"/>
                <a:cs typeface="+mn-ea"/>
              </a:rPr>
              <a:t>份</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cs typeface="+mn-ea"/>
              </a:rPr>
              <a:t>str.replace</a:t>
            </a:r>
            <a:r>
              <a:rPr lang="en-US" altLang="zh-CN" sz="1800" dirty="0">
                <a:solidFill>
                  <a:srgbClr val="595959"/>
                </a:solidFill>
                <a:latin typeface="微软雅黑" panose="020B0503020204020204" pitchFamily="34" charset="-122"/>
                <a:ea typeface="微软雅黑" panose="020B0503020204020204" pitchFamily="34" charset="-122"/>
                <a:cs typeface="+mn-ea"/>
              </a:rPr>
              <a:t>('World', '!'); 	</a:t>
            </a:r>
            <a:r>
              <a:rPr lang="en-US" altLang="zh-CN" sz="1800" dirty="0" smtClean="0">
                <a:solidFill>
                  <a:srgbClr val="595959"/>
                </a:solidFill>
                <a:latin typeface="微软雅黑" panose="020B0503020204020204" pitchFamily="34" charset="-122"/>
                <a:ea typeface="微软雅黑" panose="020B0503020204020204" pitchFamily="34" charset="-122"/>
                <a:cs typeface="+mn-ea"/>
              </a:rPr>
              <a:t>// </a:t>
            </a:r>
            <a:r>
              <a:rPr lang="zh-CN" altLang="zh-CN" sz="1800" dirty="0">
                <a:solidFill>
                  <a:srgbClr val="595959"/>
                </a:solidFill>
                <a:latin typeface="微软雅黑" panose="020B0503020204020204" pitchFamily="34" charset="-122"/>
                <a:ea typeface="微软雅黑" panose="020B0503020204020204" pitchFamily="34" charset="-122"/>
                <a:cs typeface="+mn-ea"/>
              </a:rPr>
              <a:t>替换字符串</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zh-CN" altLang="en-US" sz="2000" smtClean="0">
                <a:solidFill>
                  <a:srgbClr val="1369B2"/>
                </a:solidFill>
                <a:latin typeface="微软雅黑" panose="020B0503020204020204" pitchFamily="34" charset="-122"/>
                <a:ea typeface="微软雅黑" panose="020B0503020204020204" pitchFamily="34" charset="-122"/>
                <a:cs typeface="+mn-ea"/>
              </a:rPr>
              <a:t>判断用户名是否合法</a:t>
            </a:r>
            <a:r>
              <a:rPr lang="zh-CN" altLang="en-US" sz="2000">
                <a:solidFill>
                  <a:srgbClr val="595959"/>
                </a:solidFill>
                <a:latin typeface="微软雅黑" panose="020B0503020204020204" pitchFamily="34" charset="-122"/>
                <a:ea typeface="微软雅黑" panose="020B0503020204020204" pitchFamily="34" charset="-122"/>
                <a:cs typeface="+mn-ea"/>
              </a:rPr>
              <a:t>的案例</a:t>
            </a:r>
            <a:r>
              <a:rPr lang="zh-CN" altLang="zh-CN" sz="2000" smtClean="0">
                <a:solidFill>
                  <a:srgbClr val="595959"/>
                </a:solidFill>
                <a:latin typeface="微软雅黑" panose="020B0503020204020204" pitchFamily="34" charset="-122"/>
                <a:ea typeface="微软雅黑" panose="020B0503020204020204" pitchFamily="34" charset="-122"/>
                <a:cs typeface="+mn-ea"/>
              </a:rPr>
              <a:t>，能够</a:t>
            </a:r>
            <a:r>
              <a:rPr lang="zh-CN" altLang="en-US" sz="2000">
                <a:solidFill>
                  <a:srgbClr val="1369B2"/>
                </a:solidFill>
                <a:latin typeface="微软雅黑" panose="020B0503020204020204" pitchFamily="34" charset="-122"/>
                <a:ea typeface="微软雅黑" panose="020B0503020204020204" pitchFamily="34" charset="-122"/>
                <a:cs typeface="+mn-ea"/>
              </a:rPr>
              <a:t>编写代码实现案例</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判断用户名是否合法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702718" y="1773610"/>
            <a:ext cx="8927310" cy="1938992"/>
          </a:xfrm>
          <a:prstGeom prst="rect">
            <a:avLst/>
          </a:prstGeom>
          <a:noFill/>
        </p:spPr>
        <p:txBody>
          <a:bodyPr wrap="square">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zh-CN" altLang="zh-CN" sz="2000" dirty="0">
                <a:solidFill>
                  <a:srgbClr val="595959"/>
                </a:solidFill>
                <a:latin typeface="微软雅黑" panose="020B0503020204020204" pitchFamily="34" charset="-122"/>
                <a:ea typeface="微软雅黑" panose="020B0503020204020204" pitchFamily="34" charset="-122"/>
                <a:cs typeface="+mn-ea"/>
              </a:rPr>
              <a:t>开发用户注册和登录功能时，经常需要对</a:t>
            </a:r>
            <a:r>
              <a:rPr lang="zh-CN" altLang="zh-CN" sz="2000" dirty="0">
                <a:solidFill>
                  <a:srgbClr val="1369B2"/>
                </a:solidFill>
                <a:latin typeface="微软雅黑" panose="020B0503020204020204" pitchFamily="34" charset="-122"/>
                <a:ea typeface="微软雅黑" panose="020B0503020204020204" pitchFamily="34" charset="-122"/>
                <a:cs typeface="+mn-ea"/>
              </a:rPr>
              <a:t>用户名进行格式验证</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本</a:t>
            </a:r>
            <a:r>
              <a:rPr lang="zh-CN" altLang="zh-CN" sz="2000" dirty="0">
                <a:solidFill>
                  <a:srgbClr val="595959"/>
                </a:solidFill>
                <a:latin typeface="微软雅黑" panose="020B0503020204020204" pitchFamily="34" charset="-122"/>
                <a:ea typeface="微软雅黑" panose="020B0503020204020204" pitchFamily="34" charset="-122"/>
                <a:cs typeface="+mn-ea"/>
              </a:rPr>
              <a:t>案例要求用户名</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长度</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为</a:t>
            </a:r>
            <a:r>
              <a:rPr lang="en-US" altLang="zh-CN" sz="2000" dirty="0" smtClean="0">
                <a:solidFill>
                  <a:srgbClr val="1369B2"/>
                </a:solidFill>
                <a:latin typeface="微软雅黑" panose="020B0503020204020204" pitchFamily="34" charset="-122"/>
                <a:ea typeface="微软雅黑" panose="020B0503020204020204" pitchFamily="34" charset="-122"/>
                <a:cs typeface="+mn-ea"/>
              </a:rPr>
              <a:t>3~6</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不允许出现敏感词</a:t>
            </a:r>
            <a:r>
              <a:rPr lang="en-US" altLang="zh-CN" sz="2000" dirty="0">
                <a:solidFill>
                  <a:srgbClr val="1369B2"/>
                </a:solidFill>
                <a:latin typeface="微软雅黑" panose="020B0503020204020204" pitchFamily="34" charset="-122"/>
                <a:ea typeface="微软雅黑" panose="020B0503020204020204" pitchFamily="34" charset="-122"/>
                <a:cs typeface="+mn-ea"/>
              </a:rPr>
              <a:t>admin</a:t>
            </a:r>
            <a:r>
              <a:rPr lang="zh-CN" altLang="zh-CN" sz="2000" dirty="0">
                <a:solidFill>
                  <a:srgbClr val="595959"/>
                </a:solidFill>
                <a:latin typeface="微软雅黑" panose="020B0503020204020204" pitchFamily="34" charset="-122"/>
                <a:ea typeface="微软雅黑" panose="020B0503020204020204" pitchFamily="34" charset="-122"/>
                <a:cs typeface="+mn-ea"/>
              </a:rPr>
              <a:t>的任何大小写形式，下面编写代码</a:t>
            </a:r>
            <a:r>
              <a:rPr lang="zh-CN" altLang="zh-CN" sz="2000" dirty="0">
                <a:solidFill>
                  <a:srgbClr val="1369B2"/>
                </a:solidFill>
                <a:latin typeface="微软雅黑" panose="020B0503020204020204" pitchFamily="34" charset="-122"/>
                <a:ea typeface="微软雅黑" panose="020B0503020204020204" pitchFamily="34" charset="-122"/>
                <a:cs typeface="+mn-ea"/>
              </a:rPr>
              <a:t>判断用户名是否</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合法</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判断用户名是否合法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判断用户名是否合法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2758" y="1629342"/>
            <a:ext cx="7776864" cy="390202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143690" y="266995"/>
            <a:ext cx="711175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5.7.6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案例</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判断用户名是否合法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2758" y="1629594"/>
            <a:ext cx="7763818" cy="388868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301552" cy="830997"/>
          </a:xfrm>
          <a:prstGeom prst="rect">
            <a:avLst/>
          </a:prstGeom>
          <a:noFill/>
        </p:spPr>
        <p:txBody>
          <a:bodyPr wrap="square" lIns="91443" tIns="45720" rIns="91443" bIns="45720" rtlCol="0">
            <a:spAutoFit/>
          </a:bodyPr>
          <a:lstStyle/>
          <a:p>
            <a:r>
              <a:rPr lang="zh-CN" altLang="en-US" sz="4800" b="1" smtClean="0">
                <a:solidFill>
                  <a:srgbClr val="595959"/>
                </a:solidFill>
                <a:latin typeface="微软雅黑" panose="020B0503020204020204" pitchFamily="34" charset="-122"/>
                <a:ea typeface="微软雅黑" panose="020B0503020204020204" pitchFamily="34" charset="-122"/>
                <a:cs typeface="+mn-ea"/>
                <a:sym typeface="+mn-lt"/>
              </a:rPr>
              <a:t>查阅</a:t>
            </a:r>
            <a:r>
              <a:rPr lang="en-US" altLang="zh-CN" sz="4800" b="1">
                <a:solidFill>
                  <a:srgbClr val="1369B2"/>
                </a:solidFill>
                <a:latin typeface="微软雅黑" panose="020B0503020204020204" pitchFamily="34" charset="-122"/>
                <a:ea typeface="微软雅黑" panose="020B0503020204020204" pitchFamily="34" charset="-122"/>
                <a:cs typeface="+mn-ea"/>
                <a:sym typeface="+mn-lt"/>
              </a:rPr>
              <a:t>MDN Web</a:t>
            </a:r>
            <a:r>
              <a:rPr lang="zh-CN" altLang="en-US" sz="4800" b="1">
                <a:solidFill>
                  <a:srgbClr val="1369B2"/>
                </a:solidFill>
                <a:latin typeface="微软雅黑" panose="020B0503020204020204" pitchFamily="34" charset="-122"/>
                <a:ea typeface="微软雅黑" panose="020B0503020204020204" pitchFamily="34" charset="-122"/>
                <a:cs typeface="+mn-ea"/>
                <a:sym typeface="+mn-lt"/>
              </a:rPr>
              <a:t>文档</a:t>
            </a:r>
            <a:endParaRPr lang="zh-CN" altLang="en-US" sz="48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smtClean="0">
                <a:solidFill>
                  <a:srgbClr val="FAFAFA"/>
                </a:solidFill>
                <a:latin typeface="微软雅黑" panose="020B0503020204020204" pitchFamily="34" charset="-122"/>
                <a:ea typeface="微软雅黑" panose="020B0503020204020204" pitchFamily="34" charset="-122"/>
                <a:cs typeface="+mn-ea"/>
                <a:sym typeface="+mn-lt"/>
              </a:rPr>
              <a:t>5.8</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944880" y="2215515"/>
            <a:ext cx="2797810" cy="3898265"/>
          </a:xfrm>
          <a:prstGeom prst="rect">
            <a:avLst/>
          </a:prstGeom>
        </p:spPr>
      </p:pic>
      <p:sp>
        <p:nvSpPr>
          <p:cNvPr id="12" name="TextBox 35"/>
          <p:cNvSpPr txBox="1">
            <a:spLocks noChangeArrowheads="1"/>
          </p:cNvSpPr>
          <p:nvPr/>
        </p:nvSpPr>
        <p:spPr bwMode="auto">
          <a:xfrm>
            <a:off x="5785200" y="3636000"/>
            <a:ext cx="5429568" cy="99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cs typeface="+mn-ea"/>
              </a:rPr>
              <a:t>掌握</a:t>
            </a:r>
            <a:r>
              <a:rPr lang="en-US" altLang="zh-CN" sz="2000" smtClean="0">
                <a:solidFill>
                  <a:srgbClr val="1369B2"/>
                </a:solidFill>
                <a:latin typeface="微软雅黑" panose="020B0503020204020204" pitchFamily="34" charset="-122"/>
                <a:ea typeface="微软雅黑" panose="020B0503020204020204" pitchFamily="34" charset="-122"/>
                <a:cs typeface="+mn-ea"/>
              </a:rPr>
              <a:t>MDN </a:t>
            </a:r>
            <a:r>
              <a:rPr lang="en-US" altLang="zh-CN" sz="2000">
                <a:solidFill>
                  <a:srgbClr val="1369B2"/>
                </a:solidFill>
                <a:latin typeface="微软雅黑" panose="020B0503020204020204" pitchFamily="34" charset="-122"/>
                <a:ea typeface="微软雅黑" panose="020B0503020204020204" pitchFamily="34" charset="-122"/>
                <a:cs typeface="+mn-ea"/>
              </a:rPr>
              <a:t>Web</a:t>
            </a:r>
            <a:r>
              <a:rPr lang="zh-CN" altLang="zh-CN" sz="2000">
                <a:solidFill>
                  <a:srgbClr val="1369B2"/>
                </a:solidFill>
                <a:latin typeface="微软雅黑" panose="020B0503020204020204" pitchFamily="34" charset="-122"/>
                <a:ea typeface="微软雅黑" panose="020B0503020204020204" pitchFamily="34" charset="-122"/>
                <a:cs typeface="+mn-ea"/>
              </a:rPr>
              <a:t>文档的查阅方式</a:t>
            </a:r>
            <a:r>
              <a:rPr lang="zh-CN" altLang="zh-CN" sz="2000">
                <a:solidFill>
                  <a:srgbClr val="595959"/>
                </a:solidFill>
                <a:latin typeface="微软雅黑" panose="020B0503020204020204" pitchFamily="34" charset="-122"/>
                <a:ea typeface="微软雅黑" panose="020B0503020204020204" pitchFamily="34" charset="-122"/>
                <a:cs typeface="+mn-ea"/>
              </a:rPr>
              <a:t>，能够在</a:t>
            </a:r>
            <a:r>
              <a:rPr lang="en-US" altLang="zh-CN" sz="2000">
                <a:solidFill>
                  <a:srgbClr val="595959"/>
                </a:solidFill>
                <a:latin typeface="微软雅黑" panose="020B0503020204020204" pitchFamily="34" charset="-122"/>
                <a:ea typeface="微软雅黑" panose="020B0503020204020204" pitchFamily="34" charset="-122"/>
                <a:cs typeface="+mn-ea"/>
              </a:rPr>
              <a:t>MDN Web</a:t>
            </a:r>
            <a:r>
              <a:rPr lang="zh-CN" altLang="zh-CN" sz="2000">
                <a:solidFill>
                  <a:srgbClr val="595959"/>
                </a:solidFill>
                <a:latin typeface="微软雅黑" panose="020B0503020204020204" pitchFamily="34" charset="-122"/>
                <a:ea typeface="微软雅黑" panose="020B0503020204020204" pitchFamily="34" charset="-122"/>
                <a:cs typeface="+mn-ea"/>
              </a:rPr>
              <a:t>文档中</a:t>
            </a:r>
            <a:r>
              <a:rPr lang="zh-CN" altLang="zh-CN" sz="2000">
                <a:solidFill>
                  <a:srgbClr val="1369B2"/>
                </a:solidFill>
                <a:latin typeface="微软雅黑" panose="020B0503020204020204" pitchFamily="34" charset="-122"/>
                <a:ea typeface="微软雅黑" panose="020B0503020204020204" pitchFamily="34" charset="-122"/>
                <a:cs typeface="+mn-ea"/>
              </a:rPr>
              <a:t>查询对象</a:t>
            </a:r>
            <a:endParaRPr lang="zh-CN" altLang="zh-CN" sz="2000">
              <a:solidFill>
                <a:srgbClr val="1369B2"/>
              </a:solidFill>
              <a:latin typeface="微软雅黑" panose="020B0503020204020204" pitchFamily="34" charset="-122"/>
              <a:ea typeface="微软雅黑" panose="020B0503020204020204" pitchFamily="34" charset="-122"/>
              <a:cs typeface="+mn-ea"/>
            </a:endParaRPr>
          </a:p>
        </p:txBody>
      </p:sp>
      <p:grpSp>
        <p:nvGrpSpPr>
          <p:cNvPr id="14" name="组合 13"/>
          <p:cNvGrpSpPr/>
          <p:nvPr/>
        </p:nvGrpSpPr>
        <p:grpSpPr>
          <a:xfrm>
            <a:off x="5379720" y="3816752"/>
            <a:ext cx="405130" cy="405130"/>
            <a:chOff x="8881" y="4685"/>
            <a:chExt cx="638" cy="638"/>
          </a:xfrm>
        </p:grpSpPr>
        <p:sp>
          <p:nvSpPr>
            <p:cNvPr id="15" name="椭圆 14"/>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7"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7" descr="总结小人"/>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2638" y="773081"/>
            <a:ext cx="4077405" cy="5924550"/>
          </a:xfrm>
          <a:prstGeom prst="rect">
            <a:avLst/>
          </a:prstGeom>
          <a:noFill/>
          <a:ln>
            <a:noFill/>
          </a:ln>
          <a:effectLst>
            <a:softEdge rad="317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a:xfrm>
            <a:off x="4899446" y="1985403"/>
            <a:ext cx="6668367" cy="3172584"/>
            <a:chOff x="4899445" y="1985402"/>
            <a:chExt cx="6740375" cy="7752907"/>
          </a:xfrm>
        </p:grpSpPr>
        <p:sp>
          <p:nvSpPr>
            <p:cNvPr id="24" name="圆角矩形标注 11"/>
            <p:cNvSpPr/>
            <p:nvPr/>
          </p:nvSpPr>
          <p:spPr bwMode="auto">
            <a:xfrm rot="5400000">
              <a:off x="4393179" y="2491668"/>
              <a:ext cx="7752907" cy="6740375"/>
            </a:xfrm>
            <a:prstGeom prst="wedgeRoundRectCallout">
              <a:avLst/>
            </a:prstGeom>
            <a:noFill/>
            <a:ln w="28575" cap="flat" cmpd="sng" algn="ctr">
              <a:solidFill>
                <a:schemeClr val="bg1">
                  <a:lumMod val="8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anose="020B0604020202020204" pitchFamily="34" charset="0"/>
                <a:buNone/>
                <a:defRPr/>
              </a:pPr>
              <a:endParaRPr lang="zh-CN" altLang="en-US"/>
            </a:p>
          </p:txBody>
        </p:sp>
        <p:sp>
          <p:nvSpPr>
            <p:cNvPr id="25" name="矩形 5"/>
            <p:cNvSpPr>
              <a:spLocks noChangeArrowheads="1"/>
            </p:cNvSpPr>
            <p:nvPr/>
          </p:nvSpPr>
          <p:spPr bwMode="auto">
            <a:xfrm>
              <a:off x="5330197" y="2239097"/>
              <a:ext cx="5945696" cy="6971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sz="2000" smtClean="0">
                  <a:solidFill>
                    <a:srgbClr val="595959"/>
                  </a:solidFill>
                  <a:latin typeface="微软雅黑" panose="020B0503020204020204" pitchFamily="34" charset="-122"/>
                  <a:ea typeface="微软雅黑" panose="020B0503020204020204" pitchFamily="34" charset="-122"/>
                </a:rPr>
                <a:t>前面</a:t>
              </a:r>
              <a:r>
                <a:rPr lang="zh-CN" altLang="zh-CN" sz="2000">
                  <a:solidFill>
                    <a:srgbClr val="595959"/>
                  </a:solidFill>
                  <a:latin typeface="微软雅黑" panose="020B0503020204020204" pitchFamily="34" charset="-122"/>
                  <a:ea typeface="微软雅黑" panose="020B0503020204020204" pitchFamily="34" charset="-122"/>
                </a:rPr>
                <a:t>分别学习了</a:t>
              </a:r>
              <a:r>
                <a:rPr lang="en-US" altLang="zh-CN" sz="2000">
                  <a:solidFill>
                    <a:srgbClr val="1369B2"/>
                  </a:solidFill>
                  <a:latin typeface="微软雅黑" panose="020B0503020204020204" pitchFamily="34" charset="-122"/>
                  <a:ea typeface="微软雅黑" panose="020B0503020204020204" pitchFamily="34" charset="-122"/>
                </a:rPr>
                <a:t>Math</a:t>
              </a:r>
              <a:r>
                <a:rPr lang="zh-CN" altLang="zh-CN" sz="2000">
                  <a:solidFill>
                    <a:srgbClr val="1369B2"/>
                  </a:solidFill>
                  <a:latin typeface="微软雅黑" panose="020B0503020204020204" pitchFamily="34" charset="-122"/>
                  <a:ea typeface="微软雅黑" panose="020B0503020204020204" pitchFamily="34" charset="-122"/>
                </a:rPr>
                <a:t>对象</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日期对象</a:t>
              </a:r>
              <a:r>
                <a:rPr lang="zh-CN" altLang="zh-CN" sz="2000">
                  <a:solidFill>
                    <a:srgbClr val="595959"/>
                  </a:solidFill>
                  <a:latin typeface="微软雅黑" panose="020B0503020204020204" pitchFamily="34" charset="-122"/>
                  <a:ea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rPr>
                <a:t>数组对象</a:t>
              </a:r>
              <a:r>
                <a:rPr lang="zh-CN" altLang="zh-CN" sz="2000">
                  <a:solidFill>
                    <a:srgbClr val="595959"/>
                  </a:solidFill>
                  <a:latin typeface="微软雅黑" panose="020B0503020204020204" pitchFamily="34" charset="-122"/>
                  <a:ea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rPr>
                <a:t>字符串对象</a:t>
              </a:r>
              <a:r>
                <a:rPr lang="zh-CN" altLang="zh-CN" sz="2000">
                  <a:solidFill>
                    <a:srgbClr val="595959"/>
                  </a:solidFill>
                  <a:latin typeface="微软雅黑" panose="020B0503020204020204" pitchFamily="34" charset="-122"/>
                  <a:ea typeface="微软雅黑" panose="020B0503020204020204" pitchFamily="34" charset="-122"/>
                </a:rPr>
                <a:t>，这些都属于</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中的</a:t>
              </a:r>
              <a:r>
                <a:rPr lang="zh-CN" altLang="zh-CN" sz="2000">
                  <a:solidFill>
                    <a:srgbClr val="1369B2"/>
                  </a:solidFill>
                  <a:latin typeface="微软雅黑" panose="020B0503020204020204" pitchFamily="34" charset="-122"/>
                  <a:ea typeface="微软雅黑" panose="020B0503020204020204" pitchFamily="34" charset="-122"/>
                </a:rPr>
                <a:t>内置对象</a:t>
              </a:r>
              <a:r>
                <a:rPr lang="zh-CN" altLang="zh-CN" sz="2000">
                  <a:solidFill>
                    <a:srgbClr val="595959"/>
                  </a:solidFill>
                  <a:latin typeface="微软雅黑" panose="020B0503020204020204" pitchFamily="34" charset="-122"/>
                  <a:ea typeface="微软雅黑" panose="020B0503020204020204" pitchFamily="34" charset="-122"/>
                </a:rPr>
                <a:t>。除了这</a:t>
              </a:r>
              <a:r>
                <a:rPr lang="en-US" altLang="zh-CN" sz="2000">
                  <a:solidFill>
                    <a:srgbClr val="595959"/>
                  </a:solidFill>
                  <a:latin typeface="微软雅黑" panose="020B0503020204020204" pitchFamily="34" charset="-122"/>
                  <a:ea typeface="微软雅黑" panose="020B0503020204020204" pitchFamily="34" charset="-122"/>
                </a:rPr>
                <a:t>4</a:t>
              </a:r>
              <a:r>
                <a:rPr lang="zh-CN" altLang="zh-CN" sz="2000">
                  <a:solidFill>
                    <a:srgbClr val="595959"/>
                  </a:solidFill>
                  <a:latin typeface="微软雅黑" panose="020B0503020204020204" pitchFamily="34" charset="-122"/>
                  <a:ea typeface="微软雅黑" panose="020B0503020204020204" pitchFamily="34" charset="-122"/>
                </a:rPr>
                <a:t>个内置对象外，</a:t>
              </a:r>
              <a:r>
                <a:rPr lang="en-US" altLang="zh-CN" sz="2000">
                  <a:solidFill>
                    <a:srgbClr val="595959"/>
                  </a:solidFill>
                  <a:latin typeface="微软雅黑" panose="020B0503020204020204" pitchFamily="34" charset="-122"/>
                  <a:ea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rPr>
                <a:t>还提供了很多其他的内置对象。在实际开发中，若需要使用某个不熟悉的内置对象，可以在</a:t>
              </a:r>
              <a:r>
                <a:rPr lang="en-US" altLang="zh-CN" sz="2000">
                  <a:solidFill>
                    <a:srgbClr val="1369B2"/>
                  </a:solidFill>
                  <a:latin typeface="微软雅黑" panose="020B0503020204020204" pitchFamily="34" charset="-122"/>
                  <a:ea typeface="微软雅黑" panose="020B0503020204020204" pitchFamily="34" charset="-122"/>
                </a:rPr>
                <a:t>MDN Web</a:t>
              </a:r>
              <a:r>
                <a:rPr lang="zh-CN" altLang="zh-CN" sz="2000">
                  <a:solidFill>
                    <a:srgbClr val="1369B2"/>
                  </a:solidFill>
                  <a:latin typeface="微软雅黑" panose="020B0503020204020204" pitchFamily="34" charset="-122"/>
                  <a:ea typeface="微软雅黑" panose="020B0503020204020204" pitchFamily="34" charset="-122"/>
                </a:rPr>
                <a:t>文档</a:t>
              </a:r>
              <a:r>
                <a:rPr lang="zh-CN" altLang="zh-CN" sz="2000">
                  <a:solidFill>
                    <a:srgbClr val="595959"/>
                  </a:solidFill>
                  <a:latin typeface="微软雅黑" panose="020B0503020204020204" pitchFamily="34" charset="-122"/>
                  <a:ea typeface="微软雅黑" panose="020B0503020204020204" pitchFamily="34" charset="-122"/>
                </a:rPr>
                <a:t>中查阅内置对象的使用方法。</a:t>
              </a:r>
              <a:endParaRPr lang="zh-CN" altLang="zh-CN" sz="2000">
                <a:solidFill>
                  <a:srgbClr val="595959"/>
                </a:solidFill>
                <a:latin typeface="微软雅黑" panose="020B0503020204020204" pitchFamily="34" charset="-122"/>
                <a:ea typeface="微软雅黑" panose="020B0503020204020204" pitchFamily="34" charset="-122"/>
              </a:endParaRPr>
            </a:p>
          </p:txBody>
        </p:sp>
      </p:grpSp>
      <p:sp>
        <p:nvSpPr>
          <p:cNvPr id="8"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592096" y="1607165"/>
            <a:ext cx="3715858" cy="4006159"/>
          </a:xfrm>
          <a:prstGeom prst="rect">
            <a:avLst/>
          </a:prstGeom>
        </p:spPr>
      </p:pic>
      <p:sp>
        <p:nvSpPr>
          <p:cNvPr id="11" name="Shape 2015"/>
          <p:cNvSpPr/>
          <p:nvPr/>
        </p:nvSpPr>
        <p:spPr>
          <a:xfrm>
            <a:off x="4583038" y="2061643"/>
            <a:ext cx="6768752" cy="2016223"/>
          </a:xfrm>
          <a:prstGeom prst="roundRect">
            <a:avLst>
              <a:gd name="adj" fmla="val 6918"/>
            </a:avLst>
          </a:prstGeom>
          <a:noFill/>
          <a:ln w="12700">
            <a:solidFill>
              <a:srgbClr val="A6AAA9"/>
            </a:solidFill>
            <a:miter lim="400000"/>
          </a:ln>
        </p:spPr>
        <p:txBody>
          <a:bodyPr lIns="19051" tIns="19051" rIns="19051" bIns="19051" anchor="ctr"/>
          <a:lstStyle/>
          <a:p>
            <a:pPr lvl="0"/>
            <a:endParaRPr sz="1735">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4853940" y="2349674"/>
            <a:ext cx="6192688" cy="1477328"/>
          </a:xfrm>
          <a:prstGeom prst="rect">
            <a:avLst/>
          </a:prstGeom>
          <a:noFill/>
        </p:spPr>
        <p:txBody>
          <a:bodyPr wrap="square" rtlCol="0">
            <a:spAutoFit/>
          </a:bodyPr>
          <a:lstStyle/>
          <a:p>
            <a:pPr>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mn-ea"/>
              </a:rPr>
              <a:t>在</a:t>
            </a:r>
            <a:r>
              <a:rPr lang="en-US" altLang="zh-CN" sz="2000">
                <a:solidFill>
                  <a:srgbClr val="595959"/>
                </a:solidFill>
                <a:latin typeface="微软雅黑" panose="020B0503020204020204" pitchFamily="34" charset="-122"/>
                <a:ea typeface="微软雅黑" panose="020B0503020204020204" pitchFamily="34" charset="-122"/>
                <a:cs typeface="+mn-ea"/>
              </a:rPr>
              <a:t>MDN Web</a:t>
            </a:r>
            <a:r>
              <a:rPr lang="zh-CN" altLang="zh-CN" sz="2000">
                <a:solidFill>
                  <a:srgbClr val="595959"/>
                </a:solidFill>
                <a:latin typeface="微软雅黑" panose="020B0503020204020204" pitchFamily="34" charset="-122"/>
                <a:ea typeface="微软雅黑" panose="020B0503020204020204" pitchFamily="34" charset="-122"/>
                <a:cs typeface="+mn-ea"/>
              </a:rPr>
              <a:t>文档中查阅内置对象的方式有两种，第</a:t>
            </a:r>
            <a:r>
              <a:rPr lang="en-US" altLang="zh-CN" sz="2000">
                <a:solidFill>
                  <a:srgbClr val="595959"/>
                </a:solidFill>
                <a:latin typeface="微软雅黑" panose="020B0503020204020204" pitchFamily="34" charset="-122"/>
                <a:ea typeface="微软雅黑" panose="020B0503020204020204" pitchFamily="34" charset="-122"/>
                <a:cs typeface="+mn-ea"/>
              </a:rPr>
              <a:t>1</a:t>
            </a:r>
            <a:r>
              <a:rPr lang="zh-CN" altLang="zh-CN" sz="2000">
                <a:solidFill>
                  <a:srgbClr val="595959"/>
                </a:solidFill>
                <a:latin typeface="微软雅黑" panose="020B0503020204020204" pitchFamily="34" charset="-122"/>
                <a:ea typeface="微软雅黑" panose="020B0503020204020204" pitchFamily="34" charset="-122"/>
                <a:cs typeface="+mn-ea"/>
              </a:rPr>
              <a:t>种方式是</a:t>
            </a:r>
            <a:r>
              <a:rPr lang="zh-CN" altLang="zh-CN" sz="2000">
                <a:solidFill>
                  <a:srgbClr val="1369B2"/>
                </a:solidFill>
                <a:latin typeface="微软雅黑" panose="020B0503020204020204" pitchFamily="34" charset="-122"/>
                <a:ea typeface="微软雅黑" panose="020B0503020204020204" pitchFamily="34" charset="-122"/>
                <a:cs typeface="+mn-ea"/>
              </a:rPr>
              <a:t>通过链接查找内置对象</a:t>
            </a:r>
            <a:r>
              <a:rPr lang="zh-CN" altLang="zh-CN" sz="2000">
                <a:solidFill>
                  <a:srgbClr val="595959"/>
                </a:solidFill>
                <a:latin typeface="微软雅黑" panose="020B0503020204020204" pitchFamily="34" charset="-122"/>
                <a:ea typeface="微软雅黑" panose="020B0503020204020204" pitchFamily="34" charset="-122"/>
                <a:cs typeface="+mn-ea"/>
              </a:rPr>
              <a:t>，第</a:t>
            </a:r>
            <a:r>
              <a:rPr lang="en-US" altLang="zh-CN" sz="2000">
                <a:solidFill>
                  <a:srgbClr val="595959"/>
                </a:solidFill>
                <a:latin typeface="微软雅黑" panose="020B0503020204020204" pitchFamily="34" charset="-122"/>
                <a:ea typeface="微软雅黑" panose="020B0503020204020204" pitchFamily="34" charset="-122"/>
                <a:cs typeface="+mn-ea"/>
              </a:rPr>
              <a:t>2</a:t>
            </a:r>
            <a:r>
              <a:rPr lang="zh-CN" altLang="zh-CN" sz="2000">
                <a:solidFill>
                  <a:srgbClr val="595959"/>
                </a:solidFill>
                <a:latin typeface="微软雅黑" panose="020B0503020204020204" pitchFamily="34" charset="-122"/>
                <a:ea typeface="微软雅黑" panose="020B0503020204020204" pitchFamily="34" charset="-122"/>
                <a:cs typeface="+mn-ea"/>
              </a:rPr>
              <a:t>种方式是</a:t>
            </a:r>
            <a:r>
              <a:rPr lang="zh-CN" altLang="zh-CN" sz="2000">
                <a:solidFill>
                  <a:srgbClr val="1369B2"/>
                </a:solidFill>
                <a:latin typeface="微软雅黑" panose="020B0503020204020204" pitchFamily="34" charset="-122"/>
                <a:ea typeface="微软雅黑" panose="020B0503020204020204" pitchFamily="34" charset="-122"/>
                <a:cs typeface="+mn-ea"/>
              </a:rPr>
              <a:t>通过关键字搜索内置对象</a:t>
            </a:r>
            <a:r>
              <a:rPr lang="zh-CN" altLang="en-US" sz="2000">
                <a:solidFill>
                  <a:srgbClr val="595959"/>
                </a:solidFill>
                <a:latin typeface="微软雅黑" panose="020B0503020204020204" pitchFamily="34" charset="-122"/>
                <a:ea typeface="微软雅黑" panose="020B0503020204020204" pitchFamily="34" charset="-122"/>
                <a:cs typeface="+mn-ea"/>
              </a:rPr>
              <a:t>。</a:t>
            </a:r>
            <a:endParaRPr lang="zh-CN" altLang="zh-CN" sz="200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6654" y="1614948"/>
            <a:ext cx="10153128" cy="1477328"/>
          </a:xfrm>
          <a:prstGeom prst="rect">
            <a:avLst/>
          </a:prstGeom>
          <a:noFill/>
        </p:spPr>
        <p:txBody>
          <a:bodyPr wrap="square" rtlCol="0">
            <a:spAutoFit/>
          </a:bodyPr>
          <a:lstStyle/>
          <a:p>
            <a:pPr>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cs typeface="+mn-ea"/>
              </a:rPr>
              <a:t>MDN </a:t>
            </a:r>
            <a:r>
              <a:rPr lang="en-US" altLang="zh-CN" sz="2000" dirty="0">
                <a:solidFill>
                  <a:srgbClr val="1369B2"/>
                </a:solidFill>
                <a:latin typeface="微软雅黑" panose="020B0503020204020204" pitchFamily="34" charset="-122"/>
                <a:ea typeface="微软雅黑" panose="020B0503020204020204" pitchFamily="34" charset="-122"/>
                <a:cs typeface="+mn-ea"/>
              </a:rPr>
              <a:t>Web</a:t>
            </a:r>
            <a:r>
              <a:rPr lang="zh-CN" altLang="zh-CN" sz="2000" dirty="0">
                <a:solidFill>
                  <a:srgbClr val="1369B2"/>
                </a:solidFill>
                <a:latin typeface="微软雅黑" panose="020B0503020204020204" pitchFamily="34" charset="-122"/>
                <a:ea typeface="微软雅黑" panose="020B0503020204020204" pitchFamily="34" charset="-122"/>
                <a:cs typeface="+mn-ea"/>
              </a:rPr>
              <a:t>文档</a:t>
            </a:r>
            <a:r>
              <a:rPr lang="zh-CN" altLang="zh-CN" sz="2000" dirty="0">
                <a:solidFill>
                  <a:srgbClr val="595959"/>
                </a:solidFill>
                <a:latin typeface="微软雅黑" panose="020B0503020204020204" pitchFamily="34" charset="-122"/>
                <a:ea typeface="微软雅黑" panose="020B0503020204020204" pitchFamily="34" charset="-122"/>
                <a:cs typeface="+mn-ea"/>
              </a:rPr>
              <a:t>提供了所有</a:t>
            </a:r>
            <a:r>
              <a:rPr lang="zh-CN" altLang="zh-CN" sz="2000" dirty="0">
                <a:solidFill>
                  <a:srgbClr val="1369B2"/>
                </a:solidFill>
                <a:latin typeface="微软雅黑" panose="020B0503020204020204" pitchFamily="34" charset="-122"/>
                <a:ea typeface="微软雅黑" panose="020B0503020204020204" pitchFamily="34" charset="-122"/>
                <a:cs typeface="+mn-ea"/>
              </a:rPr>
              <a:t>内置对象</a:t>
            </a:r>
            <a:r>
              <a:rPr lang="zh-CN" altLang="zh-CN" sz="2000" dirty="0">
                <a:solidFill>
                  <a:srgbClr val="595959"/>
                </a:solidFill>
                <a:latin typeface="微软雅黑" panose="020B0503020204020204" pitchFamily="34" charset="-122"/>
                <a:ea typeface="微软雅黑" panose="020B0503020204020204" pitchFamily="34" charset="-122"/>
                <a:cs typeface="+mn-ea"/>
              </a:rPr>
              <a:t>的链接，通过单击某个内置对象的链接即可进入某个内置对象的页面进行查看</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。首先</a:t>
            </a:r>
            <a:r>
              <a:rPr lang="zh-CN" altLang="zh-CN" sz="2000" dirty="0">
                <a:solidFill>
                  <a:srgbClr val="595959"/>
                </a:solidFill>
                <a:latin typeface="微软雅黑" panose="020B0503020204020204" pitchFamily="34" charset="-122"/>
                <a:ea typeface="微软雅黑" panose="020B0503020204020204" pitchFamily="34" charset="-122"/>
                <a:cs typeface="+mn-ea"/>
              </a:rPr>
              <a:t>在浏览器中访问</a:t>
            </a:r>
            <a:r>
              <a:rPr lang="en-US" altLang="zh-CN" sz="2000" dirty="0">
                <a:solidFill>
                  <a:srgbClr val="595959"/>
                </a:solidFill>
                <a:latin typeface="微软雅黑" panose="020B0503020204020204" pitchFamily="34" charset="-122"/>
                <a:ea typeface="微软雅黑" panose="020B0503020204020204" pitchFamily="34" charset="-122"/>
                <a:cs typeface="+mn-ea"/>
              </a:rPr>
              <a:t>MDN Web</a:t>
            </a:r>
            <a:r>
              <a:rPr lang="zh-CN" altLang="zh-CN" sz="2000" dirty="0">
                <a:solidFill>
                  <a:srgbClr val="595959"/>
                </a:solidFill>
                <a:latin typeface="微软雅黑" panose="020B0503020204020204" pitchFamily="34" charset="-122"/>
                <a:ea typeface="微软雅黑" panose="020B0503020204020204" pitchFamily="34" charset="-122"/>
                <a:cs typeface="+mn-ea"/>
              </a:rPr>
              <a:t>文档网站， </a:t>
            </a:r>
            <a:r>
              <a:rPr lang="en-US" altLang="zh-CN" sz="2000" dirty="0">
                <a:solidFill>
                  <a:srgbClr val="1369B2"/>
                </a:solidFill>
                <a:latin typeface="微软雅黑" panose="020B0503020204020204" pitchFamily="34" charset="-122"/>
                <a:ea typeface="微软雅黑" panose="020B0503020204020204" pitchFamily="34" charset="-122"/>
                <a:cs typeface="+mn-ea"/>
              </a:rPr>
              <a:t>MDN Web</a:t>
            </a:r>
            <a:r>
              <a:rPr lang="zh-CN" altLang="zh-CN" sz="2000" dirty="0">
                <a:solidFill>
                  <a:srgbClr val="1369B2"/>
                </a:solidFill>
                <a:latin typeface="微软雅黑" panose="020B0503020204020204" pitchFamily="34" charset="-122"/>
                <a:ea typeface="微软雅黑" panose="020B0503020204020204" pitchFamily="34" charset="-122"/>
                <a:cs typeface="+mn-ea"/>
              </a:rPr>
              <a:t>文档网站页面</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1126654" y="1053530"/>
            <a:ext cx="3018844"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a:solidFill>
                  <a:srgbClr val="FFFFFF"/>
                </a:solidFill>
                <a:latin typeface="微软雅黑" panose="020B0503020204020204" pitchFamily="34" charset="-122"/>
                <a:ea typeface="微软雅黑" panose="020B0503020204020204" pitchFamily="34" charset="-122"/>
              </a:rPr>
              <a:t>1</a:t>
            </a:r>
            <a:r>
              <a:rPr lang="en-US" altLang="zh-CN" sz="2000" smtClean="0">
                <a:solidFill>
                  <a:srgbClr val="FFFFFF"/>
                </a:solidFill>
                <a:latin typeface="微软雅黑" panose="020B0503020204020204" pitchFamily="34" charset="-122"/>
                <a:ea typeface="微软雅黑" panose="020B0503020204020204" pitchFamily="34" charset="-122"/>
              </a:rPr>
              <a:t>.</a:t>
            </a:r>
            <a:r>
              <a:rPr lang="zh-CN" altLang="en-US" sz="2000" smtClean="0">
                <a:solidFill>
                  <a:srgbClr val="FFFFFF"/>
                </a:solidFill>
                <a:latin typeface="微软雅黑" panose="020B0503020204020204" pitchFamily="34" charset="-122"/>
                <a:ea typeface="微软雅黑" panose="020B0503020204020204" pitchFamily="34" charset="-122"/>
              </a:rPr>
              <a:t>通过链接查找内置对象</a:t>
            </a:r>
            <a:endParaRPr lang="zh-CN" altLang="en-US" sz="2000" dirty="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06974" y="2781722"/>
            <a:ext cx="5256584" cy="353943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2638" y="928629"/>
            <a:ext cx="10369152" cy="1477328"/>
          </a:xfrm>
          <a:prstGeom prst="rect">
            <a:avLst/>
          </a:prstGeom>
          <a:noFill/>
        </p:spPr>
        <p:txBody>
          <a:bodyPr wrap="square" rtlCol="0">
            <a:spAutoFit/>
          </a:bodyPr>
          <a:lstStyle/>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MDN Web</a:t>
            </a:r>
            <a:r>
              <a:rPr lang="zh-CN" altLang="zh-CN" sz="2000" dirty="0">
                <a:solidFill>
                  <a:srgbClr val="595959"/>
                </a:solidFill>
                <a:latin typeface="微软雅黑" panose="020B0503020204020204" pitchFamily="34" charset="-122"/>
                <a:ea typeface="微软雅黑" panose="020B0503020204020204" pitchFamily="34" charset="-122"/>
                <a:cs typeface="+mn-ea"/>
              </a:rPr>
              <a:t>文档</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网站</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的</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导航</a:t>
            </a:r>
            <a:r>
              <a:rPr lang="zh-CN" altLang="zh-CN" sz="2000" dirty="0">
                <a:solidFill>
                  <a:srgbClr val="595959"/>
                </a:solidFill>
                <a:latin typeface="微软雅黑" panose="020B0503020204020204" pitchFamily="34" charset="-122"/>
                <a:ea typeface="微软雅黑" panose="020B0503020204020204" pitchFamily="34" charset="-122"/>
                <a:cs typeface="+mn-ea"/>
              </a:rPr>
              <a:t>栏中单击</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References</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595959"/>
                </a:solidFill>
                <a:latin typeface="微软雅黑" panose="020B0503020204020204" pitchFamily="34" charset="-122"/>
                <a:ea typeface="微软雅黑" panose="020B0503020204020204" pitchFamily="34" charset="-122"/>
                <a:cs typeface="+mn-ea"/>
                <a:sym typeface="Symbol" panose="05050102010706020507" pitchFamily="18" charset="2"/>
              </a:rPr>
              <a:t></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JavaScript</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会进入</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文档页面，在该页面中将左侧的滚动条向下滚动，可以在左侧边栏中找到</a:t>
            </a:r>
            <a:r>
              <a:rPr lang="zh-CN" altLang="zh-CN" sz="2000" dirty="0">
                <a:solidFill>
                  <a:srgbClr val="1369B2"/>
                </a:solidFill>
                <a:latin typeface="微软雅黑" panose="020B0503020204020204" pitchFamily="34" charset="-122"/>
                <a:ea typeface="微软雅黑" panose="020B0503020204020204" pitchFamily="34" charset="-122"/>
                <a:cs typeface="+mn-ea"/>
              </a:rPr>
              <a:t>“内置对象”</a:t>
            </a:r>
            <a:r>
              <a:rPr lang="zh-CN" altLang="zh-CN" sz="2000" dirty="0">
                <a:solidFill>
                  <a:srgbClr val="595959"/>
                </a:solidFill>
                <a:latin typeface="微软雅黑" panose="020B0503020204020204" pitchFamily="34" charset="-122"/>
                <a:ea typeface="微软雅黑" panose="020B0503020204020204" pitchFamily="34" charset="-122"/>
                <a:cs typeface="+mn-ea"/>
              </a:rPr>
              <a:t>，将该选项展开后可以看到</a:t>
            </a:r>
            <a:r>
              <a:rPr lang="zh-CN" altLang="zh-CN" sz="2000" dirty="0">
                <a:solidFill>
                  <a:srgbClr val="1369B2"/>
                </a:solidFill>
                <a:latin typeface="微软雅黑" panose="020B0503020204020204" pitchFamily="34" charset="-122"/>
                <a:ea typeface="微软雅黑" panose="020B0503020204020204" pitchFamily="34" charset="-122"/>
                <a:cs typeface="+mn-ea"/>
              </a:rPr>
              <a:t>所有内置对象的</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链接</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32808" y="2444057"/>
            <a:ext cx="6868811" cy="39801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54646" y="1075736"/>
            <a:ext cx="10009112" cy="553998"/>
          </a:xfrm>
          <a:prstGeom prst="rect">
            <a:avLst/>
          </a:prstGeom>
          <a:noFill/>
        </p:spPr>
        <p:txBody>
          <a:bodyPr wrap="square" rtlCol="0">
            <a:spAutoFit/>
          </a:bodyPr>
          <a:lstStyle/>
          <a:p>
            <a:pPr>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JavaScript</a:t>
            </a:r>
            <a:r>
              <a:rPr lang="zh-CN" altLang="zh-CN" sz="2000" dirty="0">
                <a:solidFill>
                  <a:srgbClr val="595959"/>
                </a:solidFill>
                <a:latin typeface="微软雅黑" panose="020B0503020204020204" pitchFamily="34" charset="-122"/>
                <a:ea typeface="微软雅黑" panose="020B0503020204020204" pitchFamily="34" charset="-122"/>
                <a:cs typeface="+mn-ea"/>
              </a:rPr>
              <a:t>文档</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页面</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中，</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单击</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a:t>
            </a:r>
            <a:r>
              <a:rPr lang="en-US" altLang="zh-CN" sz="2000" dirty="0">
                <a:solidFill>
                  <a:srgbClr val="1369B2"/>
                </a:solidFill>
                <a:latin typeface="微软雅黑" panose="020B0503020204020204" pitchFamily="34" charset="-122"/>
                <a:ea typeface="微软雅黑" panose="020B0503020204020204" pitchFamily="34" charset="-122"/>
                <a:cs typeface="+mn-ea"/>
              </a:rPr>
              <a:t>Array</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链接会进入</a:t>
            </a:r>
            <a:r>
              <a:rPr lang="en-US" altLang="zh-CN" sz="2000" dirty="0">
                <a:solidFill>
                  <a:srgbClr val="1369B2"/>
                </a:solidFill>
                <a:latin typeface="微软雅黑" panose="020B0503020204020204" pitchFamily="34" charset="-122"/>
                <a:ea typeface="微软雅黑" panose="020B0503020204020204" pitchFamily="34" charset="-122"/>
                <a:cs typeface="+mn-ea"/>
              </a:rPr>
              <a:t>Array</a:t>
            </a:r>
            <a:r>
              <a:rPr lang="zh-CN" altLang="zh-CN" sz="2000" dirty="0">
                <a:solidFill>
                  <a:srgbClr val="1369B2"/>
                </a:solidFill>
                <a:latin typeface="微软雅黑" panose="020B0503020204020204" pitchFamily="34" charset="-122"/>
                <a:ea typeface="微软雅黑" panose="020B0503020204020204" pitchFamily="34" charset="-122"/>
                <a:cs typeface="+mn-ea"/>
              </a:rPr>
              <a:t>内置对象</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页面</a:t>
            </a:r>
            <a:r>
              <a:rPr lang="zh-CN" altLang="en-US" sz="2000" dirty="0">
                <a:solidFill>
                  <a:srgbClr val="595959"/>
                </a:solidFill>
                <a:latin typeface="微软雅黑" panose="020B0503020204020204" pitchFamily="34" charset="-122"/>
                <a:ea typeface="微软雅黑" panose="020B0503020204020204" pitchFamily="34" charset="-122"/>
                <a:cs typeface="+mn-ea"/>
              </a:rPr>
              <a:t>，如下图所示</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98815" y="1739702"/>
            <a:ext cx="6117553" cy="443327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55994" y="1614948"/>
            <a:ext cx="9647724" cy="1015663"/>
          </a:xfrm>
          <a:prstGeom prst="rect">
            <a:avLst/>
          </a:prstGeom>
          <a:noFill/>
        </p:spPr>
        <p:txBody>
          <a:bodyPr wrap="square" rtlCol="0">
            <a:spAutoFit/>
          </a:body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cs typeface="+mn-ea"/>
              </a:rPr>
              <a:t>MDN </a:t>
            </a:r>
            <a:r>
              <a:rPr lang="en-US" altLang="zh-CN" sz="2000" dirty="0">
                <a:solidFill>
                  <a:srgbClr val="595959"/>
                </a:solidFill>
                <a:latin typeface="微软雅黑" panose="020B0503020204020204" pitchFamily="34" charset="-122"/>
                <a:ea typeface="微软雅黑" panose="020B0503020204020204" pitchFamily="34" charset="-122"/>
                <a:cs typeface="+mn-ea"/>
              </a:rPr>
              <a:t>Web</a:t>
            </a:r>
            <a:r>
              <a:rPr lang="zh-CN" altLang="zh-CN" sz="2000" dirty="0">
                <a:solidFill>
                  <a:srgbClr val="595959"/>
                </a:solidFill>
                <a:latin typeface="微软雅黑" panose="020B0503020204020204" pitchFamily="34" charset="-122"/>
                <a:ea typeface="微软雅黑" panose="020B0503020204020204" pitchFamily="34" charset="-122"/>
                <a:cs typeface="+mn-ea"/>
              </a:rPr>
              <a:t>文档网站提供了</a:t>
            </a:r>
            <a:r>
              <a:rPr lang="zh-CN" altLang="zh-CN" sz="2000" dirty="0">
                <a:solidFill>
                  <a:srgbClr val="1369B2"/>
                </a:solidFill>
                <a:latin typeface="微软雅黑" panose="020B0503020204020204" pitchFamily="34" charset="-122"/>
                <a:ea typeface="微软雅黑" panose="020B0503020204020204" pitchFamily="34" charset="-122"/>
                <a:cs typeface="+mn-ea"/>
              </a:rPr>
              <a:t>搜索框</a:t>
            </a:r>
            <a:r>
              <a:rPr lang="zh-CN" altLang="zh-CN" sz="2000" dirty="0">
                <a:solidFill>
                  <a:srgbClr val="595959"/>
                </a:solidFill>
                <a:latin typeface="微软雅黑" panose="020B0503020204020204" pitchFamily="34" charset="-122"/>
                <a:ea typeface="微软雅黑" panose="020B0503020204020204" pitchFamily="34" charset="-122"/>
                <a:cs typeface="+mn-ea"/>
              </a:rPr>
              <a:t>，在搜索框中输入关键字可以</a:t>
            </a:r>
            <a:r>
              <a:rPr lang="zh-CN" altLang="zh-CN" sz="2000" dirty="0">
                <a:solidFill>
                  <a:srgbClr val="1369B2"/>
                </a:solidFill>
                <a:latin typeface="微软雅黑" panose="020B0503020204020204" pitchFamily="34" charset="-122"/>
                <a:ea typeface="微软雅黑" panose="020B0503020204020204" pitchFamily="34" charset="-122"/>
                <a:cs typeface="+mn-ea"/>
              </a:rPr>
              <a:t>快速查找内置对象</a:t>
            </a:r>
            <a:r>
              <a:rPr lang="zh-CN" altLang="zh-CN" sz="2000" dirty="0">
                <a:solidFill>
                  <a:srgbClr val="595959"/>
                </a:solidFill>
                <a:latin typeface="微软雅黑" panose="020B0503020204020204" pitchFamily="34" charset="-122"/>
                <a:ea typeface="微软雅黑" panose="020B0503020204020204" pitchFamily="34" charset="-122"/>
                <a:cs typeface="+mn-ea"/>
              </a:rPr>
              <a:t>。例如，</a:t>
            </a:r>
            <a:r>
              <a:rPr lang="zh-CN" altLang="zh-CN" sz="2000" dirty="0">
                <a:solidFill>
                  <a:srgbClr val="1369B2"/>
                </a:solidFill>
                <a:latin typeface="微软雅黑" panose="020B0503020204020204" pitchFamily="34" charset="-122"/>
                <a:ea typeface="微软雅黑" panose="020B0503020204020204" pitchFamily="34" charset="-122"/>
                <a:cs typeface="+mn-ea"/>
              </a:rPr>
              <a:t>在搜索框中输入关键字</a:t>
            </a:r>
            <a:r>
              <a:rPr lang="en-US" altLang="zh-CN" sz="2000" dirty="0">
                <a:solidFill>
                  <a:srgbClr val="1369B2"/>
                </a:solidFill>
                <a:latin typeface="微软雅黑" panose="020B0503020204020204" pitchFamily="34" charset="-122"/>
                <a:ea typeface="微软雅黑" panose="020B0503020204020204" pitchFamily="34" charset="-122"/>
                <a:cs typeface="+mn-ea"/>
              </a:rPr>
              <a:t>Array</a:t>
            </a:r>
            <a:r>
              <a:rPr lang="zh-CN" altLang="zh-CN" sz="2000" dirty="0">
                <a:solidFill>
                  <a:srgbClr val="595959"/>
                </a:solidFill>
                <a:latin typeface="微软雅黑" panose="020B0503020204020204" pitchFamily="34" charset="-122"/>
                <a:ea typeface="微软雅黑" panose="020B0503020204020204" pitchFamily="34" charset="-122"/>
                <a:cs typeface="+mn-ea"/>
              </a:rPr>
              <a:t>，页面</a:t>
            </a:r>
            <a:r>
              <a:rPr lang="zh-CN" altLang="zh-CN" sz="2000" dirty="0" smtClean="0">
                <a:solidFill>
                  <a:srgbClr val="595959"/>
                </a:solidFill>
                <a:latin typeface="微软雅黑" panose="020B0503020204020204" pitchFamily="34" charset="-122"/>
                <a:ea typeface="微软雅黑" panose="020B0503020204020204" pitchFamily="34" charset="-122"/>
                <a:cs typeface="+mn-ea"/>
              </a:rPr>
              <a:t>效果</a:t>
            </a:r>
            <a:r>
              <a:rPr lang="zh-CN" altLang="en-US" sz="2000" dirty="0" smtClean="0">
                <a:solidFill>
                  <a:srgbClr val="595959"/>
                </a:solidFill>
                <a:latin typeface="微软雅黑" panose="020B0503020204020204" pitchFamily="34" charset="-122"/>
                <a:ea typeface="微软雅黑" panose="020B0503020204020204" pitchFamily="34" charset="-122"/>
                <a:cs typeface="+mn-ea"/>
              </a:rPr>
              <a:t>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Title 1"/>
          <p:cNvSpPr txBox="1"/>
          <p:nvPr/>
        </p:nvSpPr>
        <p:spPr>
          <a:xfrm>
            <a:off x="1143690" y="266995"/>
            <a:ext cx="3710250"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ClrTx/>
              <a:buSzTx/>
              <a:buFontTx/>
            </a:pP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5.8  </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查阅</a:t>
            </a:r>
            <a:r>
              <a:rPr lang="en-US" altLang="zh-CN"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MDN Web</a:t>
            </a:r>
            <a:r>
              <a:rPr lang="zh-CN" altLang="en-US" sz="2400" b="1"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文档</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nvSpPr>
        <p:spPr>
          <a:xfrm>
            <a:off x="1055994" y="1110892"/>
            <a:ext cx="3217738" cy="504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smtClean="0">
                <a:solidFill>
                  <a:srgbClr val="FFFFFF"/>
                </a:solidFill>
                <a:latin typeface="微软雅黑" panose="020B0503020204020204" pitchFamily="34" charset="-122"/>
                <a:ea typeface="微软雅黑" panose="020B0503020204020204" pitchFamily="34" charset="-122"/>
              </a:rPr>
              <a:t>2.</a:t>
            </a:r>
            <a:r>
              <a:rPr lang="zh-CN" altLang="en-US" sz="2000" smtClean="0">
                <a:solidFill>
                  <a:srgbClr val="FFFFFF"/>
                </a:solidFill>
                <a:latin typeface="微软雅黑" panose="020B0503020204020204" pitchFamily="34" charset="-122"/>
                <a:ea typeface="微软雅黑" panose="020B0503020204020204" pitchFamily="34" charset="-122"/>
              </a:rPr>
              <a:t>通过关键字搜索内置对象</a:t>
            </a:r>
            <a:endParaRPr lang="zh-CN" altLang="en-US" sz="2000" dirty="0">
              <a:solidFill>
                <a:srgbClr val="FFFFFF"/>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64863" y="2630611"/>
            <a:ext cx="6572654" cy="3912294"/>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333449"/>
            <a:ext cx="4807500" cy="439631"/>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圆角矩形 26"/>
          <p:cNvSpPr/>
          <p:nvPr/>
        </p:nvSpPr>
        <p:spPr>
          <a:xfrm>
            <a:off x="1198880" y="1810385"/>
            <a:ext cx="9794240" cy="3419609"/>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5" name="TextBox 38"/>
          <p:cNvSpPr txBox="1"/>
          <p:nvPr/>
        </p:nvSpPr>
        <p:spPr>
          <a:xfrm>
            <a:off x="1627172" y="2517644"/>
            <a:ext cx="9004538" cy="2308324"/>
          </a:xfrm>
          <a:prstGeom prst="rect">
            <a:avLst/>
          </a:prstGeom>
          <a:noFill/>
        </p:spPr>
        <p:txBody>
          <a:bodyPr wrap="square" lIns="0" tIns="0" rIns="0" bIns="0" rtlCol="0">
            <a:spAutoFit/>
          </a:bodyPr>
          <a:lstStyle/>
          <a:p>
            <a:pPr algn="just">
              <a:lnSpc>
                <a:spcPct val="150000"/>
              </a:lnSpc>
            </a:pPr>
            <a:r>
              <a:rPr lang="zh-CN" altLang="zh-CN" sz="200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本章</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主要讲解了</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中的对象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，首先讲解了</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什么是对象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对象的创建</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对象的遍历</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，其中，对象的创建有</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种方式，分别是</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利用字面量创建对象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利用构造函数创建对象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利用</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Object()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，然后讲解了</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数组对象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字符串对象</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，最后讲解了如何</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查阅</a:t>
            </a:r>
            <a:r>
              <a:rPr lang="en-US"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MDN Web</a:t>
            </a:r>
            <a:r>
              <a:rPr lang="zh-CN" alt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文档</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。通过本章的学习，</a:t>
            </a:r>
            <a:r>
              <a:rPr lang="zh-CN" altLang="zh-CN" sz="200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读者</a:t>
            </a:r>
            <a:r>
              <a:rPr lang="zh-CN" altLang="en-US" sz="200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应</a:t>
            </a:r>
            <a:r>
              <a:rPr lang="zh-CN" altLang="zh-CN" sz="200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能够</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JavaScript</a:t>
            </a:r>
            <a:r>
              <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对象完成实际开发中的需求。</a:t>
            </a:r>
            <a:endParaRPr lang="zh-CN"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椭圆 5"/>
          <p:cNvSpPr/>
          <p:nvPr/>
        </p:nvSpPr>
        <p:spPr>
          <a:xfrm>
            <a:off x="442023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本</a:t>
            </a:r>
            <a:endParaRPr lang="zh-CN" altLang="en-US" sz="2800" b="1" dirty="0">
              <a:latin typeface="微软雅黑" panose="020B0503020204020204" pitchFamily="34" charset="-122"/>
              <a:ea typeface="微软雅黑" panose="020B0503020204020204" pitchFamily="34" charset="-122"/>
            </a:endParaRPr>
          </a:p>
        </p:txBody>
      </p:sp>
      <p:sp>
        <p:nvSpPr>
          <p:cNvPr id="7" name="椭圆 6"/>
          <p:cNvSpPr/>
          <p:nvPr/>
        </p:nvSpPr>
        <p:spPr>
          <a:xfrm>
            <a:off x="513905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章</a:t>
            </a:r>
            <a:endParaRPr lang="zh-CN" altLang="en-US" sz="2800" b="1" dirty="0">
              <a:latin typeface="微软雅黑" panose="020B0503020204020204" pitchFamily="34" charset="-122"/>
              <a:ea typeface="微软雅黑" panose="020B0503020204020204" pitchFamily="34" charset="-122"/>
              <a:sym typeface="+mn-ea"/>
            </a:endParaRPr>
          </a:p>
        </p:txBody>
      </p:sp>
      <p:sp>
        <p:nvSpPr>
          <p:cNvPr id="8" name="椭圆 7"/>
          <p:cNvSpPr/>
          <p:nvPr/>
        </p:nvSpPr>
        <p:spPr>
          <a:xfrm>
            <a:off x="585787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小</a:t>
            </a:r>
            <a:endParaRPr lang="zh-CN" altLang="en-US" sz="2800" b="1" dirty="0">
              <a:latin typeface="微软雅黑" panose="020B0503020204020204" pitchFamily="34" charset="-122"/>
              <a:ea typeface="微软雅黑" panose="020B0503020204020204" pitchFamily="34" charset="-122"/>
              <a:sym typeface="+mn-ea"/>
            </a:endParaRPr>
          </a:p>
        </p:txBody>
      </p:sp>
      <p:sp>
        <p:nvSpPr>
          <p:cNvPr id="9" name="椭圆 8"/>
          <p:cNvSpPr/>
          <p:nvPr/>
        </p:nvSpPr>
        <p:spPr>
          <a:xfrm>
            <a:off x="6576695" y="1401445"/>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latin typeface="微软雅黑" panose="020B0503020204020204" pitchFamily="34" charset="-122"/>
                <a:ea typeface="微软雅黑" panose="020B0503020204020204" pitchFamily="34" charset="-122"/>
                <a:sym typeface="+mn-ea"/>
              </a:rPr>
              <a:t>结</a:t>
            </a:r>
            <a:endParaRPr lang="zh-CN" altLang="en-US" sz="2800" b="1" dirty="0">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commondata" val="eyJoZGlkIjoiMTVhYTdjZDhkZWFiODg1ZGM2MGZkYzMxMjJhNDE0MmU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23518</Words>
  <Application>WPS 演示</Application>
  <PresentationFormat>自定义</PresentationFormat>
  <Paragraphs>1446</Paragraphs>
  <Slides>140</Slides>
  <Notes>55</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140</vt:i4>
      </vt:variant>
    </vt:vector>
  </HeadingPairs>
  <TitlesOfParts>
    <vt:vector size="161" baseType="lpstr">
      <vt:lpstr>Arial</vt:lpstr>
      <vt:lpstr>宋体</vt:lpstr>
      <vt:lpstr>Wingdings</vt:lpstr>
      <vt:lpstr>微软雅黑</vt:lpstr>
      <vt:lpstr>思源黑体 CN Medium</vt:lpstr>
      <vt:lpstr>黑体</vt:lpstr>
      <vt:lpstr>字魂58号-创中黑</vt:lpstr>
      <vt:lpstr>Source Han Sans K Bold</vt:lpstr>
      <vt:lpstr>Calibri</vt:lpstr>
      <vt:lpstr>U.S. 101</vt:lpstr>
      <vt:lpstr>Segoe Print</vt:lpstr>
      <vt:lpstr>Roboto</vt:lpstr>
      <vt:lpstr>Times New Roman</vt:lpstr>
      <vt:lpstr>Open Sans Light</vt:lpstr>
      <vt:lpstr>字魂105号-简雅黑</vt:lpstr>
      <vt:lpstr>Arial Unicode MS</vt:lpstr>
      <vt:lpstr>思源黑体 CN Regular</vt:lpstr>
      <vt:lpstr>Symbol</vt:lpstr>
      <vt:lpstr>Yu Gothic UI Semibold</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user</cp:lastModifiedBy>
  <cp:revision>5681</cp:revision>
  <dcterms:created xsi:type="dcterms:W3CDTF">2020-11-09T06:56:00Z</dcterms:created>
  <dcterms:modified xsi:type="dcterms:W3CDTF">2025-04-23T00:09:11Z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338E0B18D56E473EB7AF989319A2AFF7_12</vt:lpwstr>
  </property>
</Properties>
</file>